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1dd5f8-9913-8902-4fd3-a6fa3800b6ed}">
          <p14:sldIdLst>
            <p14:sldId id="256"/>
            <p14:sldId id="257"/>
            <p14:sldId id="258"/>
          </p14:sldIdLst>
        </p14:section>
        <p14:section name="Install" id="{a9c63603-378c-0c49-8e9d-3fab3149ca4a}">
          <p14:sldIdLst>
            <p14:sldId id="259"/>
            <p14:sldId id="260"/>
            <p14:sldId id="261"/>
          </p14:sldIdLst>
        </p14:section>
        <p14:section name="Concepts" id="{50c4b7b1-ae61-9b5f-fb10-74fcd0e7b0bd}">
          <p14:sldIdLst>
            <p14:sldId id="262"/>
            <p14:sldId id="263"/>
            <p14:sldId id="264"/>
            <p14:sldId id="265"/>
            <p14:sldId id="266"/>
            <p14:sldId id="267"/>
            <p14:sldId id="268"/>
            <p14:sldId id="269"/>
            <p14:sldId id="270"/>
          </p14:sldIdLst>
        </p14:section>
        <p14:section name="Preview" id="{ee1d01c2-3dcb-4703-e8a6-529405399bf6}">
          <p14:sldIdLst>
            <p14:sldId id="271"/>
            <p14:sldId id="272"/>
            <p14:sldId id="273"/>
            <p14:sldId id="274"/>
          </p14:sldIdLst>
        </p14:section>
        <p14:section name="Project 1" id="{cddf26ec-d1f9-cae1-2ca4-538b6a5b2268}">
          <p14:sldIdLst>
            <p14:sldId id="275"/>
            <p14:sldId id="276"/>
            <p14:sldId id="277"/>
            <p14:sldId id="278"/>
            <p14:sldId id="279"/>
            <p14:sldId id="280"/>
            <p14:sldId id="281"/>
            <p14:sldId id="282"/>
            <p14:sldId id="283"/>
            <p14:sldId id="284"/>
            <p14:sldId id="285"/>
            <p14:sldId id="286"/>
            <p14:sldId id="287"/>
            <p14:sldId id="288"/>
            <p14:sldId id="289"/>
            <p14:sldId id="290"/>
          </p14:sldIdLst>
        </p14:section>
        <p14:section name="Memory" id="{f469645e-ed40-82b4-53ad-aff7c9ebdee2}">
          <p14:sldIdLst>
            <p14:sldId id="291"/>
            <p14:sldId id="292"/>
          </p14:sldIdLst>
        </p14:section>
        <p14:section name="Project 2" id="{6914ff80-7345-99a0-5c5d-9ad4af9de282}">
          <p14:sldIdLst>
            <p14:sldId id="293"/>
            <p14:sldId id="294"/>
            <p14:sldId id="295"/>
            <p14:sldId id="296"/>
            <p14:sldId id="297"/>
            <p14:sldId id="298"/>
            <p14:sldId id="299"/>
          </p14:sldIdLst>
        </p14:section>
        <p14:section name="Closing" id="{918d7c4a-f4b7-20b8-d5f1-44f520775257}">
          <p14:sldIdLst>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1 min · you should be here at 0 min
Welcome. In 90 minutes we will put a swarm of agents to work building a game and then working on a real task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2:30] 1.5 min · you should be here at 1 min
Three concrete outcomes. Everything stays installed on each laptop and keeps working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4:00] 1.5 min · you should be here at 3 min
The budget is backed by the benchmark, not by cuts. If someone goes over the target, a warning shows up and they keep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5:30] 1.5 min · you should be here at 4 min
Almost everyone installed beforehand (pre-work): for them this slide only shows where the command is. Anyone who has not installed yet runs it now and follows along with a neighbour while it installs (10 to 20 minutes). The same command installs on another machine. The commands are generated from repos.conf: they are always right for the published version (v1.0.0-rc.1). To update only the Agent Memory app: agent-memory update. Before this slide, post the commands in Teams so everyone can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8:30] 3 min · you should be here at 6 min
Everyone runs the check. It takes 2 to 3 minutes and installs nothing. Anyone who did not run the setup follows along with a neighbour and installs during the questions. The setup speaks English, but it detects the machine language and writes the Claude Code language setting (Portuguese, English, Hindi or Hebrew): the skills answer in that language. The Arena, the orchestrator tables and the docs come in Portuguese or English (any other language gets English). Before this slide, post the commands in Teams so everyone can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10:30] 2 min · you should be here at 9 min
Doctor checks everything and, if a step failed, asks Claude for a diagnosis: it sends the state of each step and the end of the log, with no secrets. It runs nothing. Running the install command again only repeats the missing steps; there, on each failure, Claude suggests commands and runs them only after you confirm, one by one. If Claude is not installed yet, the pre-written help from TROUBLESHOOTING is shown. Before this slide, post the commands in Teams so everyone can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 → 11:00] 0.5 min · you should be here at 11 min
Fifteen minutes of ideas, one concept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12:30] 1.5 min · you should be here at 11 min
Claude Code is not a chat: it is an agent that acts on the repository. Everything it does goes through permissions. Plan mode (Shift+Tab) makes it only plan, without touching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 → 14:30] 2 min · you should be here at 13 min
Skills replaced the old slash commands. The frontmatter pins the model and the allowed tools. Today we use two sets: /demo-* in the Arena and /task-* for everyday work. The kit skills are in English and tell Claude to answer in the participant's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 16:30] 2 min · you should be here at 15 min
A subagent is a Claude instance with a clean context, its own tools and the model we choose. It is defined in a .claude/agents/&lt;name&gt;.md file. The /agents command no longer opens a wizard: you edit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 → 18:30] 2 min · you should be here at 17 min
A cheap swarm is many small agents with clear instructions. What costs money is coordination. That is why the orchestrator is a script and the workers answer with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 → 20:30] 2 min · you should be here at 19 min
The plan is a dependency graph. We run it in waves: everything that is ready runs in parallel. The three cryptography tasks wait for lib-hash, a real dependency inside wave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 22:00] 1.5 min · you should be here at 21 min
With 8 calls in parallel, a model forgets dependencies or rewrites prompts. The script is reproducible: that is what makes the cost predictable and the benchmark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 → 23:30] 1.5 min · you should be here at 22 min
Hooks are commands that Claude Code runs on events. Ours only measures: it reads the real tokens from the transcript, multiplies them by the published prices and appends one line. It never blocks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 → 24:30] 1 min · you should be here at 24 min
It is the same cycle in both projects: plan with Opus, run as a swarm, a security gate, measure and save what was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[24:30 → 25:30] 1 min · you should be here at 25 min
Before the video, say what is going to be built. The Arena is a security mini-game: each task builds a small challenge (find the line that exposes a secret, pick the real website, order the parts of a URL, type an answer). The app shell and the tests already exist; the agents write the challenges, one task each. Explain the colours now, because they show up everywhere: each square is a task, grey while it waits, yellow while an agent works on it, green when its test passes, red when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[25:30 → 26:00] 0.5 min · you should be here at 26 min
Bridge into Project 1. What they are about to see is the cycle from the previous slide (plan → swarm → review → cost → memory) in a real run with 100 tasks. Right after, each person does the same with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 → 28:30] 2.5 min · you should be here at 26 min
Sped-up video of a real run with 100 tasks. On the left, the /status page: each square is a task, yellow while an agent works on it and green when its test passes. On the right, the terminal with the agent batches. The time and cost are the real ones. Plan B if the video fails: open /status?replay=recording in the recorded Arena.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[28:30 → 29:30] 1 min · you should be here at 29 min
Recording of someone playing the final Arena: point at the insecure line, pick the right answer, order the steps and type the answer. Each challenge explains the why at the end. At the end of Project 1 everyone plays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[29:30 → 30:00] 0.5 min · you should be here at 30 min
25 minutes of hands-on. In the benchmark, the 15-task swarm took 2 to 3 minutes (the full session, 3.5 to 5); in interactive mode and with new accounts it can take longer. We use that time to look at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 31:00] 1 min · you should be here at 30 min
The tests already exist: each agent only has to turn its test green. That is what lets Haiku do the bulk of the work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[31:00 → 32:30] 1.5 min · you should be here at 31 min
Explain before running it. A skill is not magic: it is a Markdown recipe that Claude follows. Here it calls a script that builds the graph (always the same, from the tasks) and an Opus agent that only reviews it. The result is in files they can open and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[32:30 → 35:30] 3 min · you should be here at 33 min
The trust dialog matters: without it, the project permissions stay off. In recent Claude Code versions, because the Arena pre-approves permissions, the preselected option is "No, exit": pressing Enter quits. Show the down arrow. /demo-plan checks the memory, builds the graph and asks the planner (Opus) to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[35:30 → 37:00] 1.5 min · you should be here at 36 min
Show someone's plan on the projector. In wave 1, lib-hash and the challenge tasks start together; the cryptography ones join as soon as hash turns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 → 38:30] 1.5 min · you should be here at 37 min
Explain before running it. The key point: a script picks what runs, not the model. That is why cost and time are predictable. If a task fails, the script retries it with the error message and, on the third attempt, with Sonnet.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 → 40:30] 2 min · you should be here at 39 min
From here the swarm works for a few minutes (2 to 3 in the benchmark; longer with new accounts). The next slides use that time; whoever finishes first plays the Arena.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 → 42:30] 2 min · you should be here at 41 min
/btw answers on the side. It is the right way to ask questions during a long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[42:30 → 44:00] 1.5 min · you should be here at 43 min
No code walkthrough. The idea: a hook is "when X happens, run Y", set up in settings.json. Claude writes hooks very well: just describe what you want. Show /hooks to see the active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 → 45:00] 1 min · you should be here at 44 min
Show the statusline changing as the agents finish. The hook records, the statusline shows: together they give the live cost. Claude Code's /usage may show more, because some versions do not know the latest prices yet; /demo-cost uses the published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 → 48:00] 3 min · you should be here at 45 min
Plan mode only reads and proposes. claude -p is the basis for scripts and CI. Esc Esc opens rewind: it restores code and conversation to a checkpoint, but not what was done through Bash nor most of what the subagents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[48:00 → 49:30] 1.5 min · CAN SKIP · you should be here at 48 min
Skip if running late. Example routine: a daily security review with node tools/routine.mjs --install --yes (without --yes it only shows what it would do), which registers a claude -p "/demo-review --auto" in launchd or in Task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[49:30 → 51:30] 2 min · you should be here at 50 min
/loop repeats a prompt at each interval, while the session is open. Esc cancels.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[51:30 → 53:30] 2 min · you should be here at 52 min
A security game with security flaws would be the worst example. The gate links each check to the OWASP Top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[53:30 → 55:30] 2 min · you should be here at 54 min
The report uses real tokens and published prices. At the end it saves the lessons to the memory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[55:30 → 57:30] 2 min · you should be here at 56 min
The tests also run in the browser. It is the same test that decided the colour of the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[57:30 → 59:30] 2 min · you should be here at 58 min
They are Markdown files in ~/.agent-memory, with an SQLite index. Everything stays on your PC. Each memory is linked to the Jira or GitHub ticket and to its epic: searching ABC-123 brings everything for that ticket and the epic. /task-intake and /task-plan check it before planning ("last time in this epic, don't do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[59:30 → 62:30] 3 min · you should be here at 60 min
The app opens in your native language and has a language selector. Routines, worktrees and headless mode were already covered while we waited.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[62:30 → 63:00] 0.5 min · you should be here at 63 min
25 minutes. The task may not finish here: the goal is to leave with the orchestration running and to know how to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[63:00 → 64:30] 1.5 min · you should be here at 63 min
The /task-* skills are installed at user level and work in any repository. Every write to Jira or GitHub asks for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[64:30 → 68:30] 4 min · you should be here at 65 min
For Jira you need to have logged in via /mcp (atlassian). GitHub uses gh. Intake only reads; it writes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[68:30 → 73:30] 5 min · you should be here at 69 min
The planner (Opus) proposes the graph and a script validates it: ids, dependencies, cycles and known agents. Tasks that touch the same files go in different batches, at swarm time. Integration and review are added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[73:30 → 83:30] 10 min · you should be here at 74 min
The state lives in .workshop/. Running /task-swarm again resumes. Tasks that touch the same files go in different batches, or in git worktrees if the planner decides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[83:30 → 84:30] 1 min · CAN SKIP · you should be here at 84 min
Skip if running late. The Atlassian MCP uses the company's Rovo credits and the admin can limit it. If the MCP fails, the skills use the official Atlassian CLI (acli), which the setup already installed: it reads the issue and posts the comments; hours are logged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[84:30 → 86:30] 2 min · you should be here at 85 min
Example comment: agent ws-worker-07 · Haiku · 5 s · US$ 0.004.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[86:30 → 88:30] 2 min · you should be here at 87 min
A summary in five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[88:30 → 89:30] 1 min · you should be here at 89 min
Three concrete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[89:30 → 90:00] 0.5 min · you should be here at 90 min
Questions can go past 90 minutes. Anyone who did not run the setup installs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1.png"/><Relationship Id="rId3" Type="http://schemas.openxmlformats.org/officeDocument/2006/relationships/image" Target="../media/TITLE-image-3.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logo" descr="Logo">    </p:cNvPr>
          <p:cNvPicPr>
            <a:picLocks noChangeAspect="1"/>
          </p:cNvPicPr>
          <p:nvPr/>
        </p:nvPicPr>
        <p:blipFill>
          <a:blip r:embed="rId1"/>
          <a:stretch>
            <a:fillRect/>
          </a:stretch>
        </p:blipFill>
        <p:spPr>
          <a:xfrm>
            <a:off x="615391" y="611734"/>
            <a:ext cx="2112264" cy="264262"/>
          </a:xfrm>
          <a:prstGeom prst="rect">
            <a:avLst/>
          </a:prstGeom>
        </p:spPr>
      </p:pic>
      <p:sp>
        <p:nvSpPr>
          <p:cNvPr id="3" name="Shape 0"/>
          <p:cNvSpPr/>
          <p:nvPr/>
        </p:nvSpPr>
        <p:spPr>
          <a:xfrm>
            <a:off x="0" y="6323076"/>
            <a:ext cx="12191695" cy="534924"/>
          </a:xfrm>
          <a:prstGeom prst="rect">
            <a:avLst/>
          </a:prstGeom>
          <a:solidFill>
            <a:srgbClr val="140920"/>
          </a:solidFill>
          <a:ln w="12700">
            <a:solidFill>
              <a:srgbClr val="140920"/>
            </a:solidFill>
            <a:prstDash val="solid"/>
          </a:ln>
        </p:spPr>
      </p:sp>
      <p:pic>
        <p:nvPicPr>
          <p:cNvPr id="4" name="logo" descr="Logo">    </p:cNvPr>
          <p:cNvPicPr>
            <a:picLocks noChangeAspect="1"/>
          </p:cNvPicPr>
          <p:nvPr/>
        </p:nvPicPr>
        <p:blipFill>
          <a:blip r:embed="rId2"/>
          <a:stretch>
            <a:fillRect/>
          </a:stretch>
        </p:blipFill>
        <p:spPr>
          <a:xfrm>
            <a:off x="472745" y="6557162"/>
            <a:ext cx="750722" cy="94183"/>
          </a:xfrm>
          <a:prstGeom prst="rect">
            <a:avLst/>
          </a:prstGeom>
        </p:spPr>
      </p:pic>
      <p:sp>
        <p:nvSpPr>
          <p:cNvPr id="5" name="Text 1"/>
          <p:cNvSpPr/>
          <p:nvPr>
            <p:ph idx="103" type="title" hasCustomPrompt="1"/>
          </p:nvPr>
        </p:nvSpPr>
        <p:spPr>
          <a:xfrm>
            <a:off x="615391" y="1325880"/>
            <a:ext cx="8778240" cy="2011680"/>
          </a:xfrm>
          <a:prstGeom prst="rect">
            <a:avLst/>
          </a:prstGeom>
          <a:noFill/>
          <a:ln/>
        </p:spPr>
        <p:txBody>
          <a:bodyPr wrap="square" rtlCol="0"/>
          <a:lstStyle>
            <a:lvl1pPr algn="l" indent="0" marL="0">
              <a:buNone/>
              <a:defRPr lang="en-US" sz="4800" dirty="0">
                <a:solidFill>
                  <a:srgbClr val="FCF9FE"/>
                </a:solidFill>
                <a:latin typeface="Founders Grotesk Medium" pitchFamily="34" charset="0"/>
                <a:ea typeface="Founders Grotesk Medium" pitchFamily="34" charset="-122"/>
                <a:cs typeface="Founders Grotesk Medium" pitchFamily="34" charset="-120"/>
              </a:defRPr>
            </a:lvl1pPr>
          </a:lstStyle>
          <a:p>
            <a:pPr algn="l" indent="0" marL="0">
              <a:buNone/>
            </a:pPr>
            <a:endParaRPr lang="en-US" sz="4800" dirty="0"/>
          </a:p>
        </p:txBody>
      </p:sp>
      <p:sp>
        <p:nvSpPr>
          <p:cNvPr id="6" name="Text 1"/>
          <p:cNvSpPr/>
          <p:nvPr>
            <p:ph idx="104" type="body" hasCustomPrompt="1"/>
          </p:nvPr>
        </p:nvSpPr>
        <p:spPr>
          <a:xfrm>
            <a:off x="615391" y="3474720"/>
            <a:ext cx="8778240" cy="1097280"/>
          </a:xfrm>
          <a:prstGeom prst="rect">
            <a:avLst/>
          </a:prstGeom>
          <a:noFill/>
          <a:ln/>
        </p:spPr>
        <p:txBody>
          <a:bodyPr wrap="square" rtlCol="0"/>
          <a:lstStyle>
            <a:lvl1pPr algn="l" indent="0" marL="0">
              <a:buNone/>
              <a:defRPr lang="en-US" sz="2600" dirty="0">
                <a:solidFill>
                  <a:srgbClr val="F25928"/>
                </a:solidFill>
                <a:latin typeface="Founders Grotesk Medium" pitchFamily="34" charset="0"/>
                <a:ea typeface="Founders Grotesk Medium" pitchFamily="34" charset="-122"/>
                <a:cs typeface="Founders Grotesk Medium"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logo" descr="Logo">    </p:cNvPr>
          <p:cNvPicPr>
            <a:picLocks noChangeAspect="1"/>
          </p:cNvPicPr>
          <p:nvPr/>
        </p:nvPicPr>
        <p:blipFill>
          <a:blip r:embed="rId1"/>
          <a:stretch>
            <a:fillRect/>
          </a:stretch>
        </p:blipFill>
        <p:spPr>
          <a:xfrm>
            <a:off x="4952848" y="5074920"/>
            <a:ext cx="2286000" cy="285750"/>
          </a:xfrm>
          <a:prstGeom prst="rect">
            <a:avLst/>
          </a:prstGeom>
        </p:spPr>
      </p:pic>
      <p:sp>
        <p:nvSpPr>
          <p:cNvPr id="3" name="Text 0"/>
          <p:cNvSpPr/>
          <p:nvPr>
            <p:ph idx="101" type="title" hasCustomPrompt="1"/>
          </p:nvPr>
        </p:nvSpPr>
        <p:spPr>
          <a:xfrm>
            <a:off x="914400" y="2011680"/>
            <a:ext cx="10362895" cy="1463040"/>
          </a:xfrm>
          <a:prstGeom prst="rect">
            <a:avLst/>
          </a:prstGeom>
          <a:noFill/>
          <a:ln/>
        </p:spPr>
        <p:txBody>
          <a:bodyPr wrap="square" rtlCol="0"/>
          <a:lstStyle>
            <a:lvl1pPr algn="ctr" indent="0" marL="0">
              <a:buNone/>
              <a:defRPr lang="en-US" sz="6000" dirty="0">
                <a:solidFill>
                  <a:srgbClr val="FCF9FE"/>
                </a:solidFill>
                <a:latin typeface="Founders Grotesk Medium" pitchFamily="34" charset="0"/>
                <a:ea typeface="Founders Grotesk Medium" pitchFamily="34" charset="-122"/>
                <a:cs typeface="Founders Grotesk Medium" pitchFamily="34" charset="-120"/>
              </a:defRPr>
            </a:lvl1pPr>
          </a:lstStyle>
          <a:p>
            <a:pPr algn="ctr" indent="0" marL="0">
              <a:buNone/>
            </a:pPr>
            <a:endParaRPr lang="en-US" sz="6000" dirty="0"/>
          </a:p>
        </p:txBody>
      </p:sp>
      <p:sp>
        <p:nvSpPr>
          <p:cNvPr id="4" name="Text 0"/>
          <p:cNvSpPr/>
          <p:nvPr>
            <p:ph idx="102" type="body" hasCustomPrompt="1"/>
          </p:nvPr>
        </p:nvSpPr>
        <p:spPr>
          <a:xfrm>
            <a:off x="914400" y="3566160"/>
            <a:ext cx="10362895" cy="822960"/>
          </a:xfrm>
          <a:prstGeom prst="rect">
            <a:avLst/>
          </a:prstGeom>
          <a:noFill/>
          <a:ln/>
        </p:spPr>
        <p:txBody>
          <a:bodyPr wrap="square" rtlCol="0"/>
          <a:lstStyle>
            <a:lvl1pPr algn="ctr" indent="0" marL="0">
              <a:buNone/>
              <a:defRPr lang="en-US" sz="2800" dirty="0">
                <a:solidFill>
                  <a:srgbClr val="F25928"/>
                </a:solidFill>
                <a:latin typeface="Founders Grotesk Medium" pitchFamily="34" charset="0"/>
                <a:ea typeface="Founders Grotesk Medium" pitchFamily="34" charset="-122"/>
                <a:cs typeface="Founders Grotesk Medium" pitchFamily="34" charset="-120"/>
              </a:defRPr>
            </a:lvl1pPr>
          </a:lstStyle>
          <a:p>
            <a:pPr algn="ctr"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logo" descr="Logo">    </p:cNvPr>
          <p:cNvPicPr>
            <a:picLocks noChangeAspect="1"/>
          </p:cNvPicPr>
          <p:nvPr/>
        </p:nvPicPr>
        <p:blipFill>
          <a:blip r:embed="rId1"/>
          <a:stretch>
            <a:fillRect/>
          </a:stretch>
        </p:blipFill>
        <p:spPr>
          <a:xfrm>
            <a:off x="715975" y="611734"/>
            <a:ext cx="2112264" cy="264262"/>
          </a:xfrm>
          <a:prstGeom prst="rect">
            <a:avLst/>
          </a:prstGeom>
        </p:spPr>
      </p:pic>
      <p:sp>
        <p:nvSpPr>
          <p:cNvPr id="3" name="Text 0"/>
          <p:cNvSpPr/>
          <p:nvPr>
            <p:ph idx="101" type="title" hasCustomPrompt="1"/>
          </p:nvPr>
        </p:nvSpPr>
        <p:spPr>
          <a:xfrm>
            <a:off x="715975" y="1051560"/>
            <a:ext cx="7498080" cy="1554480"/>
          </a:xfrm>
          <a:prstGeom prst="rect">
            <a:avLst/>
          </a:prstGeom>
          <a:noFill/>
          <a:ln/>
        </p:spPr>
        <p:txBody>
          <a:bodyPr wrap="square" rtlCol="0"/>
          <a:lstStyle>
            <a:lvl1pPr algn="l" indent="0" marL="0">
              <a:buNone/>
              <a:defRPr lang="en-US" sz="4600" dirty="0">
                <a:solidFill>
                  <a:srgbClr val="140920"/>
                </a:solidFill>
                <a:latin typeface="Founders Grotesk Medium" pitchFamily="34" charset="0"/>
                <a:ea typeface="Founders Grotesk Medium" pitchFamily="34" charset="-122"/>
                <a:cs typeface="Founders Grotesk Medium" pitchFamily="34" charset="-120"/>
              </a:defRPr>
            </a:lvl1pPr>
          </a:lstStyle>
          <a:p>
            <a:pPr algn="l" indent="0" marL="0">
              <a:buNone/>
            </a:pPr>
            <a:endParaRPr lang="en-US" sz="4600" dirty="0"/>
          </a:p>
        </p:txBody>
      </p:sp>
      <p:sp>
        <p:nvSpPr>
          <p:cNvPr id="4" name="Text 0"/>
          <p:cNvSpPr/>
          <p:nvPr>
            <p:ph idx="102" type="body" hasCustomPrompt="1"/>
          </p:nvPr>
        </p:nvSpPr>
        <p:spPr>
          <a:xfrm>
            <a:off x="715975" y="2697480"/>
            <a:ext cx="5852160" cy="1097280"/>
          </a:xfrm>
          <a:prstGeom prst="rect">
            <a:avLst/>
          </a:prstGeom>
          <a:noFill/>
          <a:ln/>
        </p:spPr>
        <p:txBody>
          <a:bodyPr wrap="square" rtlCol="0"/>
          <a:lstStyle>
            <a:lvl1pPr algn="l" indent="0" marL="0">
              <a:buNone/>
              <a:defRPr lang="en-US" sz="2000" dirty="0">
                <a:solidFill>
                  <a:srgbClr val="4A405A"/>
                </a:solidFill>
                <a:latin typeface="Arial" pitchFamily="34" charset="0"/>
                <a:ea typeface="Arial" pitchFamily="34" charset="-122"/>
                <a:cs typeface="Arial" pitchFamily="34" charset="-120"/>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4EFFE"/>
        </a:solidFill>
      </p:bgPr>
    </p:bg>
    <p:spTree>
      <p:nvGrpSpPr>
        <p:cNvPr id="1" name=""/>
        <p:cNvGrpSpPr/>
        <p:nvPr/>
      </p:nvGrpSpPr>
      <p:grpSpPr>
        <a:xfrm>
          <a:off x="0" y="0"/>
          <a:ext cx="0" cy="0"/>
          <a:chOff x="0" y="0"/>
          <a:chExt cx="0" cy="0"/>
        </a:xfrm>
      </p:grpSpPr>
      <p:sp>
        <p:nvSpPr>
          <p:cNvPr id="2" name="Shape 0"/>
          <p:cNvSpPr/>
          <p:nvPr/>
        </p:nvSpPr>
        <p:spPr>
          <a:xfrm>
            <a:off x="0" y="6323076"/>
            <a:ext cx="12191695" cy="534924"/>
          </a:xfrm>
          <a:prstGeom prst="rect">
            <a:avLst/>
          </a:prstGeom>
          <a:solidFill>
            <a:srgbClr val="140920"/>
          </a:solidFill>
          <a:ln w="12700">
            <a:solidFill>
              <a:srgbClr val="140920"/>
            </a:solidFill>
            <a:prstDash val="solid"/>
          </a:ln>
        </p:spPr>
      </p:sp>
      <p:pic>
        <p:nvPicPr>
          <p:cNvPr id="3" name="logo" descr="Logo">    </p:cNvPr>
          <p:cNvPicPr>
            <a:picLocks noChangeAspect="1"/>
          </p:cNvPicPr>
          <p:nvPr/>
        </p:nvPicPr>
        <p:blipFill>
          <a:blip r:embed="rId1"/>
          <a:stretch>
            <a:fillRect/>
          </a:stretch>
        </p:blipFill>
        <p:spPr>
          <a:xfrm>
            <a:off x="472745" y="6557162"/>
            <a:ext cx="750722" cy="94183"/>
          </a:xfrm>
          <a:prstGeom prst="rect">
            <a:avLst/>
          </a:prstGeom>
        </p:spPr>
      </p:pic>
      <p:sp>
        <p:nvSpPr>
          <p:cNvPr id="4" name="Text 1"/>
          <p:cNvSpPr/>
          <p:nvPr>
            <p:ph idx="102" type="title" hasCustomPrompt="1"/>
          </p:nvPr>
        </p:nvSpPr>
        <p:spPr>
          <a:xfrm>
            <a:off x="615391" y="411480"/>
            <a:ext cx="10957255" cy="868680"/>
          </a:xfrm>
          <a:prstGeom prst="rect">
            <a:avLst/>
          </a:prstGeom>
          <a:noFill/>
          <a:ln/>
        </p:spPr>
        <p:txBody>
          <a:bodyPr wrap="square" rtlCol="0"/>
          <a:lstStyle>
            <a:lvl1pPr algn="l" indent="0" marL="0">
              <a:buNone/>
              <a:defRPr lang="en-US" sz="3200" dirty="0">
                <a:solidFill>
                  <a:srgbClr val="140920"/>
                </a:solidFill>
                <a:latin typeface="Founders Grotesk Medium" pitchFamily="34" charset="0"/>
                <a:ea typeface="Founders Grotesk Medium" pitchFamily="34" charset="-122"/>
                <a:cs typeface="Founders Grotesk Medium"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IT-NOW">
    <p:bg>
      <p:bgPr>
        <a:solidFill>
          <a:srgbClr val="F4EFFE"/>
        </a:solidFill>
      </p:bgPr>
    </p:bg>
    <p:spTree>
      <p:nvGrpSpPr>
        <p:cNvPr id="1" name=""/>
        <p:cNvGrpSpPr/>
        <p:nvPr/>
      </p:nvGrpSpPr>
      <p:grpSpPr>
        <a:xfrm>
          <a:off x="0" y="0"/>
          <a:ext cx="0" cy="0"/>
          <a:chOff x="0" y="0"/>
          <a:chExt cx="0" cy="0"/>
        </a:xfrm>
      </p:grpSpPr>
      <p:sp>
        <p:nvSpPr>
          <p:cNvPr id="2" name="Shape 0"/>
          <p:cNvSpPr/>
          <p:nvPr/>
        </p:nvSpPr>
        <p:spPr>
          <a:xfrm>
            <a:off x="0" y="6323076"/>
            <a:ext cx="12191695" cy="534924"/>
          </a:xfrm>
          <a:prstGeom prst="rect">
            <a:avLst/>
          </a:prstGeom>
          <a:solidFill>
            <a:srgbClr val="140920"/>
          </a:solidFill>
          <a:ln w="12700">
            <a:solidFill>
              <a:srgbClr val="140920"/>
            </a:solidFill>
            <a:prstDash val="solid"/>
          </a:ln>
        </p:spPr>
      </p:sp>
      <p:pic>
        <p:nvPicPr>
          <p:cNvPr id="3" name="logo" descr="Logo">    </p:cNvPr>
          <p:cNvPicPr>
            <a:picLocks noChangeAspect="1"/>
          </p:cNvPicPr>
          <p:nvPr/>
        </p:nvPicPr>
        <p:blipFill>
          <a:blip r:embed="rId1"/>
          <a:stretch>
            <a:fillRect/>
          </a:stretch>
        </p:blipFill>
        <p:spPr>
          <a:xfrm>
            <a:off x="472745" y="6557162"/>
            <a:ext cx="750722" cy="94183"/>
          </a:xfrm>
          <a:prstGeom prst="rect">
            <a:avLst/>
          </a:prstGeom>
        </p:spPr>
      </p:pic>
      <p:sp>
        <p:nvSpPr>
          <p:cNvPr id="4" name="Text 1"/>
          <p:cNvSpPr/>
          <p:nvPr>
            <p:ph idx="102" type="title" hasCustomPrompt="1"/>
          </p:nvPr>
        </p:nvSpPr>
        <p:spPr>
          <a:xfrm>
            <a:off x="548640" y="896112"/>
            <a:ext cx="11094415" cy="868680"/>
          </a:xfrm>
          <a:prstGeom prst="rect">
            <a:avLst/>
          </a:prstGeom>
          <a:noFill/>
          <a:ln/>
        </p:spPr>
        <p:txBody>
          <a:bodyPr wrap="square" rtlCol="0"/>
          <a:lstStyle>
            <a:lvl1pPr algn="l" indent="0" marL="0">
              <a:buNone/>
              <a:defRPr lang="en-US" sz="3400" dirty="0">
                <a:solidFill>
                  <a:srgbClr val="140920"/>
                </a:solidFill>
                <a:latin typeface="Founders Grotesk Medium" pitchFamily="34" charset="0"/>
                <a:ea typeface="Founders Grotesk Medium" pitchFamily="34" charset="-122"/>
                <a:cs typeface="Founders Grotesk Medium"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6.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video" Target="../media/media-18-1.mp4"/><Relationship Id="rId2" Type="http://schemas.microsoft.com/office/2007/relationships/media" Target="../media/media-18-1.mp4"/><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video" Target="../media/media-19-1.mp4"/><Relationship Id="rId2" Type="http://schemas.microsoft.com/office/2007/relationships/media" Target="../media/media-19-1.mp4"/><Relationship Id="rId3" Type="http://schemas.openxmlformats.org/officeDocument/2006/relationships/image" Target="../media/image-19-3.png"/><Relationship Id="rId4" Type="http://schemas.openxmlformats.org/officeDocument/2006/relationships/slideLayout" Target="../slideLayouts/slideLayout5.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5.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6.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5.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5.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6.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5.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6.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6.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5.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6.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6.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6.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6.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5.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5.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3" type="title" hasCustomPrompt="1"/>
          </p:nvPr>
        </p:nvSpPr>
        <p:spPr>
          <a:xfrm>
            <a:off x="615391" y="1325880"/>
            <a:ext cx="8778240" cy="2011680"/>
          </a:xfrm>
          <a:prstGeom prst="rect">
            <a:avLst/>
          </a:prstGeom>
          <a:noFill/>
          <a:ln/>
        </p:spPr>
        <p:txBody>
          <a:bodyPr wrap="square" lIns="0" tIns="0" rIns="0" bIns="0" rtlCol="0" anchor="b"/>
          <a:lstStyle/>
          <a:p>
            <a:pPr algn="l" indent="0" marL="0">
              <a:buNone/>
            </a:pPr>
            <a:r>
              <a:rPr lang="en-US" sz="4800" dirty="0">
                <a:solidFill>
                  <a:srgbClr val="FCF9FE"/>
                </a:solidFill>
                <a:latin typeface="Founders Grotesk Medium" pitchFamily="34" charset="0"/>
                <a:ea typeface="Founders Grotesk Medium" pitchFamily="34" charset="-122"/>
                <a:cs typeface="Founders Grotesk Medium" pitchFamily="34" charset="-120"/>
              </a:rPr>
              <a:t>Agent orchestration with Claude</a:t>
            </a:r>
            <a:endParaRPr lang="en-US" sz="4800" dirty="0"/>
          </a:p>
        </p:txBody>
      </p:sp>
      <p:sp>
        <p:nvSpPr>
          <p:cNvPr id="3" name="Text 1"/>
          <p:cNvSpPr/>
          <p:nvPr>
            <p:ph idx="104" type="body" hasCustomPrompt="1"/>
          </p:nvPr>
        </p:nvSpPr>
        <p:spPr>
          <a:xfrm>
            <a:off x="615391" y="3474720"/>
            <a:ext cx="8778240" cy="1097280"/>
          </a:xfrm>
          <a:prstGeom prst="rect">
            <a:avLst/>
          </a:prstGeom>
          <a:noFill/>
          <a:ln/>
        </p:spPr>
        <p:txBody>
          <a:bodyPr wrap="square" lIns="0" tIns="0" rIns="0" bIns="0" rtlCol="0" anchor="t"/>
          <a:lstStyle/>
          <a:p>
            <a:pPr algn="l" indent="0" marL="0">
              <a:buNone/>
            </a:pPr>
            <a:r>
              <a:rPr lang="en-US" sz="2600" dirty="0">
                <a:solidFill>
                  <a:srgbClr val="F25928"/>
                </a:solidFill>
                <a:latin typeface="Founders Grotesk Medium" pitchFamily="34" charset="0"/>
                <a:ea typeface="Founders Grotesk Medium" pitchFamily="34" charset="-122"/>
                <a:cs typeface="Founders Grotesk Medium" pitchFamily="34" charset="-120"/>
              </a:rPr>
              <a:t>Skills, subagents and parallel swarms, with measured cost</a:t>
            </a:r>
            <a:endParaRPr lang="en-US" sz="2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You'll leave the workshop with this</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network">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A swarm</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that builds a security game with 15 agents, up to 8 in parallel</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clipboard-check">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Your task</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a real one, from Jira or GitHub, broken down and running</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share-2">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A memory</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a graph of what you learned, ready to use tomorrow</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Ground rules on cost</a:t>
            </a:r>
            <a:endParaRPr lang="en-US" sz="3200" dirty="0"/>
          </a:p>
        </p:txBody>
      </p:sp>
      <p:sp>
        <p:nvSpPr>
          <p:cNvPr id="3" name="stat-0"/>
          <p:cNvSpPr/>
          <p:nvPr/>
        </p:nvSpPr>
        <p:spPr>
          <a:xfrm>
            <a:off x="548640" y="1737360"/>
            <a:ext cx="3484778" cy="3291840"/>
          </a:xfrm>
          <a:prstGeom prst="rect">
            <a:avLst/>
          </a:prstGeom>
          <a:solidFill>
            <a:srgbClr val="140920"/>
          </a:solidFill>
          <a:ln w="12700">
            <a:solidFill>
              <a:srgbClr val="140920"/>
            </a:solidFill>
            <a:prstDash val="solid"/>
          </a:ln>
        </p:spPr>
      </p:sp>
      <p:sp>
        <p:nvSpPr>
          <p:cNvPr id="4" name="stat-value-0"/>
          <p:cNvSpPr txBox="1"/>
          <p:nvPr/>
        </p:nvSpPr>
        <p:spPr>
          <a:xfrm>
            <a:off x="868680" y="2057400"/>
            <a:ext cx="2844698" cy="1280160"/>
          </a:xfrm>
          <a:prstGeom prst="rect">
            <a:avLst/>
          </a:prstGeom>
          <a:noFill/>
          <a:ln/>
        </p:spPr>
        <p:txBody>
          <a:bodyPr wrap="square" lIns="0" tIns="0" rIns="0" bIns="0" rtlCol="0" anchor="t">
            <a:normAutofit/>
          </a:bodyPr>
          <a:lstStyle/>
          <a:p>
            <a:pPr indent="0" marL="0">
              <a:buNone/>
            </a:pPr>
            <a:r>
              <a:rPr lang="en-US" sz="6000" b="1" dirty="0">
                <a:solidFill>
                  <a:srgbClr val="FCF9FE"/>
                </a:solidFill>
                <a:latin typeface="Founders Grotesk Medium" pitchFamily="34" charset="0"/>
                <a:ea typeface="Founders Grotesk Medium" pitchFamily="34" charset="-122"/>
                <a:cs typeface="Founders Grotesk Medium" pitchFamily="34" charset="-120"/>
              </a:rPr>
              <a:t>US$ 5</a:t>
            </a:r>
            <a:endParaRPr lang="en-US" sz="6000" dirty="0"/>
          </a:p>
        </p:txBody>
      </p:sp>
      <p:sp>
        <p:nvSpPr>
          <p:cNvPr id="5" name="stat-label-0"/>
          <p:cNvSpPr txBox="1"/>
          <p:nvPr/>
        </p:nvSpPr>
        <p:spPr>
          <a:xfrm>
            <a:off x="868680" y="3474720"/>
            <a:ext cx="2844698" cy="1371600"/>
          </a:xfrm>
          <a:prstGeom prst="rect">
            <a:avLst/>
          </a:prstGeom>
          <a:noFill/>
          <a:ln/>
        </p:spPr>
        <p:txBody>
          <a:bodyPr wrap="square" lIns="0" tIns="0" rIns="0" bIns="0" rtlCol="0" anchor="t"/>
          <a:lstStyle/>
          <a:p>
            <a:pPr indent="0" marL="0">
              <a:buNone/>
            </a:pPr>
            <a:r>
              <a:rPr lang="en-US" sz="1800" dirty="0">
                <a:solidFill>
                  <a:srgbClr val="B9AEDB"/>
                </a:solidFill>
                <a:latin typeface="Arial" pitchFamily="34" charset="0"/>
                <a:ea typeface="Arial" pitchFamily="34" charset="-122"/>
                <a:cs typeface="Arial" pitchFamily="34" charset="-120"/>
              </a:rPr>
              <a:t>target per person, for everything you do today</a:t>
            </a:r>
            <a:endParaRPr lang="en-US" sz="1800" dirty="0"/>
          </a:p>
        </p:txBody>
      </p:sp>
      <p:sp>
        <p:nvSpPr>
          <p:cNvPr id="6" name="stat-1"/>
          <p:cNvSpPr/>
          <p:nvPr/>
        </p:nvSpPr>
        <p:spPr>
          <a:xfrm>
            <a:off x="4353458" y="1737360"/>
            <a:ext cx="3484778" cy="3291840"/>
          </a:xfrm>
          <a:prstGeom prst="rect">
            <a:avLst/>
          </a:prstGeom>
          <a:solidFill>
            <a:srgbClr val="FFFFFF"/>
          </a:solidFill>
          <a:ln w="12700">
            <a:solidFill>
              <a:srgbClr val="FFFFFF"/>
            </a:solidFill>
            <a:prstDash val="solid"/>
          </a:ln>
        </p:spPr>
      </p:sp>
      <p:sp>
        <p:nvSpPr>
          <p:cNvPr id="7" name="stat-value-1"/>
          <p:cNvSpPr txBox="1"/>
          <p:nvPr/>
        </p:nvSpPr>
        <p:spPr>
          <a:xfrm>
            <a:off x="4673498" y="2057400"/>
            <a:ext cx="2844698" cy="1280160"/>
          </a:xfrm>
          <a:prstGeom prst="rect">
            <a:avLst/>
          </a:prstGeom>
          <a:noFill/>
          <a:ln/>
        </p:spPr>
        <p:txBody>
          <a:bodyPr wrap="square" lIns="0" tIns="0" rIns="0" bIns="0" rtlCol="0" anchor="t">
            <a:normAutofit/>
          </a:bodyPr>
          <a:lstStyle/>
          <a:p>
            <a:pPr indent="0" marL="0">
              <a:buNone/>
            </a:pPr>
            <a:r>
              <a:rPr lang="en-US" sz="6000" b="1" dirty="0">
                <a:solidFill>
                  <a:srgbClr val="140920"/>
                </a:solidFill>
                <a:latin typeface="Founders Grotesk Medium" pitchFamily="34" charset="0"/>
                <a:ea typeface="Founders Grotesk Medium" pitchFamily="34" charset="-122"/>
                <a:cs typeface="Founders Grotesk Medium" pitchFamily="34" charset="-120"/>
              </a:rPr>
              <a:t>US$ 10</a:t>
            </a:r>
            <a:endParaRPr lang="en-US" sz="6000" dirty="0"/>
          </a:p>
        </p:txBody>
      </p:sp>
      <p:sp>
        <p:nvSpPr>
          <p:cNvPr id="8" name="stat-label-1"/>
          <p:cNvSpPr txBox="1"/>
          <p:nvPr/>
        </p:nvSpPr>
        <p:spPr>
          <a:xfrm>
            <a:off x="4673498" y="3474720"/>
            <a:ext cx="2844698" cy="1371600"/>
          </a:xfrm>
          <a:prstGeom prst="rect">
            <a:avLst/>
          </a:prstGeom>
          <a:noFill/>
          <a:ln/>
        </p:spPr>
        <p:txBody>
          <a:bodyPr wrap="square" lIns="0" tIns="0" rIns="0" bIns="0" rtlCol="0" anchor="t"/>
          <a:lstStyle/>
          <a:p>
            <a:pPr indent="0" marL="0">
              <a:buNone/>
            </a:pPr>
            <a:r>
              <a:rPr lang="en-US" sz="1800" dirty="0">
                <a:solidFill>
                  <a:srgbClr val="4A405A"/>
                </a:solidFill>
                <a:latin typeface="Arial" pitchFamily="34" charset="0"/>
                <a:ea typeface="Arial" pitchFamily="34" charset="-122"/>
                <a:cs typeface="Arial" pitchFamily="34" charset="-120"/>
              </a:rPr>
              <a:t>safety cap, never the goal</a:t>
            </a:r>
            <a:endParaRPr lang="en-US" sz="1800" dirty="0"/>
          </a:p>
        </p:txBody>
      </p:sp>
      <p:sp>
        <p:nvSpPr>
          <p:cNvPr id="9" name="stat-2"/>
          <p:cNvSpPr/>
          <p:nvPr/>
        </p:nvSpPr>
        <p:spPr>
          <a:xfrm>
            <a:off x="8158277" y="1737360"/>
            <a:ext cx="3484778" cy="3291840"/>
          </a:xfrm>
          <a:prstGeom prst="rect">
            <a:avLst/>
          </a:prstGeom>
          <a:solidFill>
            <a:srgbClr val="FFFFFF"/>
          </a:solidFill>
          <a:ln w="12700">
            <a:solidFill>
              <a:srgbClr val="FFFFFF"/>
            </a:solidFill>
            <a:prstDash val="solid"/>
          </a:ln>
        </p:spPr>
      </p:sp>
      <p:sp>
        <p:nvSpPr>
          <p:cNvPr id="10" name="stat-value-2"/>
          <p:cNvSpPr txBox="1"/>
          <p:nvPr/>
        </p:nvSpPr>
        <p:spPr>
          <a:xfrm>
            <a:off x="8478317" y="2057400"/>
            <a:ext cx="2844698" cy="1280160"/>
          </a:xfrm>
          <a:prstGeom prst="rect">
            <a:avLst/>
          </a:prstGeom>
          <a:noFill/>
          <a:ln/>
        </p:spPr>
        <p:txBody>
          <a:bodyPr wrap="square" lIns="0" tIns="0" rIns="0" bIns="0" rtlCol="0" anchor="t">
            <a:normAutofit/>
          </a:bodyPr>
          <a:lstStyle/>
          <a:p>
            <a:pPr indent="0" marL="0">
              <a:buNone/>
            </a:pPr>
            <a:r>
              <a:rPr lang="en-US" sz="6000" b="1" dirty="0">
                <a:solidFill>
                  <a:srgbClr val="140920"/>
                </a:solidFill>
                <a:latin typeface="Founders Grotesk Medium" pitchFamily="34" charset="0"/>
                <a:ea typeface="Founders Grotesk Medium" pitchFamily="34" charset="-122"/>
                <a:cs typeface="Founders Grotesk Medium" pitchFamily="34" charset="-120"/>
              </a:rPr>
              <a:t>0</a:t>
            </a:r>
            <a:endParaRPr lang="en-US" sz="6000" dirty="0"/>
          </a:p>
        </p:txBody>
      </p:sp>
      <p:sp>
        <p:nvSpPr>
          <p:cNvPr id="11" name="stat-label-2"/>
          <p:cNvSpPr txBox="1"/>
          <p:nvPr/>
        </p:nvSpPr>
        <p:spPr>
          <a:xfrm>
            <a:off x="8478317" y="3474720"/>
            <a:ext cx="2844698" cy="1371600"/>
          </a:xfrm>
          <a:prstGeom prst="rect">
            <a:avLst/>
          </a:prstGeom>
          <a:noFill/>
          <a:ln/>
        </p:spPr>
        <p:txBody>
          <a:bodyPr wrap="square" lIns="0" tIns="0" rIns="0" bIns="0" rtlCol="0" anchor="t"/>
          <a:lstStyle/>
          <a:p>
            <a:pPr indent="0" marL="0">
              <a:buNone/>
            </a:pPr>
            <a:r>
              <a:rPr lang="en-US" sz="1800" dirty="0">
                <a:solidFill>
                  <a:srgbClr val="4A405A"/>
                </a:solidFill>
                <a:latin typeface="Arial" pitchFamily="34" charset="0"/>
                <a:ea typeface="Arial" pitchFamily="34" charset="-122"/>
                <a:cs typeface="Arial" pitchFamily="34" charset="-120"/>
              </a:rPr>
              <a:t>sessions stopped because of cost</a:t>
            </a:r>
            <a:endParaRPr lang="en-US" sz="1800" dirty="0"/>
          </a:p>
        </p:txBody>
      </p:sp>
      <p:sp>
        <p:nvSpPr>
          <p:cNvPr id="12" name="footer"/>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dirty="0">
                <a:solidFill>
                  <a:srgbClr val="140920"/>
                </a:solidFill>
                <a:latin typeface="Arial" pitchFamily="34" charset="0"/>
                <a:ea typeface="Arial" pitchFamily="34" charset="-122"/>
                <a:cs typeface="Arial" pitchFamily="34" charset="-120"/>
              </a:rPr>
              <a:t>Project 1 measured over 16 real runs: average US$ 1.02, maximum US$ 1.12.</a:t>
            </a:r>
            <a:endParaRPr lang="en-US" sz="1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1.5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Install the kit</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Already installed? Go to the next slide</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Copy the command for your system</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Paste it into a terminal and answer the questions</a:t>
            </a:r>
            <a:endParaRPr lang="en-US" sz="2000" dirty="0"/>
          </a:p>
        </p:txBody>
      </p:sp>
      <p:sp>
        <p:nvSpPr>
          <p:cNvPr id="6" name="code-background"/>
          <p:cNvSpPr/>
          <p:nvPr/>
        </p:nvSpPr>
        <p:spPr>
          <a:xfrm>
            <a:off x="4937760" y="1920240"/>
            <a:ext cx="6705295" cy="1423721"/>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Mac (Terminal)</a:t>
            </a:r>
            <a:endParaRPr lang="en-US" sz="1300" dirty="0"/>
          </a:p>
        </p:txBody>
      </p:sp>
      <p:sp>
        <p:nvSpPr>
          <p:cNvPr id="8" name="code"/>
          <p:cNvSpPr txBox="1"/>
          <p:nvPr/>
        </p:nvSpPr>
        <p:spPr>
          <a:xfrm>
            <a:off x="5166360" y="2450592"/>
            <a:ext cx="6248095" cy="756209"/>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curl -fsSL https://github.com/cx-guilherme-pinto/workshop-claude/releases/download/v1.0.0-rc.1/setup-mac.sh | bash</a:t>
            </a:r>
            <a:endParaRPr lang="en-US" sz="1400" dirty="0"/>
          </a:p>
        </p:txBody>
      </p:sp>
      <p:sp>
        <p:nvSpPr>
          <p:cNvPr id="9" name="code-background"/>
          <p:cNvSpPr/>
          <p:nvPr/>
        </p:nvSpPr>
        <p:spPr>
          <a:xfrm>
            <a:off x="4937760" y="3572561"/>
            <a:ext cx="6705295" cy="1423721"/>
          </a:xfrm>
          <a:prstGeom prst="rect">
            <a:avLst/>
          </a:prstGeom>
          <a:solidFill>
            <a:srgbClr val="140920"/>
          </a:solidFill>
          <a:ln w="12700">
            <a:solidFill>
              <a:srgbClr val="140920"/>
            </a:solidFill>
            <a:prstDash val="solid"/>
          </a:ln>
        </p:spPr>
      </p:sp>
      <p:sp>
        <p:nvSpPr>
          <p:cNvPr id="10" name="code-label"/>
          <p:cNvSpPr txBox="1"/>
          <p:nvPr/>
        </p:nvSpPr>
        <p:spPr>
          <a:xfrm>
            <a:off x="5166360" y="3755441"/>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Windows (PowerShell)</a:t>
            </a:r>
            <a:endParaRPr lang="en-US" sz="1300" dirty="0"/>
          </a:p>
        </p:txBody>
      </p:sp>
      <p:sp>
        <p:nvSpPr>
          <p:cNvPr id="11" name="code"/>
          <p:cNvSpPr txBox="1"/>
          <p:nvPr/>
        </p:nvSpPr>
        <p:spPr>
          <a:xfrm>
            <a:off x="5166360" y="4102913"/>
            <a:ext cx="6248095" cy="756209"/>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irm https://github.com/cx-guilherme-pinto/workshop-claude/releases/download/v1.0.0-rc.1/bootstrap-windows.ps1 | iex</a:t>
            </a:r>
            <a:endParaRPr lang="en-US" sz="14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The setup summary table, with every step done</a:t>
            </a:r>
            <a:endParaRPr lang="en-US" sz="1800" dirty="0"/>
          </a:p>
        </p:txBody>
      </p:sp>
      <p:sp>
        <p:nvSpPr>
          <p:cNvPr id="15" name="notice-background"/>
          <p:cNvSpPr/>
          <p:nvPr/>
        </p:nvSpPr>
        <p:spPr>
          <a:xfrm>
            <a:off x="5745175" y="384048"/>
            <a:ext cx="5897880" cy="457200"/>
          </a:xfrm>
          <a:prstGeom prst="rect">
            <a:avLst/>
          </a:prstGeom>
          <a:solidFill>
            <a:srgbClr val="F25928"/>
          </a:solidFill>
          <a:ln w="12700">
            <a:solidFill>
              <a:srgbClr val="F25928"/>
            </a:solidFill>
            <a:prstDash val="solid"/>
          </a:ln>
        </p:spPr>
      </p:sp>
      <p:sp>
        <p:nvSpPr>
          <p:cNvPr id="16" name="notice"/>
          <p:cNvSpPr txBox="1"/>
          <p:nvPr/>
        </p:nvSpPr>
        <p:spPr>
          <a:xfrm>
            <a:off x="5909767" y="384048"/>
            <a:ext cx="5568696"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commands are in Teams: copy them from there.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3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Check your installation</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a terminal</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the command for your system</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Wait for the summary table</a:t>
            </a:r>
            <a:endParaRPr lang="en-US" sz="2000" dirty="0"/>
          </a:p>
        </p:txBody>
      </p:sp>
      <p:sp>
        <p:nvSpPr>
          <p:cNvPr id="6" name="code-background"/>
          <p:cNvSpPr/>
          <p:nvPr/>
        </p:nvSpPr>
        <p:spPr>
          <a:xfrm>
            <a:off x="4937760" y="1920240"/>
            <a:ext cx="6705295" cy="1017727"/>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Mac</a:t>
            </a:r>
            <a:endParaRPr lang="en-US" sz="1300" dirty="0"/>
          </a:p>
        </p:txBody>
      </p:sp>
      <p:sp>
        <p:nvSpPr>
          <p:cNvPr id="8" name="code"/>
          <p:cNvSpPr txBox="1"/>
          <p:nvPr/>
        </p:nvSpPr>
        <p:spPr>
          <a:xfrm>
            <a:off x="5166360" y="2450592"/>
            <a:ext cx="6248095" cy="350215"/>
          </a:xfrm>
          <a:prstGeom prst="rect">
            <a:avLst/>
          </a:prstGeom>
          <a:noFill/>
          <a:ln/>
        </p:spPr>
        <p:txBody>
          <a:bodyPr wrap="square" lIns="0" tIns="0" rIns="0" bIns="0" rtlCol="0" anchor="t"/>
          <a:lstStyle/>
          <a:p>
            <a:pPr indent="0" marL="0">
              <a:buNone/>
            </a:pPr>
            <a:r>
              <a:rPr lang="en-US" sz="1800" dirty="0">
                <a:solidFill>
                  <a:srgbClr val="FCF9FE"/>
                </a:solidFill>
                <a:latin typeface="Courier New" pitchFamily="34" charset="0"/>
                <a:ea typeface="Courier New" pitchFamily="34" charset="-122"/>
                <a:cs typeface="Courier New" pitchFamily="34" charset="-120"/>
              </a:rPr>
              <a:t>bash ~/.workshop-claude/setup-mac.sh --check</a:t>
            </a:r>
            <a:endParaRPr lang="en-US" sz="1800" dirty="0"/>
          </a:p>
        </p:txBody>
      </p:sp>
      <p:sp>
        <p:nvSpPr>
          <p:cNvPr id="9" name="code-background"/>
          <p:cNvSpPr/>
          <p:nvPr/>
        </p:nvSpPr>
        <p:spPr>
          <a:xfrm>
            <a:off x="4937760" y="3166567"/>
            <a:ext cx="6705295" cy="1423721"/>
          </a:xfrm>
          <a:prstGeom prst="rect">
            <a:avLst/>
          </a:prstGeom>
          <a:solidFill>
            <a:srgbClr val="140920"/>
          </a:solidFill>
          <a:ln w="12700">
            <a:solidFill>
              <a:srgbClr val="140920"/>
            </a:solidFill>
            <a:prstDash val="solid"/>
          </a:ln>
        </p:spPr>
      </p:sp>
      <p:sp>
        <p:nvSpPr>
          <p:cNvPr id="10" name="code-label"/>
          <p:cNvSpPr txBox="1"/>
          <p:nvPr/>
        </p:nvSpPr>
        <p:spPr>
          <a:xfrm>
            <a:off x="5166360" y="3349447"/>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Windows</a:t>
            </a:r>
            <a:endParaRPr lang="en-US" sz="1300" dirty="0"/>
          </a:p>
        </p:txBody>
      </p:sp>
      <p:sp>
        <p:nvSpPr>
          <p:cNvPr id="11" name="code"/>
          <p:cNvSpPr txBox="1"/>
          <p:nvPr/>
        </p:nvSpPr>
        <p:spPr>
          <a:xfrm>
            <a:off x="5166360" y="3696919"/>
            <a:ext cx="6248095" cy="756209"/>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powershell -NoProfile -ExecutionPolicy Bypass -File "$HOME\.workshop-claude\setup-windows.ps1" -Check</a:t>
            </a:r>
            <a:endParaRPr lang="en-US" sz="14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"Check complete: everything is ready for the workshop."</a:t>
            </a:r>
            <a:endParaRPr lang="en-US" sz="1800" dirty="0"/>
          </a:p>
        </p:txBody>
      </p:sp>
      <p:sp>
        <p:nvSpPr>
          <p:cNvPr id="15" name="notice-background"/>
          <p:cNvSpPr/>
          <p:nvPr/>
        </p:nvSpPr>
        <p:spPr>
          <a:xfrm>
            <a:off x="5745175" y="384048"/>
            <a:ext cx="5897880" cy="457200"/>
          </a:xfrm>
          <a:prstGeom prst="rect">
            <a:avLst/>
          </a:prstGeom>
          <a:solidFill>
            <a:srgbClr val="F25928"/>
          </a:solidFill>
          <a:ln w="12700">
            <a:solidFill>
              <a:srgbClr val="F25928"/>
            </a:solidFill>
            <a:prstDash val="solid"/>
          </a:ln>
        </p:spPr>
      </p:sp>
      <p:sp>
        <p:nvSpPr>
          <p:cNvPr id="16" name="notice"/>
          <p:cNvSpPr txBox="1"/>
          <p:nvPr/>
        </p:nvSpPr>
        <p:spPr>
          <a:xfrm>
            <a:off x="5909767" y="384048"/>
            <a:ext cx="5568696"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commands are in Teams: copy them from there.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Did a step fail?</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doctor mode</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Read Claude's diagnosis (under US$ 0.01)</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Follow the steps and run the install command again</a:t>
            </a:r>
            <a:endParaRPr lang="en-US" sz="2000" dirty="0"/>
          </a:p>
        </p:txBody>
      </p:sp>
      <p:sp>
        <p:nvSpPr>
          <p:cNvPr id="6" name="code-background"/>
          <p:cNvSpPr/>
          <p:nvPr/>
        </p:nvSpPr>
        <p:spPr>
          <a:xfrm>
            <a:off x="4937760" y="1920240"/>
            <a:ext cx="6705295" cy="1017727"/>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Mac</a:t>
            </a:r>
            <a:endParaRPr lang="en-US" sz="1300" dirty="0"/>
          </a:p>
        </p:txBody>
      </p:sp>
      <p:sp>
        <p:nvSpPr>
          <p:cNvPr id="8" name="code"/>
          <p:cNvSpPr txBox="1"/>
          <p:nvPr/>
        </p:nvSpPr>
        <p:spPr>
          <a:xfrm>
            <a:off x="5166360" y="2450592"/>
            <a:ext cx="6248095" cy="350215"/>
          </a:xfrm>
          <a:prstGeom prst="rect">
            <a:avLst/>
          </a:prstGeom>
          <a:noFill/>
          <a:ln/>
        </p:spPr>
        <p:txBody>
          <a:bodyPr wrap="square" lIns="0" tIns="0" rIns="0" bIns="0" rtlCol="0" anchor="t"/>
          <a:lstStyle/>
          <a:p>
            <a:pPr indent="0" marL="0">
              <a:buNone/>
            </a:pPr>
            <a:r>
              <a:rPr lang="en-US" sz="1800" dirty="0">
                <a:solidFill>
                  <a:srgbClr val="FCF9FE"/>
                </a:solidFill>
                <a:latin typeface="Courier New" pitchFamily="34" charset="0"/>
                <a:ea typeface="Courier New" pitchFamily="34" charset="-122"/>
                <a:cs typeface="Courier New" pitchFamily="34" charset="-120"/>
              </a:rPr>
              <a:t>bash ~/.workshop-claude/setup-mac.sh --doctor</a:t>
            </a:r>
            <a:endParaRPr lang="en-US" sz="1800" dirty="0"/>
          </a:p>
        </p:txBody>
      </p:sp>
      <p:sp>
        <p:nvSpPr>
          <p:cNvPr id="9" name="code-background"/>
          <p:cNvSpPr/>
          <p:nvPr/>
        </p:nvSpPr>
        <p:spPr>
          <a:xfrm>
            <a:off x="4937760" y="3166567"/>
            <a:ext cx="6705295" cy="1423721"/>
          </a:xfrm>
          <a:prstGeom prst="rect">
            <a:avLst/>
          </a:prstGeom>
          <a:solidFill>
            <a:srgbClr val="140920"/>
          </a:solidFill>
          <a:ln w="12700">
            <a:solidFill>
              <a:srgbClr val="140920"/>
            </a:solidFill>
            <a:prstDash val="solid"/>
          </a:ln>
        </p:spPr>
      </p:sp>
      <p:sp>
        <p:nvSpPr>
          <p:cNvPr id="10" name="code-label"/>
          <p:cNvSpPr txBox="1"/>
          <p:nvPr/>
        </p:nvSpPr>
        <p:spPr>
          <a:xfrm>
            <a:off x="5166360" y="3349447"/>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Windows</a:t>
            </a:r>
            <a:endParaRPr lang="en-US" sz="1300" dirty="0"/>
          </a:p>
        </p:txBody>
      </p:sp>
      <p:sp>
        <p:nvSpPr>
          <p:cNvPr id="11" name="code"/>
          <p:cNvSpPr txBox="1"/>
          <p:nvPr/>
        </p:nvSpPr>
        <p:spPr>
          <a:xfrm>
            <a:off x="5166360" y="3696919"/>
            <a:ext cx="6248095" cy="756209"/>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powershell -NoProfile -ExecutionPolicy Bypass -File "$HOME\.workshop-claude\setup-windows.ps1" -Doctor</a:t>
            </a:r>
            <a:endParaRPr lang="en-US" sz="14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What failed, why and how to fix it; the install only repeats what is missing</a:t>
            </a:r>
            <a:endParaRPr lang="en-US" sz="1800" dirty="0"/>
          </a:p>
        </p:txBody>
      </p:sp>
      <p:sp>
        <p:nvSpPr>
          <p:cNvPr id="15" name="notice-background"/>
          <p:cNvSpPr/>
          <p:nvPr/>
        </p:nvSpPr>
        <p:spPr>
          <a:xfrm>
            <a:off x="5745175" y="384048"/>
            <a:ext cx="5897880" cy="457200"/>
          </a:xfrm>
          <a:prstGeom prst="rect">
            <a:avLst/>
          </a:prstGeom>
          <a:solidFill>
            <a:srgbClr val="F25928"/>
          </a:solidFill>
          <a:ln w="12700">
            <a:solidFill>
              <a:srgbClr val="F25928"/>
            </a:solidFill>
            <a:prstDash val="solid"/>
          </a:ln>
        </p:spPr>
      </p:sp>
      <p:sp>
        <p:nvSpPr>
          <p:cNvPr id="16" name="notice"/>
          <p:cNvSpPr txBox="1"/>
          <p:nvPr/>
        </p:nvSpPr>
        <p:spPr>
          <a:xfrm>
            <a:off x="5909767" y="384048"/>
            <a:ext cx="5568696"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commands are in Teams: copy them from there.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715975" y="1051560"/>
            <a:ext cx="7498080" cy="1554480"/>
          </a:xfrm>
          <a:prstGeom prst="rect">
            <a:avLst/>
          </a:prstGeom>
          <a:noFill/>
          <a:ln/>
        </p:spPr>
        <p:txBody>
          <a:bodyPr wrap="square" lIns="0" tIns="0" rIns="0" bIns="0" rtlCol="0" anchor="t"/>
          <a:lstStyle/>
          <a:p>
            <a:pPr algn="l" indent="0" marL="0">
              <a:buNone/>
            </a:pPr>
            <a:r>
              <a:rPr lang="en-US" sz="4600" dirty="0">
                <a:solidFill>
                  <a:srgbClr val="140920"/>
                </a:solidFill>
                <a:latin typeface="Founders Grotesk Medium" pitchFamily="34" charset="0"/>
                <a:ea typeface="Founders Grotesk Medium" pitchFamily="34" charset="-122"/>
                <a:cs typeface="Founders Grotesk Medium" pitchFamily="34" charset="-120"/>
              </a:rPr>
              <a:t>Concepts</a:t>
            </a:r>
            <a:endParaRPr lang="en-US" sz="4600" dirty="0"/>
          </a:p>
        </p:txBody>
      </p:sp>
      <p:sp>
        <p:nvSpPr>
          <p:cNvPr id="3" name="Text 0"/>
          <p:cNvSpPr/>
          <p:nvPr>
            <p:ph idx="102" type="body" hasCustomPrompt="1"/>
          </p:nvPr>
        </p:nvSpPr>
        <p:spPr>
          <a:xfrm>
            <a:off x="715975" y="2697480"/>
            <a:ext cx="5852160" cy="1097280"/>
          </a:xfrm>
          <a:prstGeom prst="rect">
            <a:avLst/>
          </a:prstGeom>
          <a:noFill/>
          <a:ln/>
        </p:spPr>
        <p:txBody>
          <a:bodyPr wrap="square" lIns="0" tIns="0" rIns="0" bIns="0" rtlCol="0" anchor="t"/>
          <a:lstStyle/>
          <a:p>
            <a:pPr algn="l" indent="0" marL="0">
              <a:buNone/>
            </a:pPr>
            <a:r>
              <a:rPr lang="en-US" sz="2000" dirty="0">
                <a:solidFill>
                  <a:srgbClr val="4A405A"/>
                </a:solidFill>
                <a:latin typeface="Arial" pitchFamily="34" charset="0"/>
                <a:ea typeface="Arial" pitchFamily="34" charset="-122"/>
                <a:cs typeface="Arial" pitchFamily="34" charset="-120"/>
              </a:rPr>
              <a:t>Skills, agents, graphs and money</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Claude Code works in your project</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file-pen-line">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Reads and writes</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project files, with permissions you control</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square-terminal">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Runs commands</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tests, git, scripts: it reads the output and fixes what fails</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plug">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Connects to tools</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Jira and your memory via MCP; GitHub with gh</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A skill is a recipe with a name</a:t>
            </a:r>
            <a:endParaRPr lang="en-US" sz="3200" dirty="0"/>
          </a:p>
        </p:txBody>
      </p:sp>
      <p:sp>
        <p:nvSpPr>
          <p:cNvPr id="3" name="intro"/>
          <p:cNvSpPr txBox="1"/>
          <p:nvPr/>
        </p:nvSpPr>
        <p:spPr>
          <a:xfrm>
            <a:off x="548640" y="1463040"/>
            <a:ext cx="11094415" cy="548640"/>
          </a:xfrm>
          <a:prstGeom prst="rect">
            <a:avLst/>
          </a:prstGeom>
          <a:noFill/>
          <a:ln/>
        </p:spPr>
        <p:txBody>
          <a:bodyPr wrap="square" lIns="0" tIns="0" rIns="0" bIns="0" rtlCol="0" anchor="t"/>
          <a:lstStyle/>
          <a:p>
            <a:pPr indent="0" marL="0">
              <a:buNone/>
            </a:pPr>
            <a:r>
              <a:rPr lang="en-US" sz="2000" dirty="0">
                <a:solidFill>
                  <a:srgbClr val="140920"/>
                </a:solidFill>
                <a:latin typeface="Arial" pitchFamily="34" charset="0"/>
                <a:ea typeface="Arial" pitchFamily="34" charset="-122"/>
                <a:cs typeface="Arial" pitchFamily="34" charset="-120"/>
              </a:rPr>
              <a:t>A SKILL.md file in a folder. You type /name and Claude follows the recipe.</a:t>
            </a:r>
            <a:endParaRPr lang="en-US" sz="2000" dirty="0"/>
          </a:p>
        </p:txBody>
      </p:sp>
      <p:sp>
        <p:nvSpPr>
          <p:cNvPr id="4" name="code-background"/>
          <p:cNvSpPr/>
          <p:nvPr/>
        </p:nvSpPr>
        <p:spPr>
          <a:xfrm>
            <a:off x="548640" y="2148840"/>
            <a:ext cx="11094415" cy="3474720"/>
          </a:xfrm>
          <a:prstGeom prst="rect">
            <a:avLst/>
          </a:prstGeom>
          <a:solidFill>
            <a:srgbClr val="140920"/>
          </a:solidFill>
          <a:ln w="12700">
            <a:solidFill>
              <a:srgbClr val="140920"/>
            </a:solidFill>
            <a:prstDash val="solid"/>
          </a:ln>
        </p:spPr>
      </p:sp>
      <p:sp>
        <p:nvSpPr>
          <p:cNvPr id="5" name="code"/>
          <p:cNvSpPr txBox="1"/>
          <p:nvPr/>
        </p:nvSpPr>
        <p:spPr>
          <a:xfrm>
            <a:off x="777240" y="2331720"/>
            <a:ext cx="10637215" cy="3154680"/>
          </a:xfrm>
          <a:prstGeom prst="rect">
            <a:avLst/>
          </a:prstGeom>
          <a:noFill/>
          <a:ln/>
        </p:spPr>
        <p:txBody>
          <a:bodyPr wrap="square" lIns="0" tIns="0" rIns="0" bIns="0" rtlCol="0" anchor="t"/>
          <a:lstStyle/>
          <a:p>
            <a:pPr indent="0" marL="0">
              <a:buNone/>
            </a:pPr>
            <a:r>
              <a:rPr lang="en-US" sz="1500" dirty="0">
                <a:solidFill>
                  <a:srgbClr val="FCF9FE"/>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name: demo-swarm</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description: Runs the Arena swarm in waves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model: sonnet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allowed-tools: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 Bash(node tools/*)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 Agent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1. Run next-wave.mjs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2. Launch exactly the calls it returns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3. Repeat until STATE: DONE</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Answer in the participant's language.</a:t>
            </a:r>
            <a:endParaRPr lang="en-US" sz="1500" dirty="0"/>
          </a:p>
        </p:txBody>
      </p:sp>
      <p:sp>
        <p:nvSpPr>
          <p:cNvPr id="6" name="after"/>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.claude/skills/ in the project · ~/.claude/skills/ for every project · written in English, they answer in your language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Subagents: their own context and model</a:t>
            </a:r>
            <a:endParaRPr lang="en-US" sz="3200" dirty="0"/>
          </a:p>
        </p:txBody>
      </p:sp>
      <p:sp>
        <p:nvSpPr>
          <p:cNvPr id="3" name="model-0"/>
          <p:cNvSpPr/>
          <p:nvPr/>
        </p:nvSpPr>
        <p:spPr>
          <a:xfrm>
            <a:off x="548640" y="1691640"/>
            <a:ext cx="3484778" cy="3749040"/>
          </a:xfrm>
          <a:prstGeom prst="rect">
            <a:avLst/>
          </a:prstGeom>
          <a:solidFill>
            <a:srgbClr val="FFFFFF"/>
          </a:solidFill>
          <a:ln w="12700">
            <a:solidFill>
              <a:srgbClr val="FFFFFF"/>
            </a:solidFill>
            <a:prstDash val="solid"/>
          </a:ln>
        </p:spPr>
      </p:sp>
      <p:sp>
        <p:nvSpPr>
          <p:cNvPr id="4" name="model-icon-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odel-icon-0" descr="brain">    </p:cNvPr>
          <p:cNvPicPr>
            <a:picLocks noChangeAspect="1"/>
          </p:cNvPicPr>
          <p:nvPr/>
        </p:nvPicPr>
        <p:blipFill>
          <a:blip r:embed="rId1"/>
          <a:stretch>
            <a:fillRect/>
          </a:stretch>
        </p:blipFill>
        <p:spPr>
          <a:xfrm>
            <a:off x="989381" y="2132381"/>
            <a:ext cx="307238" cy="307238"/>
          </a:xfrm>
          <a:prstGeom prst="rect">
            <a:avLst/>
          </a:prstGeom>
        </p:spPr>
      </p:pic>
      <p:sp>
        <p:nvSpPr>
          <p:cNvPr id="6" name="model-name-0"/>
          <p:cNvSpPr txBox="1"/>
          <p:nvPr/>
        </p:nvSpPr>
        <p:spPr>
          <a:xfrm>
            <a:off x="868680" y="2697480"/>
            <a:ext cx="2844698" cy="914400"/>
          </a:xfrm>
          <a:prstGeom prst="rect">
            <a:avLst/>
          </a:prstGeom>
          <a:noFill/>
          <a:ln/>
        </p:spPr>
        <p:txBody>
          <a:bodyPr wrap="square" lIns="0" tIns="0" rIns="0" bIns="0" rtlCol="0" anchor="t"/>
          <a:lstStyle/>
          <a:p>
            <a:pPr indent="0" marL="0">
              <a:buNone/>
            </a:pPr>
            <a:r>
              <a:rPr lang="en-US" sz="4800" b="1" dirty="0">
                <a:solidFill>
                  <a:srgbClr val="140920"/>
                </a:solidFill>
                <a:latin typeface="Founders Grotesk Medium" pitchFamily="34" charset="0"/>
                <a:ea typeface="Founders Grotesk Medium" pitchFamily="34" charset="-122"/>
                <a:cs typeface="Founders Grotesk Medium" pitchFamily="34" charset="-120"/>
              </a:rPr>
              <a:t>Opus</a:t>
            </a:r>
            <a:endParaRPr lang="en-US" sz="4800" dirty="0"/>
          </a:p>
        </p:txBody>
      </p:sp>
      <p:sp>
        <p:nvSpPr>
          <p:cNvPr id="7" name="model-role-0"/>
          <p:cNvSpPr txBox="1"/>
          <p:nvPr/>
        </p:nvSpPr>
        <p:spPr>
          <a:xfrm>
            <a:off x="868680" y="3703320"/>
            <a:ext cx="2844698" cy="822960"/>
          </a:xfrm>
          <a:prstGeom prst="rect">
            <a:avLst/>
          </a:prstGeom>
          <a:noFill/>
          <a:ln/>
        </p:spPr>
        <p:txBody>
          <a:bodyPr wrap="square" lIns="0" tIns="0" rIns="0" bIns="0" rtlCol="0" anchor="t"/>
          <a:lstStyle/>
          <a:p>
            <a:pPr indent="0" marL="0">
              <a:buNone/>
            </a:pPr>
            <a:r>
              <a:rPr lang="en-US" sz="2000" dirty="0">
                <a:solidFill>
                  <a:srgbClr val="140920"/>
                </a:solidFill>
                <a:latin typeface="Arial" pitchFamily="34" charset="0"/>
                <a:ea typeface="Arial" pitchFamily="34" charset="-122"/>
                <a:cs typeface="Arial" pitchFamily="34" charset="-120"/>
              </a:rPr>
              <a:t>planning and review</a:t>
            </a:r>
            <a:endParaRPr lang="en-US" sz="2000" dirty="0"/>
          </a:p>
        </p:txBody>
      </p:sp>
      <p:sp>
        <p:nvSpPr>
          <p:cNvPr id="8" name="model-price-0"/>
          <p:cNvSpPr txBox="1"/>
          <p:nvPr/>
        </p:nvSpPr>
        <p:spPr>
          <a:xfrm>
            <a:off x="868680" y="4663440"/>
            <a:ext cx="2844698" cy="457200"/>
          </a:xfrm>
          <a:prstGeom prst="rect">
            <a:avLst/>
          </a:prstGeom>
          <a:noFill/>
          <a:ln/>
        </p:spPr>
        <p:txBody>
          <a:bodyPr wrap="square" lIns="0" tIns="0" rIns="0" bIns="0" rtlCol="0" anchor="t"/>
          <a:lstStyle/>
          <a:p>
            <a:pPr indent="0" marL="0">
              <a:buNone/>
            </a:pPr>
            <a:r>
              <a:rPr lang="en-US" sz="1800" b="1" dirty="0">
                <a:solidFill>
                  <a:srgbClr val="4A405A"/>
                </a:solidFill>
                <a:latin typeface="Arial" pitchFamily="34" charset="0"/>
                <a:ea typeface="Arial" pitchFamily="34" charset="-122"/>
                <a:cs typeface="Arial" pitchFamily="34" charset="-120"/>
              </a:rPr>
              <a:t>US$ 4 / 20</a:t>
            </a:r>
            <a:endParaRPr lang="en-US" sz="1800" dirty="0"/>
          </a:p>
        </p:txBody>
      </p:sp>
      <p:sp>
        <p:nvSpPr>
          <p:cNvPr id="9" name="model-1"/>
          <p:cNvSpPr/>
          <p:nvPr/>
        </p:nvSpPr>
        <p:spPr>
          <a:xfrm>
            <a:off x="4353458" y="1691640"/>
            <a:ext cx="3484778" cy="3749040"/>
          </a:xfrm>
          <a:prstGeom prst="rect">
            <a:avLst/>
          </a:prstGeom>
          <a:solidFill>
            <a:srgbClr val="FFFFFF"/>
          </a:solidFill>
          <a:ln w="12700">
            <a:solidFill>
              <a:srgbClr val="FFFFFF"/>
            </a:solidFill>
            <a:prstDash val="solid"/>
          </a:ln>
        </p:spPr>
      </p:sp>
      <p:sp>
        <p:nvSpPr>
          <p:cNvPr id="10" name="model-icon-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1" name="model-icon-1" descr="puzzle">    </p:cNvPr>
          <p:cNvPicPr>
            <a:picLocks noChangeAspect="1"/>
          </p:cNvPicPr>
          <p:nvPr/>
        </p:nvPicPr>
        <p:blipFill>
          <a:blip r:embed="rId2"/>
          <a:stretch>
            <a:fillRect/>
          </a:stretch>
        </p:blipFill>
        <p:spPr>
          <a:xfrm>
            <a:off x="4794199" y="2132381"/>
            <a:ext cx="307238" cy="307238"/>
          </a:xfrm>
          <a:prstGeom prst="rect">
            <a:avLst/>
          </a:prstGeom>
        </p:spPr>
      </p:pic>
      <p:sp>
        <p:nvSpPr>
          <p:cNvPr id="12" name="model-name-1"/>
          <p:cNvSpPr txBox="1"/>
          <p:nvPr/>
        </p:nvSpPr>
        <p:spPr>
          <a:xfrm>
            <a:off x="4673498" y="2697480"/>
            <a:ext cx="2844698" cy="914400"/>
          </a:xfrm>
          <a:prstGeom prst="rect">
            <a:avLst/>
          </a:prstGeom>
          <a:noFill/>
          <a:ln/>
        </p:spPr>
        <p:txBody>
          <a:bodyPr wrap="square" lIns="0" tIns="0" rIns="0" bIns="0" rtlCol="0" anchor="t"/>
          <a:lstStyle/>
          <a:p>
            <a:pPr indent="0" marL="0">
              <a:buNone/>
            </a:pPr>
            <a:r>
              <a:rPr lang="en-US" sz="4800" b="1" dirty="0">
                <a:solidFill>
                  <a:srgbClr val="140920"/>
                </a:solidFill>
                <a:latin typeface="Founders Grotesk Medium" pitchFamily="34" charset="0"/>
                <a:ea typeface="Founders Grotesk Medium" pitchFamily="34" charset="-122"/>
                <a:cs typeface="Founders Grotesk Medium" pitchFamily="34" charset="-120"/>
              </a:rPr>
              <a:t>Sonnet</a:t>
            </a:r>
            <a:endParaRPr lang="en-US" sz="4800" dirty="0"/>
          </a:p>
        </p:txBody>
      </p:sp>
      <p:sp>
        <p:nvSpPr>
          <p:cNvPr id="13" name="model-role-1"/>
          <p:cNvSpPr txBox="1"/>
          <p:nvPr/>
        </p:nvSpPr>
        <p:spPr>
          <a:xfrm>
            <a:off x="4673498" y="3703320"/>
            <a:ext cx="2844698" cy="822960"/>
          </a:xfrm>
          <a:prstGeom prst="rect">
            <a:avLst/>
          </a:prstGeom>
          <a:noFill/>
          <a:ln/>
        </p:spPr>
        <p:txBody>
          <a:bodyPr wrap="square" lIns="0" tIns="0" rIns="0" bIns="0" rtlCol="0" anchor="t"/>
          <a:lstStyle/>
          <a:p>
            <a:pPr indent="0" marL="0">
              <a:buNone/>
            </a:pPr>
            <a:r>
              <a:rPr lang="en-US" sz="2000" dirty="0">
                <a:solidFill>
                  <a:srgbClr val="140920"/>
                </a:solidFill>
                <a:latin typeface="Arial" pitchFamily="34" charset="0"/>
                <a:ea typeface="Arial" pitchFamily="34" charset="-122"/>
                <a:cs typeface="Arial" pitchFamily="34" charset="-120"/>
              </a:rPr>
              <a:t>integration and hard logic</a:t>
            </a:r>
            <a:endParaRPr lang="en-US" sz="2000" dirty="0"/>
          </a:p>
        </p:txBody>
      </p:sp>
      <p:sp>
        <p:nvSpPr>
          <p:cNvPr id="14" name="model-price-1"/>
          <p:cNvSpPr txBox="1"/>
          <p:nvPr/>
        </p:nvSpPr>
        <p:spPr>
          <a:xfrm>
            <a:off x="4673498" y="4663440"/>
            <a:ext cx="2844698" cy="457200"/>
          </a:xfrm>
          <a:prstGeom prst="rect">
            <a:avLst/>
          </a:prstGeom>
          <a:noFill/>
          <a:ln/>
        </p:spPr>
        <p:txBody>
          <a:bodyPr wrap="square" lIns="0" tIns="0" rIns="0" bIns="0" rtlCol="0" anchor="t"/>
          <a:lstStyle/>
          <a:p>
            <a:pPr indent="0" marL="0">
              <a:buNone/>
            </a:pPr>
            <a:r>
              <a:rPr lang="en-US" sz="1800" b="1" dirty="0">
                <a:solidFill>
                  <a:srgbClr val="4A405A"/>
                </a:solidFill>
                <a:latin typeface="Arial" pitchFamily="34" charset="0"/>
                <a:ea typeface="Arial" pitchFamily="34" charset="-122"/>
                <a:cs typeface="Arial" pitchFamily="34" charset="-120"/>
              </a:rPr>
              <a:t>US$ 2 / 10</a:t>
            </a:r>
            <a:endParaRPr lang="en-US" sz="1800" dirty="0"/>
          </a:p>
        </p:txBody>
      </p:sp>
      <p:sp>
        <p:nvSpPr>
          <p:cNvPr id="15" name="model-2"/>
          <p:cNvSpPr/>
          <p:nvPr/>
        </p:nvSpPr>
        <p:spPr>
          <a:xfrm>
            <a:off x="8158277" y="1691640"/>
            <a:ext cx="3484778" cy="3749040"/>
          </a:xfrm>
          <a:prstGeom prst="rect">
            <a:avLst/>
          </a:prstGeom>
          <a:solidFill>
            <a:srgbClr val="FFFFFF"/>
          </a:solidFill>
          <a:ln w="12700">
            <a:solidFill>
              <a:srgbClr val="FFFFFF"/>
            </a:solidFill>
            <a:prstDash val="solid"/>
          </a:ln>
        </p:spPr>
      </p:sp>
      <p:sp>
        <p:nvSpPr>
          <p:cNvPr id="16" name="model-icon-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7" name="model-icon-2" descr="feather">    </p:cNvPr>
          <p:cNvPicPr>
            <a:picLocks noChangeAspect="1"/>
          </p:cNvPicPr>
          <p:nvPr/>
        </p:nvPicPr>
        <p:blipFill>
          <a:blip r:embed="rId3"/>
          <a:stretch>
            <a:fillRect/>
          </a:stretch>
        </p:blipFill>
        <p:spPr>
          <a:xfrm>
            <a:off x="8599018" y="2132381"/>
            <a:ext cx="307238" cy="307238"/>
          </a:xfrm>
          <a:prstGeom prst="rect">
            <a:avLst/>
          </a:prstGeom>
        </p:spPr>
      </p:pic>
      <p:sp>
        <p:nvSpPr>
          <p:cNvPr id="18" name="model-name-2"/>
          <p:cNvSpPr txBox="1"/>
          <p:nvPr/>
        </p:nvSpPr>
        <p:spPr>
          <a:xfrm>
            <a:off x="8478317" y="2697480"/>
            <a:ext cx="2844698" cy="914400"/>
          </a:xfrm>
          <a:prstGeom prst="rect">
            <a:avLst/>
          </a:prstGeom>
          <a:noFill/>
          <a:ln/>
        </p:spPr>
        <p:txBody>
          <a:bodyPr wrap="square" lIns="0" tIns="0" rIns="0" bIns="0" rtlCol="0" anchor="t"/>
          <a:lstStyle/>
          <a:p>
            <a:pPr indent="0" marL="0">
              <a:buNone/>
            </a:pPr>
            <a:r>
              <a:rPr lang="en-US" sz="4800" b="1" dirty="0">
                <a:solidFill>
                  <a:srgbClr val="140920"/>
                </a:solidFill>
                <a:latin typeface="Founders Grotesk Medium" pitchFamily="34" charset="0"/>
                <a:ea typeface="Founders Grotesk Medium" pitchFamily="34" charset="-122"/>
                <a:cs typeface="Founders Grotesk Medium" pitchFamily="34" charset="-120"/>
              </a:rPr>
              <a:t>Haiku</a:t>
            </a:r>
            <a:endParaRPr lang="en-US" sz="4800" dirty="0"/>
          </a:p>
        </p:txBody>
      </p:sp>
      <p:sp>
        <p:nvSpPr>
          <p:cNvPr id="19" name="model-role-2"/>
          <p:cNvSpPr txBox="1"/>
          <p:nvPr/>
        </p:nvSpPr>
        <p:spPr>
          <a:xfrm>
            <a:off x="8478317" y="3703320"/>
            <a:ext cx="2844698" cy="822960"/>
          </a:xfrm>
          <a:prstGeom prst="rect">
            <a:avLst/>
          </a:prstGeom>
          <a:noFill/>
          <a:ln/>
        </p:spPr>
        <p:txBody>
          <a:bodyPr wrap="square" lIns="0" tIns="0" rIns="0" bIns="0" rtlCol="0" anchor="t"/>
          <a:lstStyle/>
          <a:p>
            <a:pPr indent="0" marL="0">
              <a:buNone/>
            </a:pPr>
            <a:r>
              <a:rPr lang="en-US" sz="2000" dirty="0">
                <a:solidFill>
                  <a:srgbClr val="140920"/>
                </a:solidFill>
                <a:latin typeface="Arial" pitchFamily="34" charset="0"/>
                <a:ea typeface="Arial" pitchFamily="34" charset="-122"/>
                <a:cs typeface="Arial" pitchFamily="34" charset="-120"/>
              </a:rPr>
              <a:t>the bulk of the swarm</a:t>
            </a:r>
            <a:endParaRPr lang="en-US" sz="2000" dirty="0"/>
          </a:p>
        </p:txBody>
      </p:sp>
      <p:sp>
        <p:nvSpPr>
          <p:cNvPr id="20" name="model-price-2"/>
          <p:cNvSpPr txBox="1"/>
          <p:nvPr/>
        </p:nvSpPr>
        <p:spPr>
          <a:xfrm>
            <a:off x="8478317" y="4663440"/>
            <a:ext cx="2844698" cy="457200"/>
          </a:xfrm>
          <a:prstGeom prst="rect">
            <a:avLst/>
          </a:prstGeom>
          <a:noFill/>
          <a:ln/>
        </p:spPr>
        <p:txBody>
          <a:bodyPr wrap="square" lIns="0" tIns="0" rIns="0" bIns="0" rtlCol="0" anchor="t"/>
          <a:lstStyle/>
          <a:p>
            <a:pPr indent="0" marL="0">
              <a:buNone/>
            </a:pPr>
            <a:r>
              <a:rPr lang="en-US" sz="1800" b="1" dirty="0">
                <a:solidFill>
                  <a:srgbClr val="4A405A"/>
                </a:solidFill>
                <a:latin typeface="Arial" pitchFamily="34" charset="0"/>
                <a:ea typeface="Arial" pitchFamily="34" charset="-122"/>
                <a:cs typeface="Arial" pitchFamily="34" charset="-120"/>
              </a:rPr>
              <a:t>US$ 0.10 / 0.50</a:t>
            </a:r>
            <a:endParaRPr lang="en-US" sz="1800" dirty="0"/>
          </a:p>
        </p:txBody>
      </p:sp>
      <p:sp>
        <p:nvSpPr>
          <p:cNvPr id="21" name="footer"/>
          <p:cNvSpPr txBox="1"/>
          <p:nvPr/>
        </p:nvSpPr>
        <p:spPr>
          <a:xfrm>
            <a:off x="548640" y="5669280"/>
            <a:ext cx="11094415" cy="457200"/>
          </a:xfrm>
          <a:prstGeom prst="rect">
            <a:avLst/>
          </a:prstGeom>
          <a:noFill/>
          <a:ln/>
        </p:spPr>
        <p:txBody>
          <a:bodyPr wrap="square" lIns="0" tIns="0" rIns="0" bIns="0" rtlCol="0" anchor="t"/>
          <a:lstStyle/>
          <a:p>
            <a:pPr indent="0" marL="0">
              <a:buNone/>
            </a:pPr>
            <a:r>
              <a:rPr lang="en-US" sz="1400" dirty="0">
                <a:solidFill>
                  <a:srgbClr val="4A405A"/>
                </a:solidFill>
                <a:latin typeface="Arial" pitchFamily="34" charset="0"/>
                <a:ea typeface="Arial" pitchFamily="34" charset="-122"/>
                <a:cs typeface="Arial" pitchFamily="34" charset="-120"/>
              </a:rPr>
              <a:t>Price per million tokens: input / output. Source: platform.claude.com/docs/en/about-claude/pricing (2026-10-16).</a:t>
            </a:r>
            <a:endParaRPr lang="en-US" sz="1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cost rule of thumb</a:t>
            </a:r>
            <a:endParaRPr lang="en-US" sz="3200" dirty="0"/>
          </a:p>
        </p:txBody>
      </p:sp>
      <p:sp>
        <p:nvSpPr>
          <p:cNvPr id="3" name="stat-0"/>
          <p:cNvSpPr/>
          <p:nvPr/>
        </p:nvSpPr>
        <p:spPr>
          <a:xfrm>
            <a:off x="548640" y="1737360"/>
            <a:ext cx="3484778" cy="3291840"/>
          </a:xfrm>
          <a:prstGeom prst="rect">
            <a:avLst/>
          </a:prstGeom>
          <a:solidFill>
            <a:srgbClr val="140920"/>
          </a:solidFill>
          <a:ln w="12700">
            <a:solidFill>
              <a:srgbClr val="140920"/>
            </a:solidFill>
            <a:prstDash val="solid"/>
          </a:ln>
        </p:spPr>
      </p:sp>
      <p:sp>
        <p:nvSpPr>
          <p:cNvPr id="4" name="stat-value-0"/>
          <p:cNvSpPr txBox="1"/>
          <p:nvPr/>
        </p:nvSpPr>
        <p:spPr>
          <a:xfrm>
            <a:off x="868680" y="2057400"/>
            <a:ext cx="2844698" cy="1280160"/>
          </a:xfrm>
          <a:prstGeom prst="rect">
            <a:avLst/>
          </a:prstGeom>
          <a:noFill/>
          <a:ln/>
        </p:spPr>
        <p:txBody>
          <a:bodyPr wrap="square" lIns="0" tIns="0" rIns="0" bIns="0" rtlCol="0" anchor="t">
            <a:normAutofit/>
          </a:bodyPr>
          <a:lstStyle/>
          <a:p>
            <a:pPr indent="0" marL="0">
              <a:buNone/>
            </a:pPr>
            <a:r>
              <a:rPr lang="en-US" sz="6000" b="1" dirty="0">
                <a:solidFill>
                  <a:srgbClr val="FCF9FE"/>
                </a:solidFill>
                <a:latin typeface="Founders Grotesk Medium" pitchFamily="34" charset="0"/>
                <a:ea typeface="Founders Grotesk Medium" pitchFamily="34" charset="-122"/>
                <a:cs typeface="Founders Grotesk Medium" pitchFamily="34" charset="-120"/>
              </a:rPr>
              <a:t>20×</a:t>
            </a:r>
            <a:endParaRPr lang="en-US" sz="6000" dirty="0"/>
          </a:p>
        </p:txBody>
      </p:sp>
      <p:sp>
        <p:nvSpPr>
          <p:cNvPr id="5" name="stat-label-0"/>
          <p:cNvSpPr txBox="1"/>
          <p:nvPr/>
        </p:nvSpPr>
        <p:spPr>
          <a:xfrm>
            <a:off x="868680" y="3474720"/>
            <a:ext cx="2844698" cy="1371600"/>
          </a:xfrm>
          <a:prstGeom prst="rect">
            <a:avLst/>
          </a:prstGeom>
          <a:noFill/>
          <a:ln/>
        </p:spPr>
        <p:txBody>
          <a:bodyPr wrap="square" lIns="0" tIns="0" rIns="0" bIns="0" rtlCol="0" anchor="t"/>
          <a:lstStyle/>
          <a:p>
            <a:pPr indent="0" marL="0">
              <a:buNone/>
            </a:pPr>
            <a:r>
              <a:rPr lang="en-US" sz="1800" dirty="0">
                <a:solidFill>
                  <a:srgbClr val="B9AEDB"/>
                </a:solidFill>
                <a:latin typeface="Arial" pitchFamily="34" charset="0"/>
                <a:ea typeface="Arial" pitchFamily="34" charset="-122"/>
                <a:cs typeface="Arial" pitchFamily="34" charset="-120"/>
              </a:rPr>
              <a:t>Haiku is 20 times cheaper than Sonnet</a:t>
            </a:r>
            <a:endParaRPr lang="en-US" sz="1800" dirty="0"/>
          </a:p>
        </p:txBody>
      </p:sp>
      <p:sp>
        <p:nvSpPr>
          <p:cNvPr id="6" name="stat-1"/>
          <p:cNvSpPr/>
          <p:nvPr/>
        </p:nvSpPr>
        <p:spPr>
          <a:xfrm>
            <a:off x="4353458" y="1737360"/>
            <a:ext cx="3484778" cy="3291840"/>
          </a:xfrm>
          <a:prstGeom prst="rect">
            <a:avLst/>
          </a:prstGeom>
          <a:solidFill>
            <a:srgbClr val="FFFFFF"/>
          </a:solidFill>
          <a:ln w="12700">
            <a:solidFill>
              <a:srgbClr val="FFFFFF"/>
            </a:solidFill>
            <a:prstDash val="solid"/>
          </a:ln>
        </p:spPr>
      </p:sp>
      <p:sp>
        <p:nvSpPr>
          <p:cNvPr id="7" name="stat-value-1"/>
          <p:cNvSpPr txBox="1"/>
          <p:nvPr/>
        </p:nvSpPr>
        <p:spPr>
          <a:xfrm>
            <a:off x="4673498" y="2057400"/>
            <a:ext cx="2844698" cy="1280160"/>
          </a:xfrm>
          <a:prstGeom prst="rect">
            <a:avLst/>
          </a:prstGeom>
          <a:noFill/>
          <a:ln/>
        </p:spPr>
        <p:txBody>
          <a:bodyPr wrap="square" lIns="0" tIns="0" rIns="0" bIns="0" rtlCol="0" anchor="t">
            <a:normAutofit/>
          </a:bodyPr>
          <a:lstStyle/>
          <a:p>
            <a:pPr indent="0" marL="0">
              <a:buNone/>
            </a:pPr>
            <a:r>
              <a:rPr lang="en-US" sz="4400" b="1" dirty="0">
                <a:solidFill>
                  <a:srgbClr val="140920"/>
                </a:solidFill>
                <a:latin typeface="Founders Grotesk Medium" pitchFamily="34" charset="0"/>
                <a:ea typeface="Founders Grotesk Medium" pitchFamily="34" charset="-122"/>
                <a:cs typeface="Founders Grotesk Medium" pitchFamily="34" charset="-120"/>
              </a:rPr>
              <a:t>US$ 0.0017</a:t>
            </a:r>
            <a:endParaRPr lang="en-US" sz="4400" dirty="0"/>
          </a:p>
        </p:txBody>
      </p:sp>
      <p:sp>
        <p:nvSpPr>
          <p:cNvPr id="8" name="stat-label-1"/>
          <p:cNvSpPr txBox="1"/>
          <p:nvPr/>
        </p:nvSpPr>
        <p:spPr>
          <a:xfrm>
            <a:off x="4673498" y="3474720"/>
            <a:ext cx="2844698" cy="1371600"/>
          </a:xfrm>
          <a:prstGeom prst="rect">
            <a:avLst/>
          </a:prstGeom>
          <a:noFill/>
          <a:ln/>
        </p:spPr>
        <p:txBody>
          <a:bodyPr wrap="square" lIns="0" tIns="0" rIns="0" bIns="0" rtlCol="0" anchor="t"/>
          <a:lstStyle/>
          <a:p>
            <a:pPr indent="0" marL="0">
              <a:buNone/>
            </a:pPr>
            <a:r>
              <a:rPr lang="en-US" sz="1800" dirty="0">
                <a:solidFill>
                  <a:srgbClr val="4A405A"/>
                </a:solidFill>
                <a:latin typeface="Arial" pitchFamily="34" charset="0"/>
                <a:ea typeface="Arial" pitchFamily="34" charset="-122"/>
                <a:cs typeface="Arial" pitchFamily="34" charset="-120"/>
              </a:rPr>
              <a:t>average cost of one small task done by a Haiku agent</a:t>
            </a:r>
            <a:endParaRPr lang="en-US" sz="1800" dirty="0"/>
          </a:p>
        </p:txBody>
      </p:sp>
      <p:sp>
        <p:nvSpPr>
          <p:cNvPr id="9" name="stat-2"/>
          <p:cNvSpPr/>
          <p:nvPr/>
        </p:nvSpPr>
        <p:spPr>
          <a:xfrm>
            <a:off x="8158277" y="1737360"/>
            <a:ext cx="3484778" cy="3291840"/>
          </a:xfrm>
          <a:prstGeom prst="rect">
            <a:avLst/>
          </a:prstGeom>
          <a:solidFill>
            <a:srgbClr val="FFFFFF"/>
          </a:solidFill>
          <a:ln w="12700">
            <a:solidFill>
              <a:srgbClr val="FFFFFF"/>
            </a:solidFill>
            <a:prstDash val="solid"/>
          </a:ln>
        </p:spPr>
      </p:sp>
      <p:sp>
        <p:nvSpPr>
          <p:cNvPr id="10" name="stat-value-2"/>
          <p:cNvSpPr txBox="1"/>
          <p:nvPr/>
        </p:nvSpPr>
        <p:spPr>
          <a:xfrm>
            <a:off x="8478317" y="2057400"/>
            <a:ext cx="2844698" cy="1280160"/>
          </a:xfrm>
          <a:prstGeom prst="rect">
            <a:avLst/>
          </a:prstGeom>
          <a:noFill/>
          <a:ln/>
        </p:spPr>
        <p:txBody>
          <a:bodyPr wrap="square" lIns="0" tIns="0" rIns="0" bIns="0" rtlCol="0" anchor="t">
            <a:normAutofit/>
          </a:bodyPr>
          <a:lstStyle/>
          <a:p>
            <a:pPr indent="0" marL="0">
              <a:buNone/>
            </a:pPr>
            <a:r>
              <a:rPr lang="en-US" sz="6000" b="1" dirty="0">
                <a:solidFill>
                  <a:srgbClr val="140920"/>
                </a:solidFill>
                <a:latin typeface="Founders Grotesk Medium" pitchFamily="34" charset="0"/>
                <a:ea typeface="Founders Grotesk Medium" pitchFamily="34" charset="-122"/>
                <a:cs typeface="Founders Grotesk Medium" pitchFamily="34" charset="-120"/>
              </a:rPr>
              <a:t>50%</a:t>
            </a:r>
            <a:endParaRPr lang="en-US" sz="6000" dirty="0"/>
          </a:p>
        </p:txBody>
      </p:sp>
      <p:sp>
        <p:nvSpPr>
          <p:cNvPr id="11" name="stat-label-2"/>
          <p:cNvSpPr txBox="1"/>
          <p:nvPr/>
        </p:nvSpPr>
        <p:spPr>
          <a:xfrm>
            <a:off x="8478317" y="3474720"/>
            <a:ext cx="2844698" cy="1371600"/>
          </a:xfrm>
          <a:prstGeom prst="rect">
            <a:avLst/>
          </a:prstGeom>
          <a:noFill/>
          <a:ln/>
        </p:spPr>
        <p:txBody>
          <a:bodyPr wrap="square" lIns="0" tIns="0" rIns="0" bIns="0" rtlCol="0" anchor="t"/>
          <a:lstStyle/>
          <a:p>
            <a:pPr indent="0" marL="0">
              <a:buNone/>
            </a:pPr>
            <a:r>
              <a:rPr lang="en-US" sz="1800" dirty="0">
                <a:solidFill>
                  <a:srgbClr val="4A405A"/>
                </a:solidFill>
                <a:latin typeface="Arial" pitchFamily="34" charset="0"/>
                <a:ea typeface="Arial" pitchFamily="34" charset="-122"/>
                <a:cs typeface="Arial" pitchFamily="34" charset="-120"/>
              </a:rPr>
              <a:t>of the cost goes to the main session, not to the swarm</a:t>
            </a:r>
            <a:endParaRPr lang="en-US" sz="1800" dirty="0"/>
          </a:p>
        </p:txBody>
      </p:sp>
      <p:sp>
        <p:nvSpPr>
          <p:cNvPr id="12" name="footer"/>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dirty="0">
                <a:solidFill>
                  <a:srgbClr val="140920"/>
                </a:solidFill>
                <a:latin typeface="Arial" pitchFamily="34" charset="0"/>
                <a:ea typeface="Arial" pitchFamily="34" charset="-122"/>
                <a:cs typeface="Arial" pitchFamily="34" charset="-120"/>
              </a:rPr>
              <a:t>As much as possible on Haiku. Sonnet only where Haiku fails. Opus only to think and review.</a:t>
            </a:r>
            <a:endParaRPr lang="en-US" sz="1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Task → graph → waves</a:t>
            </a:r>
            <a:endParaRPr lang="en-US" sz="3200" dirty="0"/>
          </a:p>
        </p:txBody>
      </p:sp>
      <p:sp>
        <p:nvSpPr>
          <p:cNvPr id="3" name="wave-0"/>
          <p:cNvSpPr/>
          <p:nvPr/>
        </p:nvSpPr>
        <p:spPr>
          <a:xfrm>
            <a:off x="548640" y="1600200"/>
            <a:ext cx="4023360" cy="4069080"/>
          </a:xfrm>
          <a:prstGeom prst="rect">
            <a:avLst/>
          </a:prstGeom>
          <a:solidFill>
            <a:srgbClr val="FFFFFF"/>
          </a:solidFill>
          <a:ln w="12700">
            <a:solidFill>
              <a:srgbClr val="FFFFFF"/>
            </a:solidFill>
            <a:prstDash val="solid"/>
          </a:ln>
        </p:spPr>
      </p:sp>
      <p:sp>
        <p:nvSpPr>
          <p:cNvPr id="4" name="wave-name-0"/>
          <p:cNvSpPr txBox="1"/>
          <p:nvPr/>
        </p:nvSpPr>
        <p:spPr>
          <a:xfrm>
            <a:off x="822960" y="1783080"/>
            <a:ext cx="347472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1</a:t>
            </a:r>
            <a:endParaRPr lang="en-US" sz="2400" dirty="0"/>
          </a:p>
        </p:txBody>
      </p:sp>
      <p:sp>
        <p:nvSpPr>
          <p:cNvPr id="5" name="wave-model-icon-0-circle"/>
          <p:cNvSpPr/>
          <p:nvPr/>
        </p:nvSpPr>
        <p:spPr>
          <a:xfrm>
            <a:off x="822960" y="2304288"/>
            <a:ext cx="310896" cy="310896"/>
          </a:xfrm>
          <a:prstGeom prst="ellipse">
            <a:avLst/>
          </a:prstGeom>
          <a:solidFill>
            <a:srgbClr val="6B34FD"/>
          </a:solidFill>
          <a:ln w="12700">
            <a:solidFill>
              <a:srgbClr val="6B34FD"/>
            </a:solidFill>
            <a:prstDash val="solid"/>
          </a:ln>
        </p:spPr>
      </p:sp>
      <p:pic>
        <p:nvPicPr>
          <p:cNvPr id="6" name="wave-model-icon-0" descr="feather">    </p:cNvPr>
          <p:cNvPicPr>
            <a:picLocks noChangeAspect="1"/>
          </p:cNvPicPr>
          <p:nvPr/>
        </p:nvPicPr>
        <p:blipFill>
          <a:blip r:embed="rId1"/>
          <a:stretch>
            <a:fillRect/>
          </a:stretch>
        </p:blipFill>
        <p:spPr>
          <a:xfrm>
            <a:off x="891357" y="2372685"/>
            <a:ext cx="174102" cy="174102"/>
          </a:xfrm>
          <a:prstGeom prst="rect">
            <a:avLst/>
          </a:prstGeom>
        </p:spPr>
      </p:pic>
      <p:sp>
        <p:nvSpPr>
          <p:cNvPr id="7" name="wave-model-0"/>
          <p:cNvSpPr txBox="1"/>
          <p:nvPr/>
        </p:nvSpPr>
        <p:spPr>
          <a:xfrm>
            <a:off x="1225296" y="2304288"/>
            <a:ext cx="310896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Haiku</a:t>
            </a:r>
            <a:endParaRPr lang="en-US" sz="1600" dirty="0"/>
          </a:p>
        </p:txBody>
      </p:sp>
      <p:sp>
        <p:nvSpPr>
          <p:cNvPr id="8" name="wave-sub-0"/>
          <p:cNvSpPr txBox="1"/>
          <p:nvPr/>
        </p:nvSpPr>
        <p:spPr>
          <a:xfrm>
            <a:off x="822960" y="2724912"/>
            <a:ext cx="347472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lib-hash and 15 tasks</a:t>
            </a:r>
            <a:endParaRPr lang="en-US" sz="1500" dirty="0"/>
          </a:p>
        </p:txBody>
      </p:sp>
      <p:sp>
        <p:nvSpPr>
          <p:cNvPr id="9" name="hash"/>
          <p:cNvSpPr/>
          <p:nvPr/>
        </p:nvSpPr>
        <p:spPr>
          <a:xfrm>
            <a:off x="822960" y="3383280"/>
            <a:ext cx="384048" cy="384048"/>
          </a:xfrm>
          <a:prstGeom prst="rect">
            <a:avLst/>
          </a:prstGeom>
          <a:solidFill>
            <a:srgbClr val="F1C232"/>
          </a:solidFill>
          <a:ln w="12700">
            <a:solidFill>
              <a:srgbClr val="F1C232"/>
            </a:solidFill>
            <a:prstDash val="solid"/>
          </a:ln>
        </p:spPr>
      </p:sp>
      <p:sp>
        <p:nvSpPr>
          <p:cNvPr id="10" name="hash-label"/>
          <p:cNvSpPr txBox="1"/>
          <p:nvPr/>
        </p:nvSpPr>
        <p:spPr>
          <a:xfrm>
            <a:off x="1325880" y="3383280"/>
            <a:ext cx="1463040" cy="384048"/>
          </a:xfrm>
          <a:prstGeom prst="rect">
            <a:avLst/>
          </a:prstGeom>
          <a:noFill/>
          <a:ln/>
        </p:spPr>
        <p:txBody>
          <a:bodyPr wrap="square" lIns="0" tIns="0" rIns="0" bIns="0" rtlCol="0" anchor="ctr"/>
          <a:lstStyle/>
          <a:p>
            <a:pPr indent="0" marL="0">
              <a:buNone/>
            </a:pPr>
            <a:r>
              <a:rPr lang="en-US" sz="1400" b="1" dirty="0">
                <a:solidFill>
                  <a:srgbClr val="140920"/>
                </a:solidFill>
                <a:latin typeface="Arial" pitchFamily="34" charset="0"/>
                <a:ea typeface="Arial" pitchFamily="34" charset="-122"/>
                <a:cs typeface="Arial" pitchFamily="34" charset="-120"/>
              </a:rPr>
              <a:t>lib-hash</a:t>
            </a:r>
            <a:endParaRPr lang="en-US" sz="1400" dirty="0"/>
          </a:p>
        </p:txBody>
      </p:sp>
      <p:sp>
        <p:nvSpPr>
          <p:cNvPr id="11" name="task-0"/>
          <p:cNvSpPr/>
          <p:nvPr/>
        </p:nvSpPr>
        <p:spPr>
          <a:xfrm>
            <a:off x="822960" y="3931920"/>
            <a:ext cx="384048" cy="384048"/>
          </a:xfrm>
          <a:prstGeom prst="rect">
            <a:avLst/>
          </a:prstGeom>
          <a:solidFill>
            <a:srgbClr val="1E9E57"/>
          </a:solidFill>
          <a:ln w="12700">
            <a:solidFill>
              <a:srgbClr val="1E9E57"/>
            </a:solidFill>
            <a:prstDash val="solid"/>
          </a:ln>
        </p:spPr>
      </p:sp>
      <p:sp>
        <p:nvSpPr>
          <p:cNvPr id="12" name="task-1"/>
          <p:cNvSpPr/>
          <p:nvPr/>
        </p:nvSpPr>
        <p:spPr>
          <a:xfrm>
            <a:off x="1389888" y="3931920"/>
            <a:ext cx="384048" cy="384048"/>
          </a:xfrm>
          <a:prstGeom prst="rect">
            <a:avLst/>
          </a:prstGeom>
          <a:solidFill>
            <a:srgbClr val="1E9E57"/>
          </a:solidFill>
          <a:ln w="12700">
            <a:solidFill>
              <a:srgbClr val="1E9E57"/>
            </a:solidFill>
            <a:prstDash val="solid"/>
          </a:ln>
        </p:spPr>
      </p:sp>
      <p:sp>
        <p:nvSpPr>
          <p:cNvPr id="13" name="task-2"/>
          <p:cNvSpPr/>
          <p:nvPr/>
        </p:nvSpPr>
        <p:spPr>
          <a:xfrm>
            <a:off x="1956816" y="3931920"/>
            <a:ext cx="384048" cy="384048"/>
          </a:xfrm>
          <a:prstGeom prst="rect">
            <a:avLst/>
          </a:prstGeom>
          <a:solidFill>
            <a:srgbClr val="F1C232"/>
          </a:solidFill>
          <a:ln w="12700">
            <a:solidFill>
              <a:srgbClr val="F1C232"/>
            </a:solidFill>
            <a:prstDash val="solid"/>
          </a:ln>
        </p:spPr>
      </p:sp>
      <p:sp>
        <p:nvSpPr>
          <p:cNvPr id="14" name="task-3"/>
          <p:cNvSpPr/>
          <p:nvPr/>
        </p:nvSpPr>
        <p:spPr>
          <a:xfrm>
            <a:off x="2523744" y="3931920"/>
            <a:ext cx="384048" cy="384048"/>
          </a:xfrm>
          <a:prstGeom prst="rect">
            <a:avLst/>
          </a:prstGeom>
          <a:solidFill>
            <a:srgbClr val="1E9E57"/>
          </a:solidFill>
          <a:ln w="12700">
            <a:solidFill>
              <a:srgbClr val="1E9E57"/>
            </a:solidFill>
            <a:prstDash val="solid"/>
          </a:ln>
        </p:spPr>
      </p:sp>
      <p:sp>
        <p:nvSpPr>
          <p:cNvPr id="15" name="task-4"/>
          <p:cNvSpPr/>
          <p:nvPr/>
        </p:nvSpPr>
        <p:spPr>
          <a:xfrm>
            <a:off x="3090672" y="3931920"/>
            <a:ext cx="384048" cy="384048"/>
          </a:xfrm>
          <a:prstGeom prst="rect">
            <a:avLst/>
          </a:prstGeom>
          <a:solidFill>
            <a:srgbClr val="1E9E57"/>
          </a:solidFill>
          <a:ln w="12700">
            <a:solidFill>
              <a:srgbClr val="1E9E57"/>
            </a:solidFill>
            <a:prstDash val="solid"/>
          </a:ln>
        </p:spPr>
      </p:sp>
      <p:sp>
        <p:nvSpPr>
          <p:cNvPr id="16" name="task-5"/>
          <p:cNvSpPr/>
          <p:nvPr/>
        </p:nvSpPr>
        <p:spPr>
          <a:xfrm>
            <a:off x="3657600" y="3931920"/>
            <a:ext cx="384048" cy="384048"/>
          </a:xfrm>
          <a:prstGeom prst="rect">
            <a:avLst/>
          </a:prstGeom>
          <a:solidFill>
            <a:srgbClr val="F1C232"/>
          </a:solidFill>
          <a:ln w="12700">
            <a:solidFill>
              <a:srgbClr val="F1C232"/>
            </a:solidFill>
            <a:prstDash val="solid"/>
          </a:ln>
        </p:spPr>
      </p:sp>
      <p:sp>
        <p:nvSpPr>
          <p:cNvPr id="17" name="task-6"/>
          <p:cNvSpPr/>
          <p:nvPr/>
        </p:nvSpPr>
        <p:spPr>
          <a:xfrm>
            <a:off x="822960" y="4434840"/>
            <a:ext cx="384048" cy="384048"/>
          </a:xfrm>
          <a:prstGeom prst="rect">
            <a:avLst/>
          </a:prstGeom>
          <a:solidFill>
            <a:srgbClr val="1E9E57"/>
          </a:solidFill>
          <a:ln w="12700">
            <a:solidFill>
              <a:srgbClr val="1E9E57"/>
            </a:solidFill>
            <a:prstDash val="solid"/>
          </a:ln>
        </p:spPr>
      </p:sp>
      <p:sp>
        <p:nvSpPr>
          <p:cNvPr id="18" name="task-7"/>
          <p:cNvSpPr/>
          <p:nvPr/>
        </p:nvSpPr>
        <p:spPr>
          <a:xfrm>
            <a:off x="1389888" y="4434840"/>
            <a:ext cx="384048" cy="384048"/>
          </a:xfrm>
          <a:prstGeom prst="rect">
            <a:avLst/>
          </a:prstGeom>
          <a:solidFill>
            <a:srgbClr val="1E9E57"/>
          </a:solidFill>
          <a:ln w="12700">
            <a:solidFill>
              <a:srgbClr val="1E9E57"/>
            </a:solidFill>
            <a:prstDash val="solid"/>
          </a:ln>
        </p:spPr>
      </p:sp>
      <p:sp>
        <p:nvSpPr>
          <p:cNvPr id="19" name="task-8"/>
          <p:cNvSpPr/>
          <p:nvPr/>
        </p:nvSpPr>
        <p:spPr>
          <a:xfrm>
            <a:off x="1956816" y="4434840"/>
            <a:ext cx="384048" cy="384048"/>
          </a:xfrm>
          <a:prstGeom prst="rect">
            <a:avLst/>
          </a:prstGeom>
          <a:solidFill>
            <a:srgbClr val="F1C232"/>
          </a:solidFill>
          <a:ln w="12700">
            <a:solidFill>
              <a:srgbClr val="F1C232"/>
            </a:solidFill>
            <a:prstDash val="solid"/>
          </a:ln>
        </p:spPr>
      </p:sp>
      <p:sp>
        <p:nvSpPr>
          <p:cNvPr id="20" name="task-9"/>
          <p:cNvSpPr/>
          <p:nvPr/>
        </p:nvSpPr>
        <p:spPr>
          <a:xfrm>
            <a:off x="2523744" y="4434840"/>
            <a:ext cx="384048" cy="384048"/>
          </a:xfrm>
          <a:prstGeom prst="rect">
            <a:avLst/>
          </a:prstGeom>
          <a:solidFill>
            <a:srgbClr val="1E9E57"/>
          </a:solidFill>
          <a:ln w="12700">
            <a:solidFill>
              <a:srgbClr val="1E9E57"/>
            </a:solidFill>
            <a:prstDash val="solid"/>
          </a:ln>
        </p:spPr>
      </p:sp>
      <p:sp>
        <p:nvSpPr>
          <p:cNvPr id="21" name="task-10"/>
          <p:cNvSpPr/>
          <p:nvPr/>
        </p:nvSpPr>
        <p:spPr>
          <a:xfrm>
            <a:off x="3090672" y="4434840"/>
            <a:ext cx="384048" cy="384048"/>
          </a:xfrm>
          <a:prstGeom prst="rect">
            <a:avLst/>
          </a:prstGeom>
          <a:solidFill>
            <a:srgbClr val="1E9E57"/>
          </a:solidFill>
          <a:ln w="12700">
            <a:solidFill>
              <a:srgbClr val="1E9E57"/>
            </a:solidFill>
            <a:prstDash val="solid"/>
          </a:ln>
        </p:spPr>
      </p:sp>
      <p:sp>
        <p:nvSpPr>
          <p:cNvPr id="22" name="task-11"/>
          <p:cNvSpPr/>
          <p:nvPr/>
        </p:nvSpPr>
        <p:spPr>
          <a:xfrm>
            <a:off x="3657600" y="4434840"/>
            <a:ext cx="384048" cy="384048"/>
          </a:xfrm>
          <a:prstGeom prst="rect">
            <a:avLst/>
          </a:prstGeom>
          <a:solidFill>
            <a:srgbClr val="F1C232"/>
          </a:solidFill>
          <a:ln w="12700">
            <a:solidFill>
              <a:srgbClr val="F1C232"/>
            </a:solidFill>
            <a:prstDash val="solid"/>
          </a:ln>
        </p:spPr>
      </p:sp>
      <p:sp>
        <p:nvSpPr>
          <p:cNvPr id="23" name="crypto-0"/>
          <p:cNvSpPr/>
          <p:nvPr/>
        </p:nvSpPr>
        <p:spPr>
          <a:xfrm>
            <a:off x="822960" y="5029200"/>
            <a:ext cx="384048" cy="384048"/>
          </a:xfrm>
          <a:prstGeom prst="rect">
            <a:avLst/>
          </a:prstGeom>
          <a:solidFill>
            <a:srgbClr val="C4C7C1"/>
          </a:solidFill>
          <a:ln w="12700">
            <a:solidFill>
              <a:srgbClr val="C4C7C1"/>
            </a:solidFill>
            <a:prstDash val="solid"/>
          </a:ln>
        </p:spPr>
      </p:sp>
      <p:sp>
        <p:nvSpPr>
          <p:cNvPr id="24" name="crypto-1"/>
          <p:cNvSpPr/>
          <p:nvPr/>
        </p:nvSpPr>
        <p:spPr>
          <a:xfrm>
            <a:off x="1389888" y="5029200"/>
            <a:ext cx="384048" cy="384048"/>
          </a:xfrm>
          <a:prstGeom prst="rect">
            <a:avLst/>
          </a:prstGeom>
          <a:solidFill>
            <a:srgbClr val="C4C7C1"/>
          </a:solidFill>
          <a:ln w="12700">
            <a:solidFill>
              <a:srgbClr val="C4C7C1"/>
            </a:solidFill>
            <a:prstDash val="solid"/>
          </a:ln>
        </p:spPr>
      </p:sp>
      <p:sp>
        <p:nvSpPr>
          <p:cNvPr id="25" name="crypto-2"/>
          <p:cNvSpPr/>
          <p:nvPr/>
        </p:nvSpPr>
        <p:spPr>
          <a:xfrm>
            <a:off x="1956816" y="5029200"/>
            <a:ext cx="384048" cy="384048"/>
          </a:xfrm>
          <a:prstGeom prst="rect">
            <a:avLst/>
          </a:prstGeom>
          <a:solidFill>
            <a:srgbClr val="C4C7C1"/>
          </a:solidFill>
          <a:ln w="12700">
            <a:solidFill>
              <a:srgbClr val="C4C7C1"/>
            </a:solidFill>
            <a:prstDash val="solid"/>
          </a:ln>
        </p:spPr>
      </p:sp>
      <p:sp>
        <p:nvSpPr>
          <p:cNvPr id="26" name="crypto-label"/>
          <p:cNvSpPr txBox="1"/>
          <p:nvPr/>
        </p:nvSpPr>
        <p:spPr>
          <a:xfrm>
            <a:off x="2523744" y="4956048"/>
            <a:ext cx="1911096" cy="548640"/>
          </a:xfrm>
          <a:prstGeom prst="rect">
            <a:avLst/>
          </a:prstGeom>
          <a:noFill/>
          <a:ln/>
        </p:spPr>
        <p:txBody>
          <a:bodyPr wrap="square" lIns="0" tIns="0" rIns="0" bIns="0" rtlCol="0" anchor="ctr"/>
          <a:lstStyle/>
          <a:p>
            <a:pPr indent="0" marL="0">
              <a:buNone/>
            </a:pPr>
            <a:r>
              <a:rPr lang="en-US" sz="1200" dirty="0">
                <a:solidFill>
                  <a:srgbClr val="4A405A"/>
                </a:solidFill>
                <a:latin typeface="Arial" pitchFamily="34" charset="0"/>
                <a:ea typeface="Arial" pitchFamily="34" charset="-122"/>
                <a:cs typeface="Arial" pitchFamily="34" charset="-120"/>
              </a:rPr>
              <a:t>the 3 crypto tasks</a:t>
            </a:r>
            <a:endParaRPr lang="en-US" sz="1200" dirty="0"/>
          </a:p>
          <a:p>
            <a:pPr indent="0" marL="0">
              <a:buNone/>
            </a:pPr>
            <a:r>
              <a:rPr lang="en-US" sz="1200" dirty="0">
                <a:solidFill>
                  <a:srgbClr val="4A405A"/>
                </a:solidFill>
                <a:latin typeface="Arial" pitchFamily="34" charset="0"/>
                <a:ea typeface="Arial" pitchFamily="34" charset="-122"/>
                <a:cs typeface="Arial" pitchFamily="34" charset="-120"/>
              </a:rPr>
              <a:t>wait for lib-hash</a:t>
            </a:r>
            <a:endParaRPr lang="en-US" sz="1200" dirty="0"/>
          </a:p>
        </p:txBody>
      </p:sp>
      <p:sp>
        <p:nvSpPr>
          <p:cNvPr id="27" name="arrow-0"/>
          <p:cNvSpPr/>
          <p:nvPr/>
        </p:nvSpPr>
        <p:spPr>
          <a:xfrm>
            <a:off x="4626864" y="3575304"/>
            <a:ext cx="144170" cy="0"/>
          </a:xfrm>
          <a:prstGeom prst="line">
            <a:avLst/>
          </a:prstGeom>
          <a:noFill/>
          <a:ln w="31750">
            <a:solidFill>
              <a:srgbClr val="140920"/>
            </a:solidFill>
            <a:prstDash val="solid"/>
            <a:tailEnd type="triangle"/>
          </a:ln>
        </p:spPr>
      </p:sp>
      <p:sp>
        <p:nvSpPr>
          <p:cNvPr id="28" name="wave-1"/>
          <p:cNvSpPr/>
          <p:nvPr/>
        </p:nvSpPr>
        <p:spPr>
          <a:xfrm>
            <a:off x="4825898" y="1600200"/>
            <a:ext cx="2103120" cy="4069080"/>
          </a:xfrm>
          <a:prstGeom prst="rect">
            <a:avLst/>
          </a:prstGeom>
          <a:solidFill>
            <a:srgbClr val="FFFFFF"/>
          </a:solidFill>
          <a:ln w="12700">
            <a:solidFill>
              <a:srgbClr val="FFFFFF"/>
            </a:solidFill>
            <a:prstDash val="solid"/>
          </a:ln>
        </p:spPr>
      </p:sp>
      <p:sp>
        <p:nvSpPr>
          <p:cNvPr id="29" name="wave-name-1"/>
          <p:cNvSpPr txBox="1"/>
          <p:nvPr/>
        </p:nvSpPr>
        <p:spPr>
          <a:xfrm>
            <a:off x="5100218"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2</a:t>
            </a:r>
            <a:endParaRPr lang="en-US" sz="2400" dirty="0"/>
          </a:p>
        </p:txBody>
      </p:sp>
      <p:sp>
        <p:nvSpPr>
          <p:cNvPr id="30" name="wave-model-icon-1-circle"/>
          <p:cNvSpPr/>
          <p:nvPr/>
        </p:nvSpPr>
        <p:spPr>
          <a:xfrm>
            <a:off x="5100218" y="2304288"/>
            <a:ext cx="310896" cy="310896"/>
          </a:xfrm>
          <a:prstGeom prst="ellipse">
            <a:avLst/>
          </a:prstGeom>
          <a:solidFill>
            <a:srgbClr val="6B34FD"/>
          </a:solidFill>
          <a:ln w="12700">
            <a:solidFill>
              <a:srgbClr val="6B34FD"/>
            </a:solidFill>
            <a:prstDash val="solid"/>
          </a:ln>
        </p:spPr>
      </p:sp>
      <p:pic>
        <p:nvPicPr>
          <p:cNvPr id="31" name="wave-model-icon-1" descr="puzzle">    </p:cNvPr>
          <p:cNvPicPr>
            <a:picLocks noChangeAspect="1"/>
          </p:cNvPicPr>
          <p:nvPr/>
        </p:nvPicPr>
        <p:blipFill>
          <a:blip r:embed="rId2"/>
          <a:stretch>
            <a:fillRect/>
          </a:stretch>
        </p:blipFill>
        <p:spPr>
          <a:xfrm>
            <a:off x="5168616" y="2372685"/>
            <a:ext cx="174102" cy="174102"/>
          </a:xfrm>
          <a:prstGeom prst="rect">
            <a:avLst/>
          </a:prstGeom>
        </p:spPr>
      </p:pic>
      <p:sp>
        <p:nvSpPr>
          <p:cNvPr id="32" name="wave-model-1"/>
          <p:cNvSpPr txBox="1"/>
          <p:nvPr/>
        </p:nvSpPr>
        <p:spPr>
          <a:xfrm>
            <a:off x="5502554"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Sonnet</a:t>
            </a:r>
            <a:endParaRPr lang="en-US" sz="1600" dirty="0"/>
          </a:p>
        </p:txBody>
      </p:sp>
      <p:sp>
        <p:nvSpPr>
          <p:cNvPr id="33" name="wave-sub-1"/>
          <p:cNvSpPr txBox="1"/>
          <p:nvPr/>
        </p:nvSpPr>
        <p:spPr>
          <a:xfrm>
            <a:off x="5100218"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categories and scoring</a:t>
            </a:r>
            <a:endParaRPr lang="en-US" sz="1500" dirty="0"/>
          </a:p>
        </p:txBody>
      </p:sp>
      <p:sp>
        <p:nvSpPr>
          <p:cNvPr id="34" name="wave1-0"/>
          <p:cNvSpPr/>
          <p:nvPr/>
        </p:nvSpPr>
        <p:spPr>
          <a:xfrm>
            <a:off x="5100218" y="3383280"/>
            <a:ext cx="384048" cy="384048"/>
          </a:xfrm>
          <a:prstGeom prst="rect">
            <a:avLst/>
          </a:prstGeom>
          <a:solidFill>
            <a:srgbClr val="C4C7C1"/>
          </a:solidFill>
          <a:ln w="12700">
            <a:solidFill>
              <a:srgbClr val="C4C7C1"/>
            </a:solidFill>
            <a:prstDash val="solid"/>
          </a:ln>
        </p:spPr>
      </p:sp>
      <p:sp>
        <p:nvSpPr>
          <p:cNvPr id="35" name="wave1-1"/>
          <p:cNvSpPr/>
          <p:nvPr/>
        </p:nvSpPr>
        <p:spPr>
          <a:xfrm>
            <a:off x="5667146" y="3383280"/>
            <a:ext cx="384048" cy="384048"/>
          </a:xfrm>
          <a:prstGeom prst="rect">
            <a:avLst/>
          </a:prstGeom>
          <a:solidFill>
            <a:srgbClr val="C4C7C1"/>
          </a:solidFill>
          <a:ln w="12700">
            <a:solidFill>
              <a:srgbClr val="C4C7C1"/>
            </a:solidFill>
            <a:prstDash val="solid"/>
          </a:ln>
        </p:spPr>
      </p:sp>
      <p:sp>
        <p:nvSpPr>
          <p:cNvPr id="36" name="arrow-1"/>
          <p:cNvSpPr/>
          <p:nvPr/>
        </p:nvSpPr>
        <p:spPr>
          <a:xfrm>
            <a:off x="6983882" y="3575304"/>
            <a:ext cx="144170" cy="0"/>
          </a:xfrm>
          <a:prstGeom prst="line">
            <a:avLst/>
          </a:prstGeom>
          <a:noFill/>
          <a:ln w="31750">
            <a:solidFill>
              <a:srgbClr val="140920"/>
            </a:solidFill>
            <a:prstDash val="solid"/>
            <a:tailEnd type="triangle"/>
          </a:ln>
        </p:spPr>
      </p:sp>
      <p:sp>
        <p:nvSpPr>
          <p:cNvPr id="37" name="wave-2"/>
          <p:cNvSpPr/>
          <p:nvPr/>
        </p:nvSpPr>
        <p:spPr>
          <a:xfrm>
            <a:off x="7182917" y="1600200"/>
            <a:ext cx="2103120" cy="4069080"/>
          </a:xfrm>
          <a:prstGeom prst="rect">
            <a:avLst/>
          </a:prstGeom>
          <a:solidFill>
            <a:srgbClr val="FFFFFF"/>
          </a:solidFill>
          <a:ln w="12700">
            <a:solidFill>
              <a:srgbClr val="FFFFFF"/>
            </a:solidFill>
            <a:prstDash val="solid"/>
          </a:ln>
        </p:spPr>
      </p:sp>
      <p:sp>
        <p:nvSpPr>
          <p:cNvPr id="38" name="wave-name-2"/>
          <p:cNvSpPr txBox="1"/>
          <p:nvPr/>
        </p:nvSpPr>
        <p:spPr>
          <a:xfrm>
            <a:off x="7457237"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3</a:t>
            </a:r>
            <a:endParaRPr lang="en-US" sz="2400" dirty="0"/>
          </a:p>
        </p:txBody>
      </p:sp>
      <p:sp>
        <p:nvSpPr>
          <p:cNvPr id="39" name="wave-model-icon-2-circle"/>
          <p:cNvSpPr/>
          <p:nvPr/>
        </p:nvSpPr>
        <p:spPr>
          <a:xfrm>
            <a:off x="7457237" y="2304288"/>
            <a:ext cx="310896" cy="310896"/>
          </a:xfrm>
          <a:prstGeom prst="ellipse">
            <a:avLst/>
          </a:prstGeom>
          <a:solidFill>
            <a:srgbClr val="6B34FD"/>
          </a:solidFill>
          <a:ln w="12700">
            <a:solidFill>
              <a:srgbClr val="6B34FD"/>
            </a:solidFill>
            <a:prstDash val="solid"/>
          </a:ln>
        </p:spPr>
      </p:sp>
      <p:pic>
        <p:nvPicPr>
          <p:cNvPr id="40" name="wave-model-icon-2" descr="puzzle">    </p:cNvPr>
          <p:cNvPicPr>
            <a:picLocks noChangeAspect="1"/>
          </p:cNvPicPr>
          <p:nvPr/>
        </p:nvPicPr>
        <p:blipFill>
          <a:blip r:embed="rId3"/>
          <a:stretch>
            <a:fillRect/>
          </a:stretch>
        </p:blipFill>
        <p:spPr>
          <a:xfrm>
            <a:off x="7525634" y="2372685"/>
            <a:ext cx="174102" cy="174102"/>
          </a:xfrm>
          <a:prstGeom prst="rect">
            <a:avLst/>
          </a:prstGeom>
        </p:spPr>
      </p:pic>
      <p:sp>
        <p:nvSpPr>
          <p:cNvPr id="41" name="wave-model-2"/>
          <p:cNvSpPr txBox="1"/>
          <p:nvPr/>
        </p:nvSpPr>
        <p:spPr>
          <a:xfrm>
            <a:off x="7859573"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Sonnet</a:t>
            </a:r>
            <a:endParaRPr lang="en-US" sz="1600" dirty="0"/>
          </a:p>
        </p:txBody>
      </p:sp>
      <p:sp>
        <p:nvSpPr>
          <p:cNvPr id="42" name="wave-sub-2"/>
          <p:cNvSpPr txBox="1"/>
          <p:nvPr/>
        </p:nvSpPr>
        <p:spPr>
          <a:xfrm>
            <a:off x="7457237"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integration and test suite</a:t>
            </a:r>
            <a:endParaRPr lang="en-US" sz="1500" dirty="0"/>
          </a:p>
        </p:txBody>
      </p:sp>
      <p:sp>
        <p:nvSpPr>
          <p:cNvPr id="43" name="wave2-0"/>
          <p:cNvSpPr/>
          <p:nvPr/>
        </p:nvSpPr>
        <p:spPr>
          <a:xfrm>
            <a:off x="7457237" y="3383280"/>
            <a:ext cx="384048" cy="384048"/>
          </a:xfrm>
          <a:prstGeom prst="rect">
            <a:avLst/>
          </a:prstGeom>
          <a:solidFill>
            <a:srgbClr val="C4C7C1"/>
          </a:solidFill>
          <a:ln w="12700">
            <a:solidFill>
              <a:srgbClr val="C4C7C1"/>
            </a:solidFill>
            <a:prstDash val="solid"/>
          </a:ln>
        </p:spPr>
      </p:sp>
      <p:sp>
        <p:nvSpPr>
          <p:cNvPr id="44" name="arrow-2"/>
          <p:cNvSpPr/>
          <p:nvPr/>
        </p:nvSpPr>
        <p:spPr>
          <a:xfrm>
            <a:off x="9340901" y="3575304"/>
            <a:ext cx="144170" cy="0"/>
          </a:xfrm>
          <a:prstGeom prst="line">
            <a:avLst/>
          </a:prstGeom>
          <a:noFill/>
          <a:ln w="31750">
            <a:solidFill>
              <a:srgbClr val="140920"/>
            </a:solidFill>
            <a:prstDash val="solid"/>
            <a:tailEnd type="triangle"/>
          </a:ln>
        </p:spPr>
      </p:sp>
      <p:sp>
        <p:nvSpPr>
          <p:cNvPr id="45" name="wave-3"/>
          <p:cNvSpPr/>
          <p:nvPr/>
        </p:nvSpPr>
        <p:spPr>
          <a:xfrm>
            <a:off x="9539935" y="1600200"/>
            <a:ext cx="2103120" cy="4069080"/>
          </a:xfrm>
          <a:prstGeom prst="rect">
            <a:avLst/>
          </a:prstGeom>
          <a:solidFill>
            <a:srgbClr val="FFFFFF"/>
          </a:solidFill>
          <a:ln w="12700">
            <a:solidFill>
              <a:srgbClr val="FFFFFF"/>
            </a:solidFill>
            <a:prstDash val="solid"/>
          </a:ln>
        </p:spPr>
      </p:sp>
      <p:sp>
        <p:nvSpPr>
          <p:cNvPr id="46" name="wave-name-3"/>
          <p:cNvSpPr txBox="1"/>
          <p:nvPr/>
        </p:nvSpPr>
        <p:spPr>
          <a:xfrm>
            <a:off x="9814255"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4</a:t>
            </a:r>
            <a:endParaRPr lang="en-US" sz="2400" dirty="0"/>
          </a:p>
        </p:txBody>
      </p:sp>
      <p:sp>
        <p:nvSpPr>
          <p:cNvPr id="47" name="wave-model-icon-3-circle"/>
          <p:cNvSpPr/>
          <p:nvPr/>
        </p:nvSpPr>
        <p:spPr>
          <a:xfrm>
            <a:off x="9814255" y="2304288"/>
            <a:ext cx="310896" cy="310896"/>
          </a:xfrm>
          <a:prstGeom prst="ellipse">
            <a:avLst/>
          </a:prstGeom>
          <a:solidFill>
            <a:srgbClr val="6B34FD"/>
          </a:solidFill>
          <a:ln w="12700">
            <a:solidFill>
              <a:srgbClr val="6B34FD"/>
            </a:solidFill>
            <a:prstDash val="solid"/>
          </a:ln>
        </p:spPr>
      </p:sp>
      <p:pic>
        <p:nvPicPr>
          <p:cNvPr id="48" name="wave-model-icon-3" descr="brain">    </p:cNvPr>
          <p:cNvPicPr>
            <a:picLocks noChangeAspect="1"/>
          </p:cNvPicPr>
          <p:nvPr/>
        </p:nvPicPr>
        <p:blipFill>
          <a:blip r:embed="rId4"/>
          <a:stretch>
            <a:fillRect/>
          </a:stretch>
        </p:blipFill>
        <p:spPr>
          <a:xfrm>
            <a:off x="9882652" y="2372685"/>
            <a:ext cx="174102" cy="174102"/>
          </a:xfrm>
          <a:prstGeom prst="rect">
            <a:avLst/>
          </a:prstGeom>
        </p:spPr>
      </p:pic>
      <p:sp>
        <p:nvSpPr>
          <p:cNvPr id="49" name="wave-model-3"/>
          <p:cNvSpPr txBox="1"/>
          <p:nvPr/>
        </p:nvSpPr>
        <p:spPr>
          <a:xfrm>
            <a:off x="10216591"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Opus</a:t>
            </a:r>
            <a:endParaRPr lang="en-US" sz="1600" dirty="0"/>
          </a:p>
        </p:txBody>
      </p:sp>
      <p:sp>
        <p:nvSpPr>
          <p:cNvPr id="50" name="wave-sub-3"/>
          <p:cNvSpPr txBox="1"/>
          <p:nvPr/>
        </p:nvSpPr>
        <p:spPr>
          <a:xfrm>
            <a:off x="9814255"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review and verdict</a:t>
            </a:r>
            <a:endParaRPr lang="en-US" sz="1500" dirty="0"/>
          </a:p>
        </p:txBody>
      </p:sp>
      <p:sp>
        <p:nvSpPr>
          <p:cNvPr id="51" name="wave3-0"/>
          <p:cNvSpPr/>
          <p:nvPr/>
        </p:nvSpPr>
        <p:spPr>
          <a:xfrm>
            <a:off x="9814255" y="3383280"/>
            <a:ext cx="384048" cy="384048"/>
          </a:xfrm>
          <a:prstGeom prst="rect">
            <a:avLst/>
          </a:prstGeom>
          <a:solidFill>
            <a:srgbClr val="C4C7C1"/>
          </a:solidFill>
          <a:ln w="12700">
            <a:solidFill>
              <a:srgbClr val="C4C7C1"/>
            </a:solidFill>
            <a:prstDash val="solid"/>
          </a:ln>
        </p:spPr>
      </p:sp>
      <p:sp>
        <p:nvSpPr>
          <p:cNvPr id="52" name="status-legend-title"/>
          <p:cNvSpPr txBox="1"/>
          <p:nvPr/>
        </p:nvSpPr>
        <p:spPr>
          <a:xfrm>
            <a:off x="548640" y="5833872"/>
            <a:ext cx="2149191" cy="274320"/>
          </a:xfrm>
          <a:prstGeom prst="rect">
            <a:avLst/>
          </a:prstGeom>
          <a:noFill/>
          <a:ln/>
        </p:spPr>
        <p:txBody>
          <a:bodyPr wrap="square" lIns="0" tIns="0" rIns="0" bIns="0" rtlCol="0" anchor="ctr"/>
          <a:lstStyle/>
          <a:p>
            <a:pPr indent="0" marL="0">
              <a:buNone/>
            </a:pPr>
            <a:r>
              <a:rPr lang="en-US" sz="1300" b="1" dirty="0">
                <a:solidFill>
                  <a:srgbClr val="140920"/>
                </a:solidFill>
                <a:latin typeface="Arial" pitchFamily="34" charset="0"/>
                <a:ea typeface="Arial" pitchFamily="34" charset="-122"/>
                <a:cs typeface="Arial" pitchFamily="34" charset="-120"/>
              </a:rPr>
              <a:t>Each square is a task:</a:t>
            </a:r>
            <a:endParaRPr lang="en-US" sz="1300" dirty="0"/>
          </a:p>
        </p:txBody>
      </p:sp>
      <p:sp>
        <p:nvSpPr>
          <p:cNvPr id="53" name="status-legend-0"/>
          <p:cNvSpPr/>
          <p:nvPr/>
        </p:nvSpPr>
        <p:spPr>
          <a:xfrm>
            <a:off x="2697831" y="5861304"/>
            <a:ext cx="219456" cy="219456"/>
          </a:xfrm>
          <a:prstGeom prst="rect">
            <a:avLst/>
          </a:prstGeom>
          <a:solidFill>
            <a:srgbClr val="C4C7C1"/>
          </a:solidFill>
          <a:ln w="12700">
            <a:solidFill>
              <a:srgbClr val="C4C7C1"/>
            </a:solidFill>
            <a:prstDash val="solid"/>
          </a:ln>
        </p:spPr>
      </p:sp>
      <p:sp>
        <p:nvSpPr>
          <p:cNvPr id="54" name="status-legend-label-0"/>
          <p:cNvSpPr txBox="1"/>
          <p:nvPr/>
        </p:nvSpPr>
        <p:spPr>
          <a:xfrm>
            <a:off x="3027015" y="5833872"/>
            <a:ext cx="977311"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waiting</a:t>
            </a:r>
            <a:endParaRPr lang="en-US" sz="1300" dirty="0"/>
          </a:p>
        </p:txBody>
      </p:sp>
      <p:sp>
        <p:nvSpPr>
          <p:cNvPr id="55" name="status-legend-1"/>
          <p:cNvSpPr/>
          <p:nvPr/>
        </p:nvSpPr>
        <p:spPr>
          <a:xfrm>
            <a:off x="4004326" y="5861304"/>
            <a:ext cx="219456" cy="219456"/>
          </a:xfrm>
          <a:prstGeom prst="rect">
            <a:avLst/>
          </a:prstGeom>
          <a:solidFill>
            <a:srgbClr val="F1C232"/>
          </a:solidFill>
          <a:ln w="12700">
            <a:solidFill>
              <a:srgbClr val="F1C232"/>
            </a:solidFill>
            <a:prstDash val="solid"/>
          </a:ln>
        </p:spPr>
      </p:sp>
      <p:sp>
        <p:nvSpPr>
          <p:cNvPr id="56" name="status-legend-label-1"/>
          <p:cNvSpPr txBox="1"/>
          <p:nvPr/>
        </p:nvSpPr>
        <p:spPr>
          <a:xfrm>
            <a:off x="4333510" y="5833872"/>
            <a:ext cx="1462308"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agent working</a:t>
            </a:r>
            <a:endParaRPr lang="en-US" sz="1300" dirty="0"/>
          </a:p>
        </p:txBody>
      </p:sp>
      <p:sp>
        <p:nvSpPr>
          <p:cNvPr id="57" name="status-legend-2"/>
          <p:cNvSpPr/>
          <p:nvPr/>
        </p:nvSpPr>
        <p:spPr>
          <a:xfrm>
            <a:off x="5795818" y="5861304"/>
            <a:ext cx="219456" cy="219456"/>
          </a:xfrm>
          <a:prstGeom prst="rect">
            <a:avLst/>
          </a:prstGeom>
          <a:solidFill>
            <a:srgbClr val="1E9E57"/>
          </a:solidFill>
          <a:ln w="12700">
            <a:solidFill>
              <a:srgbClr val="1E9E57"/>
            </a:solidFill>
            <a:prstDash val="solid"/>
          </a:ln>
        </p:spPr>
      </p:sp>
      <p:sp>
        <p:nvSpPr>
          <p:cNvPr id="58" name="status-legend-label-2"/>
          <p:cNvSpPr txBox="1"/>
          <p:nvPr/>
        </p:nvSpPr>
        <p:spPr>
          <a:xfrm>
            <a:off x="6125002" y="5833872"/>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passed</a:t>
            </a:r>
            <a:endParaRPr lang="en-US" sz="1300" dirty="0"/>
          </a:p>
        </p:txBody>
      </p:sp>
      <p:sp>
        <p:nvSpPr>
          <p:cNvPr id="59" name="status-legend-3"/>
          <p:cNvSpPr/>
          <p:nvPr/>
        </p:nvSpPr>
        <p:spPr>
          <a:xfrm>
            <a:off x="7425645" y="5861304"/>
            <a:ext cx="219456" cy="219456"/>
          </a:xfrm>
          <a:prstGeom prst="rect">
            <a:avLst/>
          </a:prstGeom>
          <a:solidFill>
            <a:srgbClr val="D2463F"/>
          </a:solidFill>
          <a:ln w="12700">
            <a:solidFill>
              <a:srgbClr val="D2463F"/>
            </a:solidFill>
            <a:prstDash val="solid"/>
          </a:ln>
        </p:spPr>
      </p:sp>
      <p:sp>
        <p:nvSpPr>
          <p:cNvPr id="60" name="status-legend-label-3"/>
          <p:cNvSpPr txBox="1"/>
          <p:nvPr/>
        </p:nvSpPr>
        <p:spPr>
          <a:xfrm>
            <a:off x="7754829" y="5833872"/>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failed</a:t>
            </a:r>
            <a:endParaRPr lang="en-US" sz="13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A script decides the graph</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route">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next-wave.mjs</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reads the plan and the state and returns the next batch of calls (one wave can take several)</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bot">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The model</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launches exactly those calls, all in the same message</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list-checks">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grade.mjs</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runs the test of each task and decides: green or red</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Measure, don't guess</a:t>
            </a:r>
            <a:endParaRPr lang="en-US" sz="3200" dirty="0"/>
          </a:p>
        </p:txBody>
      </p:sp>
      <p:sp>
        <p:nvSpPr>
          <p:cNvPr id="3" name="step-0"/>
          <p:cNvSpPr/>
          <p:nvPr/>
        </p:nvSpPr>
        <p:spPr>
          <a:xfrm>
            <a:off x="548640" y="1828800"/>
            <a:ext cx="1984797" cy="3200400"/>
          </a:xfrm>
          <a:prstGeom prst="rect">
            <a:avLst/>
          </a:prstGeom>
          <a:solidFill>
            <a:srgbClr val="FFFFFF"/>
          </a:solidFill>
          <a:ln w="12700">
            <a:solidFill>
              <a:srgbClr val="FFFFFF"/>
            </a:solidFill>
            <a:prstDash val="solid"/>
          </a:ln>
        </p:spPr>
      </p:sp>
      <p:sp>
        <p:nvSpPr>
          <p:cNvPr id="4" name="step-number-0"/>
          <p:cNvSpPr/>
          <p:nvPr/>
        </p:nvSpPr>
        <p:spPr>
          <a:xfrm>
            <a:off x="777240"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1</a:t>
            </a:r>
            <a:endParaRPr lang="en-US" sz="1600" dirty="0"/>
          </a:p>
        </p:txBody>
      </p:sp>
      <p:sp>
        <p:nvSpPr>
          <p:cNvPr id="5" name="step-title-0"/>
          <p:cNvSpPr txBox="1"/>
          <p:nvPr/>
        </p:nvSpPr>
        <p:spPr>
          <a:xfrm>
            <a:off x="749808"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The subagent finishes</a:t>
            </a:r>
            <a:endParaRPr lang="en-US" sz="1500" dirty="0"/>
          </a:p>
        </p:txBody>
      </p:sp>
      <p:sp>
        <p:nvSpPr>
          <p:cNvPr id="6" name="step-text-0"/>
          <p:cNvSpPr txBox="1"/>
          <p:nvPr/>
        </p:nvSpPr>
        <p:spPr>
          <a:xfrm>
            <a:off x="749808"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every swarm agent, when it is done</a:t>
            </a:r>
            <a:endParaRPr lang="en-US" sz="1600" dirty="0"/>
          </a:p>
        </p:txBody>
      </p:sp>
      <p:sp>
        <p:nvSpPr>
          <p:cNvPr id="7" name="flow-arrow-0"/>
          <p:cNvSpPr/>
          <p:nvPr/>
        </p:nvSpPr>
        <p:spPr>
          <a:xfrm>
            <a:off x="2579157" y="2276856"/>
            <a:ext cx="201168" cy="0"/>
          </a:xfrm>
          <a:prstGeom prst="line">
            <a:avLst/>
          </a:prstGeom>
          <a:noFill/>
          <a:ln w="31750">
            <a:solidFill>
              <a:srgbClr val="140920"/>
            </a:solidFill>
            <a:prstDash val="solid"/>
            <a:tailEnd type="triangle"/>
          </a:ln>
        </p:spPr>
      </p:sp>
      <p:sp>
        <p:nvSpPr>
          <p:cNvPr id="8" name="step-1"/>
          <p:cNvSpPr/>
          <p:nvPr/>
        </p:nvSpPr>
        <p:spPr>
          <a:xfrm>
            <a:off x="2826045" y="1828800"/>
            <a:ext cx="1984797" cy="3200400"/>
          </a:xfrm>
          <a:prstGeom prst="rect">
            <a:avLst/>
          </a:prstGeom>
          <a:solidFill>
            <a:srgbClr val="FFFFFF"/>
          </a:solidFill>
          <a:ln w="12700">
            <a:solidFill>
              <a:srgbClr val="FFFFFF"/>
            </a:solidFill>
            <a:prstDash val="solid"/>
          </a:ln>
        </p:spPr>
      </p:sp>
      <p:sp>
        <p:nvSpPr>
          <p:cNvPr id="9" name="step-number-1"/>
          <p:cNvSpPr/>
          <p:nvPr/>
        </p:nvSpPr>
        <p:spPr>
          <a:xfrm>
            <a:off x="3054645"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2</a:t>
            </a:r>
            <a:endParaRPr lang="en-US" sz="1600" dirty="0"/>
          </a:p>
        </p:txBody>
      </p:sp>
      <p:sp>
        <p:nvSpPr>
          <p:cNvPr id="10" name="step-title-1"/>
          <p:cNvSpPr txBox="1"/>
          <p:nvPr/>
        </p:nvSpPr>
        <p:spPr>
          <a:xfrm>
            <a:off x="3027213"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The SubagentStop hook runs</a:t>
            </a:r>
            <a:endParaRPr lang="en-US" sz="1500" dirty="0"/>
          </a:p>
        </p:txBody>
      </p:sp>
      <p:sp>
        <p:nvSpPr>
          <p:cNvPr id="11" name="step-text-1"/>
          <p:cNvSpPr txBox="1"/>
          <p:nvPr/>
        </p:nvSpPr>
        <p:spPr>
          <a:xfrm>
            <a:off x="3027213"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a kit script (the Stop hook measures the main session)</a:t>
            </a:r>
            <a:endParaRPr lang="en-US" sz="1600" dirty="0"/>
          </a:p>
        </p:txBody>
      </p:sp>
      <p:sp>
        <p:nvSpPr>
          <p:cNvPr id="12" name="flow-arrow-1"/>
          <p:cNvSpPr/>
          <p:nvPr/>
        </p:nvSpPr>
        <p:spPr>
          <a:xfrm>
            <a:off x="4856561" y="2276856"/>
            <a:ext cx="201168" cy="0"/>
          </a:xfrm>
          <a:prstGeom prst="line">
            <a:avLst/>
          </a:prstGeom>
          <a:noFill/>
          <a:ln w="31750">
            <a:solidFill>
              <a:srgbClr val="140920"/>
            </a:solidFill>
            <a:prstDash val="solid"/>
            <a:tailEnd type="triangle"/>
          </a:ln>
        </p:spPr>
      </p:sp>
      <p:sp>
        <p:nvSpPr>
          <p:cNvPr id="13" name="step-2"/>
          <p:cNvSpPr/>
          <p:nvPr/>
        </p:nvSpPr>
        <p:spPr>
          <a:xfrm>
            <a:off x="5103449" y="1828800"/>
            <a:ext cx="1984797" cy="3200400"/>
          </a:xfrm>
          <a:prstGeom prst="rect">
            <a:avLst/>
          </a:prstGeom>
          <a:solidFill>
            <a:srgbClr val="FFFFFF"/>
          </a:solidFill>
          <a:ln w="12700">
            <a:solidFill>
              <a:srgbClr val="FFFFFF"/>
            </a:solidFill>
            <a:prstDash val="solid"/>
          </a:ln>
        </p:spPr>
      </p:sp>
      <p:sp>
        <p:nvSpPr>
          <p:cNvPr id="14" name="step-number-2"/>
          <p:cNvSpPr/>
          <p:nvPr/>
        </p:nvSpPr>
        <p:spPr>
          <a:xfrm>
            <a:off x="533204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3</a:t>
            </a:r>
            <a:endParaRPr lang="en-US" sz="1600" dirty="0"/>
          </a:p>
        </p:txBody>
      </p:sp>
      <p:sp>
        <p:nvSpPr>
          <p:cNvPr id="15" name="step-title-2"/>
          <p:cNvSpPr txBox="1"/>
          <p:nvPr/>
        </p:nvSpPr>
        <p:spPr>
          <a:xfrm>
            <a:off x="5304617"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Tokens × price</a:t>
            </a:r>
            <a:endParaRPr lang="en-US" sz="1500" dirty="0"/>
          </a:p>
        </p:txBody>
      </p:sp>
      <p:sp>
        <p:nvSpPr>
          <p:cNvPr id="16" name="step-text-2"/>
          <p:cNvSpPr txBox="1"/>
          <p:nvPr/>
        </p:nvSpPr>
        <p:spPr>
          <a:xfrm>
            <a:off x="5304617"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the real transcript tokens, at the published prices</a:t>
            </a:r>
            <a:endParaRPr lang="en-US" sz="1600" dirty="0"/>
          </a:p>
        </p:txBody>
      </p:sp>
      <p:sp>
        <p:nvSpPr>
          <p:cNvPr id="17" name="flow-arrow-2"/>
          <p:cNvSpPr/>
          <p:nvPr/>
        </p:nvSpPr>
        <p:spPr>
          <a:xfrm>
            <a:off x="7133966" y="2276856"/>
            <a:ext cx="201168" cy="0"/>
          </a:xfrm>
          <a:prstGeom prst="line">
            <a:avLst/>
          </a:prstGeom>
          <a:noFill/>
          <a:ln w="31750">
            <a:solidFill>
              <a:srgbClr val="140920"/>
            </a:solidFill>
            <a:prstDash val="solid"/>
            <a:tailEnd type="triangle"/>
          </a:ln>
        </p:spPr>
      </p:sp>
      <p:sp>
        <p:nvSpPr>
          <p:cNvPr id="18" name="step-3"/>
          <p:cNvSpPr/>
          <p:nvPr/>
        </p:nvSpPr>
        <p:spPr>
          <a:xfrm>
            <a:off x="7380854" y="1828800"/>
            <a:ext cx="1984797" cy="3200400"/>
          </a:xfrm>
          <a:prstGeom prst="rect">
            <a:avLst/>
          </a:prstGeom>
          <a:solidFill>
            <a:srgbClr val="FFFFFF"/>
          </a:solidFill>
          <a:ln w="12700">
            <a:solidFill>
              <a:srgbClr val="FFFFFF"/>
            </a:solidFill>
            <a:prstDash val="solid"/>
          </a:ln>
        </p:spPr>
      </p:sp>
      <p:sp>
        <p:nvSpPr>
          <p:cNvPr id="19" name="step-number-3"/>
          <p:cNvSpPr/>
          <p:nvPr/>
        </p:nvSpPr>
        <p:spPr>
          <a:xfrm>
            <a:off x="7609454"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4</a:t>
            </a:r>
            <a:endParaRPr lang="en-US" sz="1600" dirty="0"/>
          </a:p>
        </p:txBody>
      </p:sp>
      <p:sp>
        <p:nvSpPr>
          <p:cNvPr id="20" name="step-title-3"/>
          <p:cNvSpPr txBox="1"/>
          <p:nvPr/>
        </p:nvSpPr>
        <p:spPr>
          <a:xfrm>
            <a:off x="7582022"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One line in usage.jsonl</a:t>
            </a:r>
            <a:endParaRPr lang="en-US" sz="1500" dirty="0"/>
          </a:p>
        </p:txBody>
      </p:sp>
      <p:sp>
        <p:nvSpPr>
          <p:cNvPr id="21" name="step-text-3"/>
          <p:cNvSpPr txBox="1"/>
          <p:nvPr/>
        </p:nvSpPr>
        <p:spPr>
          <a:xfrm>
            <a:off x="7582022"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agent, model, time and cost</a:t>
            </a:r>
            <a:endParaRPr lang="en-US" sz="1600" dirty="0"/>
          </a:p>
        </p:txBody>
      </p:sp>
      <p:sp>
        <p:nvSpPr>
          <p:cNvPr id="22" name="flow-arrow-3"/>
          <p:cNvSpPr/>
          <p:nvPr/>
        </p:nvSpPr>
        <p:spPr>
          <a:xfrm>
            <a:off x="9411371" y="2276856"/>
            <a:ext cx="201168" cy="0"/>
          </a:xfrm>
          <a:prstGeom prst="line">
            <a:avLst/>
          </a:prstGeom>
          <a:noFill/>
          <a:ln w="31750">
            <a:solidFill>
              <a:srgbClr val="140920"/>
            </a:solidFill>
            <a:prstDash val="solid"/>
            <a:tailEnd type="triangle"/>
          </a:ln>
        </p:spPr>
      </p:sp>
      <p:sp>
        <p:nvSpPr>
          <p:cNvPr id="23" name="step-4"/>
          <p:cNvSpPr/>
          <p:nvPr/>
        </p:nvSpPr>
        <p:spPr>
          <a:xfrm>
            <a:off x="9658259" y="1828800"/>
            <a:ext cx="1984797" cy="3200400"/>
          </a:xfrm>
          <a:prstGeom prst="rect">
            <a:avLst/>
          </a:prstGeom>
          <a:solidFill>
            <a:srgbClr val="140920"/>
          </a:solidFill>
          <a:ln w="12700">
            <a:solidFill>
              <a:srgbClr val="140920"/>
            </a:solidFill>
            <a:prstDash val="solid"/>
          </a:ln>
        </p:spPr>
      </p:sp>
      <p:sp>
        <p:nvSpPr>
          <p:cNvPr id="24" name="step-number-4"/>
          <p:cNvSpPr/>
          <p:nvPr/>
        </p:nvSpPr>
        <p:spPr>
          <a:xfrm>
            <a:off x="988685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5</a:t>
            </a:r>
            <a:endParaRPr lang="en-US" sz="1600" dirty="0"/>
          </a:p>
        </p:txBody>
      </p:sp>
      <p:sp>
        <p:nvSpPr>
          <p:cNvPr id="25" name="step-title-4"/>
          <p:cNvSpPr txBox="1"/>
          <p:nvPr/>
        </p:nvSpPr>
        <p:spPr>
          <a:xfrm>
            <a:off x="9859427" y="2697480"/>
            <a:ext cx="1619037" cy="914400"/>
          </a:xfrm>
          <a:prstGeom prst="rect">
            <a:avLst/>
          </a:prstGeom>
          <a:noFill/>
          <a:ln/>
        </p:spPr>
        <p:txBody>
          <a:bodyPr wrap="square" lIns="0" tIns="0" rIns="0" bIns="0" rtlCol="0" anchor="t"/>
          <a:lstStyle/>
          <a:p>
            <a:pPr indent="0" marL="0">
              <a:buNone/>
            </a:pPr>
            <a:r>
              <a:rPr lang="en-US" sz="1500" b="1" dirty="0">
                <a:solidFill>
                  <a:srgbClr val="FCF9FE"/>
                </a:solidFill>
                <a:latin typeface="Founders Grotesk Medium" pitchFamily="34" charset="0"/>
                <a:ea typeface="Founders Grotesk Medium" pitchFamily="34" charset="-122"/>
                <a:cs typeface="Founders Grotesk Medium" pitchFamily="34" charset="-120"/>
              </a:rPr>
              <a:t>Statusline and /demo-cost</a:t>
            </a:r>
            <a:endParaRPr lang="en-US" sz="1500" dirty="0"/>
          </a:p>
        </p:txBody>
      </p:sp>
      <p:sp>
        <p:nvSpPr>
          <p:cNvPr id="26" name="step-text-4"/>
          <p:cNvSpPr txBox="1"/>
          <p:nvPr/>
        </p:nvSpPr>
        <p:spPr>
          <a:xfrm>
            <a:off x="9859427" y="3703320"/>
            <a:ext cx="1619037" cy="1188720"/>
          </a:xfrm>
          <a:prstGeom prst="rect">
            <a:avLst/>
          </a:prstGeom>
          <a:noFill/>
          <a:ln/>
        </p:spPr>
        <p:txBody>
          <a:bodyPr wrap="square" lIns="0" tIns="0" rIns="0" bIns="0" rtlCol="0" anchor="t"/>
          <a:lstStyle/>
          <a:p>
            <a:pPr indent="0" marL="0">
              <a:buNone/>
            </a:pPr>
            <a:r>
              <a:rPr lang="en-US" sz="1600" dirty="0">
                <a:solidFill>
                  <a:srgbClr val="B9AEDB"/>
                </a:solidFill>
                <a:latin typeface="Arial" pitchFamily="34" charset="0"/>
                <a:ea typeface="Arial" pitchFamily="34" charset="-122"/>
                <a:cs typeface="Arial" pitchFamily="34" charset="-120"/>
              </a:rPr>
              <a:t>the live cost and the final report</a:t>
            </a:r>
            <a:endParaRPr lang="en-US" sz="1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cycle of every task</a:t>
            </a:r>
            <a:endParaRPr lang="en-US" sz="3200" dirty="0"/>
          </a:p>
        </p:txBody>
      </p:sp>
      <p:sp>
        <p:nvSpPr>
          <p:cNvPr id="3" name="step-0"/>
          <p:cNvSpPr/>
          <p:nvPr/>
        </p:nvSpPr>
        <p:spPr>
          <a:xfrm>
            <a:off x="548640" y="1828800"/>
            <a:ext cx="1984797" cy="3200400"/>
          </a:xfrm>
          <a:prstGeom prst="rect">
            <a:avLst/>
          </a:prstGeom>
          <a:solidFill>
            <a:srgbClr val="FFFFFF"/>
          </a:solidFill>
          <a:ln w="12700">
            <a:solidFill>
              <a:srgbClr val="FFFFFF"/>
            </a:solidFill>
            <a:prstDash val="solid"/>
          </a:ln>
        </p:spPr>
      </p:sp>
      <p:sp>
        <p:nvSpPr>
          <p:cNvPr id="4" name="step-number-0"/>
          <p:cNvSpPr/>
          <p:nvPr/>
        </p:nvSpPr>
        <p:spPr>
          <a:xfrm>
            <a:off x="777240"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1</a:t>
            </a:r>
            <a:endParaRPr lang="en-US" sz="1600" dirty="0"/>
          </a:p>
        </p:txBody>
      </p:sp>
      <p:sp>
        <p:nvSpPr>
          <p:cNvPr id="5" name="step-title-0"/>
          <p:cNvSpPr txBox="1"/>
          <p:nvPr/>
        </p:nvSpPr>
        <p:spPr>
          <a:xfrm>
            <a:off x="749808" y="2697480"/>
            <a:ext cx="1619037" cy="914400"/>
          </a:xfrm>
          <a:prstGeom prst="rect">
            <a:avLst/>
          </a:prstGeom>
          <a:noFill/>
          <a:ln/>
        </p:spPr>
        <p:txBody>
          <a:bodyPr wrap="square" lIns="0" tIns="0" rIns="0" bIns="0" rtlCol="0" anchor="t"/>
          <a:lstStyle/>
          <a:p>
            <a:pPr indent="0" marL="0">
              <a:buNone/>
            </a:pPr>
            <a:r>
              <a:rPr lang="en-US" sz="1700" b="1" dirty="0">
                <a:solidFill>
                  <a:srgbClr val="140920"/>
                </a:solidFill>
                <a:latin typeface="Founders Grotesk Medium" pitchFamily="34" charset="0"/>
                <a:ea typeface="Founders Grotesk Medium" pitchFamily="34" charset="-122"/>
                <a:cs typeface="Founders Grotesk Medium" pitchFamily="34" charset="-120"/>
              </a:rPr>
              <a:t>plan</a:t>
            </a:r>
            <a:endParaRPr lang="en-US" sz="1700" dirty="0"/>
          </a:p>
        </p:txBody>
      </p:sp>
      <p:sp>
        <p:nvSpPr>
          <p:cNvPr id="6" name="step-text-0"/>
          <p:cNvSpPr txBox="1"/>
          <p:nvPr/>
        </p:nvSpPr>
        <p:spPr>
          <a:xfrm>
            <a:off x="749808"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the task becomes a graph, reviewed by Opus</a:t>
            </a:r>
            <a:endParaRPr lang="en-US" sz="1600" dirty="0"/>
          </a:p>
        </p:txBody>
      </p:sp>
      <p:sp>
        <p:nvSpPr>
          <p:cNvPr id="7" name="flow-arrow-0"/>
          <p:cNvSpPr/>
          <p:nvPr/>
        </p:nvSpPr>
        <p:spPr>
          <a:xfrm>
            <a:off x="2579157" y="2276856"/>
            <a:ext cx="201168" cy="0"/>
          </a:xfrm>
          <a:prstGeom prst="line">
            <a:avLst/>
          </a:prstGeom>
          <a:noFill/>
          <a:ln w="31750">
            <a:solidFill>
              <a:srgbClr val="140920"/>
            </a:solidFill>
            <a:prstDash val="solid"/>
            <a:tailEnd type="triangle"/>
          </a:ln>
        </p:spPr>
      </p:sp>
      <p:sp>
        <p:nvSpPr>
          <p:cNvPr id="8" name="step-1"/>
          <p:cNvSpPr/>
          <p:nvPr/>
        </p:nvSpPr>
        <p:spPr>
          <a:xfrm>
            <a:off x="2826045" y="1828800"/>
            <a:ext cx="1984797" cy="3200400"/>
          </a:xfrm>
          <a:prstGeom prst="rect">
            <a:avLst/>
          </a:prstGeom>
          <a:solidFill>
            <a:srgbClr val="FFFFFF"/>
          </a:solidFill>
          <a:ln w="12700">
            <a:solidFill>
              <a:srgbClr val="FFFFFF"/>
            </a:solidFill>
            <a:prstDash val="solid"/>
          </a:ln>
        </p:spPr>
      </p:sp>
      <p:sp>
        <p:nvSpPr>
          <p:cNvPr id="9" name="step-number-1"/>
          <p:cNvSpPr/>
          <p:nvPr/>
        </p:nvSpPr>
        <p:spPr>
          <a:xfrm>
            <a:off x="3054645"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2</a:t>
            </a:r>
            <a:endParaRPr lang="en-US" sz="1600" dirty="0"/>
          </a:p>
        </p:txBody>
      </p:sp>
      <p:sp>
        <p:nvSpPr>
          <p:cNvPr id="10" name="step-title-1"/>
          <p:cNvSpPr txBox="1"/>
          <p:nvPr/>
        </p:nvSpPr>
        <p:spPr>
          <a:xfrm>
            <a:off x="3027213" y="2697480"/>
            <a:ext cx="1619037" cy="914400"/>
          </a:xfrm>
          <a:prstGeom prst="rect">
            <a:avLst/>
          </a:prstGeom>
          <a:noFill/>
          <a:ln/>
        </p:spPr>
        <p:txBody>
          <a:bodyPr wrap="square" lIns="0" tIns="0" rIns="0" bIns="0" rtlCol="0" anchor="t"/>
          <a:lstStyle/>
          <a:p>
            <a:pPr indent="0" marL="0">
              <a:buNone/>
            </a:pPr>
            <a:r>
              <a:rPr lang="en-US" sz="1700" b="1" dirty="0">
                <a:solidFill>
                  <a:srgbClr val="140920"/>
                </a:solidFill>
                <a:latin typeface="Founders Grotesk Medium" pitchFamily="34" charset="0"/>
                <a:ea typeface="Founders Grotesk Medium" pitchFamily="34" charset="-122"/>
                <a:cs typeface="Founders Grotesk Medium" pitchFamily="34" charset="-120"/>
              </a:rPr>
              <a:t>swarm</a:t>
            </a:r>
            <a:endParaRPr lang="en-US" sz="1700" dirty="0"/>
          </a:p>
        </p:txBody>
      </p:sp>
      <p:sp>
        <p:nvSpPr>
          <p:cNvPr id="11" name="step-text-1"/>
          <p:cNvSpPr txBox="1"/>
          <p:nvPr/>
        </p:nvSpPr>
        <p:spPr>
          <a:xfrm>
            <a:off x="3027213"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Haiku agents build the pieces in parallel</a:t>
            </a:r>
            <a:endParaRPr lang="en-US" sz="1600" dirty="0"/>
          </a:p>
        </p:txBody>
      </p:sp>
      <p:sp>
        <p:nvSpPr>
          <p:cNvPr id="12" name="flow-arrow-1"/>
          <p:cNvSpPr/>
          <p:nvPr/>
        </p:nvSpPr>
        <p:spPr>
          <a:xfrm>
            <a:off x="4856561" y="2276856"/>
            <a:ext cx="201168" cy="0"/>
          </a:xfrm>
          <a:prstGeom prst="line">
            <a:avLst/>
          </a:prstGeom>
          <a:noFill/>
          <a:ln w="31750">
            <a:solidFill>
              <a:srgbClr val="140920"/>
            </a:solidFill>
            <a:prstDash val="solid"/>
            <a:tailEnd type="triangle"/>
          </a:ln>
        </p:spPr>
      </p:sp>
      <p:sp>
        <p:nvSpPr>
          <p:cNvPr id="13" name="step-2"/>
          <p:cNvSpPr/>
          <p:nvPr/>
        </p:nvSpPr>
        <p:spPr>
          <a:xfrm>
            <a:off x="5103449" y="1828800"/>
            <a:ext cx="1984797" cy="3200400"/>
          </a:xfrm>
          <a:prstGeom prst="rect">
            <a:avLst/>
          </a:prstGeom>
          <a:solidFill>
            <a:srgbClr val="FFFFFF"/>
          </a:solidFill>
          <a:ln w="12700">
            <a:solidFill>
              <a:srgbClr val="FFFFFF"/>
            </a:solidFill>
            <a:prstDash val="solid"/>
          </a:ln>
        </p:spPr>
      </p:sp>
      <p:sp>
        <p:nvSpPr>
          <p:cNvPr id="14" name="step-number-2"/>
          <p:cNvSpPr/>
          <p:nvPr/>
        </p:nvSpPr>
        <p:spPr>
          <a:xfrm>
            <a:off x="533204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3</a:t>
            </a:r>
            <a:endParaRPr lang="en-US" sz="1600" dirty="0"/>
          </a:p>
        </p:txBody>
      </p:sp>
      <p:sp>
        <p:nvSpPr>
          <p:cNvPr id="15" name="step-title-2"/>
          <p:cNvSpPr txBox="1"/>
          <p:nvPr/>
        </p:nvSpPr>
        <p:spPr>
          <a:xfrm>
            <a:off x="5304617" y="2697480"/>
            <a:ext cx="1619037" cy="914400"/>
          </a:xfrm>
          <a:prstGeom prst="rect">
            <a:avLst/>
          </a:prstGeom>
          <a:noFill/>
          <a:ln/>
        </p:spPr>
        <p:txBody>
          <a:bodyPr wrap="square" lIns="0" tIns="0" rIns="0" bIns="0" rtlCol="0" anchor="t"/>
          <a:lstStyle/>
          <a:p>
            <a:pPr indent="0" marL="0">
              <a:buNone/>
            </a:pPr>
            <a:r>
              <a:rPr lang="en-US" sz="1700" b="1" dirty="0">
                <a:solidFill>
                  <a:srgbClr val="140920"/>
                </a:solidFill>
                <a:latin typeface="Founders Grotesk Medium" pitchFamily="34" charset="0"/>
                <a:ea typeface="Founders Grotesk Medium" pitchFamily="34" charset="-122"/>
                <a:cs typeface="Founders Grotesk Medium" pitchFamily="34" charset="-120"/>
              </a:rPr>
              <a:t>review</a:t>
            </a:r>
            <a:endParaRPr lang="en-US" sz="1700" dirty="0"/>
          </a:p>
        </p:txBody>
      </p:sp>
      <p:sp>
        <p:nvSpPr>
          <p:cNvPr id="16" name="step-text-2"/>
          <p:cNvSpPr txBox="1"/>
          <p:nvPr/>
        </p:nvSpPr>
        <p:spPr>
          <a:xfrm>
            <a:off x="5304617"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Opus checks the tests and the security</a:t>
            </a:r>
            <a:endParaRPr lang="en-US" sz="1600" dirty="0"/>
          </a:p>
        </p:txBody>
      </p:sp>
      <p:sp>
        <p:nvSpPr>
          <p:cNvPr id="17" name="flow-arrow-2"/>
          <p:cNvSpPr/>
          <p:nvPr/>
        </p:nvSpPr>
        <p:spPr>
          <a:xfrm>
            <a:off x="7133966" y="2276856"/>
            <a:ext cx="201168" cy="0"/>
          </a:xfrm>
          <a:prstGeom prst="line">
            <a:avLst/>
          </a:prstGeom>
          <a:noFill/>
          <a:ln w="31750">
            <a:solidFill>
              <a:srgbClr val="140920"/>
            </a:solidFill>
            <a:prstDash val="solid"/>
            <a:tailEnd type="triangle"/>
          </a:ln>
        </p:spPr>
      </p:sp>
      <p:sp>
        <p:nvSpPr>
          <p:cNvPr id="18" name="step-3"/>
          <p:cNvSpPr/>
          <p:nvPr/>
        </p:nvSpPr>
        <p:spPr>
          <a:xfrm>
            <a:off x="7380854" y="1828800"/>
            <a:ext cx="1984797" cy="3200400"/>
          </a:xfrm>
          <a:prstGeom prst="rect">
            <a:avLst/>
          </a:prstGeom>
          <a:solidFill>
            <a:srgbClr val="FFFFFF"/>
          </a:solidFill>
          <a:ln w="12700">
            <a:solidFill>
              <a:srgbClr val="FFFFFF"/>
            </a:solidFill>
            <a:prstDash val="solid"/>
          </a:ln>
        </p:spPr>
      </p:sp>
      <p:sp>
        <p:nvSpPr>
          <p:cNvPr id="19" name="step-number-3"/>
          <p:cNvSpPr/>
          <p:nvPr/>
        </p:nvSpPr>
        <p:spPr>
          <a:xfrm>
            <a:off x="7609454"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4</a:t>
            </a:r>
            <a:endParaRPr lang="en-US" sz="1600" dirty="0"/>
          </a:p>
        </p:txBody>
      </p:sp>
      <p:sp>
        <p:nvSpPr>
          <p:cNvPr id="20" name="step-title-3"/>
          <p:cNvSpPr txBox="1"/>
          <p:nvPr/>
        </p:nvSpPr>
        <p:spPr>
          <a:xfrm>
            <a:off x="7582022" y="2697480"/>
            <a:ext cx="1619037" cy="914400"/>
          </a:xfrm>
          <a:prstGeom prst="rect">
            <a:avLst/>
          </a:prstGeom>
          <a:noFill/>
          <a:ln/>
        </p:spPr>
        <p:txBody>
          <a:bodyPr wrap="square" lIns="0" tIns="0" rIns="0" bIns="0" rtlCol="0" anchor="t"/>
          <a:lstStyle/>
          <a:p>
            <a:pPr indent="0" marL="0">
              <a:buNone/>
            </a:pPr>
            <a:r>
              <a:rPr lang="en-US" sz="1700" b="1" dirty="0">
                <a:solidFill>
                  <a:srgbClr val="140920"/>
                </a:solidFill>
                <a:latin typeface="Founders Grotesk Medium" pitchFamily="34" charset="0"/>
                <a:ea typeface="Founders Grotesk Medium" pitchFamily="34" charset="-122"/>
                <a:cs typeface="Founders Grotesk Medium" pitchFamily="34" charset="-120"/>
              </a:rPr>
              <a:t>cost</a:t>
            </a:r>
            <a:endParaRPr lang="en-US" sz="1700" dirty="0"/>
          </a:p>
        </p:txBody>
      </p:sp>
      <p:sp>
        <p:nvSpPr>
          <p:cNvPr id="21" name="step-text-3"/>
          <p:cNvSpPr txBox="1"/>
          <p:nvPr/>
        </p:nvSpPr>
        <p:spPr>
          <a:xfrm>
            <a:off x="7582022"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what it cost, per agent and per model</a:t>
            </a:r>
            <a:endParaRPr lang="en-US" sz="1600" dirty="0"/>
          </a:p>
        </p:txBody>
      </p:sp>
      <p:sp>
        <p:nvSpPr>
          <p:cNvPr id="22" name="flow-arrow-3"/>
          <p:cNvSpPr/>
          <p:nvPr/>
        </p:nvSpPr>
        <p:spPr>
          <a:xfrm>
            <a:off x="9411371" y="2276856"/>
            <a:ext cx="201168" cy="0"/>
          </a:xfrm>
          <a:prstGeom prst="line">
            <a:avLst/>
          </a:prstGeom>
          <a:noFill/>
          <a:ln w="31750">
            <a:solidFill>
              <a:srgbClr val="140920"/>
            </a:solidFill>
            <a:prstDash val="solid"/>
            <a:tailEnd type="triangle"/>
          </a:ln>
        </p:spPr>
      </p:sp>
      <p:sp>
        <p:nvSpPr>
          <p:cNvPr id="23" name="step-4"/>
          <p:cNvSpPr/>
          <p:nvPr/>
        </p:nvSpPr>
        <p:spPr>
          <a:xfrm>
            <a:off x="9658259" y="1828800"/>
            <a:ext cx="1984797" cy="3200400"/>
          </a:xfrm>
          <a:prstGeom prst="rect">
            <a:avLst/>
          </a:prstGeom>
          <a:solidFill>
            <a:srgbClr val="140920"/>
          </a:solidFill>
          <a:ln w="12700">
            <a:solidFill>
              <a:srgbClr val="140920"/>
            </a:solidFill>
            <a:prstDash val="solid"/>
          </a:ln>
        </p:spPr>
      </p:sp>
      <p:sp>
        <p:nvSpPr>
          <p:cNvPr id="24" name="step-number-4"/>
          <p:cNvSpPr/>
          <p:nvPr/>
        </p:nvSpPr>
        <p:spPr>
          <a:xfrm>
            <a:off x="988685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5</a:t>
            </a:r>
            <a:endParaRPr lang="en-US" sz="1600" dirty="0"/>
          </a:p>
        </p:txBody>
      </p:sp>
      <p:sp>
        <p:nvSpPr>
          <p:cNvPr id="25" name="step-title-4"/>
          <p:cNvSpPr txBox="1"/>
          <p:nvPr/>
        </p:nvSpPr>
        <p:spPr>
          <a:xfrm>
            <a:off x="9859427" y="2697480"/>
            <a:ext cx="1619037" cy="914400"/>
          </a:xfrm>
          <a:prstGeom prst="rect">
            <a:avLst/>
          </a:prstGeom>
          <a:noFill/>
          <a:ln/>
        </p:spPr>
        <p:txBody>
          <a:bodyPr wrap="square" lIns="0" tIns="0" rIns="0" bIns="0" rtlCol="0" anchor="t"/>
          <a:lstStyle/>
          <a:p>
            <a:pPr indent="0" marL="0">
              <a:buNone/>
            </a:pPr>
            <a:r>
              <a:rPr lang="en-US" sz="1700" b="1" dirty="0">
                <a:solidFill>
                  <a:srgbClr val="FCF9FE"/>
                </a:solidFill>
                <a:latin typeface="Founders Grotesk Medium" pitchFamily="34" charset="0"/>
                <a:ea typeface="Founders Grotesk Medium" pitchFamily="34" charset="-122"/>
                <a:cs typeface="Founders Grotesk Medium" pitchFamily="34" charset="-120"/>
              </a:rPr>
              <a:t>memory</a:t>
            </a:r>
            <a:endParaRPr lang="en-US" sz="1700" dirty="0"/>
          </a:p>
        </p:txBody>
      </p:sp>
      <p:sp>
        <p:nvSpPr>
          <p:cNvPr id="26" name="step-text-4"/>
          <p:cNvSpPr txBox="1"/>
          <p:nvPr/>
        </p:nvSpPr>
        <p:spPr>
          <a:xfrm>
            <a:off x="9859427" y="3703320"/>
            <a:ext cx="1619037" cy="1188720"/>
          </a:xfrm>
          <a:prstGeom prst="rect">
            <a:avLst/>
          </a:prstGeom>
          <a:noFill/>
          <a:ln/>
        </p:spPr>
        <p:txBody>
          <a:bodyPr wrap="square" lIns="0" tIns="0" rIns="0" bIns="0" rtlCol="0" anchor="t"/>
          <a:lstStyle/>
          <a:p>
            <a:pPr indent="0" marL="0">
              <a:buNone/>
            </a:pPr>
            <a:r>
              <a:rPr lang="en-US" sz="1600" dirty="0">
                <a:solidFill>
                  <a:srgbClr val="B9AEDB"/>
                </a:solidFill>
                <a:latin typeface="Arial" pitchFamily="34" charset="0"/>
                <a:ea typeface="Arial" pitchFamily="34" charset="-122"/>
                <a:cs typeface="Arial" pitchFamily="34" charset="-120"/>
              </a:rPr>
              <a:t>the lessons stay for next time</a:t>
            </a:r>
            <a:endParaRPr lang="en-US" sz="1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What we will build: the Security Arena</a:t>
            </a:r>
            <a:endParaRPr lang="en-US" sz="3200" dirty="0"/>
          </a:p>
        </p:txBody>
      </p:sp>
      <p:sp>
        <p:nvSpPr>
          <p:cNvPr id="3" name="frame"/>
          <p:cNvSpPr/>
          <p:nvPr/>
        </p:nvSpPr>
        <p:spPr>
          <a:xfrm>
            <a:off x="548640" y="1470660"/>
            <a:ext cx="5541264" cy="3742944"/>
          </a:xfrm>
          <a:prstGeom prst="rect">
            <a:avLst/>
          </a:prstGeom>
          <a:solidFill>
            <a:srgbClr val="FFFFFF"/>
          </a:solidFill>
          <a:ln w="12700">
            <a:solidFill>
              <a:srgbClr val="FFFFFF"/>
            </a:solidFill>
            <a:prstDash val="solid"/>
          </a:ln>
        </p:spPr>
      </p:sp>
      <p:pic>
        <p:nvPicPr>
          <p:cNvPr id="4" name="image" descr="One challenge of the game: click the line that exposes the secret and confirm.">    </p:cNvPr>
          <p:cNvPicPr>
            <a:picLocks noChangeAspect="1"/>
          </p:cNvPicPr>
          <p:nvPr/>
        </p:nvPicPr>
        <p:blipFill>
          <a:blip r:embed="rId1"/>
          <a:stretch>
            <a:fillRect/>
          </a:stretch>
        </p:blipFill>
        <p:spPr>
          <a:xfrm>
            <a:off x="621792" y="1543812"/>
            <a:ext cx="5394960" cy="3596640"/>
          </a:xfrm>
          <a:prstGeom prst="rect">
            <a:avLst/>
          </a:prstGeom>
        </p:spPr>
      </p:pic>
      <p:sp>
        <p:nvSpPr>
          <p:cNvPr id="5" name="image-caption"/>
          <p:cNvSpPr txBox="1"/>
          <p:nvPr/>
        </p:nvSpPr>
        <p:spPr>
          <a:xfrm>
            <a:off x="548640" y="5305044"/>
            <a:ext cx="5541264" cy="320040"/>
          </a:xfrm>
          <a:prstGeom prst="rect">
            <a:avLst/>
          </a:prstGeom>
          <a:noFill/>
          <a:ln/>
        </p:spPr>
        <p:txBody>
          <a:bodyPr wrap="square" lIns="0" tIns="0" rIns="0" bIns="0" rtlCol="0" anchor="t"/>
          <a:lstStyle/>
          <a:p>
            <a:pPr indent="0" marL="0">
              <a:buNone/>
            </a:pPr>
            <a:r>
              <a:rPr lang="en-US" sz="1300" dirty="0">
                <a:solidFill>
                  <a:srgbClr val="4A405A"/>
                </a:solidFill>
                <a:latin typeface="Arial" pitchFamily="34" charset="0"/>
                <a:ea typeface="Arial" pitchFamily="34" charset="-122"/>
                <a:cs typeface="Arial" pitchFamily="34" charset="-120"/>
              </a:rPr>
              <a:t>One challenge of the game: click the line that exposes the secret and confirm.</a:t>
            </a:r>
            <a:endParaRPr lang="en-US" sz="1300" dirty="0"/>
          </a:p>
        </p:txBody>
      </p:sp>
      <p:sp>
        <p:nvSpPr>
          <p:cNvPr id="6" name="intro-mark-0-circle"/>
          <p:cNvSpPr/>
          <p:nvPr/>
        </p:nvSpPr>
        <p:spPr>
          <a:xfrm>
            <a:off x="6492240" y="1463040"/>
            <a:ext cx="502920" cy="502920"/>
          </a:xfrm>
          <a:prstGeom prst="ellipse">
            <a:avLst/>
          </a:prstGeom>
          <a:solidFill>
            <a:srgbClr val="6B34FD"/>
          </a:solidFill>
          <a:ln w="12700">
            <a:solidFill>
              <a:srgbClr val="6B34FD"/>
            </a:solidFill>
            <a:prstDash val="solid"/>
          </a:ln>
        </p:spPr>
      </p:sp>
      <p:pic>
        <p:nvPicPr>
          <p:cNvPr id="7" name="intro-mark-0" descr="gamepad-2">    </p:cNvPr>
          <p:cNvPicPr>
            <a:picLocks noChangeAspect="1"/>
          </p:cNvPicPr>
          <p:nvPr/>
        </p:nvPicPr>
        <p:blipFill>
          <a:blip r:embed="rId2"/>
          <a:stretch>
            <a:fillRect/>
          </a:stretch>
        </p:blipFill>
        <p:spPr>
          <a:xfrm>
            <a:off x="6602882" y="1573682"/>
            <a:ext cx="281635" cy="281635"/>
          </a:xfrm>
          <a:prstGeom prst="rect">
            <a:avLst/>
          </a:prstGeom>
        </p:spPr>
      </p:pic>
      <p:sp>
        <p:nvSpPr>
          <p:cNvPr id="8" name="intro-title-0"/>
          <p:cNvSpPr txBox="1"/>
          <p:nvPr/>
        </p:nvSpPr>
        <p:spPr>
          <a:xfrm>
            <a:off x="7223760" y="1499616"/>
            <a:ext cx="4419295" cy="310896"/>
          </a:xfrm>
          <a:prstGeom prst="rect">
            <a:avLst/>
          </a:prstGeom>
          <a:noFill/>
          <a:ln/>
        </p:spPr>
        <p:txBody>
          <a:bodyPr wrap="square" lIns="0" tIns="0" rIns="0" bIns="0" rtlCol="0" anchor="t"/>
          <a:lstStyle/>
          <a:p>
            <a:pPr indent="0" marL="0">
              <a:buNone/>
            </a:pPr>
            <a:r>
              <a:rPr lang="en-US" sz="1900" b="1" dirty="0">
                <a:solidFill>
                  <a:srgbClr val="140920"/>
                </a:solidFill>
                <a:latin typeface="Founders Grotesk Medium" pitchFamily="34" charset="0"/>
                <a:ea typeface="Founders Grotesk Medium" pitchFamily="34" charset="-122"/>
                <a:cs typeface="Founders Grotesk Medium" pitchFamily="34" charset="-120"/>
              </a:rPr>
              <a:t>A mini-game, ready to play</a:t>
            </a:r>
            <a:endParaRPr lang="en-US" sz="1900" dirty="0"/>
          </a:p>
        </p:txBody>
      </p:sp>
      <p:sp>
        <p:nvSpPr>
          <p:cNvPr id="9" name="intro-text-0"/>
          <p:cNvSpPr txBox="1"/>
          <p:nvPr/>
        </p:nvSpPr>
        <p:spPr>
          <a:xfrm>
            <a:off x="7223760" y="1883664"/>
            <a:ext cx="4419295" cy="847344"/>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Short security challenges, in the browser, across 10 categories: passwords, phishing, web, networks, cryptography and more.</a:t>
            </a:r>
            <a:endParaRPr lang="en-US" sz="1500" dirty="0"/>
          </a:p>
        </p:txBody>
      </p:sp>
      <p:sp>
        <p:nvSpPr>
          <p:cNvPr id="10" name="intro-mark-1-circle"/>
          <p:cNvSpPr/>
          <p:nvPr/>
        </p:nvSpPr>
        <p:spPr>
          <a:xfrm>
            <a:off x="6492240" y="2804160"/>
            <a:ext cx="502920" cy="502920"/>
          </a:xfrm>
          <a:prstGeom prst="ellipse">
            <a:avLst/>
          </a:prstGeom>
          <a:solidFill>
            <a:srgbClr val="6B34FD"/>
          </a:solidFill>
          <a:ln w="12700">
            <a:solidFill>
              <a:srgbClr val="6B34FD"/>
            </a:solidFill>
            <a:prstDash val="solid"/>
          </a:ln>
        </p:spPr>
      </p:sp>
      <p:pic>
        <p:nvPicPr>
          <p:cNvPr id="11" name="intro-mark-1" descr="layers">    </p:cNvPr>
          <p:cNvPicPr>
            <a:picLocks noChangeAspect="1"/>
          </p:cNvPicPr>
          <p:nvPr/>
        </p:nvPicPr>
        <p:blipFill>
          <a:blip r:embed="rId3"/>
          <a:stretch>
            <a:fillRect/>
          </a:stretch>
        </p:blipFill>
        <p:spPr>
          <a:xfrm>
            <a:off x="6602882" y="2914802"/>
            <a:ext cx="281635" cy="281635"/>
          </a:xfrm>
          <a:prstGeom prst="rect">
            <a:avLst/>
          </a:prstGeom>
        </p:spPr>
      </p:pic>
      <p:sp>
        <p:nvSpPr>
          <p:cNvPr id="12" name="intro-title-1"/>
          <p:cNvSpPr txBox="1"/>
          <p:nvPr/>
        </p:nvSpPr>
        <p:spPr>
          <a:xfrm>
            <a:off x="7223760" y="2840736"/>
            <a:ext cx="4419295" cy="310896"/>
          </a:xfrm>
          <a:prstGeom prst="rect">
            <a:avLst/>
          </a:prstGeom>
          <a:noFill/>
          <a:ln/>
        </p:spPr>
        <p:txBody>
          <a:bodyPr wrap="square" lIns="0" tIns="0" rIns="0" bIns="0" rtlCol="0" anchor="t"/>
          <a:lstStyle/>
          <a:p>
            <a:pPr indent="0" marL="0">
              <a:buNone/>
            </a:pPr>
            <a:r>
              <a:rPr lang="en-US" sz="1900" b="1" dirty="0">
                <a:solidFill>
                  <a:srgbClr val="140920"/>
                </a:solidFill>
                <a:latin typeface="Founders Grotesk Medium" pitchFamily="34" charset="0"/>
                <a:ea typeface="Founders Grotesk Medium" pitchFamily="34" charset="-122"/>
                <a:cs typeface="Founders Grotesk Medium" pitchFamily="34" charset="-120"/>
              </a:rPr>
              <a:t>Each task builds a challenge</a:t>
            </a:r>
            <a:endParaRPr lang="en-US" sz="1900" dirty="0"/>
          </a:p>
        </p:txBody>
      </p:sp>
      <p:sp>
        <p:nvSpPr>
          <p:cNvPr id="13" name="intro-text-1"/>
          <p:cNvSpPr txBox="1"/>
          <p:nvPr/>
        </p:nvSpPr>
        <p:spPr>
          <a:xfrm>
            <a:off x="7223760" y="3224784"/>
            <a:ext cx="4419295" cy="847344"/>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In 4 formats: point at the insecure line, pick the answer, put the steps in order or type the answer.</a:t>
            </a:r>
            <a:endParaRPr lang="en-US" sz="1500" dirty="0"/>
          </a:p>
        </p:txBody>
      </p:sp>
      <p:sp>
        <p:nvSpPr>
          <p:cNvPr id="14" name="intro-mark-2-circle"/>
          <p:cNvSpPr/>
          <p:nvPr/>
        </p:nvSpPr>
        <p:spPr>
          <a:xfrm>
            <a:off x="6492240" y="4145280"/>
            <a:ext cx="502920" cy="502920"/>
          </a:xfrm>
          <a:prstGeom prst="ellipse">
            <a:avLst/>
          </a:prstGeom>
          <a:solidFill>
            <a:srgbClr val="6B34FD"/>
          </a:solidFill>
          <a:ln w="12700">
            <a:solidFill>
              <a:srgbClr val="6B34FD"/>
            </a:solidFill>
            <a:prstDash val="solid"/>
          </a:ln>
        </p:spPr>
      </p:sp>
      <p:pic>
        <p:nvPicPr>
          <p:cNvPr id="15" name="intro-mark-2" descr="bot">    </p:cNvPr>
          <p:cNvPicPr>
            <a:picLocks noChangeAspect="1"/>
          </p:cNvPicPr>
          <p:nvPr/>
        </p:nvPicPr>
        <p:blipFill>
          <a:blip r:embed="rId4"/>
          <a:stretch>
            <a:fillRect/>
          </a:stretch>
        </p:blipFill>
        <p:spPr>
          <a:xfrm>
            <a:off x="6602882" y="4255922"/>
            <a:ext cx="281635" cy="281635"/>
          </a:xfrm>
          <a:prstGeom prst="rect">
            <a:avLst/>
          </a:prstGeom>
        </p:spPr>
      </p:pic>
      <p:sp>
        <p:nvSpPr>
          <p:cNvPr id="16" name="intro-title-2"/>
          <p:cNvSpPr txBox="1"/>
          <p:nvPr/>
        </p:nvSpPr>
        <p:spPr>
          <a:xfrm>
            <a:off x="7223760" y="4181856"/>
            <a:ext cx="4419295" cy="310896"/>
          </a:xfrm>
          <a:prstGeom prst="rect">
            <a:avLst/>
          </a:prstGeom>
          <a:noFill/>
          <a:ln/>
        </p:spPr>
        <p:txBody>
          <a:bodyPr wrap="square" lIns="0" tIns="0" rIns="0" bIns="0" rtlCol="0" anchor="t"/>
          <a:lstStyle/>
          <a:p>
            <a:pPr indent="0" marL="0">
              <a:buNone/>
            </a:pPr>
            <a:r>
              <a:rPr lang="en-US" sz="1900" b="1" dirty="0">
                <a:solidFill>
                  <a:srgbClr val="140920"/>
                </a:solidFill>
                <a:latin typeface="Founders Grotesk Medium" pitchFamily="34" charset="0"/>
                <a:ea typeface="Founders Grotesk Medium" pitchFamily="34" charset="-122"/>
                <a:cs typeface="Founders Grotesk Medium" pitchFamily="34" charset="-120"/>
              </a:rPr>
              <a:t>One agent per task</a:t>
            </a:r>
            <a:endParaRPr lang="en-US" sz="1900" dirty="0"/>
          </a:p>
        </p:txBody>
      </p:sp>
      <p:sp>
        <p:nvSpPr>
          <p:cNvPr id="17" name="intro-text-2"/>
          <p:cNvSpPr txBox="1"/>
          <p:nvPr/>
        </p:nvSpPr>
        <p:spPr>
          <a:xfrm>
            <a:off x="7223760" y="4565904"/>
            <a:ext cx="4419295" cy="847344"/>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Each agent does one task, and that task's test says whether it is right. In the video: 100 tasks. On your laptop: 15.</a:t>
            </a:r>
            <a:endParaRPr lang="en-US" sz="1500" dirty="0"/>
          </a:p>
        </p:txBody>
      </p:sp>
      <p:sp>
        <p:nvSpPr>
          <p:cNvPr id="18" name="legend-background"/>
          <p:cNvSpPr/>
          <p:nvPr/>
        </p:nvSpPr>
        <p:spPr>
          <a:xfrm>
            <a:off x="548640" y="5669280"/>
            <a:ext cx="11094415" cy="502920"/>
          </a:xfrm>
          <a:prstGeom prst="rect">
            <a:avLst/>
          </a:prstGeom>
          <a:solidFill>
            <a:srgbClr val="FFFFFF"/>
          </a:solidFill>
          <a:ln w="12700">
            <a:solidFill>
              <a:srgbClr val="FFFFFF"/>
            </a:solidFill>
            <a:prstDash val="solid"/>
          </a:ln>
        </p:spPr>
      </p:sp>
      <p:sp>
        <p:nvSpPr>
          <p:cNvPr id="19" name="status-legend-title"/>
          <p:cNvSpPr txBox="1"/>
          <p:nvPr/>
        </p:nvSpPr>
        <p:spPr>
          <a:xfrm>
            <a:off x="777240" y="5779008"/>
            <a:ext cx="2149191" cy="274320"/>
          </a:xfrm>
          <a:prstGeom prst="rect">
            <a:avLst/>
          </a:prstGeom>
          <a:noFill/>
          <a:ln/>
        </p:spPr>
        <p:txBody>
          <a:bodyPr wrap="square" lIns="0" tIns="0" rIns="0" bIns="0" rtlCol="0" anchor="ctr"/>
          <a:lstStyle/>
          <a:p>
            <a:pPr indent="0" marL="0">
              <a:buNone/>
            </a:pPr>
            <a:r>
              <a:rPr lang="en-US" sz="1300" b="1" dirty="0">
                <a:solidFill>
                  <a:srgbClr val="140920"/>
                </a:solidFill>
                <a:latin typeface="Arial" pitchFamily="34" charset="0"/>
                <a:ea typeface="Arial" pitchFamily="34" charset="-122"/>
                <a:cs typeface="Arial" pitchFamily="34" charset="-120"/>
              </a:rPr>
              <a:t>Each square is a task:</a:t>
            </a:r>
            <a:endParaRPr lang="en-US" sz="1300" dirty="0"/>
          </a:p>
        </p:txBody>
      </p:sp>
      <p:sp>
        <p:nvSpPr>
          <p:cNvPr id="20" name="status-legend-0"/>
          <p:cNvSpPr/>
          <p:nvPr/>
        </p:nvSpPr>
        <p:spPr>
          <a:xfrm>
            <a:off x="2926431" y="5806440"/>
            <a:ext cx="219456" cy="219456"/>
          </a:xfrm>
          <a:prstGeom prst="rect">
            <a:avLst/>
          </a:prstGeom>
          <a:solidFill>
            <a:srgbClr val="C4C7C1"/>
          </a:solidFill>
          <a:ln w="12700">
            <a:solidFill>
              <a:srgbClr val="C4C7C1"/>
            </a:solidFill>
            <a:prstDash val="solid"/>
          </a:ln>
        </p:spPr>
      </p:sp>
      <p:sp>
        <p:nvSpPr>
          <p:cNvPr id="21" name="status-legend-label-0"/>
          <p:cNvSpPr txBox="1"/>
          <p:nvPr/>
        </p:nvSpPr>
        <p:spPr>
          <a:xfrm>
            <a:off x="3255615" y="5779008"/>
            <a:ext cx="977311"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waiting</a:t>
            </a:r>
            <a:endParaRPr lang="en-US" sz="1300" dirty="0"/>
          </a:p>
        </p:txBody>
      </p:sp>
      <p:sp>
        <p:nvSpPr>
          <p:cNvPr id="22" name="status-legend-1"/>
          <p:cNvSpPr/>
          <p:nvPr/>
        </p:nvSpPr>
        <p:spPr>
          <a:xfrm>
            <a:off x="4232926" y="5806440"/>
            <a:ext cx="219456" cy="219456"/>
          </a:xfrm>
          <a:prstGeom prst="rect">
            <a:avLst/>
          </a:prstGeom>
          <a:solidFill>
            <a:srgbClr val="F1C232"/>
          </a:solidFill>
          <a:ln w="12700">
            <a:solidFill>
              <a:srgbClr val="F1C232"/>
            </a:solidFill>
            <a:prstDash val="solid"/>
          </a:ln>
        </p:spPr>
      </p:sp>
      <p:sp>
        <p:nvSpPr>
          <p:cNvPr id="23" name="status-legend-label-1"/>
          <p:cNvSpPr txBox="1"/>
          <p:nvPr/>
        </p:nvSpPr>
        <p:spPr>
          <a:xfrm>
            <a:off x="4562110" y="5779008"/>
            <a:ext cx="1462308"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agent working</a:t>
            </a:r>
            <a:endParaRPr lang="en-US" sz="1300" dirty="0"/>
          </a:p>
        </p:txBody>
      </p:sp>
      <p:sp>
        <p:nvSpPr>
          <p:cNvPr id="24" name="status-legend-2"/>
          <p:cNvSpPr/>
          <p:nvPr/>
        </p:nvSpPr>
        <p:spPr>
          <a:xfrm>
            <a:off x="6024418" y="5806440"/>
            <a:ext cx="219456" cy="219456"/>
          </a:xfrm>
          <a:prstGeom prst="rect">
            <a:avLst/>
          </a:prstGeom>
          <a:solidFill>
            <a:srgbClr val="1E9E57"/>
          </a:solidFill>
          <a:ln w="12700">
            <a:solidFill>
              <a:srgbClr val="1E9E57"/>
            </a:solidFill>
            <a:prstDash val="solid"/>
          </a:ln>
        </p:spPr>
      </p:sp>
      <p:sp>
        <p:nvSpPr>
          <p:cNvPr id="25" name="status-legend-label-2"/>
          <p:cNvSpPr txBox="1"/>
          <p:nvPr/>
        </p:nvSpPr>
        <p:spPr>
          <a:xfrm>
            <a:off x="6353602" y="5779008"/>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passed</a:t>
            </a:r>
            <a:endParaRPr lang="en-US" sz="1300" dirty="0"/>
          </a:p>
        </p:txBody>
      </p:sp>
      <p:sp>
        <p:nvSpPr>
          <p:cNvPr id="26" name="status-legend-3"/>
          <p:cNvSpPr/>
          <p:nvPr/>
        </p:nvSpPr>
        <p:spPr>
          <a:xfrm>
            <a:off x="7654245" y="5806440"/>
            <a:ext cx="219456" cy="219456"/>
          </a:xfrm>
          <a:prstGeom prst="rect">
            <a:avLst/>
          </a:prstGeom>
          <a:solidFill>
            <a:srgbClr val="D2463F"/>
          </a:solidFill>
          <a:ln w="12700">
            <a:solidFill>
              <a:srgbClr val="D2463F"/>
            </a:solidFill>
            <a:prstDash val="solid"/>
          </a:ln>
        </p:spPr>
      </p:sp>
      <p:sp>
        <p:nvSpPr>
          <p:cNvPr id="27" name="status-legend-label-3"/>
          <p:cNvSpPr txBox="1"/>
          <p:nvPr/>
        </p:nvSpPr>
        <p:spPr>
          <a:xfrm>
            <a:off x="7983429" y="5779008"/>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failed</a:t>
            </a:r>
            <a:endParaRPr lang="en-US" sz="13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715975" y="1051560"/>
            <a:ext cx="7498080" cy="1554480"/>
          </a:xfrm>
          <a:prstGeom prst="rect">
            <a:avLst/>
          </a:prstGeom>
          <a:noFill/>
          <a:ln/>
        </p:spPr>
        <p:txBody>
          <a:bodyPr wrap="square" lIns="0" tIns="0" rIns="0" bIns="0" rtlCol="0" anchor="t"/>
          <a:lstStyle/>
          <a:p>
            <a:pPr algn="l" indent="0" marL="0">
              <a:buNone/>
            </a:pPr>
            <a:r>
              <a:rPr lang="en-US" sz="4600" dirty="0">
                <a:solidFill>
                  <a:srgbClr val="140920"/>
                </a:solidFill>
                <a:latin typeface="Founders Grotesk Medium" pitchFamily="34" charset="0"/>
                <a:ea typeface="Founders Grotesk Medium" pitchFamily="34" charset="-122"/>
                <a:cs typeface="Founders Grotesk Medium" pitchFamily="34" charset="-120"/>
              </a:rPr>
              <a:t>The swarm in action</a:t>
            </a:r>
            <a:endParaRPr lang="en-US" sz="4600" dirty="0"/>
          </a:p>
        </p:txBody>
      </p:sp>
      <p:sp>
        <p:nvSpPr>
          <p:cNvPr id="3" name="Text 0"/>
          <p:cNvSpPr/>
          <p:nvPr>
            <p:ph idx="102" type="body" hasCustomPrompt="1"/>
          </p:nvPr>
        </p:nvSpPr>
        <p:spPr>
          <a:xfrm>
            <a:off x="715975" y="2697480"/>
            <a:ext cx="5852160" cy="1097280"/>
          </a:xfrm>
          <a:prstGeom prst="rect">
            <a:avLst/>
          </a:prstGeom>
          <a:noFill/>
          <a:ln/>
        </p:spPr>
        <p:txBody>
          <a:bodyPr wrap="square" lIns="0" tIns="0" rIns="0" bIns="0" rtlCol="0" anchor="t"/>
          <a:lstStyle/>
          <a:p>
            <a:pPr algn="l" indent="0" marL="0">
              <a:buNone/>
            </a:pPr>
            <a:r>
              <a:rPr lang="en-US" sz="2000" dirty="0">
                <a:solidFill>
                  <a:srgbClr val="4A405A"/>
                </a:solidFill>
                <a:latin typeface="Arial" pitchFamily="34" charset="0"/>
                <a:ea typeface="Arial" pitchFamily="34" charset="-122"/>
                <a:cs typeface="Arial" pitchFamily="34" charset="-120"/>
              </a:rPr>
              <a:t>The Arena with 100 tasks, built by agents in parallel. Then you build yours, with 15.</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100 agents building the Arena</a:t>
            </a:r>
            <a:endParaRPr lang="en-US" sz="3200" dirty="0"/>
          </a:p>
        </p:txBody>
      </p:sp>
      <p:pic>
        <p:nvPicPr>
          <p:cNvPr id="3" name="video-swarm">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26664"/>
            <a:ext cx="11094415" cy="3513231"/>
          </a:xfrm>
          <a:prstGeom prst="rect">
            <a:avLst/>
          </a:prstGeom>
        </p:spPr>
      </p:pic>
      <p:sp>
        <p:nvSpPr>
          <p:cNvPr id="4" name="status-legend-background"/>
          <p:cNvSpPr/>
          <p:nvPr/>
        </p:nvSpPr>
        <p:spPr>
          <a:xfrm>
            <a:off x="548640" y="5139896"/>
            <a:ext cx="11094415" cy="420624"/>
          </a:xfrm>
          <a:prstGeom prst="rect">
            <a:avLst/>
          </a:prstGeom>
          <a:solidFill>
            <a:srgbClr val="140920"/>
          </a:solidFill>
          <a:ln w="12700">
            <a:solidFill>
              <a:srgbClr val="140920"/>
            </a:solidFill>
            <a:prstDash val="solid"/>
          </a:ln>
        </p:spPr>
      </p:sp>
      <p:sp>
        <p:nvSpPr>
          <p:cNvPr id="5" name="status-legend-title"/>
          <p:cNvSpPr txBox="1"/>
          <p:nvPr/>
        </p:nvSpPr>
        <p:spPr>
          <a:xfrm>
            <a:off x="777240" y="5213048"/>
            <a:ext cx="2001453" cy="274320"/>
          </a:xfrm>
          <a:prstGeom prst="rect">
            <a:avLst/>
          </a:prstGeom>
          <a:noFill/>
          <a:ln/>
        </p:spPr>
        <p:txBody>
          <a:bodyPr wrap="square" lIns="0" tIns="0" rIns="0" bIns="0" rtlCol="0" anchor="ctr"/>
          <a:lstStyle/>
          <a:p>
            <a:pPr indent="0" marL="0">
              <a:buNone/>
            </a:pPr>
            <a:r>
              <a:rPr lang="en-US" sz="1200" b="1" dirty="0">
                <a:solidFill>
                  <a:srgbClr val="FCF9FE"/>
                </a:solidFill>
                <a:latin typeface="Arial" pitchFamily="34" charset="0"/>
                <a:ea typeface="Arial" pitchFamily="34" charset="-122"/>
                <a:cs typeface="Arial" pitchFamily="34" charset="-120"/>
              </a:rPr>
              <a:t>Each square is a task:</a:t>
            </a:r>
            <a:endParaRPr lang="en-US" sz="1200" dirty="0"/>
          </a:p>
        </p:txBody>
      </p:sp>
      <p:sp>
        <p:nvSpPr>
          <p:cNvPr id="6" name="status-legend-0"/>
          <p:cNvSpPr/>
          <p:nvPr/>
        </p:nvSpPr>
        <p:spPr>
          <a:xfrm>
            <a:off x="2778693" y="5240480"/>
            <a:ext cx="219456" cy="219456"/>
          </a:xfrm>
          <a:prstGeom prst="rect">
            <a:avLst/>
          </a:prstGeom>
          <a:solidFill>
            <a:srgbClr val="3A423E"/>
          </a:solidFill>
          <a:ln w="12700">
            <a:solidFill>
              <a:srgbClr val="3A423E"/>
            </a:solidFill>
            <a:prstDash val="solid"/>
          </a:ln>
        </p:spPr>
      </p:sp>
      <p:sp>
        <p:nvSpPr>
          <p:cNvPr id="7" name="status-legend-label-0"/>
          <p:cNvSpPr txBox="1"/>
          <p:nvPr/>
        </p:nvSpPr>
        <p:spPr>
          <a:xfrm>
            <a:off x="3107877" y="5213048"/>
            <a:ext cx="933785" cy="274320"/>
          </a:xfrm>
          <a:prstGeom prst="rect">
            <a:avLst/>
          </a:prstGeom>
          <a:noFill/>
          <a:ln/>
        </p:spPr>
        <p:txBody>
          <a:bodyPr wrap="square" lIns="0" tIns="0" rIns="0" bIns="0" rtlCol="0" anchor="ctr"/>
          <a:lstStyle/>
          <a:p>
            <a:pPr indent="0" marL="0">
              <a:buNone/>
            </a:pPr>
            <a:r>
              <a:rPr lang="en-US" sz="1200" dirty="0">
                <a:solidFill>
                  <a:srgbClr val="FCF9FE"/>
                </a:solidFill>
                <a:latin typeface="Arial" pitchFamily="34" charset="0"/>
                <a:ea typeface="Arial" pitchFamily="34" charset="-122"/>
                <a:cs typeface="Arial" pitchFamily="34" charset="-120"/>
              </a:rPr>
              <a:t>waiting</a:t>
            </a:r>
            <a:endParaRPr lang="en-US" sz="1200" dirty="0"/>
          </a:p>
        </p:txBody>
      </p:sp>
      <p:sp>
        <p:nvSpPr>
          <p:cNvPr id="8" name="status-legend-1"/>
          <p:cNvSpPr/>
          <p:nvPr/>
        </p:nvSpPr>
        <p:spPr>
          <a:xfrm>
            <a:off x="4041663" y="5240480"/>
            <a:ext cx="219456" cy="219456"/>
          </a:xfrm>
          <a:prstGeom prst="rect">
            <a:avLst/>
          </a:prstGeom>
          <a:solidFill>
            <a:srgbClr val="F1C232"/>
          </a:solidFill>
          <a:ln w="12700">
            <a:solidFill>
              <a:srgbClr val="F1C232"/>
            </a:solidFill>
            <a:prstDash val="solid"/>
          </a:ln>
        </p:spPr>
      </p:sp>
      <p:sp>
        <p:nvSpPr>
          <p:cNvPr id="9" name="status-legend-label-1"/>
          <p:cNvSpPr txBox="1"/>
          <p:nvPr/>
        </p:nvSpPr>
        <p:spPr>
          <a:xfrm>
            <a:off x="4370847" y="5213048"/>
            <a:ext cx="1381476" cy="274320"/>
          </a:xfrm>
          <a:prstGeom prst="rect">
            <a:avLst/>
          </a:prstGeom>
          <a:noFill/>
          <a:ln/>
        </p:spPr>
        <p:txBody>
          <a:bodyPr wrap="square" lIns="0" tIns="0" rIns="0" bIns="0" rtlCol="0" anchor="ctr"/>
          <a:lstStyle/>
          <a:p>
            <a:pPr indent="0" marL="0">
              <a:buNone/>
            </a:pPr>
            <a:r>
              <a:rPr lang="en-US" sz="1200" dirty="0">
                <a:solidFill>
                  <a:srgbClr val="FCF9FE"/>
                </a:solidFill>
                <a:latin typeface="Arial" pitchFamily="34" charset="0"/>
                <a:ea typeface="Arial" pitchFamily="34" charset="-122"/>
                <a:cs typeface="Arial" pitchFamily="34" charset="-120"/>
              </a:rPr>
              <a:t>agent working</a:t>
            </a:r>
            <a:endParaRPr lang="en-US" sz="1200" dirty="0"/>
          </a:p>
        </p:txBody>
      </p:sp>
      <p:sp>
        <p:nvSpPr>
          <p:cNvPr id="10" name="status-legend-2"/>
          <p:cNvSpPr/>
          <p:nvPr/>
        </p:nvSpPr>
        <p:spPr>
          <a:xfrm>
            <a:off x="5752322" y="5240480"/>
            <a:ext cx="219456" cy="219456"/>
          </a:xfrm>
          <a:prstGeom prst="rect">
            <a:avLst/>
          </a:prstGeom>
          <a:solidFill>
            <a:srgbClr val="2FBF6C"/>
          </a:solidFill>
          <a:ln w="12700">
            <a:solidFill>
              <a:srgbClr val="2FBF6C"/>
            </a:solidFill>
            <a:prstDash val="solid"/>
          </a:ln>
        </p:spPr>
      </p:sp>
      <p:sp>
        <p:nvSpPr>
          <p:cNvPr id="11" name="status-legend-label-2"/>
          <p:cNvSpPr txBox="1"/>
          <p:nvPr/>
        </p:nvSpPr>
        <p:spPr>
          <a:xfrm>
            <a:off x="6081506" y="5213048"/>
            <a:ext cx="1232245" cy="274320"/>
          </a:xfrm>
          <a:prstGeom prst="rect">
            <a:avLst/>
          </a:prstGeom>
          <a:noFill/>
          <a:ln/>
        </p:spPr>
        <p:txBody>
          <a:bodyPr wrap="square" lIns="0" tIns="0" rIns="0" bIns="0" rtlCol="0" anchor="ctr"/>
          <a:lstStyle/>
          <a:p>
            <a:pPr indent="0" marL="0">
              <a:buNone/>
            </a:pPr>
            <a:r>
              <a:rPr lang="en-US" sz="1200" dirty="0">
                <a:solidFill>
                  <a:srgbClr val="FCF9FE"/>
                </a:solidFill>
                <a:latin typeface="Arial" pitchFamily="34" charset="0"/>
                <a:ea typeface="Arial" pitchFamily="34" charset="-122"/>
                <a:cs typeface="Arial" pitchFamily="34" charset="-120"/>
              </a:rPr>
              <a:t>test passed</a:t>
            </a:r>
            <a:endParaRPr lang="en-US" sz="1200" dirty="0"/>
          </a:p>
        </p:txBody>
      </p:sp>
      <p:sp>
        <p:nvSpPr>
          <p:cNvPr id="12" name="status-legend-3"/>
          <p:cNvSpPr/>
          <p:nvPr/>
        </p:nvSpPr>
        <p:spPr>
          <a:xfrm>
            <a:off x="7313752" y="5240480"/>
            <a:ext cx="219456" cy="219456"/>
          </a:xfrm>
          <a:prstGeom prst="rect">
            <a:avLst/>
          </a:prstGeom>
          <a:solidFill>
            <a:srgbClr val="EF5B52"/>
          </a:solidFill>
          <a:ln w="12700">
            <a:solidFill>
              <a:srgbClr val="EF5B52"/>
            </a:solidFill>
            <a:prstDash val="solid"/>
          </a:ln>
        </p:spPr>
      </p:sp>
      <p:sp>
        <p:nvSpPr>
          <p:cNvPr id="13" name="status-legend-label-3"/>
          <p:cNvSpPr txBox="1"/>
          <p:nvPr/>
        </p:nvSpPr>
        <p:spPr>
          <a:xfrm>
            <a:off x="7642936" y="5213048"/>
            <a:ext cx="1232245" cy="274320"/>
          </a:xfrm>
          <a:prstGeom prst="rect">
            <a:avLst/>
          </a:prstGeom>
          <a:noFill/>
          <a:ln/>
        </p:spPr>
        <p:txBody>
          <a:bodyPr wrap="square" lIns="0" tIns="0" rIns="0" bIns="0" rtlCol="0" anchor="ctr"/>
          <a:lstStyle/>
          <a:p>
            <a:pPr indent="0" marL="0">
              <a:buNone/>
            </a:pPr>
            <a:r>
              <a:rPr lang="en-US" sz="1200" dirty="0">
                <a:solidFill>
                  <a:srgbClr val="FCF9FE"/>
                </a:solidFill>
                <a:latin typeface="Arial" pitchFamily="34" charset="0"/>
                <a:ea typeface="Arial" pitchFamily="34" charset="-122"/>
                <a:cs typeface="Arial" pitchFamily="34" charset="-120"/>
              </a:rPr>
              <a:t>test failed</a:t>
            </a:r>
            <a:endParaRPr lang="en-US" sz="1200" dirty="0"/>
          </a:p>
        </p:txBody>
      </p:sp>
      <p:sp>
        <p:nvSpPr>
          <p:cNvPr id="14" name="caption"/>
          <p:cNvSpPr txBox="1"/>
          <p:nvPr/>
        </p:nvSpPr>
        <p:spPr>
          <a:xfrm>
            <a:off x="548640" y="5706824"/>
            <a:ext cx="11094415" cy="274320"/>
          </a:xfrm>
          <a:prstGeom prst="rect">
            <a:avLst/>
          </a:prstGeom>
          <a:noFill/>
          <a:ln/>
        </p:spPr>
        <p:txBody>
          <a:bodyPr wrap="square" lIns="0" tIns="0" rIns="0" bIns="0" rtlCol="0" anchor="ctr"/>
          <a:lstStyle/>
          <a:p>
            <a:pPr indent="0" marL="0">
              <a:buNone/>
            </a:pPr>
            <a:r>
              <a:rPr lang="en-US" sz="1400" dirty="0">
                <a:solidFill>
                  <a:srgbClr val="4A405A"/>
                </a:solidFill>
                <a:latin typeface="Arial" pitchFamily="34" charset="0"/>
                <a:ea typeface="Arial" pitchFamily="34" charset="-122"/>
                <a:cs typeface="Arial" pitchFamily="34" charset="-120"/>
              </a:rPr>
              <a:t>Real recorded session (plan, swarm, review and cost): 6.9 min · US$ 2.55 · 107 agents</a:t>
            </a:r>
            <a:endParaRPr lang="en-US" sz="1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result: the game, ready to use</a:t>
            </a:r>
            <a:endParaRPr lang="en-US" sz="3200" dirty="0"/>
          </a:p>
        </p:txBody>
      </p:sp>
      <p:pic>
        <p:nvPicPr>
          <p:cNvPr id="3" name="video-game">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194408" y="1371600"/>
            <a:ext cx="7802880" cy="4389120"/>
          </a:xfrm>
          <a:prstGeom prst="rect">
            <a:avLst/>
          </a:prstGeom>
        </p:spPr>
      </p:pic>
      <p:sp>
        <p:nvSpPr>
          <p:cNvPr id="4" name="caption"/>
          <p:cNvSpPr txBox="1"/>
          <p:nvPr/>
        </p:nvSpPr>
        <p:spPr>
          <a:xfrm>
            <a:off x="548640" y="5897880"/>
            <a:ext cx="11094415" cy="274320"/>
          </a:xfrm>
          <a:prstGeom prst="rect">
            <a:avLst/>
          </a:prstGeom>
          <a:noFill/>
          <a:ln/>
        </p:spPr>
        <p:txBody>
          <a:bodyPr wrap="square" lIns="0" tIns="0" rIns="0" bIns="0" rtlCol="0" anchor="ctr"/>
          <a:lstStyle/>
          <a:p>
            <a:pPr indent="0" marL="0">
              <a:buNone/>
            </a:pPr>
            <a:r>
              <a:rPr lang="en-US" sz="1400" dirty="0">
                <a:solidFill>
                  <a:srgbClr val="4A405A"/>
                </a:solidFill>
                <a:latin typeface="Arial" pitchFamily="34" charset="0"/>
                <a:ea typeface="Arial" pitchFamily="34" charset="-122"/>
                <a:cs typeface="Arial" pitchFamily="34" charset="-120"/>
              </a:rPr>
              <a:t>The Arena the swarm built: security challenges in 4 formats, to play in the browser.</a:t>
            </a:r>
            <a:endParaRPr lang="en-US" sz="1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715975" y="1051560"/>
            <a:ext cx="7498080" cy="1554480"/>
          </a:xfrm>
          <a:prstGeom prst="rect">
            <a:avLst/>
          </a:prstGeom>
          <a:noFill/>
          <a:ln/>
        </p:spPr>
        <p:txBody>
          <a:bodyPr wrap="square" lIns="0" tIns="0" rIns="0" bIns="0" rtlCol="0" anchor="t"/>
          <a:lstStyle/>
          <a:p>
            <a:pPr algn="l" indent="0" marL="0">
              <a:buNone/>
            </a:pPr>
            <a:r>
              <a:rPr lang="en-US" sz="4600" dirty="0">
                <a:solidFill>
                  <a:srgbClr val="140920"/>
                </a:solidFill>
                <a:latin typeface="Founders Grotesk Medium" pitchFamily="34" charset="0"/>
                <a:ea typeface="Founders Grotesk Medium" pitchFamily="34" charset="-122"/>
                <a:cs typeface="Founders Grotesk Medium" pitchFamily="34" charset="-120"/>
              </a:rPr>
              <a:t>Project 1</a:t>
            </a:r>
            <a:endParaRPr lang="en-US" sz="4600" dirty="0"/>
          </a:p>
        </p:txBody>
      </p:sp>
      <p:sp>
        <p:nvSpPr>
          <p:cNvPr id="3" name="Text 0"/>
          <p:cNvSpPr/>
          <p:nvPr>
            <p:ph idx="102" type="body" hasCustomPrompt="1"/>
          </p:nvPr>
        </p:nvSpPr>
        <p:spPr>
          <a:xfrm>
            <a:off x="715975" y="2697480"/>
            <a:ext cx="5852160" cy="1097280"/>
          </a:xfrm>
          <a:prstGeom prst="rect">
            <a:avLst/>
          </a:prstGeom>
          <a:noFill/>
          <a:ln/>
        </p:spPr>
        <p:txBody>
          <a:bodyPr wrap="square" lIns="0" tIns="0" rIns="0" bIns="0" rtlCol="0" anchor="t"/>
          <a:lstStyle/>
          <a:p>
            <a:pPr algn="l" indent="0" marL="0">
              <a:buNone/>
            </a:pPr>
            <a:r>
              <a:rPr lang="en-US" sz="2000" dirty="0">
                <a:solidFill>
                  <a:srgbClr val="4A405A"/>
                </a:solidFill>
                <a:latin typeface="Arial" pitchFamily="34" charset="0"/>
                <a:ea typeface="Arial" pitchFamily="34" charset="-122"/>
                <a:cs typeface="Arial" pitchFamily="34" charset="-120"/>
              </a:rPr>
              <a:t>The Security Arena</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What we will do in this project today</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
          <p:cNvSpPr/>
          <p:nvPr/>
        </p:nvSpPr>
        <p:spPr>
          <a:xfrm>
            <a:off x="868680" y="2011680"/>
            <a:ext cx="548640" cy="548640"/>
          </a:xfrm>
          <a:prstGeom prst="rect">
            <a:avLst/>
          </a:prstGeom>
          <a:solidFill>
            <a:srgbClr val="1E9E57"/>
          </a:solidFill>
          <a:ln w="12700">
            <a:solidFill>
              <a:srgbClr val="1E9E57"/>
            </a:solidFill>
            <a:prstDash val="solid"/>
          </a:ln>
        </p:spPr>
      </p:sp>
      <p:sp>
        <p:nvSpPr>
          <p:cNvPr id="5"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Ready</a:t>
            </a:r>
            <a:endParaRPr lang="en-US" sz="2600" dirty="0"/>
          </a:p>
        </p:txBody>
      </p:sp>
      <p:sp>
        <p:nvSpPr>
          <p:cNvPr id="6"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the app shell, 4 challenge formats and one test for each task</a:t>
            </a:r>
            <a:endParaRPr lang="en-US" sz="1900" dirty="0"/>
          </a:p>
        </p:txBody>
      </p:sp>
      <p:sp>
        <p:nvSpPr>
          <p:cNvPr id="7"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8" name="mark-1"/>
          <p:cNvSpPr/>
          <p:nvPr/>
        </p:nvSpPr>
        <p:spPr>
          <a:xfrm>
            <a:off x="4673498" y="2011680"/>
            <a:ext cx="548640" cy="548640"/>
          </a:xfrm>
          <a:prstGeom prst="rect">
            <a:avLst/>
          </a:prstGeom>
          <a:solidFill>
            <a:srgbClr val="C4C7C1"/>
          </a:solidFill>
          <a:ln w="12700">
            <a:solidFill>
              <a:srgbClr val="C4C7C1"/>
            </a:solidFill>
            <a:prstDash val="solid"/>
          </a:ln>
        </p:spPr>
      </p:sp>
      <p:sp>
        <p:nvSpPr>
          <p:cNvPr id="9"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To do</a:t>
            </a:r>
            <a:endParaRPr lang="en-US" sz="2600" dirty="0"/>
          </a:p>
        </p:txBody>
      </p:sp>
      <p:sp>
        <p:nvSpPr>
          <p:cNvPr id="10"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15 challenges, lib-hash and two pages: one task each</a:t>
            </a:r>
            <a:endParaRPr lang="en-US" sz="1900" dirty="0"/>
          </a:p>
        </p:txBody>
      </p:sp>
      <p:sp>
        <p:nvSpPr>
          <p:cNvPr id="11"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2" name="mark-2"/>
          <p:cNvSpPr/>
          <p:nvPr/>
        </p:nvSpPr>
        <p:spPr>
          <a:xfrm>
            <a:off x="8478317" y="2011680"/>
            <a:ext cx="548640" cy="548640"/>
          </a:xfrm>
          <a:prstGeom prst="rect">
            <a:avLst/>
          </a:prstGeom>
          <a:solidFill>
            <a:srgbClr val="F1C232"/>
          </a:solidFill>
          <a:ln w="12700">
            <a:solidFill>
              <a:srgbClr val="F1C232"/>
            </a:solidFill>
            <a:prstDash val="solid"/>
          </a:ln>
        </p:spPr>
      </p:sp>
      <p:sp>
        <p:nvSpPr>
          <p:cNvPr id="13"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Who does it</a:t>
            </a:r>
            <a:endParaRPr lang="en-US" sz="2600" dirty="0"/>
          </a:p>
        </p:txBody>
      </p:sp>
      <p:sp>
        <p:nvSpPr>
          <p:cNvPr id="14"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your swarm: Haiku, Sonnet and Opus</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What /demo-plan does</a:t>
            </a:r>
            <a:endParaRPr lang="en-US" sz="3200" dirty="0"/>
          </a:p>
        </p:txBody>
      </p:sp>
      <p:sp>
        <p:nvSpPr>
          <p:cNvPr id="3" name="code-background"/>
          <p:cNvSpPr/>
          <p:nvPr/>
        </p:nvSpPr>
        <p:spPr>
          <a:xfrm>
            <a:off x="548640" y="1508760"/>
            <a:ext cx="5760720" cy="3419856"/>
          </a:xfrm>
          <a:prstGeom prst="rect">
            <a:avLst/>
          </a:prstGeom>
          <a:solidFill>
            <a:srgbClr val="140920"/>
          </a:solidFill>
          <a:ln w="12700">
            <a:solidFill>
              <a:srgbClr val="140920"/>
            </a:solidFill>
            <a:prstDash val="solid"/>
          </a:ln>
        </p:spPr>
      </p:sp>
      <p:sp>
        <p:nvSpPr>
          <p:cNvPr id="4" name="code-label"/>
          <p:cNvSpPr txBox="1"/>
          <p:nvPr/>
        </p:nvSpPr>
        <p:spPr>
          <a:xfrm>
            <a:off x="777240" y="1691640"/>
            <a:ext cx="5303520"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.claude/skills/demo-plan/SKILL.md (summary)</a:t>
            </a:r>
            <a:endParaRPr lang="en-US" sz="1300" dirty="0"/>
          </a:p>
        </p:txBody>
      </p:sp>
      <p:sp>
        <p:nvSpPr>
          <p:cNvPr id="5" name="code"/>
          <p:cNvSpPr txBox="1"/>
          <p:nvPr/>
        </p:nvSpPr>
        <p:spPr>
          <a:xfrm>
            <a:off x="777240" y="2039112"/>
            <a:ext cx="5303520" cy="2752344"/>
          </a:xfrm>
          <a:prstGeom prst="rect">
            <a:avLst/>
          </a:prstGeom>
          <a:noFill/>
          <a:ln/>
        </p:spPr>
        <p:txBody>
          <a:bodyPr wrap="square" lIns="0" tIns="0" rIns="0" bIns="0" rtlCol="0" anchor="t"/>
          <a:lstStyle/>
          <a:p>
            <a:pPr indent="0" marL="0">
              <a:buNone/>
            </a:pPr>
            <a:r>
              <a:rPr lang="en-US" sz="1600" dirty="0">
                <a:solidFill>
                  <a:srgbClr val="FCF9FE"/>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name: demo-plan</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model: sonnet</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allowed-tools: Read, Agent,</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  node tools/*, memory_search</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1. Look up lessons in the memory</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2. node tools/plan.mjs  → the graph</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3. The planner agent (Opus) reviews it</a:t>
            </a:r>
            <a:endParaRPr lang="en-US" sz="1600" dirty="0"/>
          </a:p>
          <a:p>
            <a:pPr indent="0" marL="0">
              <a:buNone/>
            </a:pPr>
            <a:r>
              <a:rPr lang="en-US" sz="1600" dirty="0">
                <a:solidFill>
                  <a:srgbClr val="FCF9FE"/>
                </a:solidFill>
                <a:latin typeface="Courier New" pitchFamily="34" charset="0"/>
                <a:ea typeface="Courier New" pitchFamily="34" charset="-122"/>
                <a:cs typeface="Courier New" pitchFamily="34" charset="-120"/>
              </a:rPr>
              <a:t>4. Show the waves, the diagram and the cost</a:t>
            </a:r>
            <a:endParaRPr lang="en-US" sz="1600" dirty="0"/>
          </a:p>
        </p:txBody>
      </p:sp>
      <p:sp>
        <p:nvSpPr>
          <p:cNvPr id="6" name="anatomy-mark-0-circle"/>
          <p:cNvSpPr/>
          <p:nvPr/>
        </p:nvSpPr>
        <p:spPr>
          <a:xfrm>
            <a:off x="6766560" y="1508760"/>
            <a:ext cx="411480" cy="411480"/>
          </a:xfrm>
          <a:prstGeom prst="ellipse">
            <a:avLst/>
          </a:prstGeom>
          <a:solidFill>
            <a:srgbClr val="6B34FD"/>
          </a:solidFill>
          <a:ln w="12700">
            <a:solidFill>
              <a:srgbClr val="6B34FD"/>
            </a:solidFill>
            <a:prstDash val="solid"/>
          </a:ln>
        </p:spPr>
      </p:sp>
      <p:pic>
        <p:nvPicPr>
          <p:cNvPr id="7" name="anatomy-mark-0" descr="scroll-text">    </p:cNvPr>
          <p:cNvPicPr>
            <a:picLocks noChangeAspect="1"/>
          </p:cNvPicPr>
          <p:nvPr/>
        </p:nvPicPr>
        <p:blipFill>
          <a:blip r:embed="rId1"/>
          <a:stretch>
            <a:fillRect/>
          </a:stretch>
        </p:blipFill>
        <p:spPr>
          <a:xfrm>
            <a:off x="6857086" y="1599286"/>
            <a:ext cx="230429" cy="230429"/>
          </a:xfrm>
          <a:prstGeom prst="rect">
            <a:avLst/>
          </a:prstGeom>
        </p:spPr>
      </p:pic>
      <p:sp>
        <p:nvSpPr>
          <p:cNvPr id="8" name="anatomy-title-0"/>
          <p:cNvSpPr txBox="1"/>
          <p:nvPr/>
        </p:nvSpPr>
        <p:spPr>
          <a:xfrm>
            <a:off x="7360920" y="15270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It is a skill</a:t>
            </a:r>
            <a:endParaRPr lang="en-US" sz="2000" dirty="0"/>
          </a:p>
        </p:txBody>
      </p:sp>
      <p:sp>
        <p:nvSpPr>
          <p:cNvPr id="9" name="anatomy-text-0"/>
          <p:cNvSpPr txBox="1"/>
          <p:nvPr/>
        </p:nvSpPr>
        <p:spPr>
          <a:xfrm>
            <a:off x="7360920" y="19385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A Markdown file with steps. You type /demo-plan and Claude follows the recipe, the same way every time.</a:t>
            </a:r>
            <a:endParaRPr lang="en-US" sz="1500" dirty="0"/>
          </a:p>
        </p:txBody>
      </p:sp>
      <p:sp>
        <p:nvSpPr>
          <p:cNvPr id="10" name="anatomy-mark-1-circle"/>
          <p:cNvSpPr/>
          <p:nvPr/>
        </p:nvSpPr>
        <p:spPr>
          <a:xfrm>
            <a:off x="6766560" y="2956560"/>
            <a:ext cx="411480" cy="411480"/>
          </a:xfrm>
          <a:prstGeom prst="ellipse">
            <a:avLst/>
          </a:prstGeom>
          <a:solidFill>
            <a:srgbClr val="6B34FD"/>
          </a:solidFill>
          <a:ln w="12700">
            <a:solidFill>
              <a:srgbClr val="6B34FD"/>
            </a:solidFill>
            <a:prstDash val="solid"/>
          </a:ln>
        </p:spPr>
      </p:sp>
      <p:pic>
        <p:nvPicPr>
          <p:cNvPr id="11" name="anatomy-mark-1" descr="workflow">    </p:cNvPr>
          <p:cNvPicPr>
            <a:picLocks noChangeAspect="1"/>
          </p:cNvPicPr>
          <p:nvPr/>
        </p:nvPicPr>
        <p:blipFill>
          <a:blip r:embed="rId2"/>
          <a:stretch>
            <a:fillRect/>
          </a:stretch>
        </p:blipFill>
        <p:spPr>
          <a:xfrm>
            <a:off x="6857086" y="3047086"/>
            <a:ext cx="230429" cy="230429"/>
          </a:xfrm>
          <a:prstGeom prst="rect">
            <a:avLst/>
          </a:prstGeom>
        </p:spPr>
      </p:pic>
      <p:sp>
        <p:nvSpPr>
          <p:cNvPr id="12" name="anatomy-title-1"/>
          <p:cNvSpPr txBox="1"/>
          <p:nvPr/>
        </p:nvSpPr>
        <p:spPr>
          <a:xfrm>
            <a:off x="7360920" y="29748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What goes in and out</a:t>
            </a:r>
            <a:endParaRPr lang="en-US" sz="2000" dirty="0"/>
          </a:p>
        </p:txBody>
      </p:sp>
      <p:sp>
        <p:nvSpPr>
          <p:cNvPr id="13" name="anatomy-text-1"/>
          <p:cNvSpPr txBox="1"/>
          <p:nvPr/>
        </p:nvSpPr>
        <p:spPr>
          <a:xfrm>
            <a:off x="7360920" y="33863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In: the Arena specs (summarised in TASKS.md). Out: plan.json and PLAN.md, the graph with the dependencies, the waves and the cost estimate.</a:t>
            </a:r>
            <a:endParaRPr lang="en-US" sz="1500" dirty="0"/>
          </a:p>
        </p:txBody>
      </p:sp>
      <p:sp>
        <p:nvSpPr>
          <p:cNvPr id="14" name="anatomy-mark-2-circle"/>
          <p:cNvSpPr/>
          <p:nvPr/>
        </p:nvSpPr>
        <p:spPr>
          <a:xfrm>
            <a:off x="6766560" y="4404360"/>
            <a:ext cx="411480" cy="411480"/>
          </a:xfrm>
          <a:prstGeom prst="ellipse">
            <a:avLst/>
          </a:prstGeom>
          <a:solidFill>
            <a:srgbClr val="6B34FD"/>
          </a:solidFill>
          <a:ln w="12700">
            <a:solidFill>
              <a:srgbClr val="6B34FD"/>
            </a:solidFill>
            <a:prstDash val="solid"/>
          </a:ln>
        </p:spPr>
      </p:sp>
      <p:pic>
        <p:nvPicPr>
          <p:cNvPr id="15" name="anatomy-mark-2" descr="folder-git-2">    </p:cNvPr>
          <p:cNvPicPr>
            <a:picLocks noChangeAspect="1"/>
          </p:cNvPicPr>
          <p:nvPr/>
        </p:nvPicPr>
        <p:blipFill>
          <a:blip r:embed="rId3"/>
          <a:stretch>
            <a:fillRect/>
          </a:stretch>
        </p:blipFill>
        <p:spPr>
          <a:xfrm>
            <a:off x="6857086" y="4494886"/>
            <a:ext cx="230429" cy="230429"/>
          </a:xfrm>
          <a:prstGeom prst="rect">
            <a:avLst/>
          </a:prstGeom>
        </p:spPr>
      </p:pic>
      <p:sp>
        <p:nvSpPr>
          <p:cNvPr id="16" name="anatomy-title-2"/>
          <p:cNvSpPr txBox="1"/>
          <p:nvPr/>
        </p:nvSpPr>
        <p:spPr>
          <a:xfrm>
            <a:off x="7360920" y="44226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In your project</a:t>
            </a:r>
            <a:endParaRPr lang="en-US" sz="2000" dirty="0"/>
          </a:p>
        </p:txBody>
      </p:sp>
      <p:sp>
        <p:nvSpPr>
          <p:cNvPr id="17" name="anatomy-text-2"/>
          <p:cNvSpPr txBox="1"/>
          <p:nvPr/>
        </p:nvSpPr>
        <p:spPr>
          <a:xfrm>
            <a:off x="7360920" y="48341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/task-plan does the same for one of your Jira or GitHub issues.</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3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Plan the swarm</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Go to the Arena folder</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Claude Code and pick "Yes, I trust this folder" (↓ then Enter: the preselected option exits)</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/demo-plan</a:t>
            </a:r>
            <a:endParaRPr lang="en-US" sz="2000" dirty="0"/>
          </a:p>
        </p:txBody>
      </p:sp>
      <p:sp>
        <p:nvSpPr>
          <p:cNvPr id="6" name="code-background"/>
          <p:cNvSpPr/>
          <p:nvPr/>
        </p:nvSpPr>
        <p:spPr>
          <a:xfrm>
            <a:off x="4937760" y="1920240"/>
            <a:ext cx="6705295" cy="1728216"/>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1060704"/>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cd ~/workshop-claude/demo-project</a:t>
            </a:r>
            <a:endParaRPr lang="en-US" sz="2000" dirty="0"/>
          </a:p>
          <a:p>
            <a:pPr indent="0" marL="0">
              <a:buNone/>
            </a:pPr>
            <a:r>
              <a:rPr lang="en-US" sz="2000" dirty="0">
                <a:solidFill>
                  <a:srgbClr val="FCF9FE"/>
                </a:solidFill>
                <a:latin typeface="Courier New" pitchFamily="34" charset="0"/>
                <a:ea typeface="Courier New" pitchFamily="34" charset="-122"/>
                <a:cs typeface="Courier New" pitchFamily="34" charset="-120"/>
              </a:rPr>
              <a:t>claude</a:t>
            </a:r>
            <a:endParaRPr lang="en-US" sz="2000" dirty="0"/>
          </a:p>
          <a:p>
            <a:pPr indent="0" marL="0">
              <a:buNone/>
            </a:pPr>
            <a:r>
              <a:rPr lang="en-US" sz="2000" dirty="0">
                <a:solidFill>
                  <a:srgbClr val="FCF9FE"/>
                </a:solidFill>
                <a:latin typeface="Courier New" pitchFamily="34" charset="0"/>
                <a:ea typeface="Courier New" pitchFamily="34" charset="-122"/>
                <a:cs typeface="Courier New" pitchFamily="34" charset="-120"/>
              </a:rPr>
              <a:t>/demo-plan</a:t>
            </a:r>
            <a:endParaRPr lang="en-US" sz="20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A Mermaid diagram, 4 waves and an estimate close to US$ 1.00</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Your plan: 4 waves</a:t>
            </a:r>
            <a:endParaRPr lang="en-US" sz="3200" dirty="0"/>
          </a:p>
        </p:txBody>
      </p:sp>
      <p:sp>
        <p:nvSpPr>
          <p:cNvPr id="3" name="wave-0"/>
          <p:cNvSpPr/>
          <p:nvPr/>
        </p:nvSpPr>
        <p:spPr>
          <a:xfrm>
            <a:off x="548640" y="1600200"/>
            <a:ext cx="4023360" cy="4069080"/>
          </a:xfrm>
          <a:prstGeom prst="rect">
            <a:avLst/>
          </a:prstGeom>
          <a:solidFill>
            <a:srgbClr val="FFFFFF"/>
          </a:solidFill>
          <a:ln w="12700">
            <a:solidFill>
              <a:srgbClr val="FFFFFF"/>
            </a:solidFill>
            <a:prstDash val="solid"/>
          </a:ln>
        </p:spPr>
      </p:sp>
      <p:sp>
        <p:nvSpPr>
          <p:cNvPr id="4" name="wave-name-0"/>
          <p:cNvSpPr txBox="1"/>
          <p:nvPr/>
        </p:nvSpPr>
        <p:spPr>
          <a:xfrm>
            <a:off x="822960" y="1783080"/>
            <a:ext cx="347472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1</a:t>
            </a:r>
            <a:endParaRPr lang="en-US" sz="2400" dirty="0"/>
          </a:p>
        </p:txBody>
      </p:sp>
      <p:sp>
        <p:nvSpPr>
          <p:cNvPr id="5" name="wave-model-icon-0-circle"/>
          <p:cNvSpPr/>
          <p:nvPr/>
        </p:nvSpPr>
        <p:spPr>
          <a:xfrm>
            <a:off x="822960" y="2304288"/>
            <a:ext cx="310896" cy="310896"/>
          </a:xfrm>
          <a:prstGeom prst="ellipse">
            <a:avLst/>
          </a:prstGeom>
          <a:solidFill>
            <a:srgbClr val="6B34FD"/>
          </a:solidFill>
          <a:ln w="12700">
            <a:solidFill>
              <a:srgbClr val="6B34FD"/>
            </a:solidFill>
            <a:prstDash val="solid"/>
          </a:ln>
        </p:spPr>
      </p:sp>
      <p:pic>
        <p:nvPicPr>
          <p:cNvPr id="6" name="wave-model-icon-0" descr="feather">    </p:cNvPr>
          <p:cNvPicPr>
            <a:picLocks noChangeAspect="1"/>
          </p:cNvPicPr>
          <p:nvPr/>
        </p:nvPicPr>
        <p:blipFill>
          <a:blip r:embed="rId1"/>
          <a:stretch>
            <a:fillRect/>
          </a:stretch>
        </p:blipFill>
        <p:spPr>
          <a:xfrm>
            <a:off x="891357" y="2372685"/>
            <a:ext cx="174102" cy="174102"/>
          </a:xfrm>
          <a:prstGeom prst="rect">
            <a:avLst/>
          </a:prstGeom>
        </p:spPr>
      </p:pic>
      <p:sp>
        <p:nvSpPr>
          <p:cNvPr id="7" name="wave-model-0"/>
          <p:cNvSpPr txBox="1"/>
          <p:nvPr/>
        </p:nvSpPr>
        <p:spPr>
          <a:xfrm>
            <a:off x="1225296" y="2304288"/>
            <a:ext cx="310896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Haiku</a:t>
            </a:r>
            <a:endParaRPr lang="en-US" sz="1600" dirty="0"/>
          </a:p>
        </p:txBody>
      </p:sp>
      <p:sp>
        <p:nvSpPr>
          <p:cNvPr id="8" name="wave-sub-0"/>
          <p:cNvSpPr txBox="1"/>
          <p:nvPr/>
        </p:nvSpPr>
        <p:spPr>
          <a:xfrm>
            <a:off x="822960" y="2724912"/>
            <a:ext cx="347472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lib-hash and 15 tasks</a:t>
            </a:r>
            <a:endParaRPr lang="en-US" sz="1500" dirty="0"/>
          </a:p>
        </p:txBody>
      </p:sp>
      <p:sp>
        <p:nvSpPr>
          <p:cNvPr id="9" name="hash"/>
          <p:cNvSpPr/>
          <p:nvPr/>
        </p:nvSpPr>
        <p:spPr>
          <a:xfrm>
            <a:off x="822960" y="3383280"/>
            <a:ext cx="384048" cy="384048"/>
          </a:xfrm>
          <a:prstGeom prst="rect">
            <a:avLst/>
          </a:prstGeom>
          <a:solidFill>
            <a:srgbClr val="F1C232"/>
          </a:solidFill>
          <a:ln w="12700">
            <a:solidFill>
              <a:srgbClr val="F1C232"/>
            </a:solidFill>
            <a:prstDash val="solid"/>
          </a:ln>
        </p:spPr>
      </p:sp>
      <p:sp>
        <p:nvSpPr>
          <p:cNvPr id="10" name="hash-label"/>
          <p:cNvSpPr txBox="1"/>
          <p:nvPr/>
        </p:nvSpPr>
        <p:spPr>
          <a:xfrm>
            <a:off x="1325880" y="3383280"/>
            <a:ext cx="1463040" cy="384048"/>
          </a:xfrm>
          <a:prstGeom prst="rect">
            <a:avLst/>
          </a:prstGeom>
          <a:noFill/>
          <a:ln/>
        </p:spPr>
        <p:txBody>
          <a:bodyPr wrap="square" lIns="0" tIns="0" rIns="0" bIns="0" rtlCol="0" anchor="ctr"/>
          <a:lstStyle/>
          <a:p>
            <a:pPr indent="0" marL="0">
              <a:buNone/>
            </a:pPr>
            <a:r>
              <a:rPr lang="en-US" sz="1400" b="1" dirty="0">
                <a:solidFill>
                  <a:srgbClr val="140920"/>
                </a:solidFill>
                <a:latin typeface="Arial" pitchFamily="34" charset="0"/>
                <a:ea typeface="Arial" pitchFamily="34" charset="-122"/>
                <a:cs typeface="Arial" pitchFamily="34" charset="-120"/>
              </a:rPr>
              <a:t>lib-hash</a:t>
            </a:r>
            <a:endParaRPr lang="en-US" sz="1400" dirty="0"/>
          </a:p>
        </p:txBody>
      </p:sp>
      <p:sp>
        <p:nvSpPr>
          <p:cNvPr id="11" name="task-0"/>
          <p:cNvSpPr/>
          <p:nvPr/>
        </p:nvSpPr>
        <p:spPr>
          <a:xfrm>
            <a:off x="822960" y="3931920"/>
            <a:ext cx="384048" cy="384048"/>
          </a:xfrm>
          <a:prstGeom prst="rect">
            <a:avLst/>
          </a:prstGeom>
          <a:solidFill>
            <a:srgbClr val="1E9E57"/>
          </a:solidFill>
          <a:ln w="12700">
            <a:solidFill>
              <a:srgbClr val="1E9E57"/>
            </a:solidFill>
            <a:prstDash val="solid"/>
          </a:ln>
        </p:spPr>
      </p:sp>
      <p:sp>
        <p:nvSpPr>
          <p:cNvPr id="12" name="task-1"/>
          <p:cNvSpPr/>
          <p:nvPr/>
        </p:nvSpPr>
        <p:spPr>
          <a:xfrm>
            <a:off x="1389888" y="3931920"/>
            <a:ext cx="384048" cy="384048"/>
          </a:xfrm>
          <a:prstGeom prst="rect">
            <a:avLst/>
          </a:prstGeom>
          <a:solidFill>
            <a:srgbClr val="1E9E57"/>
          </a:solidFill>
          <a:ln w="12700">
            <a:solidFill>
              <a:srgbClr val="1E9E57"/>
            </a:solidFill>
            <a:prstDash val="solid"/>
          </a:ln>
        </p:spPr>
      </p:sp>
      <p:sp>
        <p:nvSpPr>
          <p:cNvPr id="13" name="task-2"/>
          <p:cNvSpPr/>
          <p:nvPr/>
        </p:nvSpPr>
        <p:spPr>
          <a:xfrm>
            <a:off x="1956816" y="3931920"/>
            <a:ext cx="384048" cy="384048"/>
          </a:xfrm>
          <a:prstGeom prst="rect">
            <a:avLst/>
          </a:prstGeom>
          <a:solidFill>
            <a:srgbClr val="F1C232"/>
          </a:solidFill>
          <a:ln w="12700">
            <a:solidFill>
              <a:srgbClr val="F1C232"/>
            </a:solidFill>
            <a:prstDash val="solid"/>
          </a:ln>
        </p:spPr>
      </p:sp>
      <p:sp>
        <p:nvSpPr>
          <p:cNvPr id="14" name="task-3"/>
          <p:cNvSpPr/>
          <p:nvPr/>
        </p:nvSpPr>
        <p:spPr>
          <a:xfrm>
            <a:off x="2523744" y="3931920"/>
            <a:ext cx="384048" cy="384048"/>
          </a:xfrm>
          <a:prstGeom prst="rect">
            <a:avLst/>
          </a:prstGeom>
          <a:solidFill>
            <a:srgbClr val="1E9E57"/>
          </a:solidFill>
          <a:ln w="12700">
            <a:solidFill>
              <a:srgbClr val="1E9E57"/>
            </a:solidFill>
            <a:prstDash val="solid"/>
          </a:ln>
        </p:spPr>
      </p:sp>
      <p:sp>
        <p:nvSpPr>
          <p:cNvPr id="15" name="task-4"/>
          <p:cNvSpPr/>
          <p:nvPr/>
        </p:nvSpPr>
        <p:spPr>
          <a:xfrm>
            <a:off x="3090672" y="3931920"/>
            <a:ext cx="384048" cy="384048"/>
          </a:xfrm>
          <a:prstGeom prst="rect">
            <a:avLst/>
          </a:prstGeom>
          <a:solidFill>
            <a:srgbClr val="1E9E57"/>
          </a:solidFill>
          <a:ln w="12700">
            <a:solidFill>
              <a:srgbClr val="1E9E57"/>
            </a:solidFill>
            <a:prstDash val="solid"/>
          </a:ln>
        </p:spPr>
      </p:sp>
      <p:sp>
        <p:nvSpPr>
          <p:cNvPr id="16" name="task-5"/>
          <p:cNvSpPr/>
          <p:nvPr/>
        </p:nvSpPr>
        <p:spPr>
          <a:xfrm>
            <a:off x="3657600" y="3931920"/>
            <a:ext cx="384048" cy="384048"/>
          </a:xfrm>
          <a:prstGeom prst="rect">
            <a:avLst/>
          </a:prstGeom>
          <a:solidFill>
            <a:srgbClr val="F1C232"/>
          </a:solidFill>
          <a:ln w="12700">
            <a:solidFill>
              <a:srgbClr val="F1C232"/>
            </a:solidFill>
            <a:prstDash val="solid"/>
          </a:ln>
        </p:spPr>
      </p:sp>
      <p:sp>
        <p:nvSpPr>
          <p:cNvPr id="17" name="task-6"/>
          <p:cNvSpPr/>
          <p:nvPr/>
        </p:nvSpPr>
        <p:spPr>
          <a:xfrm>
            <a:off x="822960" y="4434840"/>
            <a:ext cx="384048" cy="384048"/>
          </a:xfrm>
          <a:prstGeom prst="rect">
            <a:avLst/>
          </a:prstGeom>
          <a:solidFill>
            <a:srgbClr val="1E9E57"/>
          </a:solidFill>
          <a:ln w="12700">
            <a:solidFill>
              <a:srgbClr val="1E9E57"/>
            </a:solidFill>
            <a:prstDash val="solid"/>
          </a:ln>
        </p:spPr>
      </p:sp>
      <p:sp>
        <p:nvSpPr>
          <p:cNvPr id="18" name="task-7"/>
          <p:cNvSpPr/>
          <p:nvPr/>
        </p:nvSpPr>
        <p:spPr>
          <a:xfrm>
            <a:off x="1389888" y="4434840"/>
            <a:ext cx="384048" cy="384048"/>
          </a:xfrm>
          <a:prstGeom prst="rect">
            <a:avLst/>
          </a:prstGeom>
          <a:solidFill>
            <a:srgbClr val="1E9E57"/>
          </a:solidFill>
          <a:ln w="12700">
            <a:solidFill>
              <a:srgbClr val="1E9E57"/>
            </a:solidFill>
            <a:prstDash val="solid"/>
          </a:ln>
        </p:spPr>
      </p:sp>
      <p:sp>
        <p:nvSpPr>
          <p:cNvPr id="19" name="task-8"/>
          <p:cNvSpPr/>
          <p:nvPr/>
        </p:nvSpPr>
        <p:spPr>
          <a:xfrm>
            <a:off x="1956816" y="4434840"/>
            <a:ext cx="384048" cy="384048"/>
          </a:xfrm>
          <a:prstGeom prst="rect">
            <a:avLst/>
          </a:prstGeom>
          <a:solidFill>
            <a:srgbClr val="F1C232"/>
          </a:solidFill>
          <a:ln w="12700">
            <a:solidFill>
              <a:srgbClr val="F1C232"/>
            </a:solidFill>
            <a:prstDash val="solid"/>
          </a:ln>
        </p:spPr>
      </p:sp>
      <p:sp>
        <p:nvSpPr>
          <p:cNvPr id="20" name="task-9"/>
          <p:cNvSpPr/>
          <p:nvPr/>
        </p:nvSpPr>
        <p:spPr>
          <a:xfrm>
            <a:off x="2523744" y="4434840"/>
            <a:ext cx="384048" cy="384048"/>
          </a:xfrm>
          <a:prstGeom prst="rect">
            <a:avLst/>
          </a:prstGeom>
          <a:solidFill>
            <a:srgbClr val="1E9E57"/>
          </a:solidFill>
          <a:ln w="12700">
            <a:solidFill>
              <a:srgbClr val="1E9E57"/>
            </a:solidFill>
            <a:prstDash val="solid"/>
          </a:ln>
        </p:spPr>
      </p:sp>
      <p:sp>
        <p:nvSpPr>
          <p:cNvPr id="21" name="task-10"/>
          <p:cNvSpPr/>
          <p:nvPr/>
        </p:nvSpPr>
        <p:spPr>
          <a:xfrm>
            <a:off x="3090672" y="4434840"/>
            <a:ext cx="384048" cy="384048"/>
          </a:xfrm>
          <a:prstGeom prst="rect">
            <a:avLst/>
          </a:prstGeom>
          <a:solidFill>
            <a:srgbClr val="1E9E57"/>
          </a:solidFill>
          <a:ln w="12700">
            <a:solidFill>
              <a:srgbClr val="1E9E57"/>
            </a:solidFill>
            <a:prstDash val="solid"/>
          </a:ln>
        </p:spPr>
      </p:sp>
      <p:sp>
        <p:nvSpPr>
          <p:cNvPr id="22" name="task-11"/>
          <p:cNvSpPr/>
          <p:nvPr/>
        </p:nvSpPr>
        <p:spPr>
          <a:xfrm>
            <a:off x="3657600" y="4434840"/>
            <a:ext cx="384048" cy="384048"/>
          </a:xfrm>
          <a:prstGeom prst="rect">
            <a:avLst/>
          </a:prstGeom>
          <a:solidFill>
            <a:srgbClr val="F1C232"/>
          </a:solidFill>
          <a:ln w="12700">
            <a:solidFill>
              <a:srgbClr val="F1C232"/>
            </a:solidFill>
            <a:prstDash val="solid"/>
          </a:ln>
        </p:spPr>
      </p:sp>
      <p:sp>
        <p:nvSpPr>
          <p:cNvPr id="23" name="crypto-0"/>
          <p:cNvSpPr/>
          <p:nvPr/>
        </p:nvSpPr>
        <p:spPr>
          <a:xfrm>
            <a:off x="822960" y="5029200"/>
            <a:ext cx="384048" cy="384048"/>
          </a:xfrm>
          <a:prstGeom prst="rect">
            <a:avLst/>
          </a:prstGeom>
          <a:solidFill>
            <a:srgbClr val="C4C7C1"/>
          </a:solidFill>
          <a:ln w="12700">
            <a:solidFill>
              <a:srgbClr val="C4C7C1"/>
            </a:solidFill>
            <a:prstDash val="solid"/>
          </a:ln>
        </p:spPr>
      </p:sp>
      <p:sp>
        <p:nvSpPr>
          <p:cNvPr id="24" name="crypto-1"/>
          <p:cNvSpPr/>
          <p:nvPr/>
        </p:nvSpPr>
        <p:spPr>
          <a:xfrm>
            <a:off x="1389888" y="5029200"/>
            <a:ext cx="384048" cy="384048"/>
          </a:xfrm>
          <a:prstGeom prst="rect">
            <a:avLst/>
          </a:prstGeom>
          <a:solidFill>
            <a:srgbClr val="C4C7C1"/>
          </a:solidFill>
          <a:ln w="12700">
            <a:solidFill>
              <a:srgbClr val="C4C7C1"/>
            </a:solidFill>
            <a:prstDash val="solid"/>
          </a:ln>
        </p:spPr>
      </p:sp>
      <p:sp>
        <p:nvSpPr>
          <p:cNvPr id="25" name="crypto-2"/>
          <p:cNvSpPr/>
          <p:nvPr/>
        </p:nvSpPr>
        <p:spPr>
          <a:xfrm>
            <a:off x="1956816" y="5029200"/>
            <a:ext cx="384048" cy="384048"/>
          </a:xfrm>
          <a:prstGeom prst="rect">
            <a:avLst/>
          </a:prstGeom>
          <a:solidFill>
            <a:srgbClr val="C4C7C1"/>
          </a:solidFill>
          <a:ln w="12700">
            <a:solidFill>
              <a:srgbClr val="C4C7C1"/>
            </a:solidFill>
            <a:prstDash val="solid"/>
          </a:ln>
        </p:spPr>
      </p:sp>
      <p:sp>
        <p:nvSpPr>
          <p:cNvPr id="26" name="crypto-label"/>
          <p:cNvSpPr txBox="1"/>
          <p:nvPr/>
        </p:nvSpPr>
        <p:spPr>
          <a:xfrm>
            <a:off x="2523744" y="4956048"/>
            <a:ext cx="1911096" cy="548640"/>
          </a:xfrm>
          <a:prstGeom prst="rect">
            <a:avLst/>
          </a:prstGeom>
          <a:noFill/>
          <a:ln/>
        </p:spPr>
        <p:txBody>
          <a:bodyPr wrap="square" lIns="0" tIns="0" rIns="0" bIns="0" rtlCol="0" anchor="ctr"/>
          <a:lstStyle/>
          <a:p>
            <a:pPr indent="0" marL="0">
              <a:buNone/>
            </a:pPr>
            <a:r>
              <a:rPr lang="en-US" sz="1200" dirty="0">
                <a:solidFill>
                  <a:srgbClr val="4A405A"/>
                </a:solidFill>
                <a:latin typeface="Arial" pitchFamily="34" charset="0"/>
                <a:ea typeface="Arial" pitchFamily="34" charset="-122"/>
                <a:cs typeface="Arial" pitchFamily="34" charset="-120"/>
              </a:rPr>
              <a:t>the 3 crypto tasks</a:t>
            </a:r>
            <a:endParaRPr lang="en-US" sz="1200" dirty="0"/>
          </a:p>
          <a:p>
            <a:pPr indent="0" marL="0">
              <a:buNone/>
            </a:pPr>
            <a:r>
              <a:rPr lang="en-US" sz="1200" dirty="0">
                <a:solidFill>
                  <a:srgbClr val="4A405A"/>
                </a:solidFill>
                <a:latin typeface="Arial" pitchFamily="34" charset="0"/>
                <a:ea typeface="Arial" pitchFamily="34" charset="-122"/>
                <a:cs typeface="Arial" pitchFamily="34" charset="-120"/>
              </a:rPr>
              <a:t>wait for lib-hash</a:t>
            </a:r>
            <a:endParaRPr lang="en-US" sz="1200" dirty="0"/>
          </a:p>
        </p:txBody>
      </p:sp>
      <p:sp>
        <p:nvSpPr>
          <p:cNvPr id="27" name="arrow-0"/>
          <p:cNvSpPr/>
          <p:nvPr/>
        </p:nvSpPr>
        <p:spPr>
          <a:xfrm>
            <a:off x="4626864" y="3575304"/>
            <a:ext cx="144170" cy="0"/>
          </a:xfrm>
          <a:prstGeom prst="line">
            <a:avLst/>
          </a:prstGeom>
          <a:noFill/>
          <a:ln w="31750">
            <a:solidFill>
              <a:srgbClr val="140920"/>
            </a:solidFill>
            <a:prstDash val="solid"/>
            <a:tailEnd type="triangle"/>
          </a:ln>
        </p:spPr>
      </p:sp>
      <p:sp>
        <p:nvSpPr>
          <p:cNvPr id="28" name="wave-1"/>
          <p:cNvSpPr/>
          <p:nvPr/>
        </p:nvSpPr>
        <p:spPr>
          <a:xfrm>
            <a:off x="4825898" y="1600200"/>
            <a:ext cx="2103120" cy="4069080"/>
          </a:xfrm>
          <a:prstGeom prst="rect">
            <a:avLst/>
          </a:prstGeom>
          <a:solidFill>
            <a:srgbClr val="FFFFFF"/>
          </a:solidFill>
          <a:ln w="12700">
            <a:solidFill>
              <a:srgbClr val="FFFFFF"/>
            </a:solidFill>
            <a:prstDash val="solid"/>
          </a:ln>
        </p:spPr>
      </p:sp>
      <p:sp>
        <p:nvSpPr>
          <p:cNvPr id="29" name="wave-name-1"/>
          <p:cNvSpPr txBox="1"/>
          <p:nvPr/>
        </p:nvSpPr>
        <p:spPr>
          <a:xfrm>
            <a:off x="5100218"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2</a:t>
            </a:r>
            <a:endParaRPr lang="en-US" sz="2400" dirty="0"/>
          </a:p>
        </p:txBody>
      </p:sp>
      <p:sp>
        <p:nvSpPr>
          <p:cNvPr id="30" name="wave-model-icon-1-circle"/>
          <p:cNvSpPr/>
          <p:nvPr/>
        </p:nvSpPr>
        <p:spPr>
          <a:xfrm>
            <a:off x="5100218" y="2304288"/>
            <a:ext cx="310896" cy="310896"/>
          </a:xfrm>
          <a:prstGeom prst="ellipse">
            <a:avLst/>
          </a:prstGeom>
          <a:solidFill>
            <a:srgbClr val="6B34FD"/>
          </a:solidFill>
          <a:ln w="12700">
            <a:solidFill>
              <a:srgbClr val="6B34FD"/>
            </a:solidFill>
            <a:prstDash val="solid"/>
          </a:ln>
        </p:spPr>
      </p:sp>
      <p:pic>
        <p:nvPicPr>
          <p:cNvPr id="31" name="wave-model-icon-1" descr="puzzle">    </p:cNvPr>
          <p:cNvPicPr>
            <a:picLocks noChangeAspect="1"/>
          </p:cNvPicPr>
          <p:nvPr/>
        </p:nvPicPr>
        <p:blipFill>
          <a:blip r:embed="rId2"/>
          <a:stretch>
            <a:fillRect/>
          </a:stretch>
        </p:blipFill>
        <p:spPr>
          <a:xfrm>
            <a:off x="5168616" y="2372685"/>
            <a:ext cx="174102" cy="174102"/>
          </a:xfrm>
          <a:prstGeom prst="rect">
            <a:avLst/>
          </a:prstGeom>
        </p:spPr>
      </p:pic>
      <p:sp>
        <p:nvSpPr>
          <p:cNvPr id="32" name="wave-model-1"/>
          <p:cNvSpPr txBox="1"/>
          <p:nvPr/>
        </p:nvSpPr>
        <p:spPr>
          <a:xfrm>
            <a:off x="5502554"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Sonnet</a:t>
            </a:r>
            <a:endParaRPr lang="en-US" sz="1600" dirty="0"/>
          </a:p>
        </p:txBody>
      </p:sp>
      <p:sp>
        <p:nvSpPr>
          <p:cNvPr id="33" name="wave-sub-1"/>
          <p:cNvSpPr txBox="1"/>
          <p:nvPr/>
        </p:nvSpPr>
        <p:spPr>
          <a:xfrm>
            <a:off x="5100218"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categories and scoring</a:t>
            </a:r>
            <a:endParaRPr lang="en-US" sz="1500" dirty="0"/>
          </a:p>
        </p:txBody>
      </p:sp>
      <p:sp>
        <p:nvSpPr>
          <p:cNvPr id="34" name="wave1-0"/>
          <p:cNvSpPr/>
          <p:nvPr/>
        </p:nvSpPr>
        <p:spPr>
          <a:xfrm>
            <a:off x="5100218" y="3383280"/>
            <a:ext cx="384048" cy="384048"/>
          </a:xfrm>
          <a:prstGeom prst="rect">
            <a:avLst/>
          </a:prstGeom>
          <a:solidFill>
            <a:srgbClr val="C4C7C1"/>
          </a:solidFill>
          <a:ln w="12700">
            <a:solidFill>
              <a:srgbClr val="C4C7C1"/>
            </a:solidFill>
            <a:prstDash val="solid"/>
          </a:ln>
        </p:spPr>
      </p:sp>
      <p:sp>
        <p:nvSpPr>
          <p:cNvPr id="35" name="wave1-1"/>
          <p:cNvSpPr/>
          <p:nvPr/>
        </p:nvSpPr>
        <p:spPr>
          <a:xfrm>
            <a:off x="5667146" y="3383280"/>
            <a:ext cx="384048" cy="384048"/>
          </a:xfrm>
          <a:prstGeom prst="rect">
            <a:avLst/>
          </a:prstGeom>
          <a:solidFill>
            <a:srgbClr val="C4C7C1"/>
          </a:solidFill>
          <a:ln w="12700">
            <a:solidFill>
              <a:srgbClr val="C4C7C1"/>
            </a:solidFill>
            <a:prstDash val="solid"/>
          </a:ln>
        </p:spPr>
      </p:sp>
      <p:sp>
        <p:nvSpPr>
          <p:cNvPr id="36" name="arrow-1"/>
          <p:cNvSpPr/>
          <p:nvPr/>
        </p:nvSpPr>
        <p:spPr>
          <a:xfrm>
            <a:off x="6983882" y="3575304"/>
            <a:ext cx="144170" cy="0"/>
          </a:xfrm>
          <a:prstGeom prst="line">
            <a:avLst/>
          </a:prstGeom>
          <a:noFill/>
          <a:ln w="31750">
            <a:solidFill>
              <a:srgbClr val="140920"/>
            </a:solidFill>
            <a:prstDash val="solid"/>
            <a:tailEnd type="triangle"/>
          </a:ln>
        </p:spPr>
      </p:sp>
      <p:sp>
        <p:nvSpPr>
          <p:cNvPr id="37" name="wave-2"/>
          <p:cNvSpPr/>
          <p:nvPr/>
        </p:nvSpPr>
        <p:spPr>
          <a:xfrm>
            <a:off x="7182917" y="1600200"/>
            <a:ext cx="2103120" cy="4069080"/>
          </a:xfrm>
          <a:prstGeom prst="rect">
            <a:avLst/>
          </a:prstGeom>
          <a:solidFill>
            <a:srgbClr val="FFFFFF"/>
          </a:solidFill>
          <a:ln w="12700">
            <a:solidFill>
              <a:srgbClr val="FFFFFF"/>
            </a:solidFill>
            <a:prstDash val="solid"/>
          </a:ln>
        </p:spPr>
      </p:sp>
      <p:sp>
        <p:nvSpPr>
          <p:cNvPr id="38" name="wave-name-2"/>
          <p:cNvSpPr txBox="1"/>
          <p:nvPr/>
        </p:nvSpPr>
        <p:spPr>
          <a:xfrm>
            <a:off x="7457237"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3</a:t>
            </a:r>
            <a:endParaRPr lang="en-US" sz="2400" dirty="0"/>
          </a:p>
        </p:txBody>
      </p:sp>
      <p:sp>
        <p:nvSpPr>
          <p:cNvPr id="39" name="wave-model-icon-2-circle"/>
          <p:cNvSpPr/>
          <p:nvPr/>
        </p:nvSpPr>
        <p:spPr>
          <a:xfrm>
            <a:off x="7457237" y="2304288"/>
            <a:ext cx="310896" cy="310896"/>
          </a:xfrm>
          <a:prstGeom prst="ellipse">
            <a:avLst/>
          </a:prstGeom>
          <a:solidFill>
            <a:srgbClr val="6B34FD"/>
          </a:solidFill>
          <a:ln w="12700">
            <a:solidFill>
              <a:srgbClr val="6B34FD"/>
            </a:solidFill>
            <a:prstDash val="solid"/>
          </a:ln>
        </p:spPr>
      </p:sp>
      <p:pic>
        <p:nvPicPr>
          <p:cNvPr id="40" name="wave-model-icon-2" descr="puzzle">    </p:cNvPr>
          <p:cNvPicPr>
            <a:picLocks noChangeAspect="1"/>
          </p:cNvPicPr>
          <p:nvPr/>
        </p:nvPicPr>
        <p:blipFill>
          <a:blip r:embed="rId3"/>
          <a:stretch>
            <a:fillRect/>
          </a:stretch>
        </p:blipFill>
        <p:spPr>
          <a:xfrm>
            <a:off x="7525634" y="2372685"/>
            <a:ext cx="174102" cy="174102"/>
          </a:xfrm>
          <a:prstGeom prst="rect">
            <a:avLst/>
          </a:prstGeom>
        </p:spPr>
      </p:pic>
      <p:sp>
        <p:nvSpPr>
          <p:cNvPr id="41" name="wave-model-2"/>
          <p:cNvSpPr txBox="1"/>
          <p:nvPr/>
        </p:nvSpPr>
        <p:spPr>
          <a:xfrm>
            <a:off x="7859573"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Sonnet</a:t>
            </a:r>
            <a:endParaRPr lang="en-US" sz="1600" dirty="0"/>
          </a:p>
        </p:txBody>
      </p:sp>
      <p:sp>
        <p:nvSpPr>
          <p:cNvPr id="42" name="wave-sub-2"/>
          <p:cNvSpPr txBox="1"/>
          <p:nvPr/>
        </p:nvSpPr>
        <p:spPr>
          <a:xfrm>
            <a:off x="7457237"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integration and test suite</a:t>
            </a:r>
            <a:endParaRPr lang="en-US" sz="1500" dirty="0"/>
          </a:p>
        </p:txBody>
      </p:sp>
      <p:sp>
        <p:nvSpPr>
          <p:cNvPr id="43" name="wave2-0"/>
          <p:cNvSpPr/>
          <p:nvPr/>
        </p:nvSpPr>
        <p:spPr>
          <a:xfrm>
            <a:off x="7457237" y="3383280"/>
            <a:ext cx="384048" cy="384048"/>
          </a:xfrm>
          <a:prstGeom prst="rect">
            <a:avLst/>
          </a:prstGeom>
          <a:solidFill>
            <a:srgbClr val="C4C7C1"/>
          </a:solidFill>
          <a:ln w="12700">
            <a:solidFill>
              <a:srgbClr val="C4C7C1"/>
            </a:solidFill>
            <a:prstDash val="solid"/>
          </a:ln>
        </p:spPr>
      </p:sp>
      <p:sp>
        <p:nvSpPr>
          <p:cNvPr id="44" name="arrow-2"/>
          <p:cNvSpPr/>
          <p:nvPr/>
        </p:nvSpPr>
        <p:spPr>
          <a:xfrm>
            <a:off x="9340901" y="3575304"/>
            <a:ext cx="144170" cy="0"/>
          </a:xfrm>
          <a:prstGeom prst="line">
            <a:avLst/>
          </a:prstGeom>
          <a:noFill/>
          <a:ln w="31750">
            <a:solidFill>
              <a:srgbClr val="140920"/>
            </a:solidFill>
            <a:prstDash val="solid"/>
            <a:tailEnd type="triangle"/>
          </a:ln>
        </p:spPr>
      </p:sp>
      <p:sp>
        <p:nvSpPr>
          <p:cNvPr id="45" name="wave-3"/>
          <p:cNvSpPr/>
          <p:nvPr/>
        </p:nvSpPr>
        <p:spPr>
          <a:xfrm>
            <a:off x="9539935" y="1600200"/>
            <a:ext cx="2103120" cy="4069080"/>
          </a:xfrm>
          <a:prstGeom prst="rect">
            <a:avLst/>
          </a:prstGeom>
          <a:solidFill>
            <a:srgbClr val="FFFFFF"/>
          </a:solidFill>
          <a:ln w="12700">
            <a:solidFill>
              <a:srgbClr val="FFFFFF"/>
            </a:solidFill>
            <a:prstDash val="solid"/>
          </a:ln>
        </p:spPr>
      </p:sp>
      <p:sp>
        <p:nvSpPr>
          <p:cNvPr id="46" name="wave-name-3"/>
          <p:cNvSpPr txBox="1"/>
          <p:nvPr/>
        </p:nvSpPr>
        <p:spPr>
          <a:xfrm>
            <a:off x="9814255" y="1783080"/>
            <a:ext cx="1554480" cy="457200"/>
          </a:xfrm>
          <a:prstGeom prst="rect">
            <a:avLst/>
          </a:prstGeom>
          <a:noFill/>
          <a:ln/>
        </p:spPr>
        <p:txBody>
          <a:bodyPr wrap="square" lIns="0" tIns="0" rIns="0" bIns="0" rtlCol="0" anchor="t"/>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Wave 4</a:t>
            </a:r>
            <a:endParaRPr lang="en-US" sz="2400" dirty="0"/>
          </a:p>
        </p:txBody>
      </p:sp>
      <p:sp>
        <p:nvSpPr>
          <p:cNvPr id="47" name="wave-model-icon-3-circle"/>
          <p:cNvSpPr/>
          <p:nvPr/>
        </p:nvSpPr>
        <p:spPr>
          <a:xfrm>
            <a:off x="9814255" y="2304288"/>
            <a:ext cx="310896" cy="310896"/>
          </a:xfrm>
          <a:prstGeom prst="ellipse">
            <a:avLst/>
          </a:prstGeom>
          <a:solidFill>
            <a:srgbClr val="6B34FD"/>
          </a:solidFill>
          <a:ln w="12700">
            <a:solidFill>
              <a:srgbClr val="6B34FD"/>
            </a:solidFill>
            <a:prstDash val="solid"/>
          </a:ln>
        </p:spPr>
      </p:sp>
      <p:pic>
        <p:nvPicPr>
          <p:cNvPr id="48" name="wave-model-icon-3" descr="brain">    </p:cNvPr>
          <p:cNvPicPr>
            <a:picLocks noChangeAspect="1"/>
          </p:cNvPicPr>
          <p:nvPr/>
        </p:nvPicPr>
        <p:blipFill>
          <a:blip r:embed="rId4"/>
          <a:stretch>
            <a:fillRect/>
          </a:stretch>
        </p:blipFill>
        <p:spPr>
          <a:xfrm>
            <a:off x="9882652" y="2372685"/>
            <a:ext cx="174102" cy="174102"/>
          </a:xfrm>
          <a:prstGeom prst="rect">
            <a:avLst/>
          </a:prstGeom>
        </p:spPr>
      </p:pic>
      <p:sp>
        <p:nvSpPr>
          <p:cNvPr id="49" name="wave-model-3"/>
          <p:cNvSpPr txBox="1"/>
          <p:nvPr/>
        </p:nvSpPr>
        <p:spPr>
          <a:xfrm>
            <a:off x="10216591" y="2304288"/>
            <a:ext cx="1188720" cy="310896"/>
          </a:xfrm>
          <a:prstGeom prst="rect">
            <a:avLst/>
          </a:prstGeom>
          <a:noFill/>
          <a:ln/>
        </p:spPr>
        <p:txBody>
          <a:bodyPr wrap="square" lIns="0" tIns="0" rIns="0" bIns="0" rtlCol="0" anchor="ctr"/>
          <a:lstStyle/>
          <a:p>
            <a:pPr indent="0" marL="0">
              <a:buNone/>
            </a:pPr>
            <a:r>
              <a:rPr lang="en-US" sz="1600" b="1" dirty="0">
                <a:solidFill>
                  <a:srgbClr val="140920"/>
                </a:solidFill>
                <a:latin typeface="Arial" pitchFamily="34" charset="0"/>
                <a:ea typeface="Arial" pitchFamily="34" charset="-122"/>
                <a:cs typeface="Arial" pitchFamily="34" charset="-120"/>
              </a:rPr>
              <a:t>Opus</a:t>
            </a:r>
            <a:endParaRPr lang="en-US" sz="1600" dirty="0"/>
          </a:p>
        </p:txBody>
      </p:sp>
      <p:sp>
        <p:nvSpPr>
          <p:cNvPr id="50" name="wave-sub-3"/>
          <p:cNvSpPr txBox="1"/>
          <p:nvPr/>
        </p:nvSpPr>
        <p:spPr>
          <a:xfrm>
            <a:off x="9814255" y="2724912"/>
            <a:ext cx="1554480" cy="54864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review and verdict</a:t>
            </a:r>
            <a:endParaRPr lang="en-US" sz="1500" dirty="0"/>
          </a:p>
        </p:txBody>
      </p:sp>
      <p:sp>
        <p:nvSpPr>
          <p:cNvPr id="51" name="wave3-0"/>
          <p:cNvSpPr/>
          <p:nvPr/>
        </p:nvSpPr>
        <p:spPr>
          <a:xfrm>
            <a:off x="9814255" y="3383280"/>
            <a:ext cx="384048" cy="384048"/>
          </a:xfrm>
          <a:prstGeom prst="rect">
            <a:avLst/>
          </a:prstGeom>
          <a:solidFill>
            <a:srgbClr val="C4C7C1"/>
          </a:solidFill>
          <a:ln w="12700">
            <a:solidFill>
              <a:srgbClr val="C4C7C1"/>
            </a:solidFill>
            <a:prstDash val="solid"/>
          </a:ln>
        </p:spPr>
      </p:sp>
      <p:sp>
        <p:nvSpPr>
          <p:cNvPr id="52" name="status-legend-title"/>
          <p:cNvSpPr txBox="1"/>
          <p:nvPr/>
        </p:nvSpPr>
        <p:spPr>
          <a:xfrm>
            <a:off x="548640" y="5833872"/>
            <a:ext cx="2149191" cy="274320"/>
          </a:xfrm>
          <a:prstGeom prst="rect">
            <a:avLst/>
          </a:prstGeom>
          <a:noFill/>
          <a:ln/>
        </p:spPr>
        <p:txBody>
          <a:bodyPr wrap="square" lIns="0" tIns="0" rIns="0" bIns="0" rtlCol="0" anchor="ctr"/>
          <a:lstStyle/>
          <a:p>
            <a:pPr indent="0" marL="0">
              <a:buNone/>
            </a:pPr>
            <a:r>
              <a:rPr lang="en-US" sz="1300" b="1" dirty="0">
                <a:solidFill>
                  <a:srgbClr val="140920"/>
                </a:solidFill>
                <a:latin typeface="Arial" pitchFamily="34" charset="0"/>
                <a:ea typeface="Arial" pitchFamily="34" charset="-122"/>
                <a:cs typeface="Arial" pitchFamily="34" charset="-120"/>
              </a:rPr>
              <a:t>Each square is a task:</a:t>
            </a:r>
            <a:endParaRPr lang="en-US" sz="1300" dirty="0"/>
          </a:p>
        </p:txBody>
      </p:sp>
      <p:sp>
        <p:nvSpPr>
          <p:cNvPr id="53" name="status-legend-0"/>
          <p:cNvSpPr/>
          <p:nvPr/>
        </p:nvSpPr>
        <p:spPr>
          <a:xfrm>
            <a:off x="2697831" y="5861304"/>
            <a:ext cx="219456" cy="219456"/>
          </a:xfrm>
          <a:prstGeom prst="rect">
            <a:avLst/>
          </a:prstGeom>
          <a:solidFill>
            <a:srgbClr val="C4C7C1"/>
          </a:solidFill>
          <a:ln w="12700">
            <a:solidFill>
              <a:srgbClr val="C4C7C1"/>
            </a:solidFill>
            <a:prstDash val="solid"/>
          </a:ln>
        </p:spPr>
      </p:sp>
      <p:sp>
        <p:nvSpPr>
          <p:cNvPr id="54" name="status-legend-label-0"/>
          <p:cNvSpPr txBox="1"/>
          <p:nvPr/>
        </p:nvSpPr>
        <p:spPr>
          <a:xfrm>
            <a:off x="3027015" y="5833872"/>
            <a:ext cx="977311"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waiting</a:t>
            </a:r>
            <a:endParaRPr lang="en-US" sz="1300" dirty="0"/>
          </a:p>
        </p:txBody>
      </p:sp>
      <p:sp>
        <p:nvSpPr>
          <p:cNvPr id="55" name="status-legend-1"/>
          <p:cNvSpPr/>
          <p:nvPr/>
        </p:nvSpPr>
        <p:spPr>
          <a:xfrm>
            <a:off x="4004326" y="5861304"/>
            <a:ext cx="219456" cy="219456"/>
          </a:xfrm>
          <a:prstGeom prst="rect">
            <a:avLst/>
          </a:prstGeom>
          <a:solidFill>
            <a:srgbClr val="F1C232"/>
          </a:solidFill>
          <a:ln w="12700">
            <a:solidFill>
              <a:srgbClr val="F1C232"/>
            </a:solidFill>
            <a:prstDash val="solid"/>
          </a:ln>
        </p:spPr>
      </p:sp>
      <p:sp>
        <p:nvSpPr>
          <p:cNvPr id="56" name="status-legend-label-1"/>
          <p:cNvSpPr txBox="1"/>
          <p:nvPr/>
        </p:nvSpPr>
        <p:spPr>
          <a:xfrm>
            <a:off x="4333510" y="5833872"/>
            <a:ext cx="1462308"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agent working</a:t>
            </a:r>
            <a:endParaRPr lang="en-US" sz="1300" dirty="0"/>
          </a:p>
        </p:txBody>
      </p:sp>
      <p:sp>
        <p:nvSpPr>
          <p:cNvPr id="57" name="status-legend-2"/>
          <p:cNvSpPr/>
          <p:nvPr/>
        </p:nvSpPr>
        <p:spPr>
          <a:xfrm>
            <a:off x="5795818" y="5861304"/>
            <a:ext cx="219456" cy="219456"/>
          </a:xfrm>
          <a:prstGeom prst="rect">
            <a:avLst/>
          </a:prstGeom>
          <a:solidFill>
            <a:srgbClr val="1E9E57"/>
          </a:solidFill>
          <a:ln w="12700">
            <a:solidFill>
              <a:srgbClr val="1E9E57"/>
            </a:solidFill>
            <a:prstDash val="solid"/>
          </a:ln>
        </p:spPr>
      </p:sp>
      <p:sp>
        <p:nvSpPr>
          <p:cNvPr id="58" name="status-legend-label-2"/>
          <p:cNvSpPr txBox="1"/>
          <p:nvPr/>
        </p:nvSpPr>
        <p:spPr>
          <a:xfrm>
            <a:off x="6125002" y="5833872"/>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passed</a:t>
            </a:r>
            <a:endParaRPr lang="en-US" sz="1300" dirty="0"/>
          </a:p>
        </p:txBody>
      </p:sp>
      <p:sp>
        <p:nvSpPr>
          <p:cNvPr id="59" name="status-legend-3"/>
          <p:cNvSpPr/>
          <p:nvPr/>
        </p:nvSpPr>
        <p:spPr>
          <a:xfrm>
            <a:off x="7425645" y="5861304"/>
            <a:ext cx="219456" cy="219456"/>
          </a:xfrm>
          <a:prstGeom prst="rect">
            <a:avLst/>
          </a:prstGeom>
          <a:solidFill>
            <a:srgbClr val="D2463F"/>
          </a:solidFill>
          <a:ln w="12700">
            <a:solidFill>
              <a:srgbClr val="D2463F"/>
            </a:solidFill>
            <a:prstDash val="solid"/>
          </a:ln>
        </p:spPr>
      </p:sp>
      <p:sp>
        <p:nvSpPr>
          <p:cNvPr id="60" name="status-legend-label-3"/>
          <p:cNvSpPr txBox="1"/>
          <p:nvPr/>
        </p:nvSpPr>
        <p:spPr>
          <a:xfrm>
            <a:off x="7754829" y="5833872"/>
            <a:ext cx="1300643" cy="274320"/>
          </a:xfrm>
          <a:prstGeom prst="rect">
            <a:avLst/>
          </a:prstGeom>
          <a:noFill/>
          <a:ln/>
        </p:spPr>
        <p:txBody>
          <a:bodyPr wrap="square" lIns="0" tIns="0" rIns="0" bIns="0" rtlCol="0" anchor="ctr"/>
          <a:lstStyle/>
          <a:p>
            <a:pPr indent="0" marL="0">
              <a:buNone/>
            </a:pPr>
            <a:r>
              <a:rPr lang="en-US" sz="1300" dirty="0">
                <a:solidFill>
                  <a:srgbClr val="140920"/>
                </a:solidFill>
                <a:latin typeface="Arial" pitchFamily="34" charset="0"/>
                <a:ea typeface="Arial" pitchFamily="34" charset="-122"/>
                <a:cs typeface="Arial" pitchFamily="34" charset="-120"/>
              </a:rPr>
              <a:t>test failed</a:t>
            </a:r>
            <a:endParaRPr lang="en-US" sz="13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What /demo-swarm does</a:t>
            </a:r>
            <a:endParaRPr lang="en-US" sz="3200" dirty="0"/>
          </a:p>
        </p:txBody>
      </p:sp>
      <p:sp>
        <p:nvSpPr>
          <p:cNvPr id="3" name="code-background"/>
          <p:cNvSpPr/>
          <p:nvPr/>
        </p:nvSpPr>
        <p:spPr>
          <a:xfrm>
            <a:off x="548640" y="1508760"/>
            <a:ext cx="5760720" cy="3250692"/>
          </a:xfrm>
          <a:prstGeom prst="rect">
            <a:avLst/>
          </a:prstGeom>
          <a:solidFill>
            <a:srgbClr val="140920"/>
          </a:solidFill>
          <a:ln w="12700">
            <a:solidFill>
              <a:srgbClr val="140920"/>
            </a:solidFill>
            <a:prstDash val="solid"/>
          </a:ln>
        </p:spPr>
      </p:sp>
      <p:sp>
        <p:nvSpPr>
          <p:cNvPr id="4" name="code-label"/>
          <p:cNvSpPr txBox="1"/>
          <p:nvPr/>
        </p:nvSpPr>
        <p:spPr>
          <a:xfrm>
            <a:off x="777240" y="1691640"/>
            <a:ext cx="5303520"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.claude/skills/demo-swarm/SKILL.md (summary)</a:t>
            </a:r>
            <a:endParaRPr lang="en-US" sz="1300" dirty="0"/>
          </a:p>
        </p:txBody>
      </p:sp>
      <p:sp>
        <p:nvSpPr>
          <p:cNvPr id="5" name="code"/>
          <p:cNvSpPr txBox="1"/>
          <p:nvPr/>
        </p:nvSpPr>
        <p:spPr>
          <a:xfrm>
            <a:off x="777240" y="2039112"/>
            <a:ext cx="5303520" cy="2583180"/>
          </a:xfrm>
          <a:prstGeom prst="rect">
            <a:avLst/>
          </a:prstGeom>
          <a:noFill/>
          <a:ln/>
        </p:spPr>
        <p:txBody>
          <a:bodyPr wrap="square" lIns="0" tIns="0" rIns="0" bIns="0" rtlCol="0" anchor="t"/>
          <a:lstStyle/>
          <a:p>
            <a:pPr indent="0" marL="0">
              <a:buNone/>
            </a:pPr>
            <a:r>
              <a:rPr lang="en-US" sz="1500" dirty="0">
                <a:solidFill>
                  <a:srgbClr val="FCF9FE"/>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name: demo-swarm</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model: sonnet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allowed-tools: node tools/*, Agent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Repeat until STATE: DONE</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1. next-wave.mjs → the next batch</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2. Launch the batch agents, in parallel</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3. Each agent does 1 task and runs its test</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4. Show the table: agent, model, cost</a:t>
            </a:r>
            <a:endParaRPr lang="en-US" sz="1500" dirty="0"/>
          </a:p>
        </p:txBody>
      </p:sp>
      <p:sp>
        <p:nvSpPr>
          <p:cNvPr id="6" name="anatomy-mark-0-circle"/>
          <p:cNvSpPr/>
          <p:nvPr/>
        </p:nvSpPr>
        <p:spPr>
          <a:xfrm>
            <a:off x="6766560" y="1508760"/>
            <a:ext cx="411480" cy="411480"/>
          </a:xfrm>
          <a:prstGeom prst="ellipse">
            <a:avLst/>
          </a:prstGeom>
          <a:solidFill>
            <a:srgbClr val="6B34FD"/>
          </a:solidFill>
          <a:ln w="12700">
            <a:solidFill>
              <a:srgbClr val="6B34FD"/>
            </a:solidFill>
            <a:prstDash val="solid"/>
          </a:ln>
        </p:spPr>
      </p:sp>
      <p:pic>
        <p:nvPicPr>
          <p:cNvPr id="7" name="anatomy-mark-0" descr="route">    </p:cNvPr>
          <p:cNvPicPr>
            <a:picLocks noChangeAspect="1"/>
          </p:cNvPicPr>
          <p:nvPr/>
        </p:nvPicPr>
        <p:blipFill>
          <a:blip r:embed="rId1"/>
          <a:stretch>
            <a:fillRect/>
          </a:stretch>
        </p:blipFill>
        <p:spPr>
          <a:xfrm>
            <a:off x="6857086" y="1599286"/>
            <a:ext cx="230429" cy="230429"/>
          </a:xfrm>
          <a:prstGeom prst="rect">
            <a:avLst/>
          </a:prstGeom>
        </p:spPr>
      </p:pic>
      <p:sp>
        <p:nvSpPr>
          <p:cNvPr id="8" name="anatomy-title-0"/>
          <p:cNvSpPr txBox="1"/>
          <p:nvPr/>
        </p:nvSpPr>
        <p:spPr>
          <a:xfrm>
            <a:off x="7360920" y="15270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The script decides</a:t>
            </a:r>
            <a:endParaRPr lang="en-US" sz="2000" dirty="0"/>
          </a:p>
        </p:txBody>
      </p:sp>
      <p:sp>
        <p:nvSpPr>
          <p:cNvPr id="9" name="anatomy-text-0"/>
          <p:cNvSpPr txBox="1"/>
          <p:nvPr/>
        </p:nvSpPr>
        <p:spPr>
          <a:xfrm>
            <a:off x="7360920" y="19385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The graph says what can run now. Claude only launches the batch the script hands it: no improvising.</a:t>
            </a:r>
            <a:endParaRPr lang="en-US" sz="1500" dirty="0"/>
          </a:p>
        </p:txBody>
      </p:sp>
      <p:sp>
        <p:nvSpPr>
          <p:cNvPr id="10" name="anatomy-mark-1-circle"/>
          <p:cNvSpPr/>
          <p:nvPr/>
        </p:nvSpPr>
        <p:spPr>
          <a:xfrm>
            <a:off x="6766560" y="2956560"/>
            <a:ext cx="411480" cy="411480"/>
          </a:xfrm>
          <a:prstGeom prst="ellipse">
            <a:avLst/>
          </a:prstGeom>
          <a:solidFill>
            <a:srgbClr val="6B34FD"/>
          </a:solidFill>
          <a:ln w="12700">
            <a:solidFill>
              <a:srgbClr val="6B34FD"/>
            </a:solidFill>
            <a:prstDash val="solid"/>
          </a:ln>
        </p:spPr>
      </p:sp>
      <p:pic>
        <p:nvPicPr>
          <p:cNvPr id="11" name="anatomy-mark-1" descr="bot">    </p:cNvPr>
          <p:cNvPicPr>
            <a:picLocks noChangeAspect="1"/>
          </p:cNvPicPr>
          <p:nvPr/>
        </p:nvPicPr>
        <p:blipFill>
          <a:blip r:embed="rId2"/>
          <a:stretch>
            <a:fillRect/>
          </a:stretch>
        </p:blipFill>
        <p:spPr>
          <a:xfrm>
            <a:off x="6857086" y="3047086"/>
            <a:ext cx="230429" cy="230429"/>
          </a:xfrm>
          <a:prstGeom prst="rect">
            <a:avLst/>
          </a:prstGeom>
        </p:spPr>
      </p:pic>
      <p:sp>
        <p:nvSpPr>
          <p:cNvPr id="12" name="anatomy-title-1"/>
          <p:cNvSpPr txBox="1"/>
          <p:nvPr/>
        </p:nvSpPr>
        <p:spPr>
          <a:xfrm>
            <a:off x="7360920" y="29748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One agent, one task</a:t>
            </a:r>
            <a:endParaRPr lang="en-US" sz="2000" dirty="0"/>
          </a:p>
        </p:txBody>
      </p:sp>
      <p:sp>
        <p:nvSpPr>
          <p:cNvPr id="13" name="anatomy-text-1"/>
          <p:cNvSpPr txBox="1"/>
          <p:nvPr/>
        </p:nvSpPr>
        <p:spPr>
          <a:xfrm>
            <a:off x="7360920" y="33863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Each agent starts with a clean context, gets one task and that task's test, and uses the right model: Haiku for the bulk.</a:t>
            </a:r>
            <a:endParaRPr lang="en-US" sz="1500" dirty="0"/>
          </a:p>
        </p:txBody>
      </p:sp>
      <p:sp>
        <p:nvSpPr>
          <p:cNvPr id="14" name="anatomy-mark-2-circle"/>
          <p:cNvSpPr/>
          <p:nvPr/>
        </p:nvSpPr>
        <p:spPr>
          <a:xfrm>
            <a:off x="6766560" y="4404360"/>
            <a:ext cx="411480" cy="411480"/>
          </a:xfrm>
          <a:prstGeom prst="ellipse">
            <a:avLst/>
          </a:prstGeom>
          <a:solidFill>
            <a:srgbClr val="6B34FD"/>
          </a:solidFill>
          <a:ln w="12700">
            <a:solidFill>
              <a:srgbClr val="6B34FD"/>
            </a:solidFill>
            <a:prstDash val="solid"/>
          </a:ln>
        </p:spPr>
      </p:sp>
      <p:pic>
        <p:nvPicPr>
          <p:cNvPr id="15" name="anatomy-mark-2" descr="folder-git-2">    </p:cNvPr>
          <p:cNvPicPr>
            <a:picLocks noChangeAspect="1"/>
          </p:cNvPicPr>
          <p:nvPr/>
        </p:nvPicPr>
        <p:blipFill>
          <a:blip r:embed="rId3"/>
          <a:stretch>
            <a:fillRect/>
          </a:stretch>
        </p:blipFill>
        <p:spPr>
          <a:xfrm>
            <a:off x="6857086" y="4494886"/>
            <a:ext cx="230429" cy="230429"/>
          </a:xfrm>
          <a:prstGeom prst="rect">
            <a:avLst/>
          </a:prstGeom>
        </p:spPr>
      </p:pic>
      <p:sp>
        <p:nvSpPr>
          <p:cNvPr id="16" name="anatomy-title-2"/>
          <p:cNvSpPr txBox="1"/>
          <p:nvPr/>
        </p:nvSpPr>
        <p:spPr>
          <a:xfrm>
            <a:off x="7360920" y="44226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In your project</a:t>
            </a:r>
            <a:endParaRPr lang="en-US" sz="2000" dirty="0"/>
          </a:p>
        </p:txBody>
      </p:sp>
      <p:sp>
        <p:nvSpPr>
          <p:cNvPr id="17" name="anatomy-text-2"/>
          <p:cNvSpPr txBox="1"/>
          <p:nvPr/>
        </p:nvSpPr>
        <p:spPr>
          <a:xfrm>
            <a:off x="7360920" y="48341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/task-swarm does the same with the subtasks of your issue.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Release the swarm</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/demo-swarm</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a second terminal</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Start the server and open the /status page in the browser</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/demo-swarm</a:t>
            </a:r>
            <a:endParaRPr lang="en-US" sz="2000" dirty="0"/>
          </a:p>
        </p:txBody>
      </p:sp>
      <p:sp>
        <p:nvSpPr>
          <p:cNvPr id="9" name="code-background"/>
          <p:cNvSpPr/>
          <p:nvPr/>
        </p:nvSpPr>
        <p:spPr>
          <a:xfrm>
            <a:off x="4937760" y="3200400"/>
            <a:ext cx="6705295" cy="1389888"/>
          </a:xfrm>
          <a:prstGeom prst="rect">
            <a:avLst/>
          </a:prstGeom>
          <a:solidFill>
            <a:srgbClr val="140920"/>
          </a:solidFill>
          <a:ln w="12700">
            <a:solidFill>
              <a:srgbClr val="140920"/>
            </a:solidFill>
            <a:prstDash val="solid"/>
          </a:ln>
        </p:spPr>
      </p:sp>
      <p:sp>
        <p:nvSpPr>
          <p:cNvPr id="10" name="code-label"/>
          <p:cNvSpPr txBox="1"/>
          <p:nvPr/>
        </p:nvSpPr>
        <p:spPr>
          <a:xfrm>
            <a:off x="5166360" y="338328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2</a:t>
            </a:r>
            <a:endParaRPr lang="en-US" sz="1300" dirty="0"/>
          </a:p>
        </p:txBody>
      </p:sp>
      <p:sp>
        <p:nvSpPr>
          <p:cNvPr id="11" name="code"/>
          <p:cNvSpPr txBox="1"/>
          <p:nvPr/>
        </p:nvSpPr>
        <p:spPr>
          <a:xfrm>
            <a:off x="5166360" y="3730752"/>
            <a:ext cx="6248095" cy="722376"/>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cd ~/workshop-claude/demo-project</a:t>
            </a:r>
            <a:endParaRPr lang="en-US" sz="2000" dirty="0"/>
          </a:p>
          <a:p>
            <a:pPr indent="0" marL="0">
              <a:buNone/>
            </a:pPr>
            <a:r>
              <a:rPr lang="en-US" sz="2000" dirty="0">
                <a:solidFill>
                  <a:srgbClr val="FCF9FE"/>
                </a:solidFill>
                <a:latin typeface="Courier New" pitchFamily="34" charset="0"/>
                <a:ea typeface="Courier New" pitchFamily="34" charset="-122"/>
                <a:cs typeface="Courier New" pitchFamily="34" charset="-120"/>
              </a:rPr>
              <a:t>node server.js</a:t>
            </a:r>
            <a:endParaRPr lang="en-US" sz="20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http://localhost:3000/status: the squares turn yellow and then green</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Ask without interrupting</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Go back to Terminal 1; leave the swarm running</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Type /btw and your question</a:t>
            </a:r>
            <a:endParaRPr lang="en-US" sz="2000" dirty="0"/>
          </a:p>
        </p:txBody>
      </p:sp>
      <p:sp>
        <p:nvSpPr>
          <p:cNvPr id="6" name="code-background"/>
          <p:cNvSpPr/>
          <p:nvPr/>
        </p:nvSpPr>
        <p:spPr>
          <a:xfrm>
            <a:off x="4937760" y="1920240"/>
            <a:ext cx="6705295" cy="1034644"/>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67132"/>
          </a:xfrm>
          <a:prstGeom prst="rect">
            <a:avLst/>
          </a:prstGeom>
          <a:noFill/>
          <a:ln/>
        </p:spPr>
        <p:txBody>
          <a:bodyPr wrap="square" lIns="0" tIns="0" rIns="0" bIns="0" rtlCol="0" anchor="t"/>
          <a:lstStyle/>
          <a:p>
            <a:pPr indent="0" marL="0">
              <a:buNone/>
            </a:pPr>
            <a:r>
              <a:rPr lang="en-US" sz="1900" dirty="0">
                <a:solidFill>
                  <a:srgbClr val="FCF9FE"/>
                </a:solidFill>
                <a:latin typeface="Courier New" pitchFamily="34" charset="0"/>
                <a:ea typeface="Courier New" pitchFamily="34" charset="-122"/>
                <a:cs typeface="Courier New" pitchFamily="34" charset="-120"/>
              </a:rPr>
              <a:t>/btw why does task cr-01 wait for lib-hash?</a:t>
            </a:r>
            <a:endParaRPr lang="en-US" sz="19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An answer that does not enter the conversation or stop the swarm</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Hooks: Claude Code signals, a script reacts</a:t>
            </a:r>
            <a:endParaRPr lang="en-US" sz="3200" dirty="0"/>
          </a:p>
        </p:txBody>
      </p:sp>
      <p:sp>
        <p:nvSpPr>
          <p:cNvPr id="3" name="code-background"/>
          <p:cNvSpPr/>
          <p:nvPr/>
        </p:nvSpPr>
        <p:spPr>
          <a:xfrm>
            <a:off x="548640" y="1508760"/>
            <a:ext cx="5760720" cy="2371039"/>
          </a:xfrm>
          <a:prstGeom prst="rect">
            <a:avLst/>
          </a:prstGeom>
          <a:solidFill>
            <a:srgbClr val="140920"/>
          </a:solidFill>
          <a:ln w="12700">
            <a:solidFill>
              <a:srgbClr val="140920"/>
            </a:solidFill>
            <a:prstDash val="solid"/>
          </a:ln>
        </p:spPr>
      </p:sp>
      <p:sp>
        <p:nvSpPr>
          <p:cNvPr id="4" name="code-label"/>
          <p:cNvSpPr txBox="1"/>
          <p:nvPr/>
        </p:nvSpPr>
        <p:spPr>
          <a:xfrm>
            <a:off x="777240" y="1691640"/>
            <a:ext cx="5303520"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Event → command, in .claude/settings.json</a:t>
            </a:r>
            <a:endParaRPr lang="en-US" sz="1300" dirty="0"/>
          </a:p>
        </p:txBody>
      </p:sp>
      <p:sp>
        <p:nvSpPr>
          <p:cNvPr id="5" name="code"/>
          <p:cNvSpPr txBox="1"/>
          <p:nvPr/>
        </p:nvSpPr>
        <p:spPr>
          <a:xfrm>
            <a:off x="777240" y="2039112"/>
            <a:ext cx="5303520" cy="1703527"/>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SubagentStop      ← an agent finished</a:t>
            </a: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  └─ node tools/workshop/hooks/subagent-stop.mjs</a:t>
            </a: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       reads the tokens that agent used</a:t>
            </a: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       writes the cost to .workshop/usage.jsonl</a:t>
            </a:r>
            <a:endParaRPr lang="en-US" sz="1400" dirty="0"/>
          </a:p>
          <a:p>
            <a:pPr indent="0" marL="0">
              <a:buNone/>
            </a:pP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Other events: PreToolUse, PostToolUse,</a:t>
            </a: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UserPromptSubmit, Stop, SessionStart</a:t>
            </a:r>
            <a:endParaRPr lang="en-US" sz="1400" dirty="0"/>
          </a:p>
        </p:txBody>
      </p:sp>
      <p:sp>
        <p:nvSpPr>
          <p:cNvPr id="6" name="anatomy-mark-0-circle"/>
          <p:cNvSpPr/>
          <p:nvPr/>
        </p:nvSpPr>
        <p:spPr>
          <a:xfrm>
            <a:off x="6766560" y="1508760"/>
            <a:ext cx="411480" cy="411480"/>
          </a:xfrm>
          <a:prstGeom prst="ellipse">
            <a:avLst/>
          </a:prstGeom>
          <a:solidFill>
            <a:srgbClr val="6B34FD"/>
          </a:solidFill>
          <a:ln w="12700">
            <a:solidFill>
              <a:srgbClr val="6B34FD"/>
            </a:solidFill>
            <a:prstDash val="solid"/>
          </a:ln>
        </p:spPr>
      </p:sp>
      <p:pic>
        <p:nvPicPr>
          <p:cNvPr id="7" name="anatomy-mark-0" descr="lightbulb">    </p:cNvPr>
          <p:cNvPicPr>
            <a:picLocks noChangeAspect="1"/>
          </p:cNvPicPr>
          <p:nvPr/>
        </p:nvPicPr>
        <p:blipFill>
          <a:blip r:embed="rId1"/>
          <a:stretch>
            <a:fillRect/>
          </a:stretch>
        </p:blipFill>
        <p:spPr>
          <a:xfrm>
            <a:off x="6857086" y="1599286"/>
            <a:ext cx="230429" cy="230429"/>
          </a:xfrm>
          <a:prstGeom prst="rect">
            <a:avLst/>
          </a:prstGeom>
        </p:spPr>
      </p:pic>
      <p:sp>
        <p:nvSpPr>
          <p:cNvPr id="8" name="anatomy-title-0"/>
          <p:cNvSpPr txBox="1"/>
          <p:nvPr/>
        </p:nvSpPr>
        <p:spPr>
          <a:xfrm>
            <a:off x="7360920" y="15270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What it is</a:t>
            </a:r>
            <a:endParaRPr lang="en-US" sz="2000" dirty="0"/>
          </a:p>
        </p:txBody>
      </p:sp>
      <p:sp>
        <p:nvSpPr>
          <p:cNvPr id="9" name="anatomy-text-0"/>
          <p:cNvSpPr txBox="1"/>
          <p:nvPr/>
        </p:nvSpPr>
        <p:spPr>
          <a:xfrm>
            <a:off x="7360920" y="19385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A command Claude Code runs on its own at the right moment: before or after a tool, when an agent finishes, at the end of the session.</a:t>
            </a:r>
            <a:endParaRPr lang="en-US" sz="1500" dirty="0"/>
          </a:p>
        </p:txBody>
      </p:sp>
      <p:sp>
        <p:nvSpPr>
          <p:cNvPr id="10" name="anatomy-mark-1-circle"/>
          <p:cNvSpPr/>
          <p:nvPr/>
        </p:nvSpPr>
        <p:spPr>
          <a:xfrm>
            <a:off x="6766560" y="2956560"/>
            <a:ext cx="411480" cy="411480"/>
          </a:xfrm>
          <a:prstGeom prst="ellipse">
            <a:avLst/>
          </a:prstGeom>
          <a:solidFill>
            <a:srgbClr val="6B34FD"/>
          </a:solidFill>
          <a:ln w="12700">
            <a:solidFill>
              <a:srgbClr val="6B34FD"/>
            </a:solidFill>
            <a:prstDash val="solid"/>
          </a:ln>
        </p:spPr>
      </p:sp>
      <p:pic>
        <p:nvPicPr>
          <p:cNvPr id="11" name="anatomy-mark-1" descr="target">    </p:cNvPr>
          <p:cNvPicPr>
            <a:picLocks noChangeAspect="1"/>
          </p:cNvPicPr>
          <p:nvPr/>
        </p:nvPicPr>
        <p:blipFill>
          <a:blip r:embed="rId2"/>
          <a:stretch>
            <a:fillRect/>
          </a:stretch>
        </p:blipFill>
        <p:spPr>
          <a:xfrm>
            <a:off x="6857086" y="3047086"/>
            <a:ext cx="230429" cy="230429"/>
          </a:xfrm>
          <a:prstGeom prst="rect">
            <a:avLst/>
          </a:prstGeom>
        </p:spPr>
      </p:pic>
      <p:sp>
        <p:nvSpPr>
          <p:cNvPr id="12" name="anatomy-title-1"/>
          <p:cNvSpPr txBox="1"/>
          <p:nvPr/>
        </p:nvSpPr>
        <p:spPr>
          <a:xfrm>
            <a:off x="7360920" y="29748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What it is for</a:t>
            </a:r>
            <a:endParaRPr lang="en-US" sz="2000" dirty="0"/>
          </a:p>
        </p:txBody>
      </p:sp>
      <p:sp>
        <p:nvSpPr>
          <p:cNvPr id="13" name="anatomy-text-1"/>
          <p:cNvSpPr txBox="1"/>
          <p:nvPr/>
        </p:nvSpPr>
        <p:spPr>
          <a:xfrm>
            <a:off x="7360920" y="33863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Measuring, checking, formatting or blocking, every time, without relying on the model to remember. Here it measures the cost of each agent.</a:t>
            </a:r>
            <a:endParaRPr lang="en-US" sz="1500" dirty="0"/>
          </a:p>
        </p:txBody>
      </p:sp>
      <p:sp>
        <p:nvSpPr>
          <p:cNvPr id="14" name="anatomy-mark-2-circle"/>
          <p:cNvSpPr/>
          <p:nvPr/>
        </p:nvSpPr>
        <p:spPr>
          <a:xfrm>
            <a:off x="6766560" y="4404360"/>
            <a:ext cx="411480" cy="411480"/>
          </a:xfrm>
          <a:prstGeom prst="ellipse">
            <a:avLst/>
          </a:prstGeom>
          <a:solidFill>
            <a:srgbClr val="6B34FD"/>
          </a:solidFill>
          <a:ln w="12700">
            <a:solidFill>
              <a:srgbClr val="6B34FD"/>
            </a:solidFill>
            <a:prstDash val="solid"/>
          </a:ln>
        </p:spPr>
      </p:sp>
      <p:pic>
        <p:nvPicPr>
          <p:cNvPr id="15" name="anatomy-mark-2" descr="wand-sparkles">    </p:cNvPr>
          <p:cNvPicPr>
            <a:picLocks noChangeAspect="1"/>
          </p:cNvPicPr>
          <p:nvPr/>
        </p:nvPicPr>
        <p:blipFill>
          <a:blip r:embed="rId3"/>
          <a:stretch>
            <a:fillRect/>
          </a:stretch>
        </p:blipFill>
        <p:spPr>
          <a:xfrm>
            <a:off x="6857086" y="4494886"/>
            <a:ext cx="230429" cy="230429"/>
          </a:xfrm>
          <a:prstGeom prst="rect">
            <a:avLst/>
          </a:prstGeom>
        </p:spPr>
      </p:pic>
      <p:sp>
        <p:nvSpPr>
          <p:cNvPr id="16" name="anatomy-title-2"/>
          <p:cNvSpPr txBox="1"/>
          <p:nvPr/>
        </p:nvSpPr>
        <p:spPr>
          <a:xfrm>
            <a:off x="7360920" y="44226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Make your own</a:t>
            </a:r>
            <a:endParaRPr lang="en-US" sz="2000" dirty="0"/>
          </a:p>
        </p:txBody>
      </p:sp>
      <p:sp>
        <p:nvSpPr>
          <p:cNvPr id="17" name="anatomy-text-2"/>
          <p:cNvSpPr txBox="1"/>
          <p:nvPr/>
        </p:nvSpPr>
        <p:spPr>
          <a:xfrm>
            <a:off x="7360920" y="48341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Ask Claude: "Create a PostToolUse hook that runs prettier on every file you edit." It writes it into settings.json; you review and approve it in /hooks.</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statusline is a script</a:t>
            </a:r>
            <a:endParaRPr lang="en-US" sz="3200" dirty="0"/>
          </a:p>
        </p:txBody>
      </p:sp>
      <p:sp>
        <p:nvSpPr>
          <p:cNvPr id="3" name="code-background"/>
          <p:cNvSpPr/>
          <p:nvPr/>
        </p:nvSpPr>
        <p:spPr>
          <a:xfrm>
            <a:off x="548640" y="1508760"/>
            <a:ext cx="5760720" cy="2235708"/>
          </a:xfrm>
          <a:prstGeom prst="rect">
            <a:avLst/>
          </a:prstGeom>
          <a:solidFill>
            <a:srgbClr val="140920"/>
          </a:solidFill>
          <a:ln w="12700">
            <a:solidFill>
              <a:srgbClr val="140920"/>
            </a:solidFill>
            <a:prstDash val="solid"/>
          </a:ln>
        </p:spPr>
      </p:sp>
      <p:sp>
        <p:nvSpPr>
          <p:cNvPr id="4" name="code-label"/>
          <p:cNvSpPr txBox="1"/>
          <p:nvPr/>
        </p:nvSpPr>
        <p:spPr>
          <a:xfrm>
            <a:off x="777240" y="1691640"/>
            <a:ext cx="5303520"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The line under the input box</a:t>
            </a:r>
            <a:endParaRPr lang="en-US" sz="1300" dirty="0"/>
          </a:p>
        </p:txBody>
      </p:sp>
      <p:sp>
        <p:nvSpPr>
          <p:cNvPr id="5" name="code"/>
          <p:cNvSpPr txBox="1"/>
          <p:nvPr/>
        </p:nvSpPr>
        <p:spPr>
          <a:xfrm>
            <a:off x="777240" y="2039112"/>
            <a:ext cx="5303520" cy="1568196"/>
          </a:xfrm>
          <a:prstGeom prst="rect">
            <a:avLst/>
          </a:prstGeom>
          <a:noFill/>
          <a:ln/>
        </p:spPr>
        <p:txBody>
          <a:bodyPr wrap="square" lIns="0" tIns="0" rIns="0" bIns="0" rtlCol="0" anchor="t"/>
          <a:lstStyle/>
          <a:p>
            <a:pPr indent="0" marL="0">
              <a:buNone/>
            </a:pPr>
            <a:r>
              <a:rPr lang="en-US" sz="1500" dirty="0">
                <a:solidFill>
                  <a:srgbClr val="FCF9FE"/>
                </a:solidFill>
                <a:latin typeface="Courier New" pitchFamily="34" charset="0"/>
                <a:ea typeface="Courier New" pitchFamily="34" charset="-122"/>
                <a:cs typeface="Courier New" pitchFamily="34" charset="-120"/>
              </a:rPr>
              <a:t>Claude Code ── session JSON ──▶ statusline.mjs</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statusline.mjs ──── one line ────▶ screen</a:t>
            </a:r>
            <a:endParaRPr lang="en-US" sz="1500" dirty="0"/>
          </a:p>
          <a:p>
            <a:pPr indent="0" marL="0">
              <a:buNone/>
            </a:pP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Sonnet 5.5 · session US$ 0.42</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project US$ 1.10 of US$ 5.00</a:t>
            </a:r>
            <a:endParaRPr lang="en-US" sz="1500" dirty="0"/>
          </a:p>
          <a:p>
            <a:pPr indent="0" marL="0">
              <a:buNone/>
            </a:pPr>
            <a:r>
              <a:rPr lang="en-US" sz="1500" dirty="0">
                <a:solidFill>
                  <a:srgbClr val="FCF9FE"/>
                </a:solidFill>
                <a:latin typeface="Courier New" pitchFamily="34" charset="0"/>
                <a:ea typeface="Courier New" pitchFamily="34" charset="-122"/>
                <a:cs typeface="Courier New" pitchFamily="34" charset="-120"/>
              </a:rPr>
              <a:t>· swarm 12✓ 2… 1✗ · 3 min</a:t>
            </a:r>
            <a:endParaRPr lang="en-US" sz="1500" dirty="0"/>
          </a:p>
        </p:txBody>
      </p:sp>
      <p:sp>
        <p:nvSpPr>
          <p:cNvPr id="6" name="anatomy-mark-0-circle"/>
          <p:cNvSpPr/>
          <p:nvPr/>
        </p:nvSpPr>
        <p:spPr>
          <a:xfrm>
            <a:off x="6766560" y="1508760"/>
            <a:ext cx="411480" cy="411480"/>
          </a:xfrm>
          <a:prstGeom prst="ellipse">
            <a:avLst/>
          </a:prstGeom>
          <a:solidFill>
            <a:srgbClr val="6B34FD"/>
          </a:solidFill>
          <a:ln w="12700">
            <a:solidFill>
              <a:srgbClr val="6B34FD"/>
            </a:solidFill>
            <a:prstDash val="solid"/>
          </a:ln>
        </p:spPr>
      </p:sp>
      <p:pic>
        <p:nvPicPr>
          <p:cNvPr id="7" name="anatomy-mark-0" descr="lightbulb">    </p:cNvPr>
          <p:cNvPicPr>
            <a:picLocks noChangeAspect="1"/>
          </p:cNvPicPr>
          <p:nvPr/>
        </p:nvPicPr>
        <p:blipFill>
          <a:blip r:embed="rId1"/>
          <a:stretch>
            <a:fillRect/>
          </a:stretch>
        </p:blipFill>
        <p:spPr>
          <a:xfrm>
            <a:off x="6857086" y="1599286"/>
            <a:ext cx="230429" cy="230429"/>
          </a:xfrm>
          <a:prstGeom prst="rect">
            <a:avLst/>
          </a:prstGeom>
        </p:spPr>
      </p:pic>
      <p:sp>
        <p:nvSpPr>
          <p:cNvPr id="8" name="anatomy-title-0"/>
          <p:cNvSpPr txBox="1"/>
          <p:nvPr/>
        </p:nvSpPr>
        <p:spPr>
          <a:xfrm>
            <a:off x="7360920" y="15270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What it is</a:t>
            </a:r>
            <a:endParaRPr lang="en-US" sz="2000" dirty="0"/>
          </a:p>
        </p:txBody>
      </p:sp>
      <p:sp>
        <p:nvSpPr>
          <p:cNvPr id="9" name="anatomy-text-0"/>
          <p:cNvSpPr txBox="1"/>
          <p:nvPr/>
        </p:nvSpPr>
        <p:spPr>
          <a:xfrm>
            <a:off x="7360920" y="19385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A script that receives the session state (model, folder, cost) and returns one line of text.</a:t>
            </a:r>
            <a:endParaRPr lang="en-US" sz="1500" dirty="0"/>
          </a:p>
        </p:txBody>
      </p:sp>
      <p:sp>
        <p:nvSpPr>
          <p:cNvPr id="10" name="anatomy-mark-1-circle"/>
          <p:cNvSpPr/>
          <p:nvPr/>
        </p:nvSpPr>
        <p:spPr>
          <a:xfrm>
            <a:off x="6766560" y="2956560"/>
            <a:ext cx="411480" cy="411480"/>
          </a:xfrm>
          <a:prstGeom prst="ellipse">
            <a:avLst/>
          </a:prstGeom>
          <a:solidFill>
            <a:srgbClr val="6B34FD"/>
          </a:solidFill>
          <a:ln w="12700">
            <a:solidFill>
              <a:srgbClr val="6B34FD"/>
            </a:solidFill>
            <a:prstDash val="solid"/>
          </a:ln>
        </p:spPr>
      </p:sp>
      <p:pic>
        <p:nvPicPr>
          <p:cNvPr id="11" name="anatomy-mark-1" descr="gauge">    </p:cNvPr>
          <p:cNvPicPr>
            <a:picLocks noChangeAspect="1"/>
          </p:cNvPicPr>
          <p:nvPr/>
        </p:nvPicPr>
        <p:blipFill>
          <a:blip r:embed="rId2"/>
          <a:stretch>
            <a:fillRect/>
          </a:stretch>
        </p:blipFill>
        <p:spPr>
          <a:xfrm>
            <a:off x="6857086" y="3047086"/>
            <a:ext cx="230429" cy="230429"/>
          </a:xfrm>
          <a:prstGeom prst="rect">
            <a:avLst/>
          </a:prstGeom>
        </p:spPr>
      </p:pic>
      <p:sp>
        <p:nvSpPr>
          <p:cNvPr id="12" name="anatomy-title-1"/>
          <p:cNvSpPr txBox="1"/>
          <p:nvPr/>
        </p:nvSpPr>
        <p:spPr>
          <a:xfrm>
            <a:off x="7360920" y="29748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In the kit</a:t>
            </a:r>
            <a:endParaRPr lang="en-US" sz="2000" dirty="0"/>
          </a:p>
        </p:txBody>
      </p:sp>
      <p:sp>
        <p:nvSpPr>
          <p:cNvPr id="13" name="anatomy-text-1"/>
          <p:cNvSpPr txBox="1"/>
          <p:nvPr/>
        </p:nvSpPr>
        <p:spPr>
          <a:xfrm>
            <a:off x="7360920" y="33863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It reads what the hook recorded and shows the session and project cost, live, against the US$ 5 target.</a:t>
            </a:r>
            <a:endParaRPr lang="en-US" sz="1500" dirty="0"/>
          </a:p>
        </p:txBody>
      </p:sp>
      <p:sp>
        <p:nvSpPr>
          <p:cNvPr id="14" name="anatomy-mark-2-circle"/>
          <p:cNvSpPr/>
          <p:nvPr/>
        </p:nvSpPr>
        <p:spPr>
          <a:xfrm>
            <a:off x="6766560" y="4404360"/>
            <a:ext cx="411480" cy="411480"/>
          </a:xfrm>
          <a:prstGeom prst="ellipse">
            <a:avLst/>
          </a:prstGeom>
          <a:solidFill>
            <a:srgbClr val="6B34FD"/>
          </a:solidFill>
          <a:ln w="12700">
            <a:solidFill>
              <a:srgbClr val="6B34FD"/>
            </a:solidFill>
            <a:prstDash val="solid"/>
          </a:ln>
        </p:spPr>
      </p:sp>
      <p:pic>
        <p:nvPicPr>
          <p:cNvPr id="15" name="anatomy-mark-2" descr="wand-sparkles">    </p:cNvPr>
          <p:cNvPicPr>
            <a:picLocks noChangeAspect="1"/>
          </p:cNvPicPr>
          <p:nvPr/>
        </p:nvPicPr>
        <p:blipFill>
          <a:blip r:embed="rId3"/>
          <a:stretch>
            <a:fillRect/>
          </a:stretch>
        </p:blipFill>
        <p:spPr>
          <a:xfrm>
            <a:off x="6857086" y="4494886"/>
            <a:ext cx="230429" cy="230429"/>
          </a:xfrm>
          <a:prstGeom prst="rect">
            <a:avLst/>
          </a:prstGeom>
        </p:spPr>
      </p:pic>
      <p:sp>
        <p:nvSpPr>
          <p:cNvPr id="16" name="anatomy-title-2"/>
          <p:cNvSpPr txBox="1"/>
          <p:nvPr/>
        </p:nvSpPr>
        <p:spPr>
          <a:xfrm>
            <a:off x="7360920" y="4422648"/>
            <a:ext cx="4282135" cy="384048"/>
          </a:xfrm>
          <a:prstGeom prst="rect">
            <a:avLst/>
          </a:prstGeom>
          <a:noFill/>
          <a:ln/>
        </p:spPr>
        <p:txBody>
          <a:bodyPr wrap="square" lIns="0" tIns="0" rIns="0" bIns="0" rtlCol="0" anchor="t"/>
          <a:lstStyle/>
          <a:p>
            <a:pPr indent="0" marL="0">
              <a:buNone/>
            </a:pPr>
            <a:r>
              <a:rPr lang="en-US" sz="2000" b="1" dirty="0">
                <a:solidFill>
                  <a:srgbClr val="140920"/>
                </a:solidFill>
                <a:latin typeface="Founders Grotesk Medium" pitchFamily="34" charset="0"/>
                <a:ea typeface="Founders Grotesk Medium" pitchFamily="34" charset="-122"/>
                <a:cs typeface="Founders Grotesk Medium" pitchFamily="34" charset="-120"/>
              </a:rPr>
              <a:t>Make your own</a:t>
            </a:r>
            <a:endParaRPr lang="en-US" sz="2000" dirty="0"/>
          </a:p>
        </p:txBody>
      </p:sp>
      <p:sp>
        <p:nvSpPr>
          <p:cNvPr id="17" name="anatomy-text-2"/>
          <p:cNvSpPr txBox="1"/>
          <p:nvPr/>
        </p:nvSpPr>
        <p:spPr>
          <a:xfrm>
            <a:off x="7360920" y="4834128"/>
            <a:ext cx="4282135" cy="944880"/>
          </a:xfrm>
          <a:prstGeom prst="rect">
            <a:avLst/>
          </a:prstGeom>
          <a:noFill/>
          <a:ln/>
        </p:spPr>
        <p:txBody>
          <a:bodyPr wrap="square" lIns="0" tIns="0" rIns="0" bIns="0" rtlCol="0" anchor="t">
            <a:normAutofit/>
          </a:bodyPr>
          <a:lstStyle/>
          <a:p>
            <a:pPr indent="0" marL="0">
              <a:buNone/>
            </a:pPr>
            <a:r>
              <a:rPr lang="en-US" sz="1500" dirty="0">
                <a:solidFill>
                  <a:srgbClr val="140920"/>
                </a:solidFill>
                <a:latin typeface="Arial" pitchFamily="34" charset="0"/>
                <a:ea typeface="Arial" pitchFamily="34" charset="-122"/>
                <a:cs typeface="Arial" pitchFamily="34" charset="-120"/>
              </a:rPr>
              <a:t>Type /statusline and say what you want to see, for example "the git branch and the session cost". Claude writes the script.</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3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In a third terminal: three features</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a third terminal in the Arena folder</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Plan mode: Shift+Tab until "plan mode"</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Headless: a question without opening a session</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Rewind: Esc Esc to go back</a:t>
            </a:r>
            <a:endParaRPr lang="en-US" sz="2000" dirty="0"/>
          </a:p>
        </p:txBody>
      </p:sp>
      <p:sp>
        <p:nvSpPr>
          <p:cNvPr id="6" name="code-background"/>
          <p:cNvSpPr/>
          <p:nvPr/>
        </p:nvSpPr>
        <p:spPr>
          <a:xfrm>
            <a:off x="4937760" y="1920240"/>
            <a:ext cx="6705295" cy="128839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Plan mode</a:t>
            </a:r>
            <a:endParaRPr lang="en-US" sz="1300" dirty="0"/>
          </a:p>
        </p:txBody>
      </p:sp>
      <p:sp>
        <p:nvSpPr>
          <p:cNvPr id="8" name="code"/>
          <p:cNvSpPr txBox="1"/>
          <p:nvPr/>
        </p:nvSpPr>
        <p:spPr>
          <a:xfrm>
            <a:off x="5166360" y="2450592"/>
            <a:ext cx="6248095" cy="620878"/>
          </a:xfrm>
          <a:prstGeom prst="rect">
            <a:avLst/>
          </a:prstGeom>
          <a:noFill/>
          <a:ln/>
        </p:spPr>
        <p:txBody>
          <a:bodyPr wrap="square" lIns="0" tIns="0" rIns="0" bIns="0" rtlCol="0" anchor="t"/>
          <a:lstStyle/>
          <a:p>
            <a:pPr indent="0" marL="0">
              <a:buNone/>
            </a:pPr>
            <a:r>
              <a:rPr lang="en-US" sz="1700" dirty="0">
                <a:solidFill>
                  <a:srgbClr val="FCF9FE"/>
                </a:solidFill>
                <a:latin typeface="Courier New" pitchFamily="34" charset="0"/>
                <a:ea typeface="Courier New" pitchFamily="34" charset="-122"/>
                <a:cs typeface="Courier New" pitchFamily="34" charset="-120"/>
              </a:rPr>
              <a:t>claude</a:t>
            </a:r>
            <a:endParaRPr lang="en-US" sz="1700" dirty="0"/>
          </a:p>
          <a:p>
            <a:pPr indent="0" marL="0">
              <a:buNone/>
            </a:pPr>
            <a:r>
              <a:rPr lang="en-US" sz="1700" dirty="0">
                <a:solidFill>
                  <a:srgbClr val="FCF9FE"/>
                </a:solidFill>
                <a:latin typeface="Courier New" pitchFamily="34" charset="0"/>
                <a:ea typeface="Courier New" pitchFamily="34" charset="-122"/>
                <a:cs typeface="Courier New" pitchFamily="34" charset="-120"/>
              </a:rPr>
              <a:t>(Shift+Tab) How would you add an 11th category?</a:t>
            </a:r>
            <a:endParaRPr lang="en-US" sz="1700" dirty="0"/>
          </a:p>
        </p:txBody>
      </p:sp>
      <p:sp>
        <p:nvSpPr>
          <p:cNvPr id="9" name="code-background"/>
          <p:cNvSpPr/>
          <p:nvPr/>
        </p:nvSpPr>
        <p:spPr>
          <a:xfrm>
            <a:off x="4937760" y="3437230"/>
            <a:ext cx="6705295" cy="1423721"/>
          </a:xfrm>
          <a:prstGeom prst="rect">
            <a:avLst/>
          </a:prstGeom>
          <a:solidFill>
            <a:srgbClr val="140920"/>
          </a:solidFill>
          <a:ln w="12700">
            <a:solidFill>
              <a:srgbClr val="140920"/>
            </a:solidFill>
            <a:prstDash val="solid"/>
          </a:ln>
        </p:spPr>
      </p:sp>
      <p:sp>
        <p:nvSpPr>
          <p:cNvPr id="10" name="code-label"/>
          <p:cNvSpPr txBox="1"/>
          <p:nvPr/>
        </p:nvSpPr>
        <p:spPr>
          <a:xfrm>
            <a:off x="5166360" y="362011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Headless</a:t>
            </a:r>
            <a:endParaRPr lang="en-US" sz="1300" dirty="0"/>
          </a:p>
        </p:txBody>
      </p:sp>
      <p:sp>
        <p:nvSpPr>
          <p:cNvPr id="11" name="code"/>
          <p:cNvSpPr txBox="1"/>
          <p:nvPr/>
        </p:nvSpPr>
        <p:spPr>
          <a:xfrm>
            <a:off x="5166360" y="3967582"/>
            <a:ext cx="6248095" cy="756209"/>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claude -p "Summarise PLAN.md in one sentence" --model claude-haiku-5-5</a:t>
            </a:r>
            <a:endParaRPr lang="en-US" sz="14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A plan with no changes, one sentence in the terminal and a checkpoint to rewind to</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Worktrees and routines</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git-fork">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claude -w experiment</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an isolated copy of the repository, on its own branch, to work in parallel</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git-branch">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isolation: worktree</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a subagent in its own worktree, when the tasks touch the same files</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calendar-clock">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Local routine</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the system scheduler runs claude -p every day. The cloud /schedule needs a subscription</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Until everything is green</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At the end, look for red squares</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If there are any, let /loop fix them</a:t>
            </a:r>
            <a:endParaRPr lang="en-US" sz="2000" dirty="0"/>
          </a:p>
        </p:txBody>
      </p:sp>
      <p:sp>
        <p:nvSpPr>
          <p:cNvPr id="6" name="code-background"/>
          <p:cNvSpPr/>
          <p:nvPr/>
        </p:nvSpPr>
        <p:spPr>
          <a:xfrm>
            <a:off x="4937760" y="1920240"/>
            <a:ext cx="6705295" cy="166055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993038"/>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/loop 2m run node tools/workshop/orchestrator/grade.mjs --all and fix the first red task with the implementer agent; stop when everything is green</a:t>
            </a:r>
            <a:endParaRPr lang="en-US" sz="14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The loop stops by itself when the suite is green</a:t>
            </a:r>
            <a:endParaRPr lang="en-US" sz="1800" dirty="0"/>
          </a:p>
        </p:txBody>
      </p:sp>
      <p:sp>
        <p:nvSpPr>
          <p:cNvPr id="12" name="notice-background"/>
          <p:cNvSpPr/>
          <p:nvPr/>
        </p:nvSpPr>
        <p:spPr>
          <a:xfrm>
            <a:off x="6202375" y="384048"/>
            <a:ext cx="5440680" cy="457200"/>
          </a:xfrm>
          <a:prstGeom prst="rect">
            <a:avLst/>
          </a:prstGeom>
          <a:solidFill>
            <a:srgbClr val="F25928"/>
          </a:solidFill>
          <a:ln w="12700">
            <a:solidFill>
              <a:srgbClr val="F25928"/>
            </a:solidFill>
            <a:prstDash val="solid"/>
          </a:ln>
        </p:spPr>
      </p:sp>
      <p:sp>
        <p:nvSpPr>
          <p:cNvPr id="13" name="notice"/>
          <p:cNvSpPr txBox="1"/>
          <p:nvPr/>
        </p:nvSpPr>
        <p:spPr>
          <a:xfrm>
            <a:off x="6366967" y="384048"/>
            <a:ext cx="5111496"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command is in Teams: copy it from there.</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The security gate</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/demo-review</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Read the Opus reviewer's verdict</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/demo-review</a:t>
            </a:r>
            <a:endParaRPr lang="en-US" sz="20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GATE: APPROVED: tests green, CSP on, no eval or innerHTML, no secrets</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How much did it cost?</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/demo-cost</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Compare the Haiku agents with the main session</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/demo-cost</a:t>
            </a:r>
            <a:endParaRPr lang="en-US" sz="20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Cost per agent, model and wave, close to US$ 1.02</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2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Play what the swarm built</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the gallery</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Pick a challenge and play</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Click "Run tests"</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Browser</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http://localhost:3000</a:t>
            </a:r>
            <a:endParaRPr lang="en-US" sz="20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Challenges from green tasks are playable; the red ones show why they failed</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memory of what you did</a:t>
            </a:r>
            <a:endParaRPr lang="en-US" sz="3200" dirty="0"/>
          </a:p>
        </p:txBody>
      </p:sp>
      <p:sp>
        <p:nvSpPr>
          <p:cNvPr id="3" name="frame"/>
          <p:cNvSpPr/>
          <p:nvPr/>
        </p:nvSpPr>
        <p:spPr>
          <a:xfrm>
            <a:off x="2202536" y="1389888"/>
            <a:ext cx="7786624" cy="4443984"/>
          </a:xfrm>
          <a:prstGeom prst="rect">
            <a:avLst/>
          </a:prstGeom>
          <a:solidFill>
            <a:srgbClr val="FFFFFF"/>
          </a:solidFill>
          <a:ln w="12700">
            <a:solidFill>
              <a:srgbClr val="FFFFFF"/>
            </a:solidFill>
            <a:prstDash val="solid"/>
          </a:ln>
        </p:spPr>
      </p:sp>
      <p:pic>
        <p:nvPicPr>
          <p:cNvPr id="4" name="image" descr="Search by project, issue or epic (e.g. arena or EX-1): lessons, &quot;do&quot;, &quot;don't&quot; and history, linked to projects, epics, tasks and files">    </p:cNvPr>
          <p:cNvPicPr>
            <a:picLocks noChangeAspect="1"/>
          </p:cNvPicPr>
          <p:nvPr/>
        </p:nvPicPr>
        <p:blipFill>
          <a:blip r:embed="rId1"/>
          <a:stretch>
            <a:fillRect/>
          </a:stretch>
        </p:blipFill>
        <p:spPr>
          <a:xfrm>
            <a:off x="2275688" y="1463040"/>
            <a:ext cx="7640320" cy="4297680"/>
          </a:xfrm>
          <a:prstGeom prst="rect">
            <a:avLst/>
          </a:prstGeom>
        </p:spPr>
      </p:pic>
      <p:sp>
        <p:nvSpPr>
          <p:cNvPr id="5" name="caption"/>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500" dirty="0">
                <a:solidFill>
                  <a:srgbClr val="4A405A"/>
                </a:solidFill>
                <a:latin typeface="Arial" pitchFamily="34" charset="0"/>
                <a:ea typeface="Arial" pitchFamily="34" charset="-122"/>
                <a:cs typeface="Arial" pitchFamily="34" charset="-120"/>
              </a:rPr>
              <a:t>Search by project, issue or epic (e.g. arena or EX-1): lessons, "do", "don't" and history, linked to projects, epics, tasks and files</a:t>
            </a:r>
            <a:endParaRPr lang="en-US" sz="15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3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Open your first graph</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the Agent Memory app</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Click a node to read the lesson</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Drag the time slider</a:t>
            </a:r>
            <a:endParaRPr lang="en-US" sz="2000" dirty="0"/>
          </a:p>
        </p:txBody>
      </p:sp>
      <p:sp>
        <p:nvSpPr>
          <p:cNvPr id="6" name="code-background"/>
          <p:cNvSpPr/>
          <p:nvPr/>
        </p:nvSpPr>
        <p:spPr>
          <a:xfrm>
            <a:off x="4937760" y="1920240"/>
            <a:ext cx="6705295" cy="1389888"/>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Mac</a:t>
            </a:r>
            <a:endParaRPr lang="en-US" sz="1300" dirty="0"/>
          </a:p>
        </p:txBody>
      </p:sp>
      <p:sp>
        <p:nvSpPr>
          <p:cNvPr id="8" name="code"/>
          <p:cNvSpPr txBox="1"/>
          <p:nvPr/>
        </p:nvSpPr>
        <p:spPr>
          <a:xfrm>
            <a:off x="5166360" y="2450592"/>
            <a:ext cx="6248095" cy="722376"/>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open ~/Applications/"Agent Memory.app"</a:t>
            </a:r>
            <a:endParaRPr lang="en-US" sz="2000" dirty="0"/>
          </a:p>
          <a:p>
            <a:pPr indent="0" marL="0">
              <a:buNone/>
            </a:pPr>
            <a:r>
              <a:rPr lang="en-US" sz="2000" dirty="0">
                <a:solidFill>
                  <a:srgbClr val="FCF9FE"/>
                </a:solidFill>
                <a:latin typeface="Courier New" pitchFamily="34" charset="0"/>
                <a:ea typeface="Courier New" pitchFamily="34" charset="-122"/>
                <a:cs typeface="Courier New" pitchFamily="34" charset="-120"/>
              </a:rPr>
              <a:t># or: agent-memory</a:t>
            </a:r>
            <a:endParaRPr lang="en-US" sz="2000" dirty="0"/>
          </a:p>
        </p:txBody>
      </p:sp>
      <p:sp>
        <p:nvSpPr>
          <p:cNvPr id="9" name="code-background"/>
          <p:cNvSpPr/>
          <p:nvPr/>
        </p:nvSpPr>
        <p:spPr>
          <a:xfrm>
            <a:off x="4937760" y="3538728"/>
            <a:ext cx="6705295" cy="1389888"/>
          </a:xfrm>
          <a:prstGeom prst="rect">
            <a:avLst/>
          </a:prstGeom>
          <a:solidFill>
            <a:srgbClr val="140920"/>
          </a:solidFill>
          <a:ln w="12700">
            <a:solidFill>
              <a:srgbClr val="140920"/>
            </a:solidFill>
            <a:prstDash val="solid"/>
          </a:ln>
        </p:spPr>
      </p:sp>
      <p:sp>
        <p:nvSpPr>
          <p:cNvPr id="10" name="code-label"/>
          <p:cNvSpPr txBox="1"/>
          <p:nvPr/>
        </p:nvSpPr>
        <p:spPr>
          <a:xfrm>
            <a:off x="5166360" y="3721608"/>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Windows</a:t>
            </a:r>
            <a:endParaRPr lang="en-US" sz="1300" dirty="0"/>
          </a:p>
        </p:txBody>
      </p:sp>
      <p:sp>
        <p:nvSpPr>
          <p:cNvPr id="11" name="code"/>
          <p:cNvSpPr txBox="1"/>
          <p:nvPr/>
        </p:nvSpPr>
        <p:spPr>
          <a:xfrm>
            <a:off x="5166360" y="4069080"/>
            <a:ext cx="6248095" cy="722376"/>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Start menu → Agent Memory</a:t>
            </a:r>
            <a:endParaRPr lang="en-US" sz="2000" dirty="0"/>
          </a:p>
          <a:p>
            <a:pPr indent="0" marL="0">
              <a:buNone/>
            </a:pPr>
            <a:r>
              <a:rPr lang="en-US" sz="2000" dirty="0">
                <a:solidFill>
                  <a:srgbClr val="FCF9FE"/>
                </a:solidFill>
                <a:latin typeface="Courier New" pitchFamily="34" charset="0"/>
                <a:ea typeface="Courier New" pitchFamily="34" charset="-122"/>
                <a:cs typeface="Courier New" pitchFamily="34" charset="-120"/>
              </a:rPr>
              <a:t># or: agent-memory</a:t>
            </a:r>
            <a:endParaRPr lang="en-US" sz="20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The Arena session graph, with the lessons linked to the project</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715975" y="1051560"/>
            <a:ext cx="7498080" cy="1554480"/>
          </a:xfrm>
          <a:prstGeom prst="rect">
            <a:avLst/>
          </a:prstGeom>
          <a:noFill/>
          <a:ln/>
        </p:spPr>
        <p:txBody>
          <a:bodyPr wrap="square" lIns="0" tIns="0" rIns="0" bIns="0" rtlCol="0" anchor="t"/>
          <a:lstStyle/>
          <a:p>
            <a:pPr algn="l" indent="0" marL="0">
              <a:buNone/>
            </a:pPr>
            <a:r>
              <a:rPr lang="en-US" sz="4600" dirty="0">
                <a:solidFill>
                  <a:srgbClr val="140920"/>
                </a:solidFill>
                <a:latin typeface="Founders Grotesk Medium" pitchFamily="34" charset="0"/>
                <a:ea typeface="Founders Grotesk Medium" pitchFamily="34" charset="-122"/>
                <a:cs typeface="Founders Grotesk Medium" pitchFamily="34" charset="-120"/>
              </a:rPr>
              <a:t>Project 2</a:t>
            </a:r>
            <a:endParaRPr lang="en-US" sz="4600" dirty="0"/>
          </a:p>
        </p:txBody>
      </p:sp>
      <p:sp>
        <p:nvSpPr>
          <p:cNvPr id="3" name="Text 0"/>
          <p:cNvSpPr/>
          <p:nvPr>
            <p:ph idx="102" type="body" hasCustomPrompt="1"/>
          </p:nvPr>
        </p:nvSpPr>
        <p:spPr>
          <a:xfrm>
            <a:off x="715975" y="2697480"/>
            <a:ext cx="5852160" cy="1097280"/>
          </a:xfrm>
          <a:prstGeom prst="rect">
            <a:avLst/>
          </a:prstGeom>
          <a:noFill/>
          <a:ln/>
        </p:spPr>
        <p:txBody>
          <a:bodyPr wrap="square" lIns="0" tIns="0" rIns="0" bIns="0" rtlCol="0" anchor="t"/>
          <a:lstStyle/>
          <a:p>
            <a:pPr algn="l" indent="0" marL="0">
              <a:buNone/>
            </a:pPr>
            <a:r>
              <a:rPr lang="en-US" sz="2000" dirty="0">
                <a:solidFill>
                  <a:srgbClr val="4A405A"/>
                </a:solidFill>
                <a:latin typeface="Arial" pitchFamily="34" charset="0"/>
                <a:ea typeface="Arial" pitchFamily="34" charset="-122"/>
                <a:cs typeface="Arial" pitchFamily="34" charset="-120"/>
              </a:rPr>
              <a:t>Your real task</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The same cycle, in your repository</a:t>
            </a:r>
            <a:endParaRPr lang="en-US" sz="3200" dirty="0"/>
          </a:p>
        </p:txBody>
      </p:sp>
      <p:sp>
        <p:nvSpPr>
          <p:cNvPr id="3" name="step-0"/>
          <p:cNvSpPr/>
          <p:nvPr/>
        </p:nvSpPr>
        <p:spPr>
          <a:xfrm>
            <a:off x="548640" y="1828800"/>
            <a:ext cx="1984797" cy="3200400"/>
          </a:xfrm>
          <a:prstGeom prst="rect">
            <a:avLst/>
          </a:prstGeom>
          <a:solidFill>
            <a:srgbClr val="FFFFFF"/>
          </a:solidFill>
          <a:ln w="12700">
            <a:solidFill>
              <a:srgbClr val="FFFFFF"/>
            </a:solidFill>
            <a:prstDash val="solid"/>
          </a:ln>
        </p:spPr>
      </p:sp>
      <p:sp>
        <p:nvSpPr>
          <p:cNvPr id="4" name="step-number-0"/>
          <p:cNvSpPr/>
          <p:nvPr/>
        </p:nvSpPr>
        <p:spPr>
          <a:xfrm>
            <a:off x="777240"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1</a:t>
            </a:r>
            <a:endParaRPr lang="en-US" sz="1600" dirty="0"/>
          </a:p>
        </p:txBody>
      </p:sp>
      <p:sp>
        <p:nvSpPr>
          <p:cNvPr id="5" name="step-title-0"/>
          <p:cNvSpPr txBox="1"/>
          <p:nvPr/>
        </p:nvSpPr>
        <p:spPr>
          <a:xfrm>
            <a:off x="749808"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/task-intake</a:t>
            </a:r>
            <a:endParaRPr lang="en-US" sz="1500" dirty="0"/>
          </a:p>
        </p:txBody>
      </p:sp>
      <p:sp>
        <p:nvSpPr>
          <p:cNvPr id="6" name="step-text-0"/>
          <p:cNvSpPr txBox="1"/>
          <p:nvPr/>
        </p:nvSpPr>
        <p:spPr>
          <a:xfrm>
            <a:off x="749808"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reads the Jira or GitHub issue</a:t>
            </a:r>
            <a:endParaRPr lang="en-US" sz="1600" dirty="0"/>
          </a:p>
        </p:txBody>
      </p:sp>
      <p:sp>
        <p:nvSpPr>
          <p:cNvPr id="7" name="flow-arrow-0"/>
          <p:cNvSpPr/>
          <p:nvPr/>
        </p:nvSpPr>
        <p:spPr>
          <a:xfrm>
            <a:off x="2579157" y="2276856"/>
            <a:ext cx="201168" cy="0"/>
          </a:xfrm>
          <a:prstGeom prst="line">
            <a:avLst/>
          </a:prstGeom>
          <a:noFill/>
          <a:ln w="31750">
            <a:solidFill>
              <a:srgbClr val="140920"/>
            </a:solidFill>
            <a:prstDash val="solid"/>
            <a:tailEnd type="triangle"/>
          </a:ln>
        </p:spPr>
      </p:sp>
      <p:sp>
        <p:nvSpPr>
          <p:cNvPr id="8" name="step-1"/>
          <p:cNvSpPr/>
          <p:nvPr/>
        </p:nvSpPr>
        <p:spPr>
          <a:xfrm>
            <a:off x="2826045" y="1828800"/>
            <a:ext cx="1984797" cy="3200400"/>
          </a:xfrm>
          <a:prstGeom prst="rect">
            <a:avLst/>
          </a:prstGeom>
          <a:solidFill>
            <a:srgbClr val="FFFFFF"/>
          </a:solidFill>
          <a:ln w="12700">
            <a:solidFill>
              <a:srgbClr val="FFFFFF"/>
            </a:solidFill>
            <a:prstDash val="solid"/>
          </a:ln>
        </p:spPr>
      </p:sp>
      <p:sp>
        <p:nvSpPr>
          <p:cNvPr id="9" name="step-number-1"/>
          <p:cNvSpPr/>
          <p:nvPr/>
        </p:nvSpPr>
        <p:spPr>
          <a:xfrm>
            <a:off x="3054645"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2</a:t>
            </a:r>
            <a:endParaRPr lang="en-US" sz="1600" dirty="0"/>
          </a:p>
        </p:txBody>
      </p:sp>
      <p:sp>
        <p:nvSpPr>
          <p:cNvPr id="10" name="step-title-1"/>
          <p:cNvSpPr txBox="1"/>
          <p:nvPr/>
        </p:nvSpPr>
        <p:spPr>
          <a:xfrm>
            <a:off x="3027213"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/task-plan</a:t>
            </a:r>
            <a:endParaRPr lang="en-US" sz="1500" dirty="0"/>
          </a:p>
        </p:txBody>
      </p:sp>
      <p:sp>
        <p:nvSpPr>
          <p:cNvPr id="11" name="step-text-1"/>
          <p:cNvSpPr txBox="1"/>
          <p:nvPr/>
        </p:nvSpPr>
        <p:spPr>
          <a:xfrm>
            <a:off x="3027213"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decides how many agents and why</a:t>
            </a:r>
            <a:endParaRPr lang="en-US" sz="1600" dirty="0"/>
          </a:p>
        </p:txBody>
      </p:sp>
      <p:sp>
        <p:nvSpPr>
          <p:cNvPr id="12" name="flow-arrow-1"/>
          <p:cNvSpPr/>
          <p:nvPr/>
        </p:nvSpPr>
        <p:spPr>
          <a:xfrm>
            <a:off x="4856561" y="2276856"/>
            <a:ext cx="201168" cy="0"/>
          </a:xfrm>
          <a:prstGeom prst="line">
            <a:avLst/>
          </a:prstGeom>
          <a:noFill/>
          <a:ln w="31750">
            <a:solidFill>
              <a:srgbClr val="140920"/>
            </a:solidFill>
            <a:prstDash val="solid"/>
            <a:tailEnd type="triangle"/>
          </a:ln>
        </p:spPr>
      </p:sp>
      <p:sp>
        <p:nvSpPr>
          <p:cNvPr id="13" name="step-2"/>
          <p:cNvSpPr/>
          <p:nvPr/>
        </p:nvSpPr>
        <p:spPr>
          <a:xfrm>
            <a:off x="5103449" y="1828800"/>
            <a:ext cx="1984797" cy="3200400"/>
          </a:xfrm>
          <a:prstGeom prst="rect">
            <a:avLst/>
          </a:prstGeom>
          <a:solidFill>
            <a:srgbClr val="FFFFFF"/>
          </a:solidFill>
          <a:ln w="12700">
            <a:solidFill>
              <a:srgbClr val="FFFFFF"/>
            </a:solidFill>
            <a:prstDash val="solid"/>
          </a:ln>
        </p:spPr>
      </p:sp>
      <p:sp>
        <p:nvSpPr>
          <p:cNvPr id="14" name="step-number-2"/>
          <p:cNvSpPr/>
          <p:nvPr/>
        </p:nvSpPr>
        <p:spPr>
          <a:xfrm>
            <a:off x="533204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3</a:t>
            </a:r>
            <a:endParaRPr lang="en-US" sz="1600" dirty="0"/>
          </a:p>
        </p:txBody>
      </p:sp>
      <p:sp>
        <p:nvSpPr>
          <p:cNvPr id="15" name="step-title-2"/>
          <p:cNvSpPr txBox="1"/>
          <p:nvPr/>
        </p:nvSpPr>
        <p:spPr>
          <a:xfrm>
            <a:off x="5304617"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/task-swarm</a:t>
            </a:r>
            <a:endParaRPr lang="en-US" sz="1500" dirty="0"/>
          </a:p>
        </p:txBody>
      </p:sp>
      <p:sp>
        <p:nvSpPr>
          <p:cNvPr id="16" name="step-text-2"/>
          <p:cNvSpPr txBox="1"/>
          <p:nvPr/>
        </p:nvSpPr>
        <p:spPr>
          <a:xfrm>
            <a:off x="5304617"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the agents work in batches</a:t>
            </a:r>
            <a:endParaRPr lang="en-US" sz="1600" dirty="0"/>
          </a:p>
        </p:txBody>
      </p:sp>
      <p:sp>
        <p:nvSpPr>
          <p:cNvPr id="17" name="flow-arrow-2"/>
          <p:cNvSpPr/>
          <p:nvPr/>
        </p:nvSpPr>
        <p:spPr>
          <a:xfrm>
            <a:off x="7133966" y="2276856"/>
            <a:ext cx="201168" cy="0"/>
          </a:xfrm>
          <a:prstGeom prst="line">
            <a:avLst/>
          </a:prstGeom>
          <a:noFill/>
          <a:ln w="31750">
            <a:solidFill>
              <a:srgbClr val="140920"/>
            </a:solidFill>
            <a:prstDash val="solid"/>
            <a:tailEnd type="triangle"/>
          </a:ln>
        </p:spPr>
      </p:sp>
      <p:sp>
        <p:nvSpPr>
          <p:cNvPr id="18" name="step-3"/>
          <p:cNvSpPr/>
          <p:nvPr/>
        </p:nvSpPr>
        <p:spPr>
          <a:xfrm>
            <a:off x="7380854" y="1828800"/>
            <a:ext cx="1984797" cy="3200400"/>
          </a:xfrm>
          <a:prstGeom prst="rect">
            <a:avLst/>
          </a:prstGeom>
          <a:solidFill>
            <a:srgbClr val="FFFFFF"/>
          </a:solidFill>
          <a:ln w="12700">
            <a:solidFill>
              <a:srgbClr val="FFFFFF"/>
            </a:solidFill>
            <a:prstDash val="solid"/>
          </a:ln>
        </p:spPr>
      </p:sp>
      <p:sp>
        <p:nvSpPr>
          <p:cNvPr id="19" name="step-number-3"/>
          <p:cNvSpPr/>
          <p:nvPr/>
        </p:nvSpPr>
        <p:spPr>
          <a:xfrm>
            <a:off x="7609454"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4</a:t>
            </a:r>
            <a:endParaRPr lang="en-US" sz="1600" dirty="0"/>
          </a:p>
        </p:txBody>
      </p:sp>
      <p:sp>
        <p:nvSpPr>
          <p:cNvPr id="20" name="step-title-3"/>
          <p:cNvSpPr txBox="1"/>
          <p:nvPr/>
        </p:nvSpPr>
        <p:spPr>
          <a:xfrm>
            <a:off x="7582022" y="2697480"/>
            <a:ext cx="1619037" cy="914400"/>
          </a:xfrm>
          <a:prstGeom prst="rect">
            <a:avLst/>
          </a:prstGeom>
          <a:noFill/>
          <a:ln/>
        </p:spPr>
        <p:txBody>
          <a:bodyPr wrap="square" lIns="0" tIns="0" rIns="0" bIns="0" rtlCol="0" anchor="t"/>
          <a:lstStyle/>
          <a:p>
            <a:pPr indent="0" marL="0">
              <a:buNone/>
            </a:pPr>
            <a:r>
              <a:rPr lang="en-US" sz="1500" b="1" dirty="0">
                <a:solidFill>
                  <a:srgbClr val="140920"/>
                </a:solidFill>
                <a:latin typeface="Founders Grotesk Medium" pitchFamily="34" charset="0"/>
                <a:ea typeface="Founders Grotesk Medium" pitchFamily="34" charset="-122"/>
                <a:cs typeface="Founders Grotesk Medium" pitchFamily="34" charset="-120"/>
              </a:rPr>
              <a:t>/task-gate</a:t>
            </a:r>
            <a:endParaRPr lang="en-US" sz="1500" dirty="0"/>
          </a:p>
        </p:txBody>
      </p:sp>
      <p:sp>
        <p:nvSpPr>
          <p:cNvPr id="21" name="step-text-3"/>
          <p:cNvSpPr txBox="1"/>
          <p:nvPr/>
        </p:nvSpPr>
        <p:spPr>
          <a:xfrm>
            <a:off x="7582022" y="3703320"/>
            <a:ext cx="1619037" cy="1188720"/>
          </a:xfrm>
          <a:prstGeom prst="rect">
            <a:avLst/>
          </a:prstGeom>
          <a:noFill/>
          <a:ln/>
        </p:spPr>
        <p:txBody>
          <a:bodyPr wrap="square" lIns="0" tIns="0" rIns="0" bIns="0" rtlCol="0" anchor="t"/>
          <a:lstStyle/>
          <a:p>
            <a:pPr indent="0" marL="0">
              <a:buNone/>
            </a:pPr>
            <a:r>
              <a:rPr lang="en-US" sz="1600" dirty="0">
                <a:solidFill>
                  <a:srgbClr val="4A405A"/>
                </a:solidFill>
                <a:latin typeface="Arial" pitchFamily="34" charset="0"/>
                <a:ea typeface="Arial" pitchFamily="34" charset="-122"/>
                <a:cs typeface="Arial" pitchFamily="34" charset="-120"/>
              </a:rPr>
              <a:t>tests, secrets and the Opus verdict</a:t>
            </a:r>
            <a:endParaRPr lang="en-US" sz="1600" dirty="0"/>
          </a:p>
        </p:txBody>
      </p:sp>
      <p:sp>
        <p:nvSpPr>
          <p:cNvPr id="22" name="flow-arrow-3"/>
          <p:cNvSpPr/>
          <p:nvPr/>
        </p:nvSpPr>
        <p:spPr>
          <a:xfrm>
            <a:off x="9411371" y="2276856"/>
            <a:ext cx="201168" cy="0"/>
          </a:xfrm>
          <a:prstGeom prst="line">
            <a:avLst/>
          </a:prstGeom>
          <a:noFill/>
          <a:ln w="31750">
            <a:solidFill>
              <a:srgbClr val="140920"/>
            </a:solidFill>
            <a:prstDash val="solid"/>
            <a:tailEnd type="triangle"/>
          </a:ln>
        </p:spPr>
      </p:sp>
      <p:sp>
        <p:nvSpPr>
          <p:cNvPr id="23" name="step-4"/>
          <p:cNvSpPr/>
          <p:nvPr/>
        </p:nvSpPr>
        <p:spPr>
          <a:xfrm>
            <a:off x="9658259" y="1828800"/>
            <a:ext cx="1984797" cy="3200400"/>
          </a:xfrm>
          <a:prstGeom prst="rect">
            <a:avLst/>
          </a:prstGeom>
          <a:solidFill>
            <a:srgbClr val="140920"/>
          </a:solidFill>
          <a:ln w="12700">
            <a:solidFill>
              <a:srgbClr val="140920"/>
            </a:solidFill>
            <a:prstDash val="solid"/>
          </a:ln>
        </p:spPr>
      </p:sp>
      <p:sp>
        <p:nvSpPr>
          <p:cNvPr id="24" name="step-number-4"/>
          <p:cNvSpPr/>
          <p:nvPr/>
        </p:nvSpPr>
        <p:spPr>
          <a:xfrm>
            <a:off x="9886859" y="2057400"/>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5</a:t>
            </a:r>
            <a:endParaRPr lang="en-US" sz="1600" dirty="0"/>
          </a:p>
        </p:txBody>
      </p:sp>
      <p:sp>
        <p:nvSpPr>
          <p:cNvPr id="25" name="step-title-4"/>
          <p:cNvSpPr txBox="1"/>
          <p:nvPr/>
        </p:nvSpPr>
        <p:spPr>
          <a:xfrm>
            <a:off x="9859427" y="2697480"/>
            <a:ext cx="1619037" cy="914400"/>
          </a:xfrm>
          <a:prstGeom prst="rect">
            <a:avLst/>
          </a:prstGeom>
          <a:noFill/>
          <a:ln/>
        </p:spPr>
        <p:txBody>
          <a:bodyPr wrap="square" lIns="0" tIns="0" rIns="0" bIns="0" rtlCol="0" anchor="t"/>
          <a:lstStyle/>
          <a:p>
            <a:pPr indent="0" marL="0">
              <a:buNone/>
            </a:pPr>
            <a:r>
              <a:rPr lang="en-US" sz="1500" b="1" dirty="0">
                <a:solidFill>
                  <a:srgbClr val="FCF9FE"/>
                </a:solidFill>
                <a:latin typeface="Founders Grotesk Medium" pitchFamily="34" charset="0"/>
                <a:ea typeface="Founders Grotesk Medium" pitchFamily="34" charset="-122"/>
                <a:cs typeface="Founders Grotesk Medium" pitchFamily="34" charset="-120"/>
              </a:rPr>
              <a:t>/task-report</a:t>
            </a:r>
            <a:endParaRPr lang="en-US" sz="1500" dirty="0"/>
          </a:p>
        </p:txBody>
      </p:sp>
      <p:sp>
        <p:nvSpPr>
          <p:cNvPr id="26" name="step-text-4"/>
          <p:cNvSpPr txBox="1"/>
          <p:nvPr/>
        </p:nvSpPr>
        <p:spPr>
          <a:xfrm>
            <a:off x="9859427" y="3703320"/>
            <a:ext cx="1619037" cy="1188720"/>
          </a:xfrm>
          <a:prstGeom prst="rect">
            <a:avLst/>
          </a:prstGeom>
          <a:noFill/>
          <a:ln/>
        </p:spPr>
        <p:txBody>
          <a:bodyPr wrap="square" lIns="0" tIns="0" rIns="0" bIns="0" rtlCol="0" anchor="t"/>
          <a:lstStyle/>
          <a:p>
            <a:pPr indent="0" marL="0">
              <a:buNone/>
            </a:pPr>
            <a:r>
              <a:rPr lang="en-US" sz="1600" dirty="0">
                <a:solidFill>
                  <a:srgbClr val="B9AEDB"/>
                </a:solidFill>
                <a:latin typeface="Arial" pitchFamily="34" charset="0"/>
                <a:ea typeface="Arial" pitchFamily="34" charset="-122"/>
                <a:cs typeface="Arial" pitchFamily="34" charset="-120"/>
              </a:rPr>
              <a:t>comments, worklog and PR, after you say yes</a:t>
            </a:r>
            <a:endParaRPr lang="en-US" sz="16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4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Bring your task</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Open Claude Code at the root of your project</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Give it the Jira (ABC-123) or GitHub (#42) issue</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No access? Use the practice project</a:t>
            </a:r>
            <a:endParaRPr lang="en-US" sz="2000" dirty="0"/>
          </a:p>
        </p:txBody>
      </p:sp>
      <p:sp>
        <p:nvSpPr>
          <p:cNvPr id="6" name="code-background"/>
          <p:cNvSpPr/>
          <p:nvPr/>
        </p:nvSpPr>
        <p:spPr>
          <a:xfrm>
            <a:off x="4937760" y="1920240"/>
            <a:ext cx="6705295" cy="160020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Your project</a:t>
            </a:r>
            <a:endParaRPr lang="en-US" sz="1300" dirty="0"/>
          </a:p>
        </p:txBody>
      </p:sp>
      <p:sp>
        <p:nvSpPr>
          <p:cNvPr id="8" name="code"/>
          <p:cNvSpPr txBox="1"/>
          <p:nvPr/>
        </p:nvSpPr>
        <p:spPr>
          <a:xfrm>
            <a:off x="5166360" y="2450592"/>
            <a:ext cx="6248095" cy="932688"/>
          </a:xfrm>
          <a:prstGeom prst="rect">
            <a:avLst/>
          </a:prstGeom>
          <a:noFill/>
          <a:ln/>
        </p:spPr>
        <p:txBody>
          <a:bodyPr wrap="square" lIns="0" tIns="0" rIns="0" bIns="0" rtlCol="0" anchor="t"/>
          <a:lstStyle/>
          <a:p>
            <a:pPr indent="0" marL="0">
              <a:buNone/>
            </a:pPr>
            <a:r>
              <a:rPr lang="en-US" sz="1800" dirty="0">
                <a:solidFill>
                  <a:srgbClr val="FCF9FE"/>
                </a:solidFill>
                <a:latin typeface="Courier New" pitchFamily="34" charset="0"/>
                <a:ea typeface="Courier New" pitchFamily="34" charset="-122"/>
                <a:cs typeface="Courier New" pitchFamily="34" charset="-120"/>
              </a:rPr>
              <a:t>cd &lt;your repository&gt;</a:t>
            </a:r>
            <a:endParaRPr lang="en-US" sz="1800" dirty="0"/>
          </a:p>
          <a:p>
            <a:pPr indent="0" marL="0">
              <a:buNone/>
            </a:pPr>
            <a:r>
              <a:rPr lang="en-US" sz="1800" dirty="0">
                <a:solidFill>
                  <a:srgbClr val="FCF9FE"/>
                </a:solidFill>
                <a:latin typeface="Courier New" pitchFamily="34" charset="0"/>
                <a:ea typeface="Courier New" pitchFamily="34" charset="-122"/>
                <a:cs typeface="Courier New" pitchFamily="34" charset="-120"/>
              </a:rPr>
              <a:t>claude</a:t>
            </a:r>
            <a:endParaRPr lang="en-US" sz="1800" dirty="0"/>
          </a:p>
          <a:p>
            <a:pPr indent="0" marL="0">
              <a:buNone/>
            </a:pPr>
            <a:r>
              <a:rPr lang="en-US" sz="1800" dirty="0">
                <a:solidFill>
                  <a:srgbClr val="FCF9FE"/>
                </a:solidFill>
                <a:latin typeface="Courier New" pitchFamily="34" charset="0"/>
                <a:ea typeface="Courier New" pitchFamily="34" charset="-122"/>
                <a:cs typeface="Courier New" pitchFamily="34" charset="-120"/>
              </a:rPr>
              <a:t>/task-intake ABC-123</a:t>
            </a:r>
            <a:endParaRPr lang="en-US" sz="1800" dirty="0"/>
          </a:p>
        </p:txBody>
      </p:sp>
      <p:sp>
        <p:nvSpPr>
          <p:cNvPr id="9" name="code-background"/>
          <p:cNvSpPr/>
          <p:nvPr/>
        </p:nvSpPr>
        <p:spPr>
          <a:xfrm>
            <a:off x="4937760" y="3749040"/>
            <a:ext cx="6705295" cy="1600200"/>
          </a:xfrm>
          <a:prstGeom prst="rect">
            <a:avLst/>
          </a:prstGeom>
          <a:solidFill>
            <a:srgbClr val="140920"/>
          </a:solidFill>
          <a:ln w="12700">
            <a:solidFill>
              <a:srgbClr val="140920"/>
            </a:solidFill>
            <a:prstDash val="solid"/>
          </a:ln>
        </p:spPr>
      </p:sp>
      <p:sp>
        <p:nvSpPr>
          <p:cNvPr id="10" name="code-label"/>
          <p:cNvSpPr txBox="1"/>
          <p:nvPr/>
        </p:nvSpPr>
        <p:spPr>
          <a:xfrm>
            <a:off x="5166360" y="39319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Practice project</a:t>
            </a:r>
            <a:endParaRPr lang="en-US" sz="1300" dirty="0"/>
          </a:p>
        </p:txBody>
      </p:sp>
      <p:sp>
        <p:nvSpPr>
          <p:cNvPr id="11" name="code"/>
          <p:cNvSpPr txBox="1"/>
          <p:nvPr/>
        </p:nvSpPr>
        <p:spPr>
          <a:xfrm>
            <a:off x="5166360" y="4279392"/>
            <a:ext cx="6248095" cy="932688"/>
          </a:xfrm>
          <a:prstGeom prst="rect">
            <a:avLst/>
          </a:prstGeom>
          <a:noFill/>
          <a:ln/>
        </p:spPr>
        <p:txBody>
          <a:bodyPr wrap="square" lIns="0" tIns="0" rIns="0" bIns="0" rtlCol="0" anchor="t"/>
          <a:lstStyle/>
          <a:p>
            <a:pPr indent="0" marL="0">
              <a:buNone/>
            </a:pPr>
            <a:r>
              <a:rPr lang="en-US" sz="1800" dirty="0">
                <a:solidFill>
                  <a:srgbClr val="FCF9FE"/>
                </a:solidFill>
                <a:latin typeface="Courier New" pitchFamily="34" charset="0"/>
                <a:ea typeface="Courier New" pitchFamily="34" charset="-122"/>
                <a:cs typeface="Courier New" pitchFamily="34" charset="-120"/>
              </a:rPr>
              <a:t>cd ~/workshop-claude/practice-project</a:t>
            </a:r>
            <a:endParaRPr lang="en-US" sz="1800" dirty="0"/>
          </a:p>
          <a:p>
            <a:pPr indent="0" marL="0">
              <a:buNone/>
            </a:pPr>
            <a:r>
              <a:rPr lang="en-US" sz="1800" dirty="0">
                <a:solidFill>
                  <a:srgbClr val="FCF9FE"/>
                </a:solidFill>
                <a:latin typeface="Courier New" pitchFamily="34" charset="0"/>
                <a:ea typeface="Courier New" pitchFamily="34" charset="-122"/>
                <a:cs typeface="Courier New" pitchFamily="34" charset="-120"/>
              </a:rPr>
              <a:t>claude</a:t>
            </a:r>
            <a:endParaRPr lang="en-US" sz="1800" dirty="0"/>
          </a:p>
          <a:p>
            <a:pPr indent="0" marL="0">
              <a:buNone/>
            </a:pPr>
            <a:r>
              <a:rPr lang="en-US" sz="1800" dirty="0">
                <a:solidFill>
                  <a:srgbClr val="FCF9FE"/>
                </a:solidFill>
                <a:latin typeface="Courier New" pitchFamily="34" charset="0"/>
                <a:ea typeface="Courier New" pitchFamily="34" charset="-122"/>
                <a:cs typeface="Courier New" pitchFamily="34" charset="-120"/>
              </a:rPr>
              <a:t>/task-intake issues/EX-1.json</a:t>
            </a:r>
            <a:endParaRPr lang="en-US" sz="18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Title, acceptance criteria and the test command of the project</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5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The planner decides how many agents</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/task-plan</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Read why it picked that number of agents</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Approve or adjust</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/task-plan</a:t>
            </a:r>
            <a:endParaRPr lang="en-US" sz="2000" dirty="0"/>
          </a:p>
        </p:txBody>
      </p:sp>
      <p:sp>
        <p:nvSpPr>
          <p:cNvPr id="9"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0"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1"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Small: 1–3 agents. Large: more, with a reason and an estimate</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do-it-tag"/>
          <p:cNvSpPr/>
          <p:nvPr/>
        </p:nvSpPr>
        <p:spPr>
          <a:xfrm>
            <a:off x="548640" y="384048"/>
            <a:ext cx="2834640" cy="384048"/>
          </a:xfrm>
          <a:prstGeom prst="rect">
            <a:avLst/>
          </a:prstGeom>
          <a:solidFill>
            <a:srgbClr val="6B34FD"/>
          </a:solidFill>
          <a:ln w="12700">
            <a:solidFill>
              <a:srgbClr val="6B34FD"/>
            </a:solidFill>
            <a:prstDash val="solid"/>
          </a:ln>
        </p:spPr>
      </p:sp>
      <p:sp>
        <p:nvSpPr>
          <p:cNvPr id="3" name="do-it-label"/>
          <p:cNvSpPr txBox="1"/>
          <p:nvPr/>
        </p:nvSpPr>
        <p:spPr>
          <a:xfrm>
            <a:off x="685800" y="384048"/>
            <a:ext cx="2560320" cy="384048"/>
          </a:xfrm>
          <a:prstGeom prst="rect">
            <a:avLst/>
          </a:prstGeom>
          <a:noFill/>
          <a:ln/>
        </p:spPr>
        <p:txBody>
          <a:bodyPr wrap="square" lIns="0" tIns="0" rIns="0" bIns="0" rtlCol="0" anchor="ctr"/>
          <a:lstStyle/>
          <a:p>
            <a:pPr indent="0" marL="0">
              <a:buNone/>
            </a:pPr>
            <a:r>
              <a:rPr lang="en-US" sz="1600" dirty="0">
                <a:solidFill>
                  <a:srgbClr val="FFFFFF"/>
                </a:solidFill>
                <a:latin typeface="Founders Grotesk Medium" pitchFamily="34" charset="0"/>
                <a:ea typeface="Founders Grotesk Medium" pitchFamily="34" charset="-122"/>
                <a:cs typeface="Founders Grotesk Medium" pitchFamily="34" charset="-120"/>
              </a:rPr>
              <a:t>Do it now · 10 min</a:t>
            </a:r>
            <a:endParaRPr lang="en-US" sz="1600" dirty="0"/>
          </a:p>
        </p:txBody>
      </p:sp>
      <p:sp>
        <p:nvSpPr>
          <p:cNvPr id="4" name="Text 1"/>
          <p:cNvSpPr/>
          <p:nvPr>
            <p:ph idx="102" type="title" hasCustomPrompt="1"/>
          </p:nvPr>
        </p:nvSpPr>
        <p:spPr>
          <a:xfrm>
            <a:off x="548640" y="896112"/>
            <a:ext cx="11094415" cy="868680"/>
          </a:xfrm>
          <a:prstGeom prst="rect">
            <a:avLst/>
          </a:prstGeom>
          <a:noFill/>
          <a:ln/>
        </p:spPr>
        <p:txBody>
          <a:bodyPr wrap="square" lIns="0" tIns="0" rIns="0" bIns="0" rtlCol="0" anchor="t"/>
          <a:lstStyle/>
          <a:p>
            <a:pPr algn="l" indent="0" marL="0">
              <a:buNone/>
            </a:pPr>
            <a:r>
              <a:rPr lang="en-US" sz="3400" dirty="0">
                <a:solidFill>
                  <a:srgbClr val="140920"/>
                </a:solidFill>
                <a:latin typeface="Founders Grotesk Medium" pitchFamily="34" charset="0"/>
                <a:ea typeface="Founders Grotesk Medium" pitchFamily="34" charset="-122"/>
                <a:cs typeface="Founders Grotesk Medium" pitchFamily="34" charset="-120"/>
              </a:rPr>
              <a:t>Put the swarm to work</a:t>
            </a:r>
            <a:endParaRPr lang="en-US" sz="3400" dirty="0"/>
          </a:p>
        </p:txBody>
      </p:sp>
      <p:sp>
        <p:nvSpPr>
          <p:cNvPr id="5" name="do-it-steps"/>
          <p:cNvSpPr txBox="1"/>
          <p:nvPr/>
        </p:nvSpPr>
        <p:spPr>
          <a:xfrm>
            <a:off x="548640" y="1920240"/>
            <a:ext cx="402336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Run /task-swarm</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In another terminal, in the project folder, open the dashboard</a:t>
            </a:r>
            <a:endParaRPr lang="en-US" sz="2000" dirty="0"/>
          </a:p>
          <a:p>
            <a:pPr marL="342900" indent="-342900">
              <a:spcAft>
                <a:spcPts val="1200"/>
              </a:spcAft>
              <a:buSzPct val="100000"/>
              <a:buFont typeface="+mj-lt"/>
              <a:buAutoNum type="arabicPeriod" startAt="1"/>
            </a:pPr>
            <a:r>
              <a:rPr lang="en-US" sz="2000" dirty="0">
                <a:solidFill>
                  <a:srgbClr val="140920"/>
                </a:solidFill>
                <a:latin typeface="Arial" pitchFamily="34" charset="0"/>
                <a:ea typeface="Arial" pitchFamily="34" charset="-122"/>
                <a:cs typeface="Arial" pitchFamily="34" charset="-120"/>
              </a:rPr>
              <a:t>Stop with Esc and resume whenever you want</a:t>
            </a:r>
            <a:endParaRPr lang="en-US" sz="2000" dirty="0"/>
          </a:p>
        </p:txBody>
      </p:sp>
      <p:sp>
        <p:nvSpPr>
          <p:cNvPr id="6" name="code-background"/>
          <p:cNvSpPr/>
          <p:nvPr/>
        </p:nvSpPr>
        <p:spPr>
          <a:xfrm>
            <a:off x="4937760" y="1920240"/>
            <a:ext cx="6705295" cy="1051560"/>
          </a:xfrm>
          <a:prstGeom prst="rect">
            <a:avLst/>
          </a:prstGeom>
          <a:solidFill>
            <a:srgbClr val="140920"/>
          </a:solidFill>
          <a:ln w="12700">
            <a:solidFill>
              <a:srgbClr val="140920"/>
            </a:solidFill>
            <a:prstDash val="solid"/>
          </a:ln>
        </p:spPr>
      </p:sp>
      <p:sp>
        <p:nvSpPr>
          <p:cNvPr id="7" name="code-label"/>
          <p:cNvSpPr txBox="1"/>
          <p:nvPr/>
        </p:nvSpPr>
        <p:spPr>
          <a:xfrm>
            <a:off x="5166360" y="210312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1</a:t>
            </a:r>
            <a:endParaRPr lang="en-US" sz="1300" dirty="0"/>
          </a:p>
        </p:txBody>
      </p:sp>
      <p:sp>
        <p:nvSpPr>
          <p:cNvPr id="8" name="code"/>
          <p:cNvSpPr txBox="1"/>
          <p:nvPr/>
        </p:nvSpPr>
        <p:spPr>
          <a:xfrm>
            <a:off x="5166360" y="2450592"/>
            <a:ext cx="6248095" cy="384048"/>
          </a:xfrm>
          <a:prstGeom prst="rect">
            <a:avLst/>
          </a:prstGeom>
          <a:noFill/>
          <a:ln/>
        </p:spPr>
        <p:txBody>
          <a:bodyPr wrap="square" lIns="0" tIns="0" rIns="0" bIns="0" rtlCol="0" anchor="t"/>
          <a:lstStyle/>
          <a:p>
            <a:pPr indent="0" marL="0">
              <a:buNone/>
            </a:pPr>
            <a:r>
              <a:rPr lang="en-US" sz="2000" dirty="0">
                <a:solidFill>
                  <a:srgbClr val="FCF9FE"/>
                </a:solidFill>
                <a:latin typeface="Courier New" pitchFamily="34" charset="0"/>
                <a:ea typeface="Courier New" pitchFamily="34" charset="-122"/>
                <a:cs typeface="Courier New" pitchFamily="34" charset="-120"/>
              </a:rPr>
              <a:t>/task-swarm</a:t>
            </a:r>
            <a:endParaRPr lang="en-US" sz="2000" dirty="0"/>
          </a:p>
        </p:txBody>
      </p:sp>
      <p:sp>
        <p:nvSpPr>
          <p:cNvPr id="9" name="code-background"/>
          <p:cNvSpPr/>
          <p:nvPr/>
        </p:nvSpPr>
        <p:spPr>
          <a:xfrm>
            <a:off x="4937760" y="3200400"/>
            <a:ext cx="6705295" cy="1660550"/>
          </a:xfrm>
          <a:prstGeom prst="rect">
            <a:avLst/>
          </a:prstGeom>
          <a:solidFill>
            <a:srgbClr val="140920"/>
          </a:solidFill>
          <a:ln w="12700">
            <a:solidFill>
              <a:srgbClr val="140920"/>
            </a:solidFill>
            <a:prstDash val="solid"/>
          </a:ln>
        </p:spPr>
      </p:sp>
      <p:sp>
        <p:nvSpPr>
          <p:cNvPr id="10" name="code-label"/>
          <p:cNvSpPr txBox="1"/>
          <p:nvPr/>
        </p:nvSpPr>
        <p:spPr>
          <a:xfrm>
            <a:off x="5166360" y="3383280"/>
            <a:ext cx="6248095" cy="274320"/>
          </a:xfrm>
          <a:prstGeom prst="rect">
            <a:avLst/>
          </a:prstGeom>
          <a:noFill/>
          <a:ln/>
        </p:spPr>
        <p:txBody>
          <a:bodyPr wrap="square" lIns="0" tIns="0" rIns="0" bIns="0" rtlCol="0" anchor="t"/>
          <a:lstStyle/>
          <a:p>
            <a:pPr indent="0" marL="0">
              <a:buNone/>
            </a:pPr>
            <a:r>
              <a:rPr lang="en-US" sz="1300" b="1" dirty="0">
                <a:solidFill>
                  <a:srgbClr val="93A7FF"/>
                </a:solidFill>
                <a:latin typeface="Arial" pitchFamily="34" charset="0"/>
                <a:ea typeface="Arial" pitchFamily="34" charset="-122"/>
                <a:cs typeface="Arial" pitchFamily="34" charset="-120"/>
              </a:rPr>
              <a:t>Terminal 2</a:t>
            </a:r>
            <a:endParaRPr lang="en-US" sz="1300" dirty="0"/>
          </a:p>
        </p:txBody>
      </p:sp>
      <p:sp>
        <p:nvSpPr>
          <p:cNvPr id="11" name="code"/>
          <p:cNvSpPr txBox="1"/>
          <p:nvPr/>
        </p:nvSpPr>
        <p:spPr>
          <a:xfrm>
            <a:off x="5166360" y="3730752"/>
            <a:ext cx="6248095" cy="993038"/>
          </a:xfrm>
          <a:prstGeom prst="rect">
            <a:avLst/>
          </a:prstGeom>
          <a:noFill/>
          <a:ln/>
        </p:spPr>
        <p:txBody>
          <a:bodyPr wrap="square" lIns="0" tIns="0" rIns="0" bIns="0" rtlCol="0" anchor="t"/>
          <a:lstStyle/>
          <a:p>
            <a:pPr indent="0" marL="0">
              <a:buNone/>
            </a:pPr>
            <a:r>
              <a:rPr lang="en-US" sz="1400" dirty="0">
                <a:solidFill>
                  <a:srgbClr val="FCF9FE"/>
                </a:solidFill>
                <a:latin typeface="Courier New" pitchFamily="34" charset="0"/>
                <a:ea typeface="Courier New" pitchFamily="34" charset="-122"/>
                <a:cs typeface="Courier New" pitchFamily="34" charset="-120"/>
              </a:rPr>
              <a:t>cd &lt;your repository&gt;</a:t>
            </a:r>
            <a:endParaRPr lang="en-US" sz="1400" dirty="0"/>
          </a:p>
          <a:p>
            <a:pPr indent="0" marL="0">
              <a:buNone/>
            </a:pPr>
            <a:r>
              <a:rPr lang="en-US" sz="1400" dirty="0">
                <a:solidFill>
                  <a:srgbClr val="FCF9FE"/>
                </a:solidFill>
                <a:latin typeface="Courier New" pitchFamily="34" charset="0"/>
                <a:ea typeface="Courier New" pitchFamily="34" charset="-122"/>
                <a:cs typeface="Courier New" pitchFamily="34" charset="-120"/>
              </a:rPr>
              <a:t>node "$HOME/.workshop-claude/kit/orchestrator/dashboard.mjs"</a:t>
            </a:r>
            <a:endParaRPr lang="en-US" sz="1400" dirty="0"/>
          </a:p>
        </p:txBody>
      </p:sp>
      <p:sp>
        <p:nvSpPr>
          <p:cNvPr id="12" name="expected-mark-circle"/>
          <p:cNvSpPr/>
          <p:nvPr/>
        </p:nvSpPr>
        <p:spPr>
          <a:xfrm>
            <a:off x="548640" y="5596128"/>
            <a:ext cx="365760" cy="365760"/>
          </a:xfrm>
          <a:prstGeom prst="ellipse">
            <a:avLst/>
          </a:prstGeom>
          <a:solidFill>
            <a:srgbClr val="6B34FD"/>
          </a:solidFill>
          <a:ln w="12700">
            <a:solidFill>
              <a:srgbClr val="6B34FD"/>
            </a:solidFill>
            <a:prstDash val="solid"/>
          </a:ln>
        </p:spPr>
      </p:sp>
      <p:pic>
        <p:nvPicPr>
          <p:cNvPr id="13" name="expected-mark" descr="check">    </p:cNvPr>
          <p:cNvPicPr>
            <a:picLocks noChangeAspect="1"/>
          </p:cNvPicPr>
          <p:nvPr/>
        </p:nvPicPr>
        <p:blipFill>
          <a:blip r:embed="rId1"/>
          <a:stretch>
            <a:fillRect/>
          </a:stretch>
        </p:blipFill>
        <p:spPr>
          <a:xfrm>
            <a:off x="629107" y="5676595"/>
            <a:ext cx="204826" cy="204826"/>
          </a:xfrm>
          <a:prstGeom prst="rect">
            <a:avLst/>
          </a:prstGeom>
        </p:spPr>
      </p:pic>
      <p:sp>
        <p:nvSpPr>
          <p:cNvPr id="14" name="do-it-expected"/>
          <p:cNvSpPr txBox="1"/>
          <p:nvPr/>
        </p:nvSpPr>
        <p:spPr>
          <a:xfrm>
            <a:off x="1051560" y="5596128"/>
            <a:ext cx="9814255" cy="548640"/>
          </a:xfrm>
          <a:prstGeom prst="rect">
            <a:avLst/>
          </a:prstGeom>
          <a:noFill/>
          <a:ln/>
        </p:spPr>
        <p:txBody>
          <a:bodyPr wrap="square" lIns="0" tIns="0" rIns="0" bIns="0" rtlCol="0" anchor="t"/>
          <a:lstStyle/>
          <a:p>
            <a:pPr indent="0" marL="0">
              <a:buNone/>
            </a:pPr>
            <a:r>
              <a:rPr lang="en-US" sz="1800" b="1" dirty="0">
                <a:solidFill>
                  <a:srgbClr val="140920"/>
                </a:solidFill>
                <a:latin typeface="Arial" pitchFamily="34" charset="0"/>
                <a:ea typeface="Arial" pitchFamily="34" charset="-122"/>
                <a:cs typeface="Arial" pitchFamily="34" charset="-120"/>
              </a:rPr>
              <a:t>Expected result: </a:t>
            </a:r>
            <a:pPr indent="0" marL="0">
              <a:buNone/>
            </a:pPr>
            <a:r>
              <a:rPr lang="en-US" sz="1800" dirty="0">
                <a:solidFill>
                  <a:srgbClr val="140920"/>
                </a:solidFill>
                <a:latin typeface="Arial" pitchFamily="34" charset="0"/>
                <a:ea typeface="Arial" pitchFamily="34" charset="-122"/>
                <a:cs typeface="Arial" pitchFamily="34" charset="-120"/>
              </a:rPr>
              <a:t>Batches of agents finishing; never two on the same file at the same time</a:t>
            </a:r>
            <a:endParaRPr lang="en-US" sz="18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Jira and GitHub</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ticket">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Jira (MCP + acli)</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MCP, logged in via /mcp; if it fails, the Atlassian CLI (acli auth login)</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git-pull-request">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GitHub (gh)</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gh auth login: uses less context than an MCP and shares no tokens</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user-check">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Always with confirmation</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comments, worklog and PR only after you say yes</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After the workshop</a:t>
            </a:r>
            <a:endParaRPr lang="en-US" sz="3200" dirty="0"/>
          </a:p>
        </p:txBody>
      </p:sp>
      <p:sp>
        <p:nvSpPr>
          <p:cNvPr id="3" name="column-0"/>
          <p:cNvSpPr/>
          <p:nvPr/>
        </p:nvSpPr>
        <p:spPr>
          <a:xfrm>
            <a:off x="548640" y="1691640"/>
            <a:ext cx="3484778" cy="3566160"/>
          </a:xfrm>
          <a:prstGeom prst="rect">
            <a:avLst/>
          </a:prstGeom>
          <a:solidFill>
            <a:srgbClr val="FFFFFF"/>
          </a:solidFill>
          <a:ln w="12700">
            <a:solidFill>
              <a:srgbClr val="FFFFFF"/>
            </a:solidFill>
            <a:prstDash val="solid"/>
          </a:ln>
        </p:spPr>
      </p:sp>
      <p:sp>
        <p:nvSpPr>
          <p:cNvPr id="4" name="mark-0-circle"/>
          <p:cNvSpPr/>
          <p:nvPr/>
        </p:nvSpPr>
        <p:spPr>
          <a:xfrm>
            <a:off x="868680" y="2011680"/>
            <a:ext cx="548640" cy="548640"/>
          </a:xfrm>
          <a:prstGeom prst="ellipse">
            <a:avLst/>
          </a:prstGeom>
          <a:solidFill>
            <a:srgbClr val="6B34FD"/>
          </a:solidFill>
          <a:ln w="12700">
            <a:solidFill>
              <a:srgbClr val="6B34FD"/>
            </a:solidFill>
            <a:prstDash val="solid"/>
          </a:ln>
        </p:spPr>
      </p:sp>
      <p:pic>
        <p:nvPicPr>
          <p:cNvPr id="5" name="mark-0" descr="shield-check">    </p:cNvPr>
          <p:cNvPicPr>
            <a:picLocks noChangeAspect="1"/>
          </p:cNvPicPr>
          <p:nvPr/>
        </p:nvPicPr>
        <p:blipFill>
          <a:blip r:embed="rId1"/>
          <a:stretch>
            <a:fillRect/>
          </a:stretch>
        </p:blipFill>
        <p:spPr>
          <a:xfrm>
            <a:off x="989381" y="2132381"/>
            <a:ext cx="307238" cy="307238"/>
          </a:xfrm>
          <a:prstGeom prst="rect">
            <a:avLst/>
          </a:prstGeom>
        </p:spPr>
      </p:pic>
      <p:sp>
        <p:nvSpPr>
          <p:cNvPr id="6" name="column-title-0"/>
          <p:cNvSpPr txBox="1"/>
          <p:nvPr/>
        </p:nvSpPr>
        <p:spPr>
          <a:xfrm>
            <a:off x="868680"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/task-gate</a:t>
            </a:r>
            <a:endParaRPr lang="en-US" sz="2600" dirty="0"/>
          </a:p>
        </p:txBody>
      </p:sp>
      <p:sp>
        <p:nvSpPr>
          <p:cNvPr id="7" name="column-text-0"/>
          <p:cNvSpPr txBox="1"/>
          <p:nvPr/>
        </p:nvSpPr>
        <p:spPr>
          <a:xfrm>
            <a:off x="868680"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tests, secrets, dangerous code and the Opus verdict</a:t>
            </a:r>
            <a:endParaRPr lang="en-US" sz="1900" dirty="0"/>
          </a:p>
        </p:txBody>
      </p:sp>
      <p:sp>
        <p:nvSpPr>
          <p:cNvPr id="8" name="column-1"/>
          <p:cNvSpPr/>
          <p:nvPr/>
        </p:nvSpPr>
        <p:spPr>
          <a:xfrm>
            <a:off x="4353458" y="1691640"/>
            <a:ext cx="3484778" cy="3566160"/>
          </a:xfrm>
          <a:prstGeom prst="rect">
            <a:avLst/>
          </a:prstGeom>
          <a:solidFill>
            <a:srgbClr val="FFFFFF"/>
          </a:solidFill>
          <a:ln w="12700">
            <a:solidFill>
              <a:srgbClr val="FFFFFF"/>
            </a:solidFill>
            <a:prstDash val="solid"/>
          </a:ln>
        </p:spPr>
      </p:sp>
      <p:sp>
        <p:nvSpPr>
          <p:cNvPr id="9" name="mark-1-circle"/>
          <p:cNvSpPr/>
          <p:nvPr/>
        </p:nvSpPr>
        <p:spPr>
          <a:xfrm>
            <a:off x="4673498" y="2011680"/>
            <a:ext cx="548640" cy="548640"/>
          </a:xfrm>
          <a:prstGeom prst="ellipse">
            <a:avLst/>
          </a:prstGeom>
          <a:solidFill>
            <a:srgbClr val="6B34FD"/>
          </a:solidFill>
          <a:ln w="12700">
            <a:solidFill>
              <a:srgbClr val="6B34FD"/>
            </a:solidFill>
            <a:prstDash val="solid"/>
          </a:ln>
        </p:spPr>
      </p:sp>
      <p:pic>
        <p:nvPicPr>
          <p:cNvPr id="10" name="mark-1" descr="message-square-text">    </p:cNvPr>
          <p:cNvPicPr>
            <a:picLocks noChangeAspect="1"/>
          </p:cNvPicPr>
          <p:nvPr/>
        </p:nvPicPr>
        <p:blipFill>
          <a:blip r:embed="rId2"/>
          <a:stretch>
            <a:fillRect/>
          </a:stretch>
        </p:blipFill>
        <p:spPr>
          <a:xfrm>
            <a:off x="4794199" y="2132381"/>
            <a:ext cx="307238" cy="307238"/>
          </a:xfrm>
          <a:prstGeom prst="rect">
            <a:avLst/>
          </a:prstGeom>
        </p:spPr>
      </p:pic>
      <p:sp>
        <p:nvSpPr>
          <p:cNvPr id="11" name="column-title-1"/>
          <p:cNvSpPr txBox="1"/>
          <p:nvPr/>
        </p:nvSpPr>
        <p:spPr>
          <a:xfrm>
            <a:off x="4673498"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/task-report</a:t>
            </a:r>
            <a:endParaRPr lang="en-US" sz="2600" dirty="0"/>
          </a:p>
        </p:txBody>
      </p:sp>
      <p:sp>
        <p:nvSpPr>
          <p:cNvPr id="12" name="column-text-1"/>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Jira: one comment per subtask, plus the worklog. GitHub: the PR</a:t>
            </a:r>
            <a:endParaRPr lang="en-US" sz="1900" dirty="0"/>
          </a:p>
        </p:txBody>
      </p:sp>
      <p:sp>
        <p:nvSpPr>
          <p:cNvPr id="13" name="column-2"/>
          <p:cNvSpPr/>
          <p:nvPr/>
        </p:nvSpPr>
        <p:spPr>
          <a:xfrm>
            <a:off x="8158277" y="1691640"/>
            <a:ext cx="3484778" cy="3566160"/>
          </a:xfrm>
          <a:prstGeom prst="rect">
            <a:avLst/>
          </a:prstGeom>
          <a:solidFill>
            <a:srgbClr val="FFFFFF"/>
          </a:solidFill>
          <a:ln w="12700">
            <a:solidFill>
              <a:srgbClr val="FFFFFF"/>
            </a:solidFill>
            <a:prstDash val="solid"/>
          </a:ln>
        </p:spPr>
      </p:sp>
      <p:sp>
        <p:nvSpPr>
          <p:cNvPr id="14" name="mark-2-circle"/>
          <p:cNvSpPr/>
          <p:nvPr/>
        </p:nvSpPr>
        <p:spPr>
          <a:xfrm>
            <a:off x="8478317" y="2011680"/>
            <a:ext cx="548640" cy="548640"/>
          </a:xfrm>
          <a:prstGeom prst="ellipse">
            <a:avLst/>
          </a:prstGeom>
          <a:solidFill>
            <a:srgbClr val="6B34FD"/>
          </a:solidFill>
          <a:ln w="12700">
            <a:solidFill>
              <a:srgbClr val="6B34FD"/>
            </a:solidFill>
            <a:prstDash val="solid"/>
          </a:ln>
        </p:spPr>
      </p:sp>
      <p:pic>
        <p:nvPicPr>
          <p:cNvPr id="15" name="mark-2" descr="share-2">    </p:cNvPr>
          <p:cNvPicPr>
            <a:picLocks noChangeAspect="1"/>
          </p:cNvPicPr>
          <p:nvPr/>
        </p:nvPicPr>
        <p:blipFill>
          <a:blip r:embed="rId3"/>
          <a:stretch>
            <a:fillRect/>
          </a:stretch>
        </p:blipFill>
        <p:spPr>
          <a:xfrm>
            <a:off x="8599018" y="2132381"/>
            <a:ext cx="307238" cy="307238"/>
          </a:xfrm>
          <a:prstGeom prst="rect">
            <a:avLst/>
          </a:prstGeom>
        </p:spPr>
      </p:pic>
      <p:sp>
        <p:nvSpPr>
          <p:cNvPr id="16" name="column-title-2"/>
          <p:cNvSpPr txBox="1"/>
          <p:nvPr/>
        </p:nvSpPr>
        <p:spPr>
          <a:xfrm>
            <a:off x="8478317" y="2788920"/>
            <a:ext cx="2844698" cy="868680"/>
          </a:xfrm>
          <a:prstGeom prst="rect">
            <a:avLst/>
          </a:prstGeom>
          <a:noFill/>
          <a:ln/>
        </p:spPr>
        <p:txBody>
          <a:bodyPr wrap="square" lIns="0" tIns="0" rIns="0" bIns="0" rtlCol="0" anchor="t"/>
          <a:lstStyle/>
          <a:p>
            <a:pPr indent="0" marL="0">
              <a:buNone/>
            </a:pPr>
            <a:r>
              <a:rPr lang="en-US" sz="2600" b="1" dirty="0">
                <a:solidFill>
                  <a:srgbClr val="140920"/>
                </a:solidFill>
                <a:latin typeface="Founders Grotesk Medium" pitchFamily="34" charset="0"/>
                <a:ea typeface="Founders Grotesk Medium" pitchFamily="34" charset="-122"/>
                <a:cs typeface="Founders Grotesk Medium" pitchFamily="34" charset="-120"/>
              </a:rPr>
              <a:t>/memory</a:t>
            </a:r>
            <a:endParaRPr lang="en-US" sz="2600" dirty="0"/>
          </a:p>
        </p:txBody>
      </p:sp>
      <p:sp>
        <p:nvSpPr>
          <p:cNvPr id="17" name="column-text-2"/>
          <p:cNvSpPr txBox="1"/>
          <p:nvPr/>
        </p:nvSpPr>
        <p:spPr>
          <a:xfrm>
            <a:off x="8478317" y="3703320"/>
            <a:ext cx="2844698" cy="1463040"/>
          </a:xfrm>
          <a:prstGeom prst="rect">
            <a:avLst/>
          </a:prstGeom>
          <a:noFill/>
          <a:ln/>
        </p:spPr>
        <p:txBody>
          <a:bodyPr wrap="square" lIns="0" tIns="0" rIns="0" bIns="0" rtlCol="0" anchor="t"/>
          <a:lstStyle/>
          <a:p>
            <a:pPr indent="0" marL="0">
              <a:buNone/>
            </a:pPr>
            <a:r>
              <a:rPr lang="en-US" sz="1900" dirty="0">
                <a:solidFill>
                  <a:srgbClr val="140920"/>
                </a:solidFill>
                <a:latin typeface="Arial" pitchFamily="34" charset="0"/>
                <a:ea typeface="Arial" pitchFamily="34" charset="-122"/>
                <a:cs typeface="Arial" pitchFamily="34" charset="-120"/>
              </a:rPr>
              <a:t>the lessons from this task stay for the next one</a:t>
            </a:r>
            <a:endParaRPr lang="en-US" sz="19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Five ideas to take with you</a:t>
            </a:r>
            <a:endParaRPr lang="en-US" sz="3200" dirty="0"/>
          </a:p>
        </p:txBody>
      </p:sp>
      <p:sp>
        <p:nvSpPr>
          <p:cNvPr id="3" name="list-number-0"/>
          <p:cNvSpPr/>
          <p:nvPr/>
        </p:nvSpPr>
        <p:spPr>
          <a:xfrm>
            <a:off x="548640" y="166420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1</a:t>
            </a:r>
            <a:endParaRPr lang="en-US" sz="1600" dirty="0"/>
          </a:p>
        </p:txBody>
      </p:sp>
      <p:sp>
        <p:nvSpPr>
          <p:cNvPr id="4" name="list-item-0"/>
          <p:cNvSpPr txBox="1"/>
          <p:nvPr/>
        </p:nvSpPr>
        <p:spPr>
          <a:xfrm>
            <a:off x="1280160" y="164592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Skills make work repeatable</a:t>
            </a:r>
            <a:endParaRPr lang="en-US" sz="2400" dirty="0"/>
          </a:p>
        </p:txBody>
      </p:sp>
      <p:sp>
        <p:nvSpPr>
          <p:cNvPr id="5" name="list-number-1"/>
          <p:cNvSpPr/>
          <p:nvPr/>
        </p:nvSpPr>
        <p:spPr>
          <a:xfrm>
            <a:off x="548640" y="248716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2</a:t>
            </a:r>
            <a:endParaRPr lang="en-US" sz="1600" dirty="0"/>
          </a:p>
        </p:txBody>
      </p:sp>
      <p:sp>
        <p:nvSpPr>
          <p:cNvPr id="6" name="list-item-1"/>
          <p:cNvSpPr txBox="1"/>
          <p:nvPr/>
        </p:nvSpPr>
        <p:spPr>
          <a:xfrm>
            <a:off x="1280160" y="2468880"/>
            <a:ext cx="10362895" cy="84124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Subagents bring a clean context and the right model per piece</a:t>
            </a:r>
            <a:endParaRPr lang="en-US" sz="2400" dirty="0"/>
          </a:p>
        </p:txBody>
      </p:sp>
      <p:sp>
        <p:nvSpPr>
          <p:cNvPr id="7" name="list-number-2"/>
          <p:cNvSpPr/>
          <p:nvPr/>
        </p:nvSpPr>
        <p:spPr>
          <a:xfrm>
            <a:off x="548640" y="367588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3</a:t>
            </a:r>
            <a:endParaRPr lang="en-US" sz="1600" dirty="0"/>
          </a:p>
        </p:txBody>
      </p:sp>
      <p:sp>
        <p:nvSpPr>
          <p:cNvPr id="8" name="list-item-2"/>
          <p:cNvSpPr txBox="1"/>
          <p:nvPr/>
        </p:nvSpPr>
        <p:spPr>
          <a:xfrm>
            <a:off x="1280160" y="365760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A script decides the graph; the model executes</a:t>
            </a:r>
            <a:endParaRPr lang="en-US" sz="2400" dirty="0"/>
          </a:p>
        </p:txBody>
      </p:sp>
      <p:sp>
        <p:nvSpPr>
          <p:cNvPr id="9" name="list-number-3"/>
          <p:cNvSpPr/>
          <p:nvPr/>
        </p:nvSpPr>
        <p:spPr>
          <a:xfrm>
            <a:off x="548640" y="449884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4</a:t>
            </a:r>
            <a:endParaRPr lang="en-US" sz="1600" dirty="0"/>
          </a:p>
        </p:txBody>
      </p:sp>
      <p:sp>
        <p:nvSpPr>
          <p:cNvPr id="10" name="list-item-3"/>
          <p:cNvSpPr txBox="1"/>
          <p:nvPr/>
        </p:nvSpPr>
        <p:spPr>
          <a:xfrm>
            <a:off x="1280160" y="448056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Measure with hooks; never guess the cost</a:t>
            </a:r>
            <a:endParaRPr lang="en-US" sz="2400" dirty="0"/>
          </a:p>
        </p:txBody>
      </p:sp>
      <p:sp>
        <p:nvSpPr>
          <p:cNvPr id="11" name="list-number-4"/>
          <p:cNvSpPr/>
          <p:nvPr/>
        </p:nvSpPr>
        <p:spPr>
          <a:xfrm>
            <a:off x="548640" y="532180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5</a:t>
            </a:r>
            <a:endParaRPr lang="en-US" sz="1600" dirty="0"/>
          </a:p>
        </p:txBody>
      </p:sp>
      <p:sp>
        <p:nvSpPr>
          <p:cNvPr id="12" name="list-item-4"/>
          <p:cNvSpPr txBox="1"/>
          <p:nvPr/>
        </p:nvSpPr>
        <p:spPr>
          <a:xfrm>
            <a:off x="1280160" y="530352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Memory makes each task teach the next one</a:t>
            </a:r>
            <a:endParaRPr lang="en-US" sz="2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2" type="title" hasCustomPrompt="1"/>
          </p:nvPr>
        </p:nvSpPr>
        <p:spPr>
          <a:xfrm>
            <a:off x="615391" y="411480"/>
            <a:ext cx="10957255" cy="868680"/>
          </a:xfrm>
          <a:prstGeom prst="rect">
            <a:avLst/>
          </a:prstGeom>
          <a:noFill/>
          <a:ln/>
        </p:spPr>
        <p:txBody>
          <a:bodyPr wrap="square" lIns="0" tIns="0" rIns="0" bIns="0" rtlCol="0" anchor="t"/>
          <a:lstStyle/>
          <a:p>
            <a:pPr algn="l" indent="0" marL="0">
              <a:buNone/>
            </a:pPr>
            <a:r>
              <a:rPr lang="en-US" sz="3200" dirty="0">
                <a:solidFill>
                  <a:srgbClr val="140920"/>
                </a:solidFill>
                <a:latin typeface="Founders Grotesk Medium" pitchFamily="34" charset="0"/>
                <a:ea typeface="Founders Grotesk Medium" pitchFamily="34" charset="-122"/>
                <a:cs typeface="Founders Grotesk Medium" pitchFamily="34" charset="-120"/>
              </a:rPr>
              <a:t>Tomorrow</a:t>
            </a:r>
            <a:endParaRPr lang="en-US" sz="3200" dirty="0"/>
          </a:p>
        </p:txBody>
      </p:sp>
      <p:sp>
        <p:nvSpPr>
          <p:cNvPr id="3" name="list-number-0"/>
          <p:cNvSpPr/>
          <p:nvPr/>
        </p:nvSpPr>
        <p:spPr>
          <a:xfrm>
            <a:off x="548640" y="166420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1</a:t>
            </a:r>
            <a:endParaRPr lang="en-US" sz="1600" dirty="0"/>
          </a:p>
        </p:txBody>
      </p:sp>
      <p:sp>
        <p:nvSpPr>
          <p:cNvPr id="4" name="list-item-0"/>
          <p:cNvSpPr txBox="1"/>
          <p:nvPr/>
        </p:nvSpPr>
        <p:spPr>
          <a:xfrm>
            <a:off x="1280160" y="164592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Run /task-intake on the next issue assigned to you</a:t>
            </a:r>
            <a:endParaRPr lang="en-US" sz="2400" dirty="0"/>
          </a:p>
        </p:txBody>
      </p:sp>
      <p:sp>
        <p:nvSpPr>
          <p:cNvPr id="5" name="list-number-1"/>
          <p:cNvSpPr/>
          <p:nvPr/>
        </p:nvSpPr>
        <p:spPr>
          <a:xfrm>
            <a:off x="548640" y="248716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2</a:t>
            </a:r>
            <a:endParaRPr lang="en-US" sz="1600" dirty="0"/>
          </a:p>
        </p:txBody>
      </p:sp>
      <p:sp>
        <p:nvSpPr>
          <p:cNvPr id="6" name="list-item-1"/>
          <p:cNvSpPr txBox="1"/>
          <p:nvPr/>
        </p:nvSpPr>
        <p:spPr>
          <a:xfrm>
            <a:off x="1280160" y="246888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Write a skill for a task you repeat every week</a:t>
            </a:r>
            <a:endParaRPr lang="en-US" sz="2400" dirty="0"/>
          </a:p>
        </p:txBody>
      </p:sp>
      <p:sp>
        <p:nvSpPr>
          <p:cNvPr id="7" name="list-number-2"/>
          <p:cNvSpPr/>
          <p:nvPr/>
        </p:nvSpPr>
        <p:spPr>
          <a:xfrm>
            <a:off x="548640" y="3310128"/>
            <a:ext cx="438912" cy="438912"/>
          </a:xfrm>
          <a:prstGeom prst="ellipse">
            <a:avLst/>
          </a:prstGeom>
          <a:solidFill>
            <a:srgbClr val="6B34FD"/>
          </a:solidFill>
          <a:ln>
            <a:solidFill>
              <a:srgbClr val="6B34FD"/>
            </a:solidFill>
          </a:ln>
        </p:spPr>
        <p:txBody>
          <a:bodyPr wrap="square" lIns="0" tIns="0" rIns="0" bIns="0" rtlCol="0" anchor="ctr"/>
          <a:lstStyle/>
          <a:p>
            <a:pPr algn="ctr" indent="0" marL="0">
              <a:buNone/>
            </a:pPr>
            <a:r>
              <a:rPr lang="en-US" sz="1600" b="1" dirty="0">
                <a:solidFill>
                  <a:srgbClr val="FFFFFF"/>
                </a:solidFill>
                <a:latin typeface="Founders Grotesk Medium" pitchFamily="34" charset="0"/>
                <a:ea typeface="Founders Grotesk Medium" pitchFamily="34" charset="-122"/>
                <a:cs typeface="Founders Grotesk Medium" pitchFamily="34" charset="-120"/>
              </a:rPr>
              <a:t>3</a:t>
            </a:r>
            <a:endParaRPr lang="en-US" sz="1600" dirty="0"/>
          </a:p>
        </p:txBody>
      </p:sp>
      <p:sp>
        <p:nvSpPr>
          <p:cNvPr id="8" name="list-item-2"/>
          <p:cNvSpPr txBox="1"/>
          <p:nvPr/>
        </p:nvSpPr>
        <p:spPr>
          <a:xfrm>
            <a:off x="1280160" y="3291840"/>
            <a:ext cx="10362895" cy="475488"/>
          </a:xfrm>
          <a:prstGeom prst="rect">
            <a:avLst/>
          </a:prstGeom>
          <a:noFill/>
          <a:ln/>
        </p:spPr>
        <p:txBody>
          <a:bodyPr wrap="square" lIns="0" tIns="0" rIns="0" bIns="0" rtlCol="0" anchor="ctr"/>
          <a:lstStyle/>
          <a:p>
            <a:pPr indent="0" marL="0">
              <a:buNone/>
            </a:pPr>
            <a:r>
              <a:rPr lang="en-US" sz="2400" b="1" dirty="0">
                <a:solidFill>
                  <a:srgbClr val="140920"/>
                </a:solidFill>
                <a:latin typeface="Founders Grotesk Medium" pitchFamily="34" charset="0"/>
                <a:ea typeface="Founders Grotesk Medium" pitchFamily="34" charset="-122"/>
                <a:cs typeface="Founders Grotesk Medium" pitchFamily="34" charset="-120"/>
              </a:rPr>
              <a:t>Open Agent Memory before planning</a:t>
            </a:r>
            <a:endParaRPr lang="en-US" sz="2400" dirty="0"/>
          </a:p>
        </p:txBody>
      </p:sp>
      <p:sp>
        <p:nvSpPr>
          <p:cNvPr id="25" name="Slide Number Placeholder 0"/>
          <p:cNvSpPr>
            <a:spLocks noGrp="1"/>
          </p:cNvSpPr>
          <p:nvPr>
            <p:ph type="sldNum" sz="quarter" idx="4294967295"/>
          </p:nvPr>
        </p:nvSpPr>
        <p:spPr>
          <a:xfrm>
            <a:off x="8991295" y="6464808"/>
            <a:ext cx="2743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FCF9FE"/>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914400" y="2011680"/>
            <a:ext cx="10362895" cy="1463040"/>
          </a:xfrm>
          <a:prstGeom prst="rect">
            <a:avLst/>
          </a:prstGeom>
          <a:noFill/>
          <a:ln/>
        </p:spPr>
        <p:txBody>
          <a:bodyPr wrap="square" lIns="0" tIns="0" rIns="0" bIns="0" rtlCol="0" anchor="b"/>
          <a:lstStyle/>
          <a:p>
            <a:pPr algn="ctr" indent="0" marL="0">
              <a:buNone/>
            </a:pPr>
            <a:r>
              <a:rPr lang="en-US" sz="6000" dirty="0">
                <a:solidFill>
                  <a:srgbClr val="FCF9FE"/>
                </a:solidFill>
                <a:latin typeface="Founders Grotesk Medium" pitchFamily="34" charset="0"/>
                <a:ea typeface="Founders Grotesk Medium" pitchFamily="34" charset="-122"/>
                <a:cs typeface="Founders Grotesk Medium" pitchFamily="34" charset="-120"/>
              </a:rPr>
              <a:t>Questions</a:t>
            </a:r>
            <a:endParaRPr lang="en-US" sz="6000" dirty="0"/>
          </a:p>
        </p:txBody>
      </p:sp>
      <p:sp>
        <p:nvSpPr>
          <p:cNvPr id="3" name="Text 0"/>
          <p:cNvSpPr/>
          <p:nvPr>
            <p:ph idx="102" type="body" hasCustomPrompt="1"/>
          </p:nvPr>
        </p:nvSpPr>
        <p:spPr>
          <a:xfrm>
            <a:off x="914400" y="3566160"/>
            <a:ext cx="10362895" cy="822960"/>
          </a:xfrm>
          <a:prstGeom prst="rect">
            <a:avLst/>
          </a:prstGeom>
          <a:noFill/>
          <a:ln/>
        </p:spPr>
        <p:txBody>
          <a:bodyPr wrap="square" lIns="0" tIns="0" rIns="0" bIns="0" rtlCol="0" anchor="t"/>
          <a:lstStyle/>
          <a:p>
            <a:pPr algn="ctr" indent="0" marL="0">
              <a:buNone/>
            </a:pPr>
            <a:r>
              <a:rPr lang="en-US" sz="2800" dirty="0">
                <a:solidFill>
                  <a:srgbClr val="F25928"/>
                </a:solidFill>
                <a:latin typeface="Founders Grotesk Medium" pitchFamily="34" charset="0"/>
                <a:ea typeface="Founders Grotesk Medium" pitchFamily="34" charset="-122"/>
                <a:cs typeface="Founders Grotesk Medium" pitchFamily="34" charset="-120"/>
              </a:rPr>
              <a:t>No time limit</a:t>
            </a:r>
            <a:endParaRPr lang="en-US" sz="2800" dirty="0"/>
          </a:p>
        </p:txBody>
      </p:sp>
      <p:sp>
        <p:nvSpPr>
          <p:cNvPr id="4" name="footer"/>
          <p:cNvSpPr txBox="1"/>
          <p:nvPr/>
        </p:nvSpPr>
        <p:spPr>
          <a:xfrm>
            <a:off x="914400" y="4389120"/>
            <a:ext cx="10362895" cy="365760"/>
          </a:xfrm>
          <a:prstGeom prst="rect">
            <a:avLst/>
          </a:prstGeom>
          <a:noFill/>
          <a:ln/>
        </p:spPr>
        <p:txBody>
          <a:bodyPr wrap="square" lIns="0" tIns="0" rIns="0" bIns="0" rtlCol="0" anchor="t"/>
          <a:lstStyle/>
          <a:p>
            <a:pPr algn="ctr" indent="0" marL="0">
              <a:buNone/>
            </a:pPr>
            <a:r>
              <a:rPr lang="en-US" sz="1600" dirty="0">
                <a:solidFill>
                  <a:srgbClr val="B9AEDB"/>
                </a:solidFill>
                <a:latin typeface="Arial" pitchFamily="34" charset="0"/>
                <a:ea typeface="Arial" pitchFamily="34" charset="-122"/>
                <a:cs typeface="Arial" pitchFamily="34" charset="-120"/>
              </a:rPr>
              <a:t>https://github.com/cx-guilherme-pinto/workshop-claude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ounders Grotesk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orchestration with Claude</dc:title>
  <dc:subject>PptxGenJS Presentation</dc:subject>
  <dc:creator>Workshop Claude</dc:creator>
  <cp:lastModifiedBy>Workshop Claude</cp:lastModifiedBy>
  <cp:revision>1</cp:revision>
  <dcterms:created xsi:type="dcterms:W3CDTF">2026-10-16T23:47:24Z</dcterms:created>
  <dcterms:modified xsi:type="dcterms:W3CDTF">2026-10-16T23:47:24Z</dcterms:modified>
</cp:coreProperties>
</file>