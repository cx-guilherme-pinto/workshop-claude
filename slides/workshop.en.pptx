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cbca0d3-8dcc-f331-fd66-ec7e2d707a62}">
          <p14:sldIdLst>
            <p14:sldId id="256"/>
            <p14:sldId id="257"/>
            <p14:sldId id="258"/>
          </p14:sldIdLst>
        </p14:section>
        <p14:section name="Install" id="{f7c74470-0128-f3ba-e416-5b3c7816f1c3}">
          <p14:sldIdLst>
            <p14:sldId id="259"/>
            <p14:sldId id="260"/>
            <p14:sldId id="261"/>
          </p14:sldIdLst>
        </p14:section>
        <p14:section name="Concepts" id="{2cf73288-d17a-295f-1b73-ee1999dbdacf}">
          <p14:sldIdLst>
            <p14:sldId id="262"/>
            <p14:sldId id="263"/>
            <p14:sldId id="264"/>
            <p14:sldId id="265"/>
            <p14:sldId id="266"/>
            <p14:sldId id="267"/>
            <p14:sldId id="268"/>
            <p14:sldId id="269"/>
            <p14:sldId id="270"/>
          </p14:sldIdLst>
        </p14:section>
        <p14:section name="Preview" id="{37d6e380-08b7-628e-65e8-1a3eeee53c41}">
          <p14:sldIdLst>
            <p14:sldId id="271"/>
            <p14:sldId id="272"/>
            <p14:sldId id="273"/>
            <p14:sldId id="274"/>
          </p14:sldIdLst>
        </p14:section>
        <p14:section name="Project 1" id="{2b9fafca-4a5f-2292-37ba-0926a06ed836}">
          <p14:sldIdLst>
            <p14:sldId id="275"/>
            <p14:sldId id="276"/>
            <p14:sldId id="277"/>
            <p14:sldId id="278"/>
            <p14:sldId id="279"/>
            <p14:sldId id="280"/>
            <p14:sldId id="281"/>
            <p14:sldId id="282"/>
            <p14:sldId id="283"/>
            <p14:sldId id="284"/>
            <p14:sldId id="285"/>
            <p14:sldId id="286"/>
            <p14:sldId id="287"/>
            <p14:sldId id="288"/>
            <p14:sldId id="289"/>
            <p14:sldId id="290"/>
          </p14:sldIdLst>
        </p14:section>
        <p14:section name="Memory" id="{f5c63d8d-05eb-3985-00e9-a0490f7a76a0}">
          <p14:sldIdLst>
            <p14:sldId id="291"/>
            <p14:sldId id="292"/>
          </p14:sldIdLst>
        </p14:section>
        <p14:section name="Project 2" id="{b0c5876b-4bac-4a2b-216e-8156a595f436}">
          <p14:sldIdLst>
            <p14:sldId id="293"/>
            <p14:sldId id="294"/>
            <p14:sldId id="295"/>
            <p14:sldId id="296"/>
            <p14:sldId id="297"/>
            <p14:sldId id="298"/>
            <p14:sldId id="299"/>
          </p14:sldIdLst>
        </p14:section>
        <p14:section name="Closing" id="{d1336b3c-115f-5f22-2a15-f282554ca6ca}">
          <p14:sldIdLst>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5:30] 1.5 min · you should be here at 4 min
Almost everyone installed beforehand (pre-work): for them this slide only shows where the command is. Anyone who has not installed yet runs it now and follows along with a neighbour while it installs (10 to 20 minutes). The same command installs on another machine. The commands are generated from repos.conf: they are always right for the published version (v1.0.0-rc.1). To update only the Agent Memory app: agent-memory update.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 8:30] 3 min · you should be here at 6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10:30] 2 min · you should be here at 9 min
Doctor checks everything and, if a step failed, asks Claude for a diagnosis: it sends the state of each step and the end of the log, with no secrets. It runs nothing. Running the install command again only repeats the missing steps; there, on each failure, Claude suggests commands and runs them only after you confirm, one by one. If Claude is not installed yet, the pre-written help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0.5 min · you should be here at 11 min
Fifteen minutes of ideas, one concept per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12:30]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 14:30] 2 min · you should be here at 13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16:30] 2 min · you should be here at 15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 → 18:30] 2 min · you should be here at 17 min
A cheap swarm is many small agents with clear instructions. What costs money is coordination. That is why the orchestrator is a script and the workers answer with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[18:30 → 20:30] 2 min · you should be here at 19 min
The plan is a dependency graph. We run it in waves: everything that is ready runs in parallel. The three cryptography tasks wait for lib-hash, a real dependency inside wave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[20:30 → 22:00] 1.5 min · you should be here at 21 min
With 8 calls in parallel, a model forgets dependencies or rewrites prompts. The script is reproducible: that is what makes the cost predictable and the benchmark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23:30] 1.5 min · you should be here at 22 min
Hooks are commands that Claude Code runs on events. Ours only measures: it reads the real tokens from the transcript, multiplies them by the published prices and appends one line. It never blocks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24:30] 1 min · you should be here at 24 min
It is the same cycle in both projects: plan with Opus, run as a swarm, a security gate, measure and save what was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25:30] 1 min · you should be here at 25 min
Before the video, say what is going to be built. The Arena is a security mini-game: each task builds a small challenge (find the line that exposes a secret, pick the real website, order the parts of a URL, type an answer). The app shell and the tests already exist; the agents write the challenges, one task each. Explain the colours now, because they show up everywhere: each square is a task, grey while it waits, yellow while an agent works on it, green when its test passes, red when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[25:30 → 26:00] 0.5 min · you should be here at 26 min
Bridge into Project 1. What they are about to see is the cycle from the previous slide (plan → swarm → review → cost → memory) in a real run with 100 tasks. Right after, each person builds the same Arena, with up to 8 agents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[26:00 → 28:30] 2.5 min · you should be here at 26 min
Sped-up video of a real run with 100 tasks. On the left, the /status page: each square is a task, yellow while an agent works on it and green when its test passes. On the right, the terminal with the agent batches. The time and cost are the real ones. Plan B if the video fails: open /status?replay=recording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[28:30 → 29:30] 1 min · you should be here at 29 min
Recording of someone playing the final Arena: point at the insecure line, pick the right answer, order the steps and type the answer. Each challenge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[29:30 → 30:00] 0.5 min · you should be here at 30 min
25 minutes of hands-on. In the measured run, the 100-task swarm took 6.5 min (the full session, 9 min); in interactive mode and with new accounts it can take longer. We use that time to look at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[30:00 → 31:00] 1 min · you should be here at 30 min
The tests already exist: each agent only has to turn its test green. That is what lets Haiku do the bulk of the work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 → 32:30] 1.5 min · you should be here at 31 min
Explain before running it. A skill is not magic: it is a Markdown recipe that Claude follows. Here it calls a script that builds the graph (always the same, from the tasks) and an Opus agent that only reviews it. The result is in files they can open and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[32:30 → 35:30] 3 min · you should be here at 33 min
The trust dialog matters: without it, the project permissions stay off. In recent Claude Code versions, because the Arena pre-approves permissions, the preselected option is "No, exit": pressing Enter quits. Show the down arrow. /demo-plan checks the memory, builds the graph and asks the planner (Opus) to review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 → 37:00] 1.5 min · you should be here at 36 min
Show someone's plan on the projector. In wave 1, lib-hash and the challenge tasks start together; the cryptography ones join as soon as hash turns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 → 38:30] 1.5 min · you should be here at 37 min
Explain before running it. The key point: a script picks what runs, not the model. That is why cost and time are predictable. If a task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[38:30 → 40:30] 2 min · you should be here at 39 min
From here the swarm works for a few minutes (6.5 min in the measured run; longer with new accounts). The next slides use that time;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[40:30 → 42:30] 2 min · you should be here at 41 min
/btw answers on the side, outside the conversation. Careful: while the answer panel is open, the agents' results wait (Claude Code shows "background task updates waiting while this panel is open"). Read it and press Esc so the swarm carries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[42:30 → 44:00] 1.5 min · you should be here at 43 min
No code walkthrough. The idea: a hook is "when X happens, run Y", set up in settings.json. Claude writes hooks very well: just describe what you want. Show /hooks to see the active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45:00] 1 min · you should be here at 44 min
Show the statusline changing as the agents finish. The hook records, the statusline shows: together they give the live cost.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 → 48:00] 3 min · you should be here at 45 min
Plan mode only reads and proposes. claude -p is the basis for scripts and CI. Esc Esc opens rewind: it restores code and conversation to a checkpoint, but not what was done through Bash nor most of what the subagents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49:30] 1.5 min · CAN SKIP · you should be here at 48 min
Skip if running late. Example routine: a daily security review with node tools/routine.mjs --install --yes (without --yes it only shows what it would do), which registers a claude -p "/demo-review --auto" in launchd or in Task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[49:30 → 51:30] 2 min · you should be here at 50 min
/loop repeats a prompt at each interval, while the session is open.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[51:30 → 53:30] 2 min · you should be here at 52 min
A security game with security flaws would be the worst example. The gate links each check to the OWASP Top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[53:30 → 55:30] 2 min · you should be here at 54 min
The report uses real tokens and published prices. At the end it saves the lessons to the memory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[55:30 → 57:30] 2 min · you should be here at 56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[57:30 → 59:30] 2 min · you should be here at 58 min
They are Markdown files in ~/.agent-memory,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[59:30 → 62:30] 3 min · you should be here at 60 min
The app opens in your native language and has a language selector. Routines, worktrees and headless mode were already covered while we waited.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[62:30 → 63:00] 0.5 min · you should be here at 63 min
25 minutes.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[63:00 → 64:30] 1.5 min · you should be here at 63 min
The /task-* skills are installed at user level and work in any repository. Every write to Jira or GitHub asks for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[64:30 → 68:30] 4 min · you should be here at 65 min
For Jira you need to have logged in via /mcp (atlassian). GitHub uses gh. Intake only reads; it writes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[68:30 → 73:30] 5 min · you should be here at 69 min
The planner (Opus) proposes the graph and a script validates it: ids, dependencies, cycles and known agents. Tasks that touch the same files go in different batches, at swarm time. Integration and review are added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[73:30 → 83:30] 10 min · you should be here at 74 min
The state lives in .workshop/. Running /task-swarm again resumes. Tasks that touch the same files go in different batches, or in git worktrees if the planner decides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[83:30 → 84:30] 1 min · CAN SKIP · you should be here at 84 min
Skip if running late. The Atlassian MCP uses the company's Rovo credits and the admin can limit it. If the MCP fails, the skills use the official Atlassian CLI (acli), which the setup already installed: it reads the issue and posts the comments; hours are logged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[84:30 → 86:30] 2 min · you should be here at 85 min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[86:30 → 88:30] 2 min · you should be here at 87 min
A summary in five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LE-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LOSING-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TION-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logo" descr="Logo">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O-IT-NOW">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5.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5.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video" Target="../media/media-18-1.mp4"/><Relationship Id="rId2" Type="http://schemas.microsoft.com/office/2007/relationships/media" Target="../media/media-18-1.mp4"/><Relationship Id="rId3" Type="http://schemas.openxmlformats.org/officeDocument/2006/relationships/image" Target="../media/image-18-3.png"/><Relationship Id="rId4" Type="http://schemas.openxmlformats.org/officeDocument/2006/relationships/slideLayout" Target="../slideLayouts/slideLayout5.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video" Target="../media/media-19-1.mp4"/><Relationship Id="rId2" Type="http://schemas.microsoft.com/office/2007/relationships/media" Target="../media/media-19-1.mp4"/><Relationship Id="rId3" Type="http://schemas.openxmlformats.org/officeDocument/2006/relationships/image" Target="../media/image-19-3.png"/><Relationship Id="rId4" Type="http://schemas.openxmlformats.org/officeDocument/2006/relationships/slideLayout" Target="../slideLayouts/slideLayout5.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5.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6.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5.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5.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5.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5.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6.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5.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6.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5.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6.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6.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6.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5.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5.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You'll leave the workshop with this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netw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that builds a security game with 100 challenges, up to 8 agents in parallel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clipboard-check">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Your task</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real one, from Jira or GitHub, broken down and running</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graph of what you learned, ready to use tomorrow</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Ground rules on cost</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Project 1, with all 100 tasks: US$ 3.39 in one real end-to-end run (9 min).</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Install the kit</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Already installed? Go to the next slide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Paste it into a terminal and answer the questions</a:t>
            </a:r>
            <a:endParaRPr lang="en-US" sz="2000" dirty="0"/>
          </a:p>
        </p:txBody>
      </p:sp>
      <p:sp>
        <p:nvSpPr>
          <p:cNvPr id="6" name="code-background"/>
          <p:cNvSpPr/>
          <p:nvPr/>
        </p:nvSpPr>
        <p:spPr>
          <a:xfrm>
            <a:off x="4937760" y="1920240"/>
            <a:ext cx="6705295" cy="1423721"/>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 (Terminal)</a:t>
            </a:r>
            <a:endParaRPr lang="en-US" sz="1300" dirty="0"/>
          </a:p>
        </p:txBody>
      </p:sp>
      <p:sp>
        <p:nvSpPr>
          <p:cNvPr id="8" name="code"/>
          <p:cNvSpPr txBox="1"/>
          <p:nvPr/>
        </p:nvSpPr>
        <p:spPr>
          <a:xfrm>
            <a:off x="5166360" y="245059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https://github.com/cx-guilherme-pinto/workshop-claude/releases/download/v1.0.0-rc.1/setup-mac.sh | bash</a:t>
            </a:r>
            <a:endParaRPr lang="en-US" sz="1400" dirty="0"/>
          </a:p>
        </p:txBody>
      </p:sp>
      <p:sp>
        <p:nvSpPr>
          <p:cNvPr id="9" name="code-background"/>
          <p:cNvSpPr/>
          <p:nvPr/>
        </p:nvSpPr>
        <p:spPr>
          <a:xfrm>
            <a:off x="4937760" y="3572561"/>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755441"/>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 (PowerShell)</a:t>
            </a:r>
            <a:endParaRPr lang="en-US" sz="1300" dirty="0"/>
          </a:p>
        </p:txBody>
      </p:sp>
      <p:sp>
        <p:nvSpPr>
          <p:cNvPr id="11" name="code"/>
          <p:cNvSpPr txBox="1"/>
          <p:nvPr/>
        </p:nvSpPr>
        <p:spPr>
          <a:xfrm>
            <a:off x="5166360" y="4102913"/>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irm https://github.com/cx-guilherme-pinto/workshop-claude/releases/download/v1.0.0-rc.1/bootstrap-windows.ps1 | iex</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setup summary table, with every step done</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e-background"/>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e"/>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e-background"/>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e"/>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"$HOME\.workshop-claude\setup-windows.ps1" -Check</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"Check complete: everything is ready for the workshop."</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Claude's diagnosis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Follow the steps and run the install command again</a:t>
            </a:r>
            <a:endParaRPr lang="en-US" sz="2000" dirty="0"/>
          </a:p>
        </p:txBody>
      </p:sp>
      <p:sp>
        <p:nvSpPr>
          <p:cNvPr id="6" name="code-background"/>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e"/>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e-background"/>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e"/>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"$HOME\.workshop-claude\setup-windows.ps1" -Doctor</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What failed, why and how to fix it; the install only repeats what is missing</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graphs and money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file-pen-lin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project files, with permissions you control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square-terminal">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git, scripts: it reads the output and fixes what fails</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plug">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and your memory via MCP; GitHub with gh</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463040"/>
            <a:ext cx="11094415" cy="5486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e-background"/>
          <p:cNvSpPr/>
          <p:nvPr/>
        </p:nvSpPr>
        <p:spPr>
          <a:xfrm>
            <a:off x="548640" y="2148840"/>
            <a:ext cx="11094415" cy="3474720"/>
          </a:xfrm>
          <a:prstGeom prst="rect">
            <a:avLst/>
          </a:prstGeom>
          <a:solidFill>
            <a:srgbClr val="140920"/>
          </a:solidFill>
          <a:ln w="12700">
            <a:solidFill>
              <a:srgbClr val="140920"/>
            </a:solidFill>
            <a:prstDash val="solid"/>
          </a:ln>
        </p:spPr>
      </p:sp>
      <p:sp>
        <p:nvSpPr>
          <p:cNvPr id="5" name="code"/>
          <p:cNvSpPr txBox="1"/>
          <p:nvPr/>
        </p:nvSpPr>
        <p:spPr>
          <a:xfrm>
            <a:off x="777240" y="2331720"/>
            <a:ext cx="10637215" cy="31546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description: Runs the Arena swarm in waves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Bash(node 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1. Run next-wave.mjs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2. Launch exactly the calls it returns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3. Repeat until STATE: DONE</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Answer in the participant's language.</a:t>
            </a:r>
            <a:endParaRPr lang="en-US" sz="1500" dirty="0"/>
          </a:p>
        </p:txBody>
      </p:sp>
      <p:sp>
        <p:nvSpPr>
          <p:cNvPr id="6" name="after"/>
          <p:cNvSpPr txBox="1"/>
          <p:nvPr/>
        </p:nvSpPr>
        <p:spPr>
          <a:xfrm>
            <a:off x="548640" y="5760720"/>
            <a:ext cx="11094415" cy="50292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0"/>
          <p:cNvSpPr/>
          <p:nvPr/>
        </p:nvSpPr>
        <p:spPr>
          <a:xfrm>
            <a:off x="548640" y="1691640"/>
            <a:ext cx="3484778" cy="3749040"/>
          </a:xfrm>
          <a:prstGeom prst="rect">
            <a:avLst/>
          </a:prstGeom>
          <a:solidFill>
            <a:srgbClr val="FFFFFF"/>
          </a:solidFill>
          <a:ln w="12700">
            <a:solidFill>
              <a:srgbClr val="FFFFFF"/>
            </a:solidFill>
            <a:prstDash val="solid"/>
          </a:ln>
        </p:spPr>
      </p:sp>
      <p:sp>
        <p:nvSpPr>
          <p:cNvPr id="4" name="model-icon-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odel-icon-0" descr="brain">    </p:cNvPr>
          <p:cNvPicPr>
            <a:picLocks noChangeAspect="1"/>
          </p:cNvPicPr>
          <p:nvPr/>
        </p:nvPicPr>
        <p:blipFill>
          <a:blip r:embed="rId1"/>
          <a:stretch>
            <a:fillRect/>
          </a:stretch>
        </p:blipFill>
        <p:spPr>
          <a:xfrm>
            <a:off x="989381" y="2132381"/>
            <a:ext cx="307238" cy="307238"/>
          </a:xfrm>
          <a:prstGeom prst="rect">
            <a:avLst/>
          </a:prstGeom>
        </p:spPr>
      </p:pic>
      <p:sp>
        <p:nvSpPr>
          <p:cNvPr id="6" name="model-name-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7" name="model-role-0"/>
          <p:cNvSpPr txBox="1"/>
          <p:nvPr/>
        </p:nvSpPr>
        <p:spPr>
          <a:xfrm>
            <a:off x="868680"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planning and review</a:t>
            </a:r>
            <a:endParaRPr lang="en-US" sz="2000" dirty="0"/>
          </a:p>
        </p:txBody>
      </p:sp>
      <p:sp>
        <p:nvSpPr>
          <p:cNvPr id="8" name="model-price-0"/>
          <p:cNvSpPr txBox="1"/>
          <p:nvPr/>
        </p:nvSpPr>
        <p:spPr>
          <a:xfrm>
            <a:off x="868680"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US$ 4 / 20</a:t>
            </a:r>
            <a:endParaRPr lang="en-US" sz="1800" dirty="0"/>
          </a:p>
        </p:txBody>
      </p:sp>
      <p:sp>
        <p:nvSpPr>
          <p:cNvPr id="9" name="model-1"/>
          <p:cNvSpPr/>
          <p:nvPr/>
        </p:nvSpPr>
        <p:spPr>
          <a:xfrm>
            <a:off x="4353458" y="1691640"/>
            <a:ext cx="3484778" cy="3749040"/>
          </a:xfrm>
          <a:prstGeom prst="rect">
            <a:avLst/>
          </a:prstGeom>
          <a:solidFill>
            <a:srgbClr val="FFFFFF"/>
          </a:solidFill>
          <a:ln w="12700">
            <a:solidFill>
              <a:srgbClr val="FFFFFF"/>
            </a:solidFill>
            <a:prstDash val="solid"/>
          </a:ln>
        </p:spPr>
      </p:sp>
      <p:sp>
        <p:nvSpPr>
          <p:cNvPr id="10" name="model-icon-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1" name="model-icon-1" descr="puzzle">    </p:cNvPr>
          <p:cNvPicPr>
            <a:picLocks noChangeAspect="1"/>
          </p:cNvPicPr>
          <p:nvPr/>
        </p:nvPicPr>
        <p:blipFill>
          <a:blip r:embed="rId2"/>
          <a:stretch>
            <a:fillRect/>
          </a:stretch>
        </p:blipFill>
        <p:spPr>
          <a:xfrm>
            <a:off x="4794199" y="2132381"/>
            <a:ext cx="307238" cy="307238"/>
          </a:xfrm>
          <a:prstGeom prst="rect">
            <a:avLst/>
          </a:prstGeom>
        </p:spPr>
      </p:pic>
      <p:sp>
        <p:nvSpPr>
          <p:cNvPr id="12" name="model-name-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3" name="model-role-1"/>
          <p:cNvSpPr txBox="1"/>
          <p:nvPr/>
        </p:nvSpPr>
        <p:spPr>
          <a:xfrm>
            <a:off x="4673498"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integration and hard logic</a:t>
            </a:r>
            <a:endParaRPr lang="en-US" sz="2000" dirty="0"/>
          </a:p>
        </p:txBody>
      </p:sp>
      <p:sp>
        <p:nvSpPr>
          <p:cNvPr id="14" name="model-price-1"/>
          <p:cNvSpPr txBox="1"/>
          <p:nvPr/>
        </p:nvSpPr>
        <p:spPr>
          <a:xfrm>
            <a:off x="4673498"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US$ 2 / 10</a:t>
            </a:r>
            <a:endParaRPr lang="en-US" sz="1800" dirty="0"/>
          </a:p>
        </p:txBody>
      </p:sp>
      <p:sp>
        <p:nvSpPr>
          <p:cNvPr id="15" name="model-2"/>
          <p:cNvSpPr/>
          <p:nvPr/>
        </p:nvSpPr>
        <p:spPr>
          <a:xfrm>
            <a:off x="8158277" y="1691640"/>
            <a:ext cx="3484778" cy="3749040"/>
          </a:xfrm>
          <a:prstGeom prst="rect">
            <a:avLst/>
          </a:prstGeom>
          <a:solidFill>
            <a:srgbClr val="FFFFFF"/>
          </a:solidFill>
          <a:ln w="12700">
            <a:solidFill>
              <a:srgbClr val="FFFFFF"/>
            </a:solidFill>
            <a:prstDash val="solid"/>
          </a:ln>
        </p:spPr>
      </p:sp>
      <p:sp>
        <p:nvSpPr>
          <p:cNvPr id="16" name="model-icon-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7" name="model-icon-2" descr="feather">    </p:cNvPr>
          <p:cNvPicPr>
            <a:picLocks noChangeAspect="1"/>
          </p:cNvPicPr>
          <p:nvPr/>
        </p:nvPicPr>
        <p:blipFill>
          <a:blip r:embed="rId3"/>
          <a:stretch>
            <a:fillRect/>
          </a:stretch>
        </p:blipFill>
        <p:spPr>
          <a:xfrm>
            <a:off x="8599018" y="2132381"/>
            <a:ext cx="307238" cy="307238"/>
          </a:xfrm>
          <a:prstGeom prst="rect">
            <a:avLst/>
          </a:prstGeom>
        </p:spPr>
      </p:pic>
      <p:sp>
        <p:nvSpPr>
          <p:cNvPr id="18" name="model-name-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9" name="model-role-2"/>
          <p:cNvSpPr txBox="1"/>
          <p:nvPr/>
        </p:nvSpPr>
        <p:spPr>
          <a:xfrm>
            <a:off x="8478317"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bulk of the swarm</a:t>
            </a:r>
            <a:endParaRPr lang="en-US" sz="2000" dirty="0"/>
          </a:p>
        </p:txBody>
      </p:sp>
      <p:sp>
        <p:nvSpPr>
          <p:cNvPr id="20" name="model-price-2"/>
          <p:cNvSpPr txBox="1"/>
          <p:nvPr/>
        </p:nvSpPr>
        <p:spPr>
          <a:xfrm>
            <a:off x="8478317"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US$ 0.10 / 0.50</a:t>
            </a:r>
            <a:endParaRPr lang="en-US" sz="1800" dirty="0"/>
          </a:p>
        </p:txBody>
      </p:sp>
      <p:sp>
        <p:nvSpPr>
          <p:cNvPr id="21" name="footer"/>
          <p:cNvSpPr txBox="1"/>
          <p:nvPr/>
        </p:nvSpPr>
        <p:spPr>
          <a:xfrm>
            <a:off x="548640" y="5669280"/>
            <a:ext cx="11094415" cy="457200"/>
          </a:xfrm>
          <a:prstGeom prst="rect">
            <a:avLst/>
          </a:prstGeom>
          <a:noFill/>
          <a:ln/>
        </p:spPr>
        <p:txBody>
          <a:bodyPr wrap="square" lIns="0" tIns="0" rIns="0" bIns="0" rtlCol="0" anchor="t"/>
          <a:lstStyle/>
          <a:p>
            <a:pPr indent="0" marL="0">
              <a:buNone/>
            </a:pPr>
            <a:r>
              <a:rPr lang="en-US" sz="1400" dirty="0">
                <a:solidFill>
                  <a:srgbClr val="4A405A"/>
                </a:solidFill>
                <a:latin typeface="Arial" pitchFamily="34" charset="0"/>
                <a:ea typeface="Arial" pitchFamily="34" charset="-122"/>
                <a:cs typeface="Arial" pitchFamily="34" charset="-120"/>
              </a:rPr>
              <a:t>Price per million tokens: input / output. Source:  ({{PRICING_DATA}}).</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 of thumb</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US$ 0.0018</a:t>
            </a:r>
            <a:endParaRPr lang="en-US" sz="44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small task done by a Haiku agent</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80%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100 tasks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script decides the graph</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rout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next-wave.mjs</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reads the plan and the state and returns the next batch of calls (one wave can take several)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bo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The model</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launches exactly those calls, all in the same message</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list-checks">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grade.mjs</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runs the test of each task and decides: green or red</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every swarm agent, when it is done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 kit script (the Stop hook measures the main session)</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Tokens × price</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real transcript tokens, at the published prices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agent, model, time and cost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live cost and the final 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plan</a:t>
            </a:r>
            <a:endParaRPr lang="en-US" sz="17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task becomes a graph, reviewed by Opus</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7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Haiku agents build the pieces in parallel</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7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checks the tests and the security</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cost</a:t>
            </a:r>
            <a:endParaRPr lang="en-US" sz="17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what it cost, per agent and per model</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7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7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lessons stay for next time</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build: the Security Arena</a:t>
            </a:r>
            <a:endParaRPr lang="en-US" sz="3200" dirty="0"/>
          </a:p>
        </p:txBody>
      </p:sp>
      <p:sp>
        <p:nvSpPr>
          <p:cNvPr id="3" name="frame"/>
          <p:cNvSpPr/>
          <p:nvPr/>
        </p:nvSpPr>
        <p:spPr>
          <a:xfrm>
            <a:off x="548640" y="1470660"/>
            <a:ext cx="5541264" cy="3742944"/>
          </a:xfrm>
          <a:prstGeom prst="rect">
            <a:avLst/>
          </a:prstGeom>
          <a:solidFill>
            <a:srgbClr val="FFFFFF"/>
          </a:solidFill>
          <a:ln w="12700">
            <a:solidFill>
              <a:srgbClr val="FFFFFF"/>
            </a:solidFill>
            <a:prstDash val="solid"/>
          </a:ln>
        </p:spPr>
      </p:sp>
      <p:pic>
        <p:nvPicPr>
          <p:cNvPr id="4" name="image" descr="One challenge of the game: click the line that exposes the secret and confirm.">    </p:cNvPr>
          <p:cNvPicPr>
            <a:picLocks noChangeAspect="1"/>
          </p:cNvPicPr>
          <p:nvPr/>
        </p:nvPicPr>
        <p:blipFill>
          <a:blip r:embed="rId1"/>
          <a:stretch>
            <a:fillRect/>
          </a:stretch>
        </p:blipFill>
        <p:spPr>
          <a:xfrm>
            <a:off x="621792" y="1543812"/>
            <a:ext cx="5394960" cy="3596640"/>
          </a:xfrm>
          <a:prstGeom prst="rect">
            <a:avLst/>
          </a:prstGeom>
        </p:spPr>
      </p:pic>
      <p:sp>
        <p:nvSpPr>
          <p:cNvPr id="5" name="image-caption"/>
          <p:cNvSpPr txBox="1"/>
          <p:nvPr/>
        </p:nvSpPr>
        <p:spPr>
          <a:xfrm>
            <a:off x="548640" y="5305044"/>
            <a:ext cx="5541264" cy="320040"/>
          </a:xfrm>
          <a:prstGeom prst="rect">
            <a:avLst/>
          </a:prstGeom>
          <a:noFill/>
          <a:ln/>
        </p:spPr>
        <p:txBody>
          <a:bodyPr wrap="square" lIns="0" tIns="0" rIns="0" bIns="0" rtlCol="0" anchor="t"/>
          <a:lstStyle/>
          <a:p>
            <a:pPr indent="0" marL="0">
              <a:buNone/>
            </a:pPr>
            <a:r>
              <a:rPr lang="en-US" sz="1300" dirty="0">
                <a:solidFill>
                  <a:srgbClr val="4A405A"/>
                </a:solidFill>
                <a:latin typeface="Arial" pitchFamily="34" charset="0"/>
                <a:ea typeface="Arial" pitchFamily="34" charset="-122"/>
                <a:cs typeface="Arial" pitchFamily="34" charset="-120"/>
              </a:rPr>
              <a:t>One challenge of the game: click the line that exposes the secret and confirm.</a:t>
            </a:r>
            <a:endParaRPr lang="en-US" sz="1300" dirty="0"/>
          </a:p>
        </p:txBody>
      </p:sp>
      <p:sp>
        <p:nvSpPr>
          <p:cNvPr id="6" name="intro-mark-0-circle"/>
          <p:cNvSpPr/>
          <p:nvPr/>
        </p:nvSpPr>
        <p:spPr>
          <a:xfrm>
            <a:off x="6492240" y="1463040"/>
            <a:ext cx="502920" cy="502920"/>
          </a:xfrm>
          <a:prstGeom prst="ellipse">
            <a:avLst/>
          </a:prstGeom>
          <a:solidFill>
            <a:srgbClr val="6B34FD"/>
          </a:solidFill>
          <a:ln w="12700">
            <a:solidFill>
              <a:srgbClr val="6B34FD"/>
            </a:solidFill>
            <a:prstDash val="solid"/>
          </a:ln>
        </p:spPr>
      </p:sp>
      <p:pic>
        <p:nvPicPr>
          <p:cNvPr id="7" name="intro-mark-0" descr="gamepad-2">    </p:cNvPr>
          <p:cNvPicPr>
            <a:picLocks noChangeAspect="1"/>
          </p:cNvPicPr>
          <p:nvPr/>
        </p:nvPicPr>
        <p:blipFill>
          <a:blip r:embed="rId2"/>
          <a:stretch>
            <a:fillRect/>
          </a:stretch>
        </p:blipFill>
        <p:spPr>
          <a:xfrm>
            <a:off x="6602882" y="1573682"/>
            <a:ext cx="281635" cy="281635"/>
          </a:xfrm>
          <a:prstGeom prst="rect">
            <a:avLst/>
          </a:prstGeom>
        </p:spPr>
      </p:pic>
      <p:sp>
        <p:nvSpPr>
          <p:cNvPr id="8" name="intro-title-0"/>
          <p:cNvSpPr txBox="1"/>
          <p:nvPr/>
        </p:nvSpPr>
        <p:spPr>
          <a:xfrm>
            <a:off x="7223760" y="149961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A mini-game, ready to play</a:t>
            </a:r>
            <a:endParaRPr lang="en-US" sz="1900" dirty="0"/>
          </a:p>
        </p:txBody>
      </p:sp>
      <p:sp>
        <p:nvSpPr>
          <p:cNvPr id="9" name="intro-text-0"/>
          <p:cNvSpPr txBox="1"/>
          <p:nvPr/>
        </p:nvSpPr>
        <p:spPr>
          <a:xfrm>
            <a:off x="7223760" y="188366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Short security challenges, in the browser, across 10 categories: passwords, phishing, web, networks, cryptography and more.</a:t>
            </a:r>
            <a:endParaRPr lang="en-US" sz="1500" dirty="0"/>
          </a:p>
        </p:txBody>
      </p:sp>
      <p:sp>
        <p:nvSpPr>
          <p:cNvPr id="10" name="intro-mark-1-circle"/>
          <p:cNvSpPr/>
          <p:nvPr/>
        </p:nvSpPr>
        <p:spPr>
          <a:xfrm>
            <a:off x="6492240" y="2804160"/>
            <a:ext cx="502920" cy="502920"/>
          </a:xfrm>
          <a:prstGeom prst="ellipse">
            <a:avLst/>
          </a:prstGeom>
          <a:solidFill>
            <a:srgbClr val="6B34FD"/>
          </a:solidFill>
          <a:ln w="12700">
            <a:solidFill>
              <a:srgbClr val="6B34FD"/>
            </a:solidFill>
            <a:prstDash val="solid"/>
          </a:ln>
        </p:spPr>
      </p:sp>
      <p:pic>
        <p:nvPicPr>
          <p:cNvPr id="11" name="intro-mark-1" descr="layers">    </p:cNvPr>
          <p:cNvPicPr>
            <a:picLocks noChangeAspect="1"/>
          </p:cNvPicPr>
          <p:nvPr/>
        </p:nvPicPr>
        <p:blipFill>
          <a:blip r:embed="rId3"/>
          <a:stretch>
            <a:fillRect/>
          </a:stretch>
        </p:blipFill>
        <p:spPr>
          <a:xfrm>
            <a:off x="6602882" y="2914802"/>
            <a:ext cx="281635" cy="281635"/>
          </a:xfrm>
          <a:prstGeom prst="rect">
            <a:avLst/>
          </a:prstGeom>
        </p:spPr>
      </p:pic>
      <p:sp>
        <p:nvSpPr>
          <p:cNvPr id="12" name="intro-title-1"/>
          <p:cNvSpPr txBox="1"/>
          <p:nvPr/>
        </p:nvSpPr>
        <p:spPr>
          <a:xfrm>
            <a:off x="7223760" y="284073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Each task builds a challenge</a:t>
            </a:r>
            <a:endParaRPr lang="en-US" sz="1900" dirty="0"/>
          </a:p>
        </p:txBody>
      </p:sp>
      <p:sp>
        <p:nvSpPr>
          <p:cNvPr id="13" name="intro-text-1"/>
          <p:cNvSpPr txBox="1"/>
          <p:nvPr/>
        </p:nvSpPr>
        <p:spPr>
          <a:xfrm>
            <a:off x="7223760" y="322478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4 formats: point at the insecure line, pick the answer, put the steps in order or type the answer.</a:t>
            </a:r>
            <a:endParaRPr lang="en-US" sz="1500" dirty="0"/>
          </a:p>
        </p:txBody>
      </p:sp>
      <p:sp>
        <p:nvSpPr>
          <p:cNvPr id="14" name="intro-mark-2-circle"/>
          <p:cNvSpPr/>
          <p:nvPr/>
        </p:nvSpPr>
        <p:spPr>
          <a:xfrm>
            <a:off x="6492240" y="4145280"/>
            <a:ext cx="502920" cy="502920"/>
          </a:xfrm>
          <a:prstGeom prst="ellipse">
            <a:avLst/>
          </a:prstGeom>
          <a:solidFill>
            <a:srgbClr val="6B34FD"/>
          </a:solidFill>
          <a:ln w="12700">
            <a:solidFill>
              <a:srgbClr val="6B34FD"/>
            </a:solidFill>
            <a:prstDash val="solid"/>
          </a:ln>
        </p:spPr>
      </p:sp>
      <p:pic>
        <p:nvPicPr>
          <p:cNvPr id="15" name="intro-mark-2" descr="bot">    </p:cNvPr>
          <p:cNvPicPr>
            <a:picLocks noChangeAspect="1"/>
          </p:cNvPicPr>
          <p:nvPr/>
        </p:nvPicPr>
        <p:blipFill>
          <a:blip r:embed="rId4"/>
          <a:stretch>
            <a:fillRect/>
          </a:stretch>
        </p:blipFill>
        <p:spPr>
          <a:xfrm>
            <a:off x="6602882" y="4255922"/>
            <a:ext cx="281635" cy="281635"/>
          </a:xfrm>
          <a:prstGeom prst="rect">
            <a:avLst/>
          </a:prstGeom>
        </p:spPr>
      </p:pic>
      <p:sp>
        <p:nvSpPr>
          <p:cNvPr id="16" name="intro-title-2"/>
          <p:cNvSpPr txBox="1"/>
          <p:nvPr/>
        </p:nvSpPr>
        <p:spPr>
          <a:xfrm>
            <a:off x="7223760" y="418185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One agent per task</a:t>
            </a:r>
            <a:endParaRPr lang="en-US" sz="1900" dirty="0"/>
          </a:p>
        </p:txBody>
      </p:sp>
      <p:sp>
        <p:nvSpPr>
          <p:cNvPr id="17" name="intro-text-2"/>
          <p:cNvSpPr txBox="1"/>
          <p:nvPr/>
        </p:nvSpPr>
        <p:spPr>
          <a:xfrm>
            <a:off x="7223760" y="456590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does one task, and that task's test says whether it is right. In the video and on your laptop: the same 100.</a:t>
            </a:r>
            <a:endParaRPr lang="en-US" sz="1500" dirty="0"/>
          </a:p>
        </p:txBody>
      </p:sp>
      <p:sp>
        <p:nvSpPr>
          <p:cNvPr id="18" name="legend-background"/>
          <p:cNvSpPr/>
          <p:nvPr/>
        </p:nvSpPr>
        <p:spPr>
          <a:xfrm>
            <a:off x="548640" y="5669280"/>
            <a:ext cx="11094415" cy="502920"/>
          </a:xfrm>
          <a:prstGeom prst="rect">
            <a:avLst/>
          </a:prstGeom>
          <a:solidFill>
            <a:srgbClr val="FFFFFF"/>
          </a:solidFill>
          <a:ln w="12700">
            <a:solidFill>
              <a:srgbClr val="FFFFFF"/>
            </a:solidFill>
            <a:prstDash val="solid"/>
          </a:ln>
        </p:spPr>
      </p:sp>
      <p:sp>
        <p:nvSpPr>
          <p:cNvPr id="19" name="status-legend-title"/>
          <p:cNvSpPr txBox="1"/>
          <p:nvPr/>
        </p:nvSpPr>
        <p:spPr>
          <a:xfrm>
            <a:off x="777240" y="5779008"/>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20" name="status-legend-0"/>
          <p:cNvSpPr/>
          <p:nvPr/>
        </p:nvSpPr>
        <p:spPr>
          <a:xfrm>
            <a:off x="2926431" y="5806440"/>
            <a:ext cx="219456" cy="219456"/>
          </a:xfrm>
          <a:prstGeom prst="rect">
            <a:avLst/>
          </a:prstGeom>
          <a:solidFill>
            <a:srgbClr val="C4C7C1"/>
          </a:solidFill>
          <a:ln w="12700">
            <a:solidFill>
              <a:srgbClr val="C4C7C1"/>
            </a:solidFill>
            <a:prstDash val="solid"/>
          </a:ln>
        </p:spPr>
      </p:sp>
      <p:sp>
        <p:nvSpPr>
          <p:cNvPr id="21" name="status-legend-label-0"/>
          <p:cNvSpPr txBox="1"/>
          <p:nvPr/>
        </p:nvSpPr>
        <p:spPr>
          <a:xfrm>
            <a:off x="3255615" y="5779008"/>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22" name="status-legend-1"/>
          <p:cNvSpPr/>
          <p:nvPr/>
        </p:nvSpPr>
        <p:spPr>
          <a:xfrm>
            <a:off x="4232926" y="5806440"/>
            <a:ext cx="219456" cy="219456"/>
          </a:xfrm>
          <a:prstGeom prst="rect">
            <a:avLst/>
          </a:prstGeom>
          <a:solidFill>
            <a:srgbClr val="F1C232"/>
          </a:solidFill>
          <a:ln w="12700">
            <a:solidFill>
              <a:srgbClr val="F1C232"/>
            </a:solidFill>
            <a:prstDash val="solid"/>
          </a:ln>
        </p:spPr>
      </p:sp>
      <p:sp>
        <p:nvSpPr>
          <p:cNvPr id="23" name="status-legend-label-1"/>
          <p:cNvSpPr txBox="1"/>
          <p:nvPr/>
        </p:nvSpPr>
        <p:spPr>
          <a:xfrm>
            <a:off x="4562110" y="5779008"/>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24" name="status-legend-2"/>
          <p:cNvSpPr/>
          <p:nvPr/>
        </p:nvSpPr>
        <p:spPr>
          <a:xfrm>
            <a:off x="6024418" y="5806440"/>
            <a:ext cx="219456" cy="219456"/>
          </a:xfrm>
          <a:prstGeom prst="rect">
            <a:avLst/>
          </a:prstGeom>
          <a:solidFill>
            <a:srgbClr val="1E9E57"/>
          </a:solidFill>
          <a:ln w="12700">
            <a:solidFill>
              <a:srgbClr val="1E9E57"/>
            </a:solidFill>
            <a:prstDash val="solid"/>
          </a:ln>
        </p:spPr>
      </p:sp>
      <p:sp>
        <p:nvSpPr>
          <p:cNvPr id="25" name="status-legend-label-2"/>
          <p:cNvSpPr txBox="1"/>
          <p:nvPr/>
        </p:nvSpPr>
        <p:spPr>
          <a:xfrm>
            <a:off x="6353602"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6" name="status-legend-3"/>
          <p:cNvSpPr/>
          <p:nvPr/>
        </p:nvSpPr>
        <p:spPr>
          <a:xfrm>
            <a:off x="7654245" y="5806440"/>
            <a:ext cx="219456" cy="219456"/>
          </a:xfrm>
          <a:prstGeom prst="rect">
            <a:avLst/>
          </a:prstGeom>
          <a:solidFill>
            <a:srgbClr val="D2463F"/>
          </a:solidFill>
          <a:ln w="12700">
            <a:solidFill>
              <a:srgbClr val="D2463F"/>
            </a:solidFill>
            <a:prstDash val="solid"/>
          </a:ln>
        </p:spPr>
      </p:sp>
      <p:sp>
        <p:nvSpPr>
          <p:cNvPr id="27" name="status-legend-label-3"/>
          <p:cNvSpPr txBox="1"/>
          <p:nvPr/>
        </p:nvSpPr>
        <p:spPr>
          <a:xfrm>
            <a:off x="7983429"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Arena with 100 tasks, built by agents in parallel. Then you build the same one.</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100 agents building the Arena</a:t>
            </a:r>
            <a:endParaRPr lang="en-US" sz="3200" dirty="0"/>
          </a:p>
        </p:txBody>
      </p:sp>
      <p:pic>
        <p:nvPicPr>
          <p:cNvPr id="3" name="video-swarm">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26664"/>
            <a:ext cx="11094415" cy="3513231"/>
          </a:xfrm>
          <a:prstGeom prst="rect">
            <a:avLst/>
          </a:prstGeom>
        </p:spPr>
      </p:pic>
      <p:sp>
        <p:nvSpPr>
          <p:cNvPr id="4" name="status-legend-background"/>
          <p:cNvSpPr/>
          <p:nvPr/>
        </p:nvSpPr>
        <p:spPr>
          <a:xfrm>
            <a:off x="548640" y="5139896"/>
            <a:ext cx="11094415" cy="420624"/>
          </a:xfrm>
          <a:prstGeom prst="rect">
            <a:avLst/>
          </a:prstGeom>
          <a:solidFill>
            <a:srgbClr val="140920"/>
          </a:solidFill>
          <a:ln w="12700">
            <a:solidFill>
              <a:srgbClr val="140920"/>
            </a:solidFill>
            <a:prstDash val="solid"/>
          </a:ln>
        </p:spPr>
      </p:sp>
      <p:sp>
        <p:nvSpPr>
          <p:cNvPr id="5" name="status-legend-title"/>
          <p:cNvSpPr txBox="1"/>
          <p:nvPr/>
        </p:nvSpPr>
        <p:spPr>
          <a:xfrm>
            <a:off x="777240" y="5213048"/>
            <a:ext cx="2001453" cy="274320"/>
          </a:xfrm>
          <a:prstGeom prst="rect">
            <a:avLst/>
          </a:prstGeom>
          <a:noFill/>
          <a:ln/>
        </p:spPr>
        <p:txBody>
          <a:bodyPr wrap="square" lIns="0" tIns="0" rIns="0" bIns="0" rtlCol="0" anchor="ctr"/>
          <a:lstStyle/>
          <a:p>
            <a:pPr indent="0" marL="0">
              <a:buNone/>
            </a:pPr>
            <a:r>
              <a:rPr lang="en-US" sz="1200" b="1" dirty="0">
                <a:solidFill>
                  <a:srgbClr val="FCF9FE"/>
                </a:solidFill>
                <a:latin typeface="Arial" pitchFamily="34" charset="0"/>
                <a:ea typeface="Arial" pitchFamily="34" charset="-122"/>
                <a:cs typeface="Arial" pitchFamily="34" charset="-120"/>
              </a:rPr>
              <a:t>Each square is a task:</a:t>
            </a:r>
            <a:endParaRPr lang="en-US" sz="1200" dirty="0"/>
          </a:p>
        </p:txBody>
      </p:sp>
      <p:sp>
        <p:nvSpPr>
          <p:cNvPr id="6" name="status-legend-0"/>
          <p:cNvSpPr/>
          <p:nvPr/>
        </p:nvSpPr>
        <p:spPr>
          <a:xfrm>
            <a:off x="2778693" y="5240480"/>
            <a:ext cx="219456" cy="219456"/>
          </a:xfrm>
          <a:prstGeom prst="rect">
            <a:avLst/>
          </a:prstGeom>
          <a:solidFill>
            <a:srgbClr val="3A423E"/>
          </a:solidFill>
          <a:ln w="12700">
            <a:solidFill>
              <a:srgbClr val="3A423E"/>
            </a:solidFill>
            <a:prstDash val="solid"/>
          </a:ln>
        </p:spPr>
      </p:sp>
      <p:sp>
        <p:nvSpPr>
          <p:cNvPr id="7" name="status-legend-label-0"/>
          <p:cNvSpPr txBox="1"/>
          <p:nvPr/>
        </p:nvSpPr>
        <p:spPr>
          <a:xfrm>
            <a:off x="3107877" y="5213048"/>
            <a:ext cx="93378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waiting</a:t>
            </a:r>
            <a:endParaRPr lang="en-US" sz="1200" dirty="0"/>
          </a:p>
        </p:txBody>
      </p:sp>
      <p:sp>
        <p:nvSpPr>
          <p:cNvPr id="8" name="status-legend-1"/>
          <p:cNvSpPr/>
          <p:nvPr/>
        </p:nvSpPr>
        <p:spPr>
          <a:xfrm>
            <a:off x="4041663" y="5240480"/>
            <a:ext cx="219456" cy="219456"/>
          </a:xfrm>
          <a:prstGeom prst="rect">
            <a:avLst/>
          </a:prstGeom>
          <a:solidFill>
            <a:srgbClr val="F1C232"/>
          </a:solidFill>
          <a:ln w="12700">
            <a:solidFill>
              <a:srgbClr val="F1C232"/>
            </a:solidFill>
            <a:prstDash val="solid"/>
          </a:ln>
        </p:spPr>
      </p:sp>
      <p:sp>
        <p:nvSpPr>
          <p:cNvPr id="9" name="status-legend-label-1"/>
          <p:cNvSpPr txBox="1"/>
          <p:nvPr/>
        </p:nvSpPr>
        <p:spPr>
          <a:xfrm>
            <a:off x="4370847" y="5213048"/>
            <a:ext cx="1381476"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agent working</a:t>
            </a:r>
            <a:endParaRPr lang="en-US" sz="1200" dirty="0"/>
          </a:p>
        </p:txBody>
      </p:sp>
      <p:sp>
        <p:nvSpPr>
          <p:cNvPr id="10" name="status-legend-2"/>
          <p:cNvSpPr/>
          <p:nvPr/>
        </p:nvSpPr>
        <p:spPr>
          <a:xfrm>
            <a:off x="5752322" y="5240480"/>
            <a:ext cx="219456" cy="219456"/>
          </a:xfrm>
          <a:prstGeom prst="rect">
            <a:avLst/>
          </a:prstGeom>
          <a:solidFill>
            <a:srgbClr val="2FBF6C"/>
          </a:solidFill>
          <a:ln w="12700">
            <a:solidFill>
              <a:srgbClr val="2FBF6C"/>
            </a:solidFill>
            <a:prstDash val="solid"/>
          </a:ln>
        </p:spPr>
      </p:sp>
      <p:sp>
        <p:nvSpPr>
          <p:cNvPr id="11" name="status-legend-label-2"/>
          <p:cNvSpPr txBox="1"/>
          <p:nvPr/>
        </p:nvSpPr>
        <p:spPr>
          <a:xfrm>
            <a:off x="6081506" y="5213048"/>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passed</a:t>
            </a:r>
            <a:endParaRPr lang="en-US" sz="1200" dirty="0"/>
          </a:p>
        </p:txBody>
      </p:sp>
      <p:sp>
        <p:nvSpPr>
          <p:cNvPr id="12" name="status-legend-3"/>
          <p:cNvSpPr/>
          <p:nvPr/>
        </p:nvSpPr>
        <p:spPr>
          <a:xfrm>
            <a:off x="7313752" y="5240480"/>
            <a:ext cx="219456" cy="219456"/>
          </a:xfrm>
          <a:prstGeom prst="rect">
            <a:avLst/>
          </a:prstGeom>
          <a:solidFill>
            <a:srgbClr val="EF5B52"/>
          </a:solidFill>
          <a:ln w="12700">
            <a:solidFill>
              <a:srgbClr val="EF5B52"/>
            </a:solidFill>
            <a:prstDash val="solid"/>
          </a:ln>
        </p:spPr>
      </p:sp>
      <p:sp>
        <p:nvSpPr>
          <p:cNvPr id="13" name="status-legend-label-3"/>
          <p:cNvSpPr txBox="1"/>
          <p:nvPr/>
        </p:nvSpPr>
        <p:spPr>
          <a:xfrm>
            <a:off x="7642936" y="5213048"/>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failed</a:t>
            </a:r>
            <a:endParaRPr lang="en-US" sz="1200" dirty="0"/>
          </a:p>
        </p:txBody>
      </p:sp>
      <p:sp>
        <p:nvSpPr>
          <p:cNvPr id="14" name="caption"/>
          <p:cNvSpPr txBox="1"/>
          <p:nvPr/>
        </p:nvSpPr>
        <p:spPr>
          <a:xfrm>
            <a:off x="548640" y="5706824"/>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Real recorded session (plan, swarm, review and cost): 6.9 min · US$ 2.55 · 107 agents</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the game, ready to use</a:t>
            </a:r>
            <a:endParaRPr lang="en-US" sz="3200" dirty="0"/>
          </a:p>
        </p:txBody>
      </p:sp>
      <p:pic>
        <p:nvPicPr>
          <p:cNvPr id="3" name="video-g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94408" y="1371600"/>
            <a:ext cx="7802880" cy="4389120"/>
          </a:xfrm>
          <a:prstGeom prst="rect">
            <a:avLst/>
          </a:prstGeom>
        </p:spPr>
      </p:pic>
      <p:sp>
        <p:nvSpPr>
          <p:cNvPr id="4" name="caption"/>
          <p:cNvSpPr txBox="1"/>
          <p:nvPr/>
        </p:nvSpPr>
        <p:spPr>
          <a:xfrm>
            <a:off x="548640" y="5897880"/>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do in this project today</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
          <p:cNvSpPr/>
          <p:nvPr/>
        </p:nvSpPr>
        <p:spPr>
          <a:xfrm>
            <a:off x="868680" y="2011680"/>
            <a:ext cx="548640" cy="548640"/>
          </a:xfrm>
          <a:prstGeom prst="rect">
            <a:avLst/>
          </a:prstGeom>
          <a:solidFill>
            <a:srgbClr val="1E9E57"/>
          </a:solidFill>
          <a:ln w="12700">
            <a:solidFill>
              <a:srgbClr val="1E9E57"/>
            </a:solidFill>
            <a:prstDash val="solid"/>
          </a:ln>
        </p:spPr>
      </p:sp>
      <p:sp>
        <p:nvSpPr>
          <p:cNvPr id="5"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app shell, 4 challenge formats and one test for each task</a:t>
            </a:r>
            <a:endParaRPr lang="en-US" sz="1900" dirty="0"/>
          </a:p>
        </p:txBody>
      </p:sp>
      <p:sp>
        <p:nvSpPr>
          <p:cNvPr id="7"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8" name="mark-1"/>
          <p:cNvSpPr/>
          <p:nvPr/>
        </p:nvSpPr>
        <p:spPr>
          <a:xfrm>
            <a:off x="4673498" y="2011680"/>
            <a:ext cx="548640" cy="548640"/>
          </a:xfrm>
          <a:prstGeom prst="rect">
            <a:avLst/>
          </a:prstGeom>
          <a:solidFill>
            <a:srgbClr val="C4C7C1"/>
          </a:solidFill>
          <a:ln w="12700">
            <a:solidFill>
              <a:srgbClr val="C4C7C1"/>
            </a:solidFill>
            <a:prstDash val="solid"/>
          </a:ln>
        </p:spPr>
      </p:sp>
      <p:sp>
        <p:nvSpPr>
          <p:cNvPr id="9"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105 tasks: 100 challenges, lib-hash, 2 pages, integration and review</a:t>
            </a:r>
            <a:endParaRPr lang="en-US" sz="1900" dirty="0"/>
          </a:p>
        </p:txBody>
      </p:sp>
      <p:sp>
        <p:nvSpPr>
          <p:cNvPr id="11"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2" name="mark-2"/>
          <p:cNvSpPr/>
          <p:nvPr/>
        </p:nvSpPr>
        <p:spPr>
          <a:xfrm>
            <a:off x="8478317" y="2011680"/>
            <a:ext cx="548640" cy="548640"/>
          </a:xfrm>
          <a:prstGeom prst="rect">
            <a:avLst/>
          </a:prstGeom>
          <a:solidFill>
            <a:srgbClr val="F1C232"/>
          </a:solidFill>
          <a:ln w="12700">
            <a:solidFill>
              <a:srgbClr val="F1C232"/>
            </a:solidFill>
            <a:prstDash val="solid"/>
          </a:ln>
        </p:spPr>
      </p:sp>
      <p:sp>
        <p:nvSpPr>
          <p:cNvPr id="13"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your swarm: Haiku, Sonnet and Opus</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e-background"/>
          <p:cNvSpPr/>
          <p:nvPr/>
        </p:nvSpPr>
        <p:spPr>
          <a:xfrm>
            <a:off x="548640" y="1508760"/>
            <a:ext cx="5760720" cy="3419856"/>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.claude/skills/demo-plan/SKILL.md (summary)</a:t>
            </a:r>
            <a:endParaRPr lang="en-US" sz="1300" dirty="0"/>
          </a:p>
        </p:txBody>
      </p:sp>
      <p:sp>
        <p:nvSpPr>
          <p:cNvPr id="5" name="code"/>
          <p:cNvSpPr txBox="1"/>
          <p:nvPr/>
        </p:nvSpPr>
        <p:spPr>
          <a:xfrm>
            <a:off x="777240" y="2039112"/>
            <a:ext cx="5303520" cy="2752344"/>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name: demo-plan</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model: sonnet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allowed-tools: Read, Agent,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  node tools/*, memory_search</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1. Look up lessons in the memory</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2. node tools/plan.mjs  → the graph</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3. The planner agent (Opus) reviews it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4. Show the waves, the diagram and the cost</a:t>
            </a:r>
            <a:endParaRPr lang="en-US" sz="16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scroll-text">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Markdown file with steps. You type /demo-plan and Claude follows the recipe, the same way every time.</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workflow">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the Arena specs (summarised in TASKS.md). Out: plan.json and PLAN.md, the graph with the dependencies, the waves and the cost estimate.</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/task-plan does the same for one of your Jira or GitHub issues.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to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and pick "Yes, I trust this folder" (↓ then Enter: the preselected option exits)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e-background"/>
          <p:cNvSpPr/>
          <p:nvPr/>
        </p:nvSpPr>
        <p:spPr>
          <a:xfrm>
            <a:off x="4937760" y="1920240"/>
            <a:ext cx="6705295" cy="172821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US$ 3.70</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Your plan: 4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100 tasks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e-background"/>
          <p:cNvSpPr/>
          <p:nvPr/>
        </p:nvSpPr>
        <p:spPr>
          <a:xfrm>
            <a:off x="548640" y="1508760"/>
            <a:ext cx="5760720" cy="3250692"/>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.claude/skills/demo-swarm/SKILL.md (summary)</a:t>
            </a:r>
            <a:endParaRPr lang="en-US" sz="1300" dirty="0"/>
          </a:p>
        </p:txBody>
      </p:sp>
      <p:sp>
        <p:nvSpPr>
          <p:cNvPr id="5" name="code"/>
          <p:cNvSpPr txBox="1"/>
          <p:nvPr/>
        </p:nvSpPr>
        <p:spPr>
          <a:xfrm>
            <a:off x="777240" y="2039112"/>
            <a:ext cx="5303520" cy="25831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 node tools/*,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Repeat until STATE: DONE</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1. next-wave.mjs → the next batch</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2. Launch the batch agents, in parallel</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3. Each agent does 1 task and runs its test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4. Show the table: agent, model, cost</a:t>
            </a:r>
            <a:endParaRPr lang="en-US" sz="15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route">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The script decides</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The graph says what can run now. Claude only launches the batch the script hands it: no improvising.</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bo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starts with a clean context, gets one task and that task's test, and uses the right model: Haiku for the bulk.</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/task-swarm does the same with the subtasks of your issue.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the /status page in the browser</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e-background"/>
          <p:cNvSpPr/>
          <p:nvPr/>
        </p:nvSpPr>
        <p:spPr>
          <a:xfrm>
            <a:off x="4937760" y="3200400"/>
            <a:ext cx="6705295" cy="1389888"/>
          </a:xfrm>
          <a:prstGeom prst="rect">
            <a:avLst/>
          </a:prstGeom>
          <a:solidFill>
            <a:srgbClr val="140920"/>
          </a:solidFill>
          <a:ln w="12700">
            <a:solidFill>
              <a:srgbClr val="140920"/>
            </a:solidFill>
            <a:prstDash val="solid"/>
          </a:ln>
        </p:spPr>
      </p:sp>
      <p:sp>
        <p:nvSpPr>
          <p:cNvPr id="10" name="code-label"/>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e"/>
          <p:cNvSpPr txBox="1"/>
          <p:nvPr/>
        </p:nvSpPr>
        <p:spPr>
          <a:xfrm>
            <a:off x="5166360" y="3730752"/>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http://localhost:3000/status: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back to Terminal 1; leave the swarm running</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Type /btw and your question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answer and close it with Esc</a:t>
            </a:r>
            <a:endParaRPr lang="en-US" sz="2000" dirty="0"/>
          </a:p>
        </p:txBody>
      </p:sp>
      <p:sp>
        <p:nvSpPr>
          <p:cNvPr id="6" name="code-background"/>
          <p:cNvSpPr/>
          <p:nvPr/>
        </p:nvSpPr>
        <p:spPr>
          <a:xfrm>
            <a:off x="4937760" y="1920240"/>
            <a:ext cx="6705295" cy="1034644"/>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67132"/>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/btw why does task cr-01 wait for lib-hash?</a:t>
            </a:r>
            <a:endParaRPr lang="en-US" sz="19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on the side, outside the conversation; after Esc, the swarm carries on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Hooks: Claude Code signals, a script reacts</a:t>
            </a:r>
            <a:endParaRPr lang="en-US" sz="3200" dirty="0"/>
          </a:p>
        </p:txBody>
      </p:sp>
      <p:sp>
        <p:nvSpPr>
          <p:cNvPr id="3" name="code-background"/>
          <p:cNvSpPr/>
          <p:nvPr/>
        </p:nvSpPr>
        <p:spPr>
          <a:xfrm>
            <a:off x="548640" y="1508760"/>
            <a:ext cx="5760720" cy="2371039"/>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Event → command, in .claude/settings.json</a:t>
            </a:r>
            <a:endParaRPr lang="en-US" sz="1300" dirty="0"/>
          </a:p>
        </p:txBody>
      </p:sp>
      <p:sp>
        <p:nvSpPr>
          <p:cNvPr id="5" name="code"/>
          <p:cNvSpPr txBox="1"/>
          <p:nvPr/>
        </p:nvSpPr>
        <p:spPr>
          <a:xfrm>
            <a:off x="777240" y="2039112"/>
            <a:ext cx="5303520" cy="1703527"/>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SubagentStop      ← an agent finished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 node tools/workshop/hooks/subagent-stop.mjs</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reads the tokens that agent used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writes the cost to .workshop/usage.jsonl</a:t>
            </a:r>
            <a:endParaRPr lang="en-US" sz="1400" dirty="0"/>
          </a:p>
          <a:p>
            <a:pPr indent="0" marL="0">
              <a:buNone/>
            </a:pP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Other events: PreToolUse, PostToolUse,</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UserPromptSubmit, Stop, SessionStart</a:t>
            </a:r>
            <a:endParaRPr lang="en-US" sz="14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command Claude Code runs on its own at the right moment: before or after a tool, when an agent finishes, at the end of the session.</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targe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 for</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Measuring, checking, formatting or blocking, every time, without relying on the model to remember. Here it measures the cost of each agent.</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Ask Claude: "Create a PostToolUse hook that runs prettier on every file you edit." It writes it into settings.json; you review and approve it in /hooks.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statusline is a script</a:t>
            </a:r>
            <a:endParaRPr lang="en-US" sz="3200" dirty="0"/>
          </a:p>
        </p:txBody>
      </p:sp>
      <p:sp>
        <p:nvSpPr>
          <p:cNvPr id="3" name="code-background"/>
          <p:cNvSpPr/>
          <p:nvPr/>
        </p:nvSpPr>
        <p:spPr>
          <a:xfrm>
            <a:off x="548640" y="1508760"/>
            <a:ext cx="5760720" cy="223570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The line under the input box</a:t>
            </a:r>
            <a:endParaRPr lang="en-US" sz="1300" dirty="0"/>
          </a:p>
        </p:txBody>
      </p:sp>
      <p:sp>
        <p:nvSpPr>
          <p:cNvPr id="5" name="code"/>
          <p:cNvSpPr txBox="1"/>
          <p:nvPr/>
        </p:nvSpPr>
        <p:spPr>
          <a:xfrm>
            <a:off x="777240" y="2039112"/>
            <a:ext cx="5303520" cy="1568196"/>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Claude Code ── session JSON ──▶ statusline.mjs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statusline.mjs ──── one line ────▶ screen</a:t>
            </a:r>
            <a:endParaRPr lang="en-US" sz="1500" dirty="0"/>
          </a:p>
          <a:p>
            <a:pPr indent="0" marL="0">
              <a:buNone/>
            </a:pP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Sonnet 5.5 · session US$ 0.42</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project US$ 1.10 of US$ 5.00</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swarm 12✓ 2… 1✗ · 3 min</a:t>
            </a:r>
            <a:endParaRPr lang="en-US" sz="1500" dirty="0"/>
          </a:p>
        </p:txBody>
      </p:sp>
      <p:sp>
        <p:nvSpPr>
          <p:cNvPr id="6" name="anatomy-mark-0-circle"/>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y-mark-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y-title-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y-text-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script that receives the session state (model, folder, cost) and returns one line of text.</a:t>
            </a:r>
            <a:endParaRPr lang="en-US" sz="1500" dirty="0"/>
          </a:p>
        </p:txBody>
      </p:sp>
      <p:sp>
        <p:nvSpPr>
          <p:cNvPr id="10" name="anatomy-mark-1-circle"/>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y-mark-1" descr="gauge">    </p:cNvPr>
          <p:cNvPicPr>
            <a:picLocks noChangeAspect="1"/>
          </p:cNvPicPr>
          <p:nvPr/>
        </p:nvPicPr>
        <p:blipFill>
          <a:blip r:embed="rId2"/>
          <a:stretch>
            <a:fillRect/>
          </a:stretch>
        </p:blipFill>
        <p:spPr>
          <a:xfrm>
            <a:off x="6857086" y="3047086"/>
            <a:ext cx="230429" cy="230429"/>
          </a:xfrm>
          <a:prstGeom prst="rect">
            <a:avLst/>
          </a:prstGeom>
        </p:spPr>
      </p:pic>
      <p:sp>
        <p:nvSpPr>
          <p:cNvPr id="12" name="anatomy-title-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the kit</a:t>
            </a:r>
            <a:endParaRPr lang="en-US" sz="2000" dirty="0"/>
          </a:p>
        </p:txBody>
      </p:sp>
      <p:sp>
        <p:nvSpPr>
          <p:cNvPr id="13" name="anatomy-text-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It reads what the hook recorded and shows the session and project cost, live, against the US$ 5 target.</a:t>
            </a:r>
            <a:endParaRPr lang="en-US" sz="1500" dirty="0"/>
          </a:p>
        </p:txBody>
      </p:sp>
      <p:sp>
        <p:nvSpPr>
          <p:cNvPr id="14" name="anatomy-mark-2-circle"/>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y-mark-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y-title-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y-text-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Type /statusline and say what you want to see, for example "the git branch and the session cost". Claude writes the script.</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a third terminal: three features</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third terminal in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e-background"/>
          <p:cNvSpPr/>
          <p:nvPr/>
        </p:nvSpPr>
        <p:spPr>
          <a:xfrm>
            <a:off x="4937760" y="1920240"/>
            <a:ext cx="6705295" cy="128839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Plan mode</a:t>
            </a:r>
            <a:endParaRPr lang="en-US" sz="1300" dirty="0"/>
          </a:p>
        </p:txBody>
      </p:sp>
      <p:sp>
        <p:nvSpPr>
          <p:cNvPr id="8" name="code"/>
          <p:cNvSpPr txBox="1"/>
          <p:nvPr/>
        </p:nvSpPr>
        <p:spPr>
          <a:xfrm>
            <a:off x="5166360" y="2450592"/>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e-background"/>
          <p:cNvSpPr/>
          <p:nvPr/>
        </p:nvSpPr>
        <p:spPr>
          <a:xfrm>
            <a:off x="4937760" y="3437230"/>
            <a:ext cx="6705295" cy="1423721"/>
          </a:xfrm>
          <a:prstGeom prst="rect">
            <a:avLst/>
          </a:prstGeom>
          <a:solidFill>
            <a:srgbClr val="140920"/>
          </a:solidFill>
          <a:ln w="12700">
            <a:solidFill>
              <a:srgbClr val="140920"/>
            </a:solidFill>
            <a:prstDash val="solid"/>
          </a:ln>
        </p:spPr>
      </p:sp>
      <p:sp>
        <p:nvSpPr>
          <p:cNvPr id="10" name="code-label"/>
          <p:cNvSpPr txBox="1"/>
          <p:nvPr/>
        </p:nvSpPr>
        <p:spPr>
          <a:xfrm>
            <a:off x="5166360" y="362011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Headless</a:t>
            </a:r>
            <a:endParaRPr lang="en-US" sz="1300" dirty="0"/>
          </a:p>
        </p:txBody>
      </p:sp>
      <p:sp>
        <p:nvSpPr>
          <p:cNvPr id="11" name="code"/>
          <p:cNvSpPr txBox="1"/>
          <p:nvPr/>
        </p:nvSpPr>
        <p:spPr>
          <a:xfrm>
            <a:off x="5166360" y="396758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claude -p "Summarise PLAN.md in one sentence" --model claude-haiku-5-5</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plan with no changes,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Worktrees and routines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git-f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claude -w experiment</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an isolated copy of the repository, on its own branch, to work in parallel</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git-branch">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isolation: worktree</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subagent in its own worktree, when the tasks touch the same files</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calendar-clock">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Local routine</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system scheduler runs claude -p every day. The cloud /schedule needs a subscription</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Until everything is green</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At the end, look for red squares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If there are any, let /loop fix them</a:t>
            </a:r>
            <a:endParaRPr lang="en-US" sz="2000" dirty="0"/>
          </a:p>
        </p:txBody>
      </p:sp>
      <p:sp>
        <p:nvSpPr>
          <p:cNvPr id="6" name="code-background"/>
          <p:cNvSpPr/>
          <p:nvPr/>
        </p:nvSpPr>
        <p:spPr>
          <a:xfrm>
            <a:off x="4937760" y="1920240"/>
            <a:ext cx="6705295" cy="166055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993038"/>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/loop 2m run node tools/workshop/orchestrator/grade.mjs --all and fix the first red task with the implementer agent; stop when everything is green</a:t>
            </a:r>
            <a:endParaRPr lang="en-US" sz="14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loop stops by itself when the suite is green</a:t>
            </a:r>
            <a:endParaRPr lang="en-US" sz="1800" dirty="0"/>
          </a:p>
        </p:txBody>
      </p:sp>
      <p:sp>
        <p:nvSpPr>
          <p:cNvPr id="12" name="notice-background"/>
          <p:cNvSpPr/>
          <p:nvPr/>
        </p:nvSpPr>
        <p:spPr>
          <a:xfrm>
            <a:off x="6202375" y="384048"/>
            <a:ext cx="5440680" cy="457200"/>
          </a:xfrm>
          <a:prstGeom prst="rect">
            <a:avLst/>
          </a:prstGeom>
          <a:solidFill>
            <a:srgbClr val="F25928"/>
          </a:solidFill>
          <a:ln w="12700">
            <a:solidFill>
              <a:srgbClr val="F25928"/>
            </a:solidFill>
            <a:prstDash val="solid"/>
          </a:ln>
        </p:spPr>
      </p:sp>
      <p:sp>
        <p:nvSpPr>
          <p:cNvPr id="13" name="notice"/>
          <p:cNvSpPr txBox="1"/>
          <p:nvPr/>
        </p:nvSpPr>
        <p:spPr>
          <a:xfrm>
            <a:off x="6366967" y="384048"/>
            <a:ext cx="51114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 is in Teams: copy it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Opus reviewer's verdict</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APPROVED: tests green, CSP on,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the Haiku agents with the main session</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US$ 3.39</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challenge and play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Browser</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Challenges from green tasks are playable;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sp>
        <p:nvSpPr>
          <p:cNvPr id="3" name="frame"/>
          <p:cNvSpPr/>
          <p:nvPr/>
        </p:nvSpPr>
        <p:spPr>
          <a:xfrm>
            <a:off x="2202536" y="1389888"/>
            <a:ext cx="7786624" cy="4443984"/>
          </a:xfrm>
          <a:prstGeom prst="rect">
            <a:avLst/>
          </a:prstGeom>
          <a:solidFill>
            <a:srgbClr val="FFFFFF"/>
          </a:solidFill>
          <a:ln w="12700">
            <a:solidFill>
              <a:srgbClr val="FFFFFF"/>
            </a:solidFill>
            <a:prstDash val="solid"/>
          </a:ln>
        </p:spPr>
      </p:sp>
      <p:pic>
        <p:nvPicPr>
          <p:cNvPr id="4" name="image" descr="Search by project, issue or epic (e.g. arena or EX-1): lessons, &quot;do&quot;, &quot;don't&quot; and history, linked to projects, epics, tasks and files">    </p:cNvPr>
          <p:cNvPicPr>
            <a:picLocks noChangeAspect="1"/>
          </p:cNvPicPr>
          <p:nvPr/>
        </p:nvPicPr>
        <p:blipFill>
          <a:blip r:embed="rId1"/>
          <a:stretch>
            <a:fillRect/>
          </a:stretch>
        </p:blipFill>
        <p:spPr>
          <a:xfrm>
            <a:off x="2275688" y="1463040"/>
            <a:ext cx="7640320" cy="4297680"/>
          </a:xfrm>
          <a:prstGeom prst="rect">
            <a:avLst/>
          </a:prstGeom>
        </p:spPr>
      </p:pic>
      <p:sp>
        <p:nvSpPr>
          <p:cNvPr id="5" name="caption"/>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project, issue or epic (e.g. arena or EX-1):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Agent Memory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e-background"/>
          <p:cNvSpPr/>
          <p:nvPr/>
        </p:nvSpPr>
        <p:spPr>
          <a:xfrm>
            <a:off x="4937760" y="1920240"/>
            <a:ext cx="6705295" cy="1356055"/>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e"/>
          <p:cNvSpPr txBox="1"/>
          <p:nvPr/>
        </p:nvSpPr>
        <p:spPr>
          <a:xfrm>
            <a:off x="5166360" y="2450592"/>
            <a:ext cx="6248095" cy="688543"/>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open "$HOME/Applications/Agent Memory.app"</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or: agent-memory</a:t>
            </a:r>
            <a:endParaRPr lang="en-US" sz="1900" dirty="0"/>
          </a:p>
        </p:txBody>
      </p:sp>
      <p:sp>
        <p:nvSpPr>
          <p:cNvPr id="9" name="code-background"/>
          <p:cNvSpPr/>
          <p:nvPr/>
        </p:nvSpPr>
        <p:spPr>
          <a:xfrm>
            <a:off x="4937760" y="3504895"/>
            <a:ext cx="6705295" cy="1389888"/>
          </a:xfrm>
          <a:prstGeom prst="rect">
            <a:avLst/>
          </a:prstGeom>
          <a:solidFill>
            <a:srgbClr val="140920"/>
          </a:solidFill>
          <a:ln w="12700">
            <a:solidFill>
              <a:srgbClr val="140920"/>
            </a:solidFill>
            <a:prstDash val="solid"/>
          </a:ln>
        </p:spPr>
      </p:sp>
      <p:sp>
        <p:nvSpPr>
          <p:cNvPr id="10" name="code-label"/>
          <p:cNvSpPr txBox="1"/>
          <p:nvPr/>
        </p:nvSpPr>
        <p:spPr>
          <a:xfrm>
            <a:off x="5166360" y="3687775"/>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e"/>
          <p:cNvSpPr txBox="1"/>
          <p:nvPr/>
        </p:nvSpPr>
        <p:spPr>
          <a:xfrm>
            <a:off x="5166360" y="4035247"/>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Agent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agent-memory</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Your real task</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your repository</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reads the Jira or GitHub issue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decides how many agents and why</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agents work in batches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tests, secrets and the Opus verdict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comments, worklog and PR, after you say yes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Bring your task</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at the root of your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Give it the Jira (ABC-123) or GitHub (#42) issue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No access? Use the practice project</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Your project</a:t>
            </a:r>
            <a:endParaRPr lang="en-US" sz="1300" dirty="0"/>
          </a:p>
        </p:txBody>
      </p:sp>
      <p:sp>
        <p:nvSpPr>
          <p:cNvPr id="8" name="code"/>
          <p:cNvSpPr txBox="1"/>
          <p:nvPr/>
        </p:nvSpPr>
        <p:spPr>
          <a:xfrm>
            <a:off x="5166360" y="24505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&lt;your repository&gt;</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ABC-123</a:t>
            </a:r>
            <a:endParaRPr lang="en-US" sz="18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Practice project</a:t>
            </a:r>
            <a:endParaRPr lang="en-US" sz="1300" dirty="0"/>
          </a:p>
        </p:txBody>
      </p:sp>
      <p:sp>
        <p:nvSpPr>
          <p:cNvPr id="11" name="code"/>
          <p:cNvSpPr txBox="1"/>
          <p:nvPr/>
        </p:nvSpPr>
        <p:spPr>
          <a:xfrm>
            <a:off x="5166360" y="42793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~/workshop-claude/practice-project</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issues/EX-1.json</a:t>
            </a:r>
            <a:endParaRPr lang="en-US" sz="18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Small: 1–3 agents. Large: more,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10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do-it-step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another terminal, in the project folder, open the dashboard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and resume whenever you want</a:t>
            </a:r>
            <a:endParaRPr lang="en-US" sz="2000" dirty="0"/>
          </a:p>
        </p:txBody>
      </p:sp>
      <p:sp>
        <p:nvSpPr>
          <p:cNvPr id="6" name="code-background"/>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e"/>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e-background"/>
          <p:cNvSpPr/>
          <p:nvPr/>
        </p:nvSpPr>
        <p:spPr>
          <a:xfrm>
            <a:off x="4937760" y="3200400"/>
            <a:ext cx="6705295" cy="1660550"/>
          </a:xfrm>
          <a:prstGeom prst="rect">
            <a:avLst/>
          </a:prstGeom>
          <a:solidFill>
            <a:srgbClr val="140920"/>
          </a:solidFill>
          <a:ln w="12700">
            <a:solidFill>
              <a:srgbClr val="140920"/>
            </a:solidFill>
            <a:prstDash val="solid"/>
          </a:ln>
        </p:spPr>
      </p:sp>
      <p:sp>
        <p:nvSpPr>
          <p:cNvPr id="10" name="code-label"/>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e"/>
          <p:cNvSpPr txBox="1"/>
          <p:nvPr/>
        </p:nvSpPr>
        <p:spPr>
          <a:xfrm>
            <a:off x="5166360" y="3730752"/>
            <a:ext cx="6248095" cy="993038"/>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cd &lt;your repository&gt;</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node "$HOME/.workshop-claude/kit/orchestrator/dashboard.mjs"</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Jira and GitHub</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ticket">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Jira (MCP + acli)</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MCP, logged in via /mcp; if it fails, the Atlassian CLI (acli auth login)</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git-pull-reques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GitHub (gh)</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gh auth login: uses less context than an MCP and shares no tokens</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user-check">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Always with confirmation</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comments, worklog and PR only after you say yes</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shield-chec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7" name="column-text-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secrets, dangerous code and the Opus verdict</a:t>
            </a:r>
            <a:endParaRPr lang="en-US" sz="19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message-square-tex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2" name="column-text-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one comment per subtask, plus the worklog. GitHub: the PR</a:t>
            </a:r>
            <a:endParaRPr lang="en-US" sz="19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/memory</a:t>
            </a:r>
            <a:endParaRPr lang="en-US" sz="2600" dirty="0"/>
          </a:p>
        </p:txBody>
      </p:sp>
      <p:sp>
        <p:nvSpPr>
          <p:cNvPr id="17" name="column-text-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lessons from this task stay for the next one</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84124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400" dirty="0"/>
          </a:p>
        </p:txBody>
      </p:sp>
      <p:sp>
        <p:nvSpPr>
          <p:cNvPr id="7" name="list-number-2"/>
          <p:cNvSpPr/>
          <p:nvPr/>
        </p:nvSpPr>
        <p:spPr>
          <a:xfrm>
            <a:off x="548640" y="367588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65760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A script decides the graph; the model executes</a:t>
            </a:r>
            <a:endParaRPr lang="en-US" sz="2400" dirty="0"/>
          </a:p>
        </p:txBody>
      </p:sp>
      <p:sp>
        <p:nvSpPr>
          <p:cNvPr id="9" name="list-number-3"/>
          <p:cNvSpPr/>
          <p:nvPr/>
        </p:nvSpPr>
        <p:spPr>
          <a:xfrm>
            <a:off x="548640" y="449884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10" name="list-item-3"/>
          <p:cNvSpPr txBox="1"/>
          <p:nvPr/>
        </p:nvSpPr>
        <p:spPr>
          <a:xfrm>
            <a:off x="1280160" y="448056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Measure with hooks; never guess the cost</a:t>
            </a:r>
            <a:endParaRPr lang="en-US" sz="2400" dirty="0"/>
          </a:p>
        </p:txBody>
      </p:sp>
      <p:sp>
        <p:nvSpPr>
          <p:cNvPr id="11" name="list-number-4"/>
          <p:cNvSpPr/>
          <p:nvPr/>
        </p:nvSpPr>
        <p:spPr>
          <a:xfrm>
            <a:off x="548640" y="53218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12" name="list-item-4"/>
          <p:cNvSpPr txBox="1"/>
          <p:nvPr/>
        </p:nvSpPr>
        <p:spPr>
          <a:xfrm>
            <a:off x="1280160" y="53035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400" dirty="0"/>
          </a:p>
        </p:txBody>
      </p:sp>
      <p:sp>
        <p:nvSpPr>
          <p:cNvPr id="7" name="list-number-2"/>
          <p:cNvSpPr/>
          <p:nvPr/>
        </p:nvSpPr>
        <p:spPr>
          <a:xfrm>
            <a:off x="548640" y="331012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29184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Open Agent Memory before planning</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
        <p:nvSpPr>
          <p:cNvPr id="4" name="footer"/>
          <p:cNvSpPr txBox="1"/>
          <p:nvPr/>
        </p:nvSpPr>
        <p:spPr>
          <a:xfrm>
            <a:off x="914400" y="4389120"/>
            <a:ext cx="10362895" cy="365760"/>
          </a:xfrm>
          <a:prstGeom prst="rect">
            <a:avLst/>
          </a:prstGeom>
          <a:noFill/>
          <a:ln/>
        </p:spPr>
        <p:txBody>
          <a:bodyPr wrap="square" lIns="0" tIns="0" rIns="0" bIns="0" rtlCol="0" anchor="t"/>
          <a:lstStyle/>
          <a:p>
            <a:pPr algn="ctr" indent="0" marL="0">
              <a:buNone/>
            </a:pPr>
            <a:r>
              <a:rPr lang="en-US" sz="1600" dirty="0">
                <a:solidFill>
                  <a:srgbClr val="B9AEDB"/>
                </a:solidFill>
                <a:latin typeface="Arial" pitchFamily="34" charset="0"/>
                <a:ea typeface="Arial" pitchFamily="34" charset="-122"/>
                <a:cs typeface="Arial" pitchFamily="34" charset="-120"/>
              </a:rPr>
              <a:t>https://github.com/cx-guilherme-pinto/workshop-claude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2026-10-17T10:18:55Z</dcterms:created>
  <dcterms:modified xsi:type="dcterms:W3CDTF">2026-10-17T10:18:55Z</dcterms:modified>
</cp:coreProperties>
</file>