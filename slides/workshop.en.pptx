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3e31c76-c6cc-1926-0624-186fe82b30f8}">
          <p14:sldIdLst>
            <p14:sldId id="256"/>
            <p14:sldId id="257"/>
            <p14:sldId id="258"/>
          </p14:sldIdLst>
        </p14:section>
        <p14:section name="Install" id="{954193bd-fe9c-c67b-f78d-a7b9ae82f48f}">
          <p14:sldIdLst>
            <p14:sldId id="259"/>
            <p14:sldId id="260"/>
            <p14:sldId id="261"/>
          </p14:sldIdLst>
        </p14:section>
        <p14:section name="Concepts" id="{8e515f5b-7bec-73a3-5b12-2b9dcbed1b94}">
          <p14:sldIdLst>
            <p14:sldId id="262"/>
            <p14:sldId id="263"/>
            <p14:sldId id="264"/>
            <p14:sldId id="265"/>
            <p14:sldId id="266"/>
            <p14:sldId id="267"/>
            <p14:sldId id="268"/>
            <p14:sldId id="269"/>
            <p14:sldId id="270"/>
          </p14:sldIdLst>
        </p14:section>
        <p14:section name="Preview" id="{1385648c-32b5-5b1b-d25f-eb3ae8e921f2}">
          <p14:sldIdLst>
            <p14:sldId id="271"/>
            <p14:sldId id="272"/>
            <p14:sldId id="273"/>
            <p14:sldId id="274"/>
          </p14:sldIdLst>
        </p14:section>
        <p14:section name="Project 1" id="{cb4410bc-8696-7f7e-4c5c-e4c6e47a6223}">
          <p14:sldIdLst>
            <p14:sldId id="275"/>
            <p14:sldId id="276"/>
            <p14:sldId id="277"/>
            <p14:sldId id="278"/>
            <p14:sldId id="279"/>
            <p14:sldId id="280"/>
            <p14:sldId id="281"/>
            <p14:sldId id="282"/>
            <p14:sldId id="283"/>
            <p14:sldId id="284"/>
            <p14:sldId id="285"/>
            <p14:sldId id="286"/>
            <p14:sldId id="287"/>
            <p14:sldId id="288"/>
            <p14:sldId id="289"/>
            <p14:sldId id="290"/>
          </p14:sldIdLst>
        </p14:section>
        <p14:section name="Memory" id="{e1c3bf7f-0114-1718-85cf-72406c34661b}">
          <p14:sldIdLst>
            <p14:sldId id="291"/>
            <p14:sldId id="292"/>
          </p14:sldIdLst>
        </p14:section>
        <p14:section name="Project 2" id="{7aaf0354-2807-a940-9492-2fa50cc019a1}">
          <p14:sldIdLst>
            <p14:sldId id="293"/>
            <p14:sldId id="294"/>
            <p14:sldId id="295"/>
            <p14:sldId id="296"/>
            <p14:sldId id="297"/>
            <p14:sldId id="298"/>
            <p14:sldId id="299"/>
          </p14:sldIdLst>
        </p14:section>
        <p14:section name="Closing" id="{4678fcdc-ac69-b864-a20d-5539fd3b3959}">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15 minutes). The same command installs on another machine. The commands are generated from repos.conf: they are always right for the published version (v1.0.0-rc.1). To update only the memory app: memoria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Claude reads only the log excerpt for that step, with no secrets, and suggests commands. It never runs anything without confirmation. If Claude is not installed yet, the pre-written message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14:30] 2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16:30] 2 min · you should be here at 15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 → 18:30] 2 min · you should be here at 17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 20:30] 2 min · you should be here at 19 min
The plan is a dependency graph. We run it in waves: everything that is ready runs in parallel. The three cryptography cards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With 15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23:30]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25:30] 1 min · you should be here at 25 min
Before the video, say what is going to be built. The Arena is a security mini-game: each card is a small challenge (find the line that exposes a secret, pick the real website, order the parts of a URL, type an answer). The app shell and the tests already exist; the agents write the cards. Explain the colours now, because they show up everywhere: each square is a card,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26:00] 0.5 min · you should be here at 26 min
Bridge into Project 1. What they are about to see is the cycle from the previous slide (plan → swarm → review → cost → memory) in a real run with 100 cards. Right after, each person does the same with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 → 28:30] 2.5 min · you should be here at 26 min
Sped-up video of a real run with 100 cards. On the left, the /estado page: each square is a card, yellow while an agent works on it and green when its test passes. On the right, the terminal with the agent batches. The time and cost are the real ones. Plan B if the video fails: open /estado?replay=gravacao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29:30] 1 min · you should be here at 29 min
Recording of someone playing the final Arena: point at the insecure line, pick the right answer, order the steps and type the answer. Each card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30:00] 0.5 min · you should be here at 30 min
25 minutes of hands-on. In the benchmark, the 15-card swarm took 4 to 6 minutes;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31:00] 1 min · you should be here at 30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Show someone's plan on the projector. In wave 1, lib/hash and the cards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38:30] 1.5 min · you should be here at 37 min
Explain before running it. The key point: a script picks what runs, not the model. That is why cost and time are predictable. If a card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From here the swarm works for a few minutes (4 to 6 in the benchmark).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42:30] 2 min · you should be here at 41 min
/btw answers on the side. It is the right way to ask questions during a long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 → 44:00] 1.5 min · you should be here at 43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1 min · you should be here at 44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48:00] 3 min · you should be here at 45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49:30] 1.5 min · CAN SKIP · you should be here at 48 min
Skip if running late. Example routine: a daily security review with node tools/rotina.mjs --instalar,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[49:30 → 51:30] 2 min · you should be here at 50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 → 53:30] 2 min · you should be here at 52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[53:30 → 55:30] 2 min · you should be here at 54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[55:30 → 57:30] 2 min · you should be here at 56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[57:30 → 59:30] 2 min · you should be here at 58 min
They are Markdown files in ~/.memoria,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[59:30 → 62:30] 3 min · you should be here at 60 min
The app opens in your native language and has a language selector. Routines, worktrees and headless mode were already covered during the waiting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 → 63:00] 0.5 min · you should be here at 63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64:30] 1.5 min · you should be here at 63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 → 68:30] 4 min · you should be here at 65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[68:30 → 73:30] 5 min · you should be here at 69 min
The planner (Opus) proposes the graph and a script validates it: cycles, shared files, known agents.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[73:30 → 83:30] 10 min · you should be here at 74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[83:30 → 84:30] 1 min · CAN SKIP · you should be here at 84 min
Skip if running late. The Atlassian MCP spends the company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[84:30 → 86:30] 2 min · you should be here at 85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[86:30 → 88:30] 2 min · you should be here at 87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ULO-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FECHO-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CAO-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Image 1" descr="/Users/guilhermepinto/Github/workshop-claude/slides/modelo/logo-branco.png">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ECH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A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roxo.png">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UDO">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ACA">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5.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5.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5.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5.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5.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5.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that builds a security game with 15 agents in parallel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real one, from Jira or GitHub, broken down and running</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graph of what you learned, ready to use tomorrow</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rules</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Measured over 16 real runs: average US$ 1.02, maximum US$ 1.12.</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igo-fundo"/>
          <p:cNvSpPr/>
          <p:nvPr/>
        </p:nvSpPr>
        <p:spPr>
          <a:xfrm>
            <a:off x="4937760" y="1920240"/>
            <a:ext cx="6705295" cy="1423721"/>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 (Terminal)</a:t>
            </a:r>
            <a:endParaRPr lang="en-US" sz="1300" dirty="0"/>
          </a:p>
        </p:txBody>
      </p:sp>
      <p:sp>
        <p:nvSpPr>
          <p:cNvPr id="8" name="codigo"/>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https://github.com/cx-guilherme-pinto/workshop-claude/releases/download/v1.0.0-rc.1/setup-mac.sh | bash</a:t>
            </a:r>
            <a:endParaRPr lang="en-US" sz="1400" dirty="0"/>
          </a:p>
        </p:txBody>
      </p:sp>
      <p:sp>
        <p:nvSpPr>
          <p:cNvPr id="9" name="codigo-fundo"/>
          <p:cNvSpPr/>
          <p:nvPr/>
        </p:nvSpPr>
        <p:spPr>
          <a:xfrm>
            <a:off x="4937760" y="3572561"/>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75544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 (PowerShell)</a:t>
            </a:r>
            <a:endParaRPr lang="en-US" sz="1300" dirty="0"/>
          </a:p>
        </p:txBody>
      </p:sp>
      <p:sp>
        <p:nvSpPr>
          <p:cNvPr id="11" name="codigo"/>
          <p:cNvSpPr txBox="1"/>
          <p:nvPr/>
        </p:nvSpPr>
        <p:spPr>
          <a:xfrm>
            <a:off x="5166360" y="4102913"/>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https://github.com/cx-guilherme-pinto/workshop-claude/releases/download/v1.0.0-rc.1/bootstrap-windows.ps1 | iex</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-Check</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"Everything is ready for the workshop"</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Accept the analysis by Claude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Confirm the commands one by one</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-Doctor</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failed step runs again and gets done</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project files, with permissions you control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git, scripts: it sees the result and fixes it</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GitHub and your memory, via MCP</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igo-fundo"/>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igo"/>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o-0"/>
          <p:cNvSpPr/>
          <p:nvPr/>
        </p:nvSpPr>
        <p:spPr>
          <a:xfrm>
            <a:off x="548640" y="1691640"/>
            <a:ext cx="3484778" cy="3749040"/>
          </a:xfrm>
          <a:prstGeom prst="rect">
            <a:avLst/>
          </a:prstGeom>
          <a:solidFill>
            <a:srgbClr val="FFFFFF"/>
          </a:solidFill>
          <a:ln w="12700">
            <a:solidFill>
              <a:srgbClr val="FFFFFF"/>
            </a:solidFill>
            <a:prstDash val="solid"/>
          </a:ln>
        </p:spPr>
      </p:sp>
      <p:sp>
        <p:nvSpPr>
          <p:cNvPr id="4" name="modelo-icone-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odelo-icone-0" descr="brain">    </p:cNvPr>
          <p:cNvPicPr>
            <a:picLocks noChangeAspect="1"/>
          </p:cNvPicPr>
          <p:nvPr/>
        </p:nvPicPr>
        <p:blipFill>
          <a:blip r:embed="rId1"/>
          <a:stretch>
            <a:fillRect/>
          </a:stretch>
        </p:blipFill>
        <p:spPr>
          <a:xfrm>
            <a:off x="989381" y="2132381"/>
            <a:ext cx="307238" cy="307238"/>
          </a:xfrm>
          <a:prstGeom prst="rect">
            <a:avLst/>
          </a:prstGeom>
        </p:spPr>
      </p:pic>
      <p:sp>
        <p:nvSpPr>
          <p:cNvPr id="6" name="modelo-nome-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o-papel-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 and review</a:t>
            </a:r>
            <a:endParaRPr lang="en-US" sz="2000" dirty="0"/>
          </a:p>
        </p:txBody>
      </p:sp>
      <p:sp>
        <p:nvSpPr>
          <p:cNvPr id="8" name="modelo-preco-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9" name="modelo-1"/>
          <p:cNvSpPr/>
          <p:nvPr/>
        </p:nvSpPr>
        <p:spPr>
          <a:xfrm>
            <a:off x="4353458" y="1691640"/>
            <a:ext cx="3484778" cy="3749040"/>
          </a:xfrm>
          <a:prstGeom prst="rect">
            <a:avLst/>
          </a:prstGeom>
          <a:solidFill>
            <a:srgbClr val="FFFFFF"/>
          </a:solidFill>
          <a:ln w="12700">
            <a:solidFill>
              <a:srgbClr val="FFFFFF"/>
            </a:solidFill>
            <a:prstDash val="solid"/>
          </a:ln>
        </p:spPr>
      </p:sp>
      <p:sp>
        <p:nvSpPr>
          <p:cNvPr id="10" name="modelo-icone-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1" name="modelo-icone-1" descr="puzzle">    </p:cNvPr>
          <p:cNvPicPr>
            <a:picLocks noChangeAspect="1"/>
          </p:cNvPicPr>
          <p:nvPr/>
        </p:nvPicPr>
        <p:blipFill>
          <a:blip r:embed="rId2"/>
          <a:stretch>
            <a:fillRect/>
          </a:stretch>
        </p:blipFill>
        <p:spPr>
          <a:xfrm>
            <a:off x="4794199" y="2132381"/>
            <a:ext cx="307238" cy="307238"/>
          </a:xfrm>
          <a:prstGeom prst="rect">
            <a:avLst/>
          </a:prstGeom>
        </p:spPr>
      </p:pic>
      <p:sp>
        <p:nvSpPr>
          <p:cNvPr id="12" name="modelo-nome-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o-papel-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4" name="modelo-preco-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5" name="modelo-2"/>
          <p:cNvSpPr/>
          <p:nvPr/>
        </p:nvSpPr>
        <p:spPr>
          <a:xfrm>
            <a:off x="8158277" y="1691640"/>
            <a:ext cx="3484778" cy="3749040"/>
          </a:xfrm>
          <a:prstGeom prst="rect">
            <a:avLst/>
          </a:prstGeom>
          <a:solidFill>
            <a:srgbClr val="FFFFFF"/>
          </a:solidFill>
          <a:ln w="12700">
            <a:solidFill>
              <a:srgbClr val="FFFFFF"/>
            </a:solidFill>
            <a:prstDash val="solid"/>
          </a:ln>
        </p:spPr>
      </p:sp>
      <p:sp>
        <p:nvSpPr>
          <p:cNvPr id="16" name="modelo-icone-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7" name="modelo-icone-2" descr="feather">    </p:cNvPr>
          <p:cNvPicPr>
            <a:picLocks noChangeAspect="1"/>
          </p:cNvPicPr>
          <p:nvPr/>
        </p:nvPicPr>
        <p:blipFill>
          <a:blip r:embed="rId3"/>
          <a:stretch>
            <a:fillRect/>
          </a:stretch>
        </p:blipFill>
        <p:spPr>
          <a:xfrm>
            <a:off x="8599018" y="2132381"/>
            <a:ext cx="307238" cy="307238"/>
          </a:xfrm>
          <a:prstGeom prst="rect">
            <a:avLst/>
          </a:prstGeom>
        </p:spPr>
      </p:pic>
      <p:sp>
        <p:nvSpPr>
          <p:cNvPr id="18" name="modelo-nome-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o-papel-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20" name="modelo-preco-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21" name="rodape"/>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platform.claude.com/docs/en/about-claude/pricing (2026-10-16).</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economic rule</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US$ 0.0017</a:t>
            </a:r>
            <a:endParaRPr lang="en-US" sz="44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card built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50%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onda-0"/>
          <p:cNvSpPr/>
          <p:nvPr/>
        </p:nvSpPr>
        <p:spPr>
          <a:xfrm>
            <a:off x="548640" y="1600200"/>
            <a:ext cx="4023360" cy="4069080"/>
          </a:xfrm>
          <a:prstGeom prst="rect">
            <a:avLst/>
          </a:prstGeom>
          <a:solidFill>
            <a:srgbClr val="FFFFFF"/>
          </a:solidFill>
          <a:ln w="12700">
            <a:solidFill>
              <a:srgbClr val="FFFFFF"/>
            </a:solidFill>
            <a:prstDash val="solid"/>
          </a:ln>
        </p:spPr>
      </p:sp>
      <p:sp>
        <p:nvSpPr>
          <p:cNvPr id="4" name="onda-no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modelo-icone-0-circulo"/>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onda-modelo-icone-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onda-modelo-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onda-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15 cards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rotulo"/>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cartao-0"/>
          <p:cNvSpPr/>
          <p:nvPr/>
        </p:nvSpPr>
        <p:spPr>
          <a:xfrm>
            <a:off x="822960" y="3931920"/>
            <a:ext cx="384048" cy="384048"/>
          </a:xfrm>
          <a:prstGeom prst="rect">
            <a:avLst/>
          </a:prstGeom>
          <a:solidFill>
            <a:srgbClr val="1E9E57"/>
          </a:solidFill>
          <a:ln w="12700">
            <a:solidFill>
              <a:srgbClr val="1E9E57"/>
            </a:solidFill>
            <a:prstDash val="solid"/>
          </a:ln>
        </p:spPr>
      </p:sp>
      <p:sp>
        <p:nvSpPr>
          <p:cNvPr id="12" name="cartao-1"/>
          <p:cNvSpPr/>
          <p:nvPr/>
        </p:nvSpPr>
        <p:spPr>
          <a:xfrm>
            <a:off x="1389888" y="3931920"/>
            <a:ext cx="384048" cy="384048"/>
          </a:xfrm>
          <a:prstGeom prst="rect">
            <a:avLst/>
          </a:prstGeom>
          <a:solidFill>
            <a:srgbClr val="1E9E57"/>
          </a:solidFill>
          <a:ln w="12700">
            <a:solidFill>
              <a:srgbClr val="1E9E57"/>
            </a:solidFill>
            <a:prstDash val="solid"/>
          </a:ln>
        </p:spPr>
      </p:sp>
      <p:sp>
        <p:nvSpPr>
          <p:cNvPr id="13" name="cartao-2"/>
          <p:cNvSpPr/>
          <p:nvPr/>
        </p:nvSpPr>
        <p:spPr>
          <a:xfrm>
            <a:off x="1956816" y="3931920"/>
            <a:ext cx="384048" cy="384048"/>
          </a:xfrm>
          <a:prstGeom prst="rect">
            <a:avLst/>
          </a:prstGeom>
          <a:solidFill>
            <a:srgbClr val="F1C232"/>
          </a:solidFill>
          <a:ln w="12700">
            <a:solidFill>
              <a:srgbClr val="F1C232"/>
            </a:solidFill>
            <a:prstDash val="solid"/>
          </a:ln>
        </p:spPr>
      </p:sp>
      <p:sp>
        <p:nvSpPr>
          <p:cNvPr id="14" name="cartao-3"/>
          <p:cNvSpPr/>
          <p:nvPr/>
        </p:nvSpPr>
        <p:spPr>
          <a:xfrm>
            <a:off x="2523744" y="3931920"/>
            <a:ext cx="384048" cy="384048"/>
          </a:xfrm>
          <a:prstGeom prst="rect">
            <a:avLst/>
          </a:prstGeom>
          <a:solidFill>
            <a:srgbClr val="1E9E57"/>
          </a:solidFill>
          <a:ln w="12700">
            <a:solidFill>
              <a:srgbClr val="1E9E57"/>
            </a:solidFill>
            <a:prstDash val="solid"/>
          </a:ln>
        </p:spPr>
      </p:sp>
      <p:sp>
        <p:nvSpPr>
          <p:cNvPr id="15" name="cartao-4"/>
          <p:cNvSpPr/>
          <p:nvPr/>
        </p:nvSpPr>
        <p:spPr>
          <a:xfrm>
            <a:off x="3090672" y="3931920"/>
            <a:ext cx="384048" cy="384048"/>
          </a:xfrm>
          <a:prstGeom prst="rect">
            <a:avLst/>
          </a:prstGeom>
          <a:solidFill>
            <a:srgbClr val="1E9E57"/>
          </a:solidFill>
          <a:ln w="12700">
            <a:solidFill>
              <a:srgbClr val="1E9E57"/>
            </a:solidFill>
            <a:prstDash val="solid"/>
          </a:ln>
        </p:spPr>
      </p:sp>
      <p:sp>
        <p:nvSpPr>
          <p:cNvPr id="16" name="cartao-5"/>
          <p:cNvSpPr/>
          <p:nvPr/>
        </p:nvSpPr>
        <p:spPr>
          <a:xfrm>
            <a:off x="3657600" y="3931920"/>
            <a:ext cx="384048" cy="384048"/>
          </a:xfrm>
          <a:prstGeom prst="rect">
            <a:avLst/>
          </a:prstGeom>
          <a:solidFill>
            <a:srgbClr val="F1C232"/>
          </a:solidFill>
          <a:ln w="12700">
            <a:solidFill>
              <a:srgbClr val="F1C232"/>
            </a:solidFill>
            <a:prstDash val="solid"/>
          </a:ln>
        </p:spPr>
      </p:sp>
      <p:sp>
        <p:nvSpPr>
          <p:cNvPr id="17" name="cartao-6"/>
          <p:cNvSpPr/>
          <p:nvPr/>
        </p:nvSpPr>
        <p:spPr>
          <a:xfrm>
            <a:off x="822960" y="4434840"/>
            <a:ext cx="384048" cy="384048"/>
          </a:xfrm>
          <a:prstGeom prst="rect">
            <a:avLst/>
          </a:prstGeom>
          <a:solidFill>
            <a:srgbClr val="1E9E57"/>
          </a:solidFill>
          <a:ln w="12700">
            <a:solidFill>
              <a:srgbClr val="1E9E57"/>
            </a:solidFill>
            <a:prstDash val="solid"/>
          </a:ln>
        </p:spPr>
      </p:sp>
      <p:sp>
        <p:nvSpPr>
          <p:cNvPr id="18" name="cartao-7"/>
          <p:cNvSpPr/>
          <p:nvPr/>
        </p:nvSpPr>
        <p:spPr>
          <a:xfrm>
            <a:off x="1389888" y="4434840"/>
            <a:ext cx="384048" cy="384048"/>
          </a:xfrm>
          <a:prstGeom prst="rect">
            <a:avLst/>
          </a:prstGeom>
          <a:solidFill>
            <a:srgbClr val="1E9E57"/>
          </a:solidFill>
          <a:ln w="12700">
            <a:solidFill>
              <a:srgbClr val="1E9E57"/>
            </a:solidFill>
            <a:prstDash val="solid"/>
          </a:ln>
        </p:spPr>
      </p:sp>
      <p:sp>
        <p:nvSpPr>
          <p:cNvPr id="19" name="cartao-8"/>
          <p:cNvSpPr/>
          <p:nvPr/>
        </p:nvSpPr>
        <p:spPr>
          <a:xfrm>
            <a:off x="1956816" y="4434840"/>
            <a:ext cx="384048" cy="384048"/>
          </a:xfrm>
          <a:prstGeom prst="rect">
            <a:avLst/>
          </a:prstGeom>
          <a:solidFill>
            <a:srgbClr val="F1C232"/>
          </a:solidFill>
          <a:ln w="12700">
            <a:solidFill>
              <a:srgbClr val="F1C232"/>
            </a:solidFill>
            <a:prstDash val="solid"/>
          </a:ln>
        </p:spPr>
      </p:sp>
      <p:sp>
        <p:nvSpPr>
          <p:cNvPr id="20" name="cartao-9"/>
          <p:cNvSpPr/>
          <p:nvPr/>
        </p:nvSpPr>
        <p:spPr>
          <a:xfrm>
            <a:off x="2523744" y="4434840"/>
            <a:ext cx="384048" cy="384048"/>
          </a:xfrm>
          <a:prstGeom prst="rect">
            <a:avLst/>
          </a:prstGeom>
          <a:solidFill>
            <a:srgbClr val="1E9E57"/>
          </a:solidFill>
          <a:ln w="12700">
            <a:solidFill>
              <a:srgbClr val="1E9E57"/>
            </a:solidFill>
            <a:prstDash val="solid"/>
          </a:ln>
        </p:spPr>
      </p:sp>
      <p:sp>
        <p:nvSpPr>
          <p:cNvPr id="21" name="cartao-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cartao-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i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i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i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ipto-rotulo"/>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cryptography:</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waits for lib-hash</a:t>
            </a:r>
            <a:endParaRPr lang="en-US" sz="1200" dirty="0"/>
          </a:p>
        </p:txBody>
      </p:sp>
      <p:sp>
        <p:nvSpPr>
          <p:cNvPr id="27" name="seta-0"/>
          <p:cNvSpPr/>
          <p:nvPr/>
        </p:nvSpPr>
        <p:spPr>
          <a:xfrm>
            <a:off x="4626864" y="3575304"/>
            <a:ext cx="144170" cy="0"/>
          </a:xfrm>
          <a:prstGeom prst="line">
            <a:avLst/>
          </a:prstGeom>
          <a:noFill/>
          <a:ln w="31750">
            <a:solidFill>
              <a:srgbClr val="140920"/>
            </a:solidFill>
            <a:prstDash val="solid"/>
            <a:tailEnd type="triangle"/>
          </a:ln>
        </p:spPr>
      </p:sp>
      <p:sp>
        <p:nvSpPr>
          <p:cNvPr id="28" name="onda-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onda-no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onda-modelo-icone-1-circulo"/>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onda-modelo-icone-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onda-modelo-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onda-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onda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onda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seta-1"/>
          <p:cNvSpPr/>
          <p:nvPr/>
        </p:nvSpPr>
        <p:spPr>
          <a:xfrm>
            <a:off x="6983882" y="3575304"/>
            <a:ext cx="144170" cy="0"/>
          </a:xfrm>
          <a:prstGeom prst="line">
            <a:avLst/>
          </a:prstGeom>
          <a:noFill/>
          <a:ln w="31750">
            <a:solidFill>
              <a:srgbClr val="140920"/>
            </a:solidFill>
            <a:prstDash val="solid"/>
            <a:tailEnd type="triangle"/>
          </a:ln>
        </p:spPr>
      </p:sp>
      <p:sp>
        <p:nvSpPr>
          <p:cNvPr id="37" name="onda-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onda-no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onda-modelo-icone-2-circulo"/>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onda-modelo-icone-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onda-modelo-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onda-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suite</a:t>
            </a:r>
            <a:endParaRPr lang="en-US" sz="1500" dirty="0"/>
          </a:p>
        </p:txBody>
      </p:sp>
      <p:sp>
        <p:nvSpPr>
          <p:cNvPr id="43" name="onda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seta-2"/>
          <p:cNvSpPr/>
          <p:nvPr/>
        </p:nvSpPr>
        <p:spPr>
          <a:xfrm>
            <a:off x="9340901" y="3575304"/>
            <a:ext cx="144170" cy="0"/>
          </a:xfrm>
          <a:prstGeom prst="line">
            <a:avLst/>
          </a:prstGeom>
          <a:noFill/>
          <a:ln w="31750">
            <a:solidFill>
              <a:srgbClr val="140920"/>
            </a:solidFill>
            <a:prstDash val="solid"/>
            <a:tailEnd type="triangle"/>
          </a:ln>
        </p:spPr>
      </p:sp>
      <p:sp>
        <p:nvSpPr>
          <p:cNvPr id="45" name="onda-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onda-no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onda-modelo-icone-3-circulo"/>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onda-modelo-icone-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onda-modelo-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onda-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onda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legenda-estado-titulo"/>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card:</a:t>
            </a:r>
            <a:endParaRPr lang="en-US" sz="1300" dirty="0"/>
          </a:p>
        </p:txBody>
      </p:sp>
      <p:sp>
        <p:nvSpPr>
          <p:cNvPr id="53" name="legenda-estado-0"/>
          <p:cNvSpPr/>
          <p:nvPr/>
        </p:nvSpPr>
        <p:spPr>
          <a:xfrm>
            <a:off x="2697831" y="5861304"/>
            <a:ext cx="219456" cy="219456"/>
          </a:xfrm>
          <a:prstGeom prst="rect">
            <a:avLst/>
          </a:prstGeom>
          <a:solidFill>
            <a:srgbClr val="C4C7C1"/>
          </a:solidFill>
          <a:ln w="12700">
            <a:solidFill>
              <a:srgbClr val="C4C7C1"/>
            </a:solidFill>
            <a:prstDash val="solid"/>
          </a:ln>
        </p:spPr>
      </p:sp>
      <p:sp>
        <p:nvSpPr>
          <p:cNvPr id="54" name="legenda-estado-rotulo-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legenda-estado-1"/>
          <p:cNvSpPr/>
          <p:nvPr/>
        </p:nvSpPr>
        <p:spPr>
          <a:xfrm>
            <a:off x="4004326" y="5861304"/>
            <a:ext cx="219456" cy="219456"/>
          </a:xfrm>
          <a:prstGeom prst="rect">
            <a:avLst/>
          </a:prstGeom>
          <a:solidFill>
            <a:srgbClr val="F1C232"/>
          </a:solidFill>
          <a:ln w="12700">
            <a:solidFill>
              <a:srgbClr val="F1C232"/>
            </a:solidFill>
            <a:prstDash val="solid"/>
          </a:ln>
        </p:spPr>
      </p:sp>
      <p:sp>
        <p:nvSpPr>
          <p:cNvPr id="56" name="legenda-estado-rotulo-1"/>
          <p:cNvSpPr txBox="1"/>
          <p:nvPr/>
        </p:nvSpPr>
        <p:spPr>
          <a:xfrm>
            <a:off x="4333510" y="5833872"/>
            <a:ext cx="1704807"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an agent working</a:t>
            </a:r>
            <a:endParaRPr lang="en-US" sz="1300" dirty="0"/>
          </a:p>
        </p:txBody>
      </p:sp>
      <p:sp>
        <p:nvSpPr>
          <p:cNvPr id="57" name="legenda-estado-2"/>
          <p:cNvSpPr/>
          <p:nvPr/>
        </p:nvSpPr>
        <p:spPr>
          <a:xfrm>
            <a:off x="6038317" y="5861304"/>
            <a:ext cx="219456" cy="219456"/>
          </a:xfrm>
          <a:prstGeom prst="rect">
            <a:avLst/>
          </a:prstGeom>
          <a:solidFill>
            <a:srgbClr val="1E9E57"/>
          </a:solidFill>
          <a:ln w="12700">
            <a:solidFill>
              <a:srgbClr val="1E9E57"/>
            </a:solidFill>
            <a:prstDash val="solid"/>
          </a:ln>
        </p:spPr>
      </p:sp>
      <p:sp>
        <p:nvSpPr>
          <p:cNvPr id="58" name="legenda-estado-rotulo-2"/>
          <p:cNvSpPr txBox="1"/>
          <p:nvPr/>
        </p:nvSpPr>
        <p:spPr>
          <a:xfrm>
            <a:off x="6367501"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legenda-estado-3"/>
          <p:cNvSpPr/>
          <p:nvPr/>
        </p:nvSpPr>
        <p:spPr>
          <a:xfrm>
            <a:off x="7668144" y="5861304"/>
            <a:ext cx="219456" cy="219456"/>
          </a:xfrm>
          <a:prstGeom prst="rect">
            <a:avLst/>
          </a:prstGeom>
          <a:solidFill>
            <a:srgbClr val="D2463F"/>
          </a:solidFill>
          <a:ln w="12700">
            <a:solidFill>
              <a:srgbClr val="D2463F"/>
            </a:solidFill>
            <a:prstDash val="solid"/>
          </a:ln>
        </p:spPr>
      </p:sp>
      <p:sp>
        <p:nvSpPr>
          <p:cNvPr id="60" name="legenda-estado-rotulo-3"/>
          <p:cNvSpPr txBox="1"/>
          <p:nvPr/>
        </p:nvSpPr>
        <p:spPr>
          <a:xfrm>
            <a:off x="7997328"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route">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reads the plan and the state and returns the next batch of calls</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bo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launches exactly those calls, all in the same message</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list-checks">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runs the test of each task and decides: green or red</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called by Claude Code</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breaks the task into a graph</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moldura"/>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m" descr="One card: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m-legenda"/>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card: click the line that exposes the secret and confirm.</a:t>
            </a:r>
            <a:endParaRPr lang="en-US" sz="1300" dirty="0"/>
          </a:p>
        </p:txBody>
      </p:sp>
      <p:sp>
        <p:nvSpPr>
          <p:cNvPr id="6" name="apresenta-marca-0-circulo"/>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apresenta-marca-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apresenta-titulo-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apresenta-texto-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apresenta-marca-1-circulo"/>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apresenta-marca-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apresenta-titulo-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card is a challenge</a:t>
            </a:r>
            <a:endParaRPr lang="en-US" sz="1900" dirty="0"/>
          </a:p>
        </p:txBody>
      </p:sp>
      <p:sp>
        <p:nvSpPr>
          <p:cNvPr id="13" name="apresenta-texto-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it in.</a:t>
            </a:r>
            <a:endParaRPr lang="en-US" sz="1500" dirty="0"/>
          </a:p>
        </p:txBody>
      </p:sp>
      <p:sp>
        <p:nvSpPr>
          <p:cNvPr id="14" name="apresenta-marca-2-circulo"/>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apresenta-marca-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apresenta-titulo-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card</a:t>
            </a:r>
            <a:endParaRPr lang="en-US" sz="1900" dirty="0"/>
          </a:p>
        </p:txBody>
      </p:sp>
      <p:sp>
        <p:nvSpPr>
          <p:cNvPr id="17" name="apresenta-texto-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builds one card, and that card's test says whether it is right. In the video: 100 cards. On your laptop: 15.</a:t>
            </a:r>
            <a:endParaRPr lang="en-US" sz="1500" dirty="0"/>
          </a:p>
        </p:txBody>
      </p:sp>
      <p:sp>
        <p:nvSpPr>
          <p:cNvPr id="18" name="legenda-fundo"/>
          <p:cNvSpPr/>
          <p:nvPr/>
        </p:nvSpPr>
        <p:spPr>
          <a:xfrm>
            <a:off x="548640" y="5669280"/>
            <a:ext cx="11094415" cy="502920"/>
          </a:xfrm>
          <a:prstGeom prst="rect">
            <a:avLst/>
          </a:prstGeom>
          <a:solidFill>
            <a:srgbClr val="FFFFFF"/>
          </a:solidFill>
          <a:ln w="12700">
            <a:solidFill>
              <a:srgbClr val="FFFFFF"/>
            </a:solidFill>
            <a:prstDash val="solid"/>
          </a:ln>
        </p:spPr>
      </p:sp>
      <p:sp>
        <p:nvSpPr>
          <p:cNvPr id="19" name="legenda-estado-titulo"/>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card:</a:t>
            </a:r>
            <a:endParaRPr lang="en-US" sz="1300" dirty="0"/>
          </a:p>
        </p:txBody>
      </p:sp>
      <p:sp>
        <p:nvSpPr>
          <p:cNvPr id="20" name="legenda-estado-0"/>
          <p:cNvSpPr/>
          <p:nvPr/>
        </p:nvSpPr>
        <p:spPr>
          <a:xfrm>
            <a:off x="2926431" y="5806440"/>
            <a:ext cx="219456" cy="219456"/>
          </a:xfrm>
          <a:prstGeom prst="rect">
            <a:avLst/>
          </a:prstGeom>
          <a:solidFill>
            <a:srgbClr val="C4C7C1"/>
          </a:solidFill>
          <a:ln w="12700">
            <a:solidFill>
              <a:srgbClr val="C4C7C1"/>
            </a:solidFill>
            <a:prstDash val="solid"/>
          </a:ln>
        </p:spPr>
      </p:sp>
      <p:sp>
        <p:nvSpPr>
          <p:cNvPr id="21" name="legenda-estado-rotulo-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legenda-estado-1"/>
          <p:cNvSpPr/>
          <p:nvPr/>
        </p:nvSpPr>
        <p:spPr>
          <a:xfrm>
            <a:off x="4232926" y="5806440"/>
            <a:ext cx="219456" cy="219456"/>
          </a:xfrm>
          <a:prstGeom prst="rect">
            <a:avLst/>
          </a:prstGeom>
          <a:solidFill>
            <a:srgbClr val="F1C232"/>
          </a:solidFill>
          <a:ln w="12700">
            <a:solidFill>
              <a:srgbClr val="F1C232"/>
            </a:solidFill>
            <a:prstDash val="solid"/>
          </a:ln>
        </p:spPr>
      </p:sp>
      <p:sp>
        <p:nvSpPr>
          <p:cNvPr id="23" name="legenda-estado-rotulo-1"/>
          <p:cNvSpPr txBox="1"/>
          <p:nvPr/>
        </p:nvSpPr>
        <p:spPr>
          <a:xfrm>
            <a:off x="4562110" y="5779008"/>
            <a:ext cx="1704807"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an agent working</a:t>
            </a:r>
            <a:endParaRPr lang="en-US" sz="1300" dirty="0"/>
          </a:p>
        </p:txBody>
      </p:sp>
      <p:sp>
        <p:nvSpPr>
          <p:cNvPr id="24" name="legenda-estado-2"/>
          <p:cNvSpPr/>
          <p:nvPr/>
        </p:nvSpPr>
        <p:spPr>
          <a:xfrm>
            <a:off x="6266917" y="5806440"/>
            <a:ext cx="219456" cy="219456"/>
          </a:xfrm>
          <a:prstGeom prst="rect">
            <a:avLst/>
          </a:prstGeom>
          <a:solidFill>
            <a:srgbClr val="1E9E57"/>
          </a:solidFill>
          <a:ln w="12700">
            <a:solidFill>
              <a:srgbClr val="1E9E57"/>
            </a:solidFill>
            <a:prstDash val="solid"/>
          </a:ln>
        </p:spPr>
      </p:sp>
      <p:sp>
        <p:nvSpPr>
          <p:cNvPr id="25" name="legenda-estado-rotulo-2"/>
          <p:cNvSpPr txBox="1"/>
          <p:nvPr/>
        </p:nvSpPr>
        <p:spPr>
          <a:xfrm>
            <a:off x="6596101"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legenda-estado-3"/>
          <p:cNvSpPr/>
          <p:nvPr/>
        </p:nvSpPr>
        <p:spPr>
          <a:xfrm>
            <a:off x="7896744" y="5806440"/>
            <a:ext cx="219456" cy="219456"/>
          </a:xfrm>
          <a:prstGeom prst="rect">
            <a:avLst/>
          </a:prstGeom>
          <a:solidFill>
            <a:srgbClr val="D2463F"/>
          </a:solidFill>
          <a:ln w="12700">
            <a:solidFill>
              <a:srgbClr val="D2463F"/>
            </a:solidFill>
            <a:prstDash val="solid"/>
          </a:ln>
        </p:spPr>
      </p:sp>
      <p:sp>
        <p:nvSpPr>
          <p:cNvPr id="27" name="legenda-estado-rotulo-3"/>
          <p:cNvSpPr txBox="1"/>
          <p:nvPr/>
        </p:nvSpPr>
        <p:spPr>
          <a:xfrm>
            <a:off x="8225928"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cards, built by agents in parallel. Then you build yours, with 15.</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enx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26664"/>
            <a:ext cx="11094415" cy="3513231"/>
          </a:xfrm>
          <a:prstGeom prst="rect">
            <a:avLst/>
          </a:prstGeom>
        </p:spPr>
      </p:pic>
      <p:sp>
        <p:nvSpPr>
          <p:cNvPr id="4" name="legenda-estado-fundo"/>
          <p:cNvSpPr/>
          <p:nvPr/>
        </p:nvSpPr>
        <p:spPr>
          <a:xfrm>
            <a:off x="548640" y="5139896"/>
            <a:ext cx="11094415" cy="420624"/>
          </a:xfrm>
          <a:prstGeom prst="rect">
            <a:avLst/>
          </a:prstGeom>
          <a:solidFill>
            <a:srgbClr val="140920"/>
          </a:solidFill>
          <a:ln w="12700">
            <a:solidFill>
              <a:srgbClr val="140920"/>
            </a:solidFill>
            <a:prstDash val="solid"/>
          </a:ln>
        </p:spPr>
      </p:sp>
      <p:sp>
        <p:nvSpPr>
          <p:cNvPr id="5" name="legenda-estado-titulo"/>
          <p:cNvSpPr txBox="1"/>
          <p:nvPr/>
        </p:nvSpPr>
        <p:spPr>
          <a:xfrm>
            <a:off x="777240" y="5213048"/>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card:</a:t>
            </a:r>
            <a:endParaRPr lang="en-US" sz="1200" dirty="0"/>
          </a:p>
        </p:txBody>
      </p:sp>
      <p:sp>
        <p:nvSpPr>
          <p:cNvPr id="6" name="legenda-estado-0"/>
          <p:cNvSpPr/>
          <p:nvPr/>
        </p:nvSpPr>
        <p:spPr>
          <a:xfrm>
            <a:off x="2778693" y="5240480"/>
            <a:ext cx="219456" cy="219456"/>
          </a:xfrm>
          <a:prstGeom prst="rect">
            <a:avLst/>
          </a:prstGeom>
          <a:solidFill>
            <a:srgbClr val="3A423E"/>
          </a:solidFill>
          <a:ln w="12700">
            <a:solidFill>
              <a:srgbClr val="3A423E"/>
            </a:solidFill>
            <a:prstDash val="solid"/>
          </a:ln>
        </p:spPr>
      </p:sp>
      <p:sp>
        <p:nvSpPr>
          <p:cNvPr id="7" name="legenda-estado-rotulo-0"/>
          <p:cNvSpPr txBox="1"/>
          <p:nvPr/>
        </p:nvSpPr>
        <p:spPr>
          <a:xfrm>
            <a:off x="3107877" y="5213048"/>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legenda-estado-1"/>
          <p:cNvSpPr/>
          <p:nvPr/>
        </p:nvSpPr>
        <p:spPr>
          <a:xfrm>
            <a:off x="4041663" y="5240480"/>
            <a:ext cx="219456" cy="219456"/>
          </a:xfrm>
          <a:prstGeom prst="rect">
            <a:avLst/>
          </a:prstGeom>
          <a:solidFill>
            <a:srgbClr val="F1C232"/>
          </a:solidFill>
          <a:ln w="12700">
            <a:solidFill>
              <a:srgbClr val="F1C232"/>
            </a:solidFill>
            <a:prstDash val="solid"/>
          </a:ln>
        </p:spPr>
      </p:sp>
      <p:sp>
        <p:nvSpPr>
          <p:cNvPr id="9" name="legenda-estado-rotulo-1"/>
          <p:cNvSpPr txBox="1"/>
          <p:nvPr/>
        </p:nvSpPr>
        <p:spPr>
          <a:xfrm>
            <a:off x="4370847" y="5213048"/>
            <a:ext cx="1605321"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an agent working</a:t>
            </a:r>
            <a:endParaRPr lang="en-US" sz="1200" dirty="0"/>
          </a:p>
        </p:txBody>
      </p:sp>
      <p:sp>
        <p:nvSpPr>
          <p:cNvPr id="10" name="legenda-estado-2"/>
          <p:cNvSpPr/>
          <p:nvPr/>
        </p:nvSpPr>
        <p:spPr>
          <a:xfrm>
            <a:off x="5976167" y="5240480"/>
            <a:ext cx="219456" cy="219456"/>
          </a:xfrm>
          <a:prstGeom prst="rect">
            <a:avLst/>
          </a:prstGeom>
          <a:solidFill>
            <a:srgbClr val="2FBF6C"/>
          </a:solidFill>
          <a:ln w="12700">
            <a:solidFill>
              <a:srgbClr val="2FBF6C"/>
            </a:solidFill>
            <a:prstDash val="solid"/>
          </a:ln>
        </p:spPr>
      </p:sp>
      <p:sp>
        <p:nvSpPr>
          <p:cNvPr id="11" name="legenda-estado-rotulo-2"/>
          <p:cNvSpPr txBox="1"/>
          <p:nvPr/>
        </p:nvSpPr>
        <p:spPr>
          <a:xfrm>
            <a:off x="6305351"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legenda-estado-3"/>
          <p:cNvSpPr/>
          <p:nvPr/>
        </p:nvSpPr>
        <p:spPr>
          <a:xfrm>
            <a:off x="7537597" y="5240480"/>
            <a:ext cx="219456" cy="219456"/>
          </a:xfrm>
          <a:prstGeom prst="rect">
            <a:avLst/>
          </a:prstGeom>
          <a:solidFill>
            <a:srgbClr val="EF5B52"/>
          </a:solidFill>
          <a:ln w="12700">
            <a:solidFill>
              <a:srgbClr val="EF5B52"/>
            </a:solidFill>
            <a:prstDash val="solid"/>
          </a:ln>
        </p:spPr>
      </p:sp>
      <p:sp>
        <p:nvSpPr>
          <p:cNvPr id="13" name="legenda-estado-rotulo-3"/>
          <p:cNvSpPr txBox="1"/>
          <p:nvPr/>
        </p:nvSpPr>
        <p:spPr>
          <a:xfrm>
            <a:off x="7866781"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legenda"/>
          <p:cNvSpPr txBox="1"/>
          <p:nvPr/>
        </p:nvSpPr>
        <p:spPr>
          <a:xfrm>
            <a:off x="548640" y="5706824"/>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Real recorded run: 6.9 min · US$ 2.55 · 107 agents</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a game to play</a:t>
            </a:r>
            <a:endParaRPr lang="en-US" sz="3200" dirty="0"/>
          </a:p>
        </p:txBody>
      </p:sp>
      <p:pic>
        <p:nvPicPr>
          <p:cNvPr id="3" name="video-jog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legenda"/>
          <p:cNvSpPr txBox="1"/>
          <p:nvPr/>
        </p:nvSpPr>
        <p:spPr>
          <a:xfrm>
            <a:off x="548640" y="5897880"/>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is ready and what is missing</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app shell, 4 card templates and one test for each card</a:t>
            </a:r>
            <a:endParaRPr lang="en-US" sz="1900" dirty="0"/>
          </a:p>
        </p:txBody>
      </p:sp>
      <p:sp>
        <p:nvSpPr>
          <p:cNvPr id="7"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ca-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15 cards, lib/hash and two pages</a:t>
            </a:r>
            <a:endParaRPr lang="en-US" sz="1900" dirty="0"/>
          </a:p>
        </p:txBody>
      </p:sp>
      <p:sp>
        <p:nvSpPr>
          <p:cNvPr id="11"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ca-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your swarm: Haiku, Sonnet and Opus</a:t>
            </a:r>
            <a:endParaRPr lang="en-US" sz="1900" dirty="0"/>
          </a:p>
        </p:txBody>
      </p:sp>
      <p:sp>
        <p:nvSpPr>
          <p:cNvPr id="15" name="legenda-estado-titulo"/>
          <p:cNvSpPr txBox="1"/>
          <p:nvPr/>
        </p:nvSpPr>
        <p:spPr>
          <a:xfrm>
            <a:off x="548640" y="5623560"/>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card:</a:t>
            </a:r>
            <a:endParaRPr lang="en-US" sz="1300" dirty="0"/>
          </a:p>
        </p:txBody>
      </p:sp>
      <p:sp>
        <p:nvSpPr>
          <p:cNvPr id="16" name="legenda-estado-0"/>
          <p:cNvSpPr/>
          <p:nvPr/>
        </p:nvSpPr>
        <p:spPr>
          <a:xfrm>
            <a:off x="2697831" y="5650992"/>
            <a:ext cx="219456" cy="219456"/>
          </a:xfrm>
          <a:prstGeom prst="rect">
            <a:avLst/>
          </a:prstGeom>
          <a:solidFill>
            <a:srgbClr val="C4C7C1"/>
          </a:solidFill>
          <a:ln w="12700">
            <a:solidFill>
              <a:srgbClr val="C4C7C1"/>
            </a:solidFill>
            <a:prstDash val="solid"/>
          </a:ln>
        </p:spPr>
      </p:sp>
      <p:sp>
        <p:nvSpPr>
          <p:cNvPr id="17" name="legenda-estado-rotulo-0"/>
          <p:cNvSpPr txBox="1"/>
          <p:nvPr/>
        </p:nvSpPr>
        <p:spPr>
          <a:xfrm>
            <a:off x="3027015" y="5623560"/>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18" name="legenda-estado-1"/>
          <p:cNvSpPr/>
          <p:nvPr/>
        </p:nvSpPr>
        <p:spPr>
          <a:xfrm>
            <a:off x="4004326" y="5650992"/>
            <a:ext cx="219456" cy="219456"/>
          </a:xfrm>
          <a:prstGeom prst="rect">
            <a:avLst/>
          </a:prstGeom>
          <a:solidFill>
            <a:srgbClr val="F1C232"/>
          </a:solidFill>
          <a:ln w="12700">
            <a:solidFill>
              <a:srgbClr val="F1C232"/>
            </a:solidFill>
            <a:prstDash val="solid"/>
          </a:ln>
        </p:spPr>
      </p:sp>
      <p:sp>
        <p:nvSpPr>
          <p:cNvPr id="19" name="legenda-estado-rotulo-1"/>
          <p:cNvSpPr txBox="1"/>
          <p:nvPr/>
        </p:nvSpPr>
        <p:spPr>
          <a:xfrm>
            <a:off x="4333510" y="5623560"/>
            <a:ext cx="1704807"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an agent working</a:t>
            </a:r>
            <a:endParaRPr lang="en-US" sz="1300" dirty="0"/>
          </a:p>
        </p:txBody>
      </p:sp>
      <p:sp>
        <p:nvSpPr>
          <p:cNvPr id="20" name="legenda-estado-2"/>
          <p:cNvSpPr/>
          <p:nvPr/>
        </p:nvSpPr>
        <p:spPr>
          <a:xfrm>
            <a:off x="6038317" y="5650992"/>
            <a:ext cx="219456" cy="219456"/>
          </a:xfrm>
          <a:prstGeom prst="rect">
            <a:avLst/>
          </a:prstGeom>
          <a:solidFill>
            <a:srgbClr val="1E9E57"/>
          </a:solidFill>
          <a:ln w="12700">
            <a:solidFill>
              <a:srgbClr val="1E9E57"/>
            </a:solidFill>
            <a:prstDash val="solid"/>
          </a:ln>
        </p:spPr>
      </p:sp>
      <p:sp>
        <p:nvSpPr>
          <p:cNvPr id="21" name="legenda-estado-rotulo-2"/>
          <p:cNvSpPr txBox="1"/>
          <p:nvPr/>
        </p:nvSpPr>
        <p:spPr>
          <a:xfrm>
            <a:off x="6367501" y="5623560"/>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2" name="legenda-estado-3"/>
          <p:cNvSpPr/>
          <p:nvPr/>
        </p:nvSpPr>
        <p:spPr>
          <a:xfrm>
            <a:off x="7668144" y="5650992"/>
            <a:ext cx="219456" cy="219456"/>
          </a:xfrm>
          <a:prstGeom prst="rect">
            <a:avLst/>
          </a:prstGeom>
          <a:solidFill>
            <a:srgbClr val="D2463F"/>
          </a:solidFill>
          <a:ln w="12700">
            <a:solidFill>
              <a:srgbClr val="D2463F"/>
            </a:solidFill>
            <a:prstDash val="solid"/>
          </a:ln>
        </p:spPr>
      </p:sp>
      <p:sp>
        <p:nvSpPr>
          <p:cNvPr id="23" name="legenda-estado-rotulo-3"/>
          <p:cNvSpPr txBox="1"/>
          <p:nvPr/>
        </p:nvSpPr>
        <p:spPr>
          <a:xfrm>
            <a:off x="7997328" y="5623560"/>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igo-fundo"/>
          <p:cNvSpPr/>
          <p:nvPr/>
        </p:nvSpPr>
        <p:spPr>
          <a:xfrm>
            <a:off x="548640" y="1508760"/>
            <a:ext cx="5760720" cy="3149194"/>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igo"/>
          <p:cNvSpPr txBox="1"/>
          <p:nvPr/>
        </p:nvSpPr>
        <p:spPr>
          <a:xfrm>
            <a:off x="777240" y="2039112"/>
            <a:ext cx="5303520" cy="2481682"/>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node tools/*,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scroll-text">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workflow">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TASKS.md, the Arena tasks. Out: plan.json and PLANO.md, the graph with the dependencies, the waves and the cost estimate.</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trust the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igo-fundo"/>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US$ 1.00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onda-0"/>
          <p:cNvSpPr/>
          <p:nvPr/>
        </p:nvSpPr>
        <p:spPr>
          <a:xfrm>
            <a:off x="548640" y="1600200"/>
            <a:ext cx="4023360" cy="4069080"/>
          </a:xfrm>
          <a:prstGeom prst="rect">
            <a:avLst/>
          </a:prstGeom>
          <a:solidFill>
            <a:srgbClr val="FFFFFF"/>
          </a:solidFill>
          <a:ln w="12700">
            <a:solidFill>
              <a:srgbClr val="FFFFFF"/>
            </a:solidFill>
            <a:prstDash val="solid"/>
          </a:ln>
        </p:spPr>
      </p:sp>
      <p:sp>
        <p:nvSpPr>
          <p:cNvPr id="4" name="onda-no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modelo-icone-0-circulo"/>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onda-modelo-icone-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onda-modelo-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onda-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15 cards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rotulo"/>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cartao-0"/>
          <p:cNvSpPr/>
          <p:nvPr/>
        </p:nvSpPr>
        <p:spPr>
          <a:xfrm>
            <a:off x="822960" y="3931920"/>
            <a:ext cx="384048" cy="384048"/>
          </a:xfrm>
          <a:prstGeom prst="rect">
            <a:avLst/>
          </a:prstGeom>
          <a:solidFill>
            <a:srgbClr val="1E9E57"/>
          </a:solidFill>
          <a:ln w="12700">
            <a:solidFill>
              <a:srgbClr val="1E9E57"/>
            </a:solidFill>
            <a:prstDash val="solid"/>
          </a:ln>
        </p:spPr>
      </p:sp>
      <p:sp>
        <p:nvSpPr>
          <p:cNvPr id="12" name="cartao-1"/>
          <p:cNvSpPr/>
          <p:nvPr/>
        </p:nvSpPr>
        <p:spPr>
          <a:xfrm>
            <a:off x="1389888" y="3931920"/>
            <a:ext cx="384048" cy="384048"/>
          </a:xfrm>
          <a:prstGeom prst="rect">
            <a:avLst/>
          </a:prstGeom>
          <a:solidFill>
            <a:srgbClr val="1E9E57"/>
          </a:solidFill>
          <a:ln w="12700">
            <a:solidFill>
              <a:srgbClr val="1E9E57"/>
            </a:solidFill>
            <a:prstDash val="solid"/>
          </a:ln>
        </p:spPr>
      </p:sp>
      <p:sp>
        <p:nvSpPr>
          <p:cNvPr id="13" name="cartao-2"/>
          <p:cNvSpPr/>
          <p:nvPr/>
        </p:nvSpPr>
        <p:spPr>
          <a:xfrm>
            <a:off x="1956816" y="3931920"/>
            <a:ext cx="384048" cy="384048"/>
          </a:xfrm>
          <a:prstGeom prst="rect">
            <a:avLst/>
          </a:prstGeom>
          <a:solidFill>
            <a:srgbClr val="F1C232"/>
          </a:solidFill>
          <a:ln w="12700">
            <a:solidFill>
              <a:srgbClr val="F1C232"/>
            </a:solidFill>
            <a:prstDash val="solid"/>
          </a:ln>
        </p:spPr>
      </p:sp>
      <p:sp>
        <p:nvSpPr>
          <p:cNvPr id="14" name="cartao-3"/>
          <p:cNvSpPr/>
          <p:nvPr/>
        </p:nvSpPr>
        <p:spPr>
          <a:xfrm>
            <a:off x="2523744" y="3931920"/>
            <a:ext cx="384048" cy="384048"/>
          </a:xfrm>
          <a:prstGeom prst="rect">
            <a:avLst/>
          </a:prstGeom>
          <a:solidFill>
            <a:srgbClr val="1E9E57"/>
          </a:solidFill>
          <a:ln w="12700">
            <a:solidFill>
              <a:srgbClr val="1E9E57"/>
            </a:solidFill>
            <a:prstDash val="solid"/>
          </a:ln>
        </p:spPr>
      </p:sp>
      <p:sp>
        <p:nvSpPr>
          <p:cNvPr id="15" name="cartao-4"/>
          <p:cNvSpPr/>
          <p:nvPr/>
        </p:nvSpPr>
        <p:spPr>
          <a:xfrm>
            <a:off x="3090672" y="3931920"/>
            <a:ext cx="384048" cy="384048"/>
          </a:xfrm>
          <a:prstGeom prst="rect">
            <a:avLst/>
          </a:prstGeom>
          <a:solidFill>
            <a:srgbClr val="1E9E57"/>
          </a:solidFill>
          <a:ln w="12700">
            <a:solidFill>
              <a:srgbClr val="1E9E57"/>
            </a:solidFill>
            <a:prstDash val="solid"/>
          </a:ln>
        </p:spPr>
      </p:sp>
      <p:sp>
        <p:nvSpPr>
          <p:cNvPr id="16" name="cartao-5"/>
          <p:cNvSpPr/>
          <p:nvPr/>
        </p:nvSpPr>
        <p:spPr>
          <a:xfrm>
            <a:off x="3657600" y="3931920"/>
            <a:ext cx="384048" cy="384048"/>
          </a:xfrm>
          <a:prstGeom prst="rect">
            <a:avLst/>
          </a:prstGeom>
          <a:solidFill>
            <a:srgbClr val="F1C232"/>
          </a:solidFill>
          <a:ln w="12700">
            <a:solidFill>
              <a:srgbClr val="F1C232"/>
            </a:solidFill>
            <a:prstDash val="solid"/>
          </a:ln>
        </p:spPr>
      </p:sp>
      <p:sp>
        <p:nvSpPr>
          <p:cNvPr id="17" name="cartao-6"/>
          <p:cNvSpPr/>
          <p:nvPr/>
        </p:nvSpPr>
        <p:spPr>
          <a:xfrm>
            <a:off x="822960" y="4434840"/>
            <a:ext cx="384048" cy="384048"/>
          </a:xfrm>
          <a:prstGeom prst="rect">
            <a:avLst/>
          </a:prstGeom>
          <a:solidFill>
            <a:srgbClr val="1E9E57"/>
          </a:solidFill>
          <a:ln w="12700">
            <a:solidFill>
              <a:srgbClr val="1E9E57"/>
            </a:solidFill>
            <a:prstDash val="solid"/>
          </a:ln>
        </p:spPr>
      </p:sp>
      <p:sp>
        <p:nvSpPr>
          <p:cNvPr id="18" name="cartao-7"/>
          <p:cNvSpPr/>
          <p:nvPr/>
        </p:nvSpPr>
        <p:spPr>
          <a:xfrm>
            <a:off x="1389888" y="4434840"/>
            <a:ext cx="384048" cy="384048"/>
          </a:xfrm>
          <a:prstGeom prst="rect">
            <a:avLst/>
          </a:prstGeom>
          <a:solidFill>
            <a:srgbClr val="1E9E57"/>
          </a:solidFill>
          <a:ln w="12700">
            <a:solidFill>
              <a:srgbClr val="1E9E57"/>
            </a:solidFill>
            <a:prstDash val="solid"/>
          </a:ln>
        </p:spPr>
      </p:sp>
      <p:sp>
        <p:nvSpPr>
          <p:cNvPr id="19" name="cartao-8"/>
          <p:cNvSpPr/>
          <p:nvPr/>
        </p:nvSpPr>
        <p:spPr>
          <a:xfrm>
            <a:off x="1956816" y="4434840"/>
            <a:ext cx="384048" cy="384048"/>
          </a:xfrm>
          <a:prstGeom prst="rect">
            <a:avLst/>
          </a:prstGeom>
          <a:solidFill>
            <a:srgbClr val="F1C232"/>
          </a:solidFill>
          <a:ln w="12700">
            <a:solidFill>
              <a:srgbClr val="F1C232"/>
            </a:solidFill>
            <a:prstDash val="solid"/>
          </a:ln>
        </p:spPr>
      </p:sp>
      <p:sp>
        <p:nvSpPr>
          <p:cNvPr id="20" name="cartao-9"/>
          <p:cNvSpPr/>
          <p:nvPr/>
        </p:nvSpPr>
        <p:spPr>
          <a:xfrm>
            <a:off x="2523744" y="4434840"/>
            <a:ext cx="384048" cy="384048"/>
          </a:xfrm>
          <a:prstGeom prst="rect">
            <a:avLst/>
          </a:prstGeom>
          <a:solidFill>
            <a:srgbClr val="1E9E57"/>
          </a:solidFill>
          <a:ln w="12700">
            <a:solidFill>
              <a:srgbClr val="1E9E57"/>
            </a:solidFill>
            <a:prstDash val="solid"/>
          </a:ln>
        </p:spPr>
      </p:sp>
      <p:sp>
        <p:nvSpPr>
          <p:cNvPr id="21" name="cartao-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cartao-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i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i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i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ipto-rotulo"/>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cryptography:</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waits for lib-hash</a:t>
            </a:r>
            <a:endParaRPr lang="en-US" sz="1200" dirty="0"/>
          </a:p>
        </p:txBody>
      </p:sp>
      <p:sp>
        <p:nvSpPr>
          <p:cNvPr id="27" name="seta-0"/>
          <p:cNvSpPr/>
          <p:nvPr/>
        </p:nvSpPr>
        <p:spPr>
          <a:xfrm>
            <a:off x="4626864" y="3575304"/>
            <a:ext cx="144170" cy="0"/>
          </a:xfrm>
          <a:prstGeom prst="line">
            <a:avLst/>
          </a:prstGeom>
          <a:noFill/>
          <a:ln w="31750">
            <a:solidFill>
              <a:srgbClr val="140920"/>
            </a:solidFill>
            <a:prstDash val="solid"/>
            <a:tailEnd type="triangle"/>
          </a:ln>
        </p:spPr>
      </p:sp>
      <p:sp>
        <p:nvSpPr>
          <p:cNvPr id="28" name="onda-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onda-no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onda-modelo-icone-1-circulo"/>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onda-modelo-icone-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onda-modelo-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onda-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onda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onda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seta-1"/>
          <p:cNvSpPr/>
          <p:nvPr/>
        </p:nvSpPr>
        <p:spPr>
          <a:xfrm>
            <a:off x="6983882" y="3575304"/>
            <a:ext cx="144170" cy="0"/>
          </a:xfrm>
          <a:prstGeom prst="line">
            <a:avLst/>
          </a:prstGeom>
          <a:noFill/>
          <a:ln w="31750">
            <a:solidFill>
              <a:srgbClr val="140920"/>
            </a:solidFill>
            <a:prstDash val="solid"/>
            <a:tailEnd type="triangle"/>
          </a:ln>
        </p:spPr>
      </p:sp>
      <p:sp>
        <p:nvSpPr>
          <p:cNvPr id="37" name="onda-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onda-no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onda-modelo-icone-2-circulo"/>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onda-modelo-icone-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onda-modelo-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onda-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suite</a:t>
            </a:r>
            <a:endParaRPr lang="en-US" sz="1500" dirty="0"/>
          </a:p>
        </p:txBody>
      </p:sp>
      <p:sp>
        <p:nvSpPr>
          <p:cNvPr id="43" name="onda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seta-2"/>
          <p:cNvSpPr/>
          <p:nvPr/>
        </p:nvSpPr>
        <p:spPr>
          <a:xfrm>
            <a:off x="9340901" y="3575304"/>
            <a:ext cx="144170" cy="0"/>
          </a:xfrm>
          <a:prstGeom prst="line">
            <a:avLst/>
          </a:prstGeom>
          <a:noFill/>
          <a:ln w="31750">
            <a:solidFill>
              <a:srgbClr val="140920"/>
            </a:solidFill>
            <a:prstDash val="solid"/>
            <a:tailEnd type="triangle"/>
          </a:ln>
        </p:spPr>
      </p:sp>
      <p:sp>
        <p:nvSpPr>
          <p:cNvPr id="45" name="onda-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onda-no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onda-modelo-icone-3-circulo"/>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onda-modelo-icone-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onda-modelo-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onda-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onda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legenda-estado-titulo"/>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card:</a:t>
            </a:r>
            <a:endParaRPr lang="en-US" sz="1300" dirty="0"/>
          </a:p>
        </p:txBody>
      </p:sp>
      <p:sp>
        <p:nvSpPr>
          <p:cNvPr id="53" name="legenda-estado-0"/>
          <p:cNvSpPr/>
          <p:nvPr/>
        </p:nvSpPr>
        <p:spPr>
          <a:xfrm>
            <a:off x="2697831" y="5861304"/>
            <a:ext cx="219456" cy="219456"/>
          </a:xfrm>
          <a:prstGeom prst="rect">
            <a:avLst/>
          </a:prstGeom>
          <a:solidFill>
            <a:srgbClr val="C4C7C1"/>
          </a:solidFill>
          <a:ln w="12700">
            <a:solidFill>
              <a:srgbClr val="C4C7C1"/>
            </a:solidFill>
            <a:prstDash val="solid"/>
          </a:ln>
        </p:spPr>
      </p:sp>
      <p:sp>
        <p:nvSpPr>
          <p:cNvPr id="54" name="legenda-estado-rotulo-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legenda-estado-1"/>
          <p:cNvSpPr/>
          <p:nvPr/>
        </p:nvSpPr>
        <p:spPr>
          <a:xfrm>
            <a:off x="4004326" y="5861304"/>
            <a:ext cx="219456" cy="219456"/>
          </a:xfrm>
          <a:prstGeom prst="rect">
            <a:avLst/>
          </a:prstGeom>
          <a:solidFill>
            <a:srgbClr val="F1C232"/>
          </a:solidFill>
          <a:ln w="12700">
            <a:solidFill>
              <a:srgbClr val="F1C232"/>
            </a:solidFill>
            <a:prstDash val="solid"/>
          </a:ln>
        </p:spPr>
      </p:sp>
      <p:sp>
        <p:nvSpPr>
          <p:cNvPr id="56" name="legenda-estado-rotulo-1"/>
          <p:cNvSpPr txBox="1"/>
          <p:nvPr/>
        </p:nvSpPr>
        <p:spPr>
          <a:xfrm>
            <a:off x="4333510" y="5833872"/>
            <a:ext cx="1704807"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an agent working</a:t>
            </a:r>
            <a:endParaRPr lang="en-US" sz="1300" dirty="0"/>
          </a:p>
        </p:txBody>
      </p:sp>
      <p:sp>
        <p:nvSpPr>
          <p:cNvPr id="57" name="legenda-estado-2"/>
          <p:cNvSpPr/>
          <p:nvPr/>
        </p:nvSpPr>
        <p:spPr>
          <a:xfrm>
            <a:off x="6038317" y="5861304"/>
            <a:ext cx="219456" cy="219456"/>
          </a:xfrm>
          <a:prstGeom prst="rect">
            <a:avLst/>
          </a:prstGeom>
          <a:solidFill>
            <a:srgbClr val="1E9E57"/>
          </a:solidFill>
          <a:ln w="12700">
            <a:solidFill>
              <a:srgbClr val="1E9E57"/>
            </a:solidFill>
            <a:prstDash val="solid"/>
          </a:ln>
        </p:spPr>
      </p:sp>
      <p:sp>
        <p:nvSpPr>
          <p:cNvPr id="58" name="legenda-estado-rotulo-2"/>
          <p:cNvSpPr txBox="1"/>
          <p:nvPr/>
        </p:nvSpPr>
        <p:spPr>
          <a:xfrm>
            <a:off x="6367501"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legenda-estado-3"/>
          <p:cNvSpPr/>
          <p:nvPr/>
        </p:nvSpPr>
        <p:spPr>
          <a:xfrm>
            <a:off x="7668144" y="5861304"/>
            <a:ext cx="219456" cy="219456"/>
          </a:xfrm>
          <a:prstGeom prst="rect">
            <a:avLst/>
          </a:prstGeom>
          <a:solidFill>
            <a:srgbClr val="D2463F"/>
          </a:solidFill>
          <a:ln w="12700">
            <a:solidFill>
              <a:srgbClr val="D2463F"/>
            </a:solidFill>
            <a:prstDash val="solid"/>
          </a:ln>
        </p:spPr>
      </p:sp>
      <p:sp>
        <p:nvSpPr>
          <p:cNvPr id="60" name="legenda-estado-rotulo-3"/>
          <p:cNvSpPr txBox="1"/>
          <p:nvPr/>
        </p:nvSpPr>
        <p:spPr>
          <a:xfrm>
            <a:off x="7997328"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igo-fundo"/>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igo"/>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card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route">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bo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card and that card's test, and uses the right model: Haiku for the bulk.</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/estado</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igo-fundo"/>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http://localhost:3000/estado: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While the swarm works, in Terminal 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Use /btw for a side question</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/btw why does cr-01 wait for lib-hash?</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that does not enter the conversation or stop the swarm</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signals, a script reacts</a:t>
            </a:r>
            <a:endParaRPr lang="en-US" sz="3200" dirty="0"/>
          </a:p>
        </p:txBody>
      </p:sp>
      <p:sp>
        <p:nvSpPr>
          <p:cNvPr id="3" name="codigo-fundo"/>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igo"/>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targe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Statusline: the status line is a script</a:t>
            </a:r>
            <a:endParaRPr lang="en-US" sz="3200" dirty="0"/>
          </a:p>
        </p:txBody>
      </p:sp>
      <p:sp>
        <p:nvSpPr>
          <p:cNvPr id="3" name="codigo-fundo"/>
          <p:cNvSpPr/>
          <p:nvPr/>
        </p:nvSpPr>
        <p:spPr>
          <a:xfrm>
            <a:off x="548640" y="1508760"/>
            <a:ext cx="5760720" cy="2194560"/>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igo"/>
          <p:cNvSpPr txBox="1"/>
          <p:nvPr/>
        </p:nvSpPr>
        <p:spPr>
          <a:xfrm>
            <a:off x="777240" y="2039112"/>
            <a:ext cx="5303520" cy="152704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Code ── session JSON ──▶ statusline.mjs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statusline.mjs ──── one line ────▶ screen</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Sonnet · session US$ 0.42 · project US$ 1.10 / 5</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3 min · swarm 12/15</a:t>
            </a:r>
            <a:endParaRPr lang="en-US" sz="14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gauge">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Terminal 2: three features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igo-fundo"/>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igo"/>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igo-fundo"/>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igo"/>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PLANO.md in one sentence" --model claude-haiku-5-5</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No changes made,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git-for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git-branch">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calendar-clock">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red squares at the end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Let a /loop work for you</a:t>
            </a:r>
            <a:endParaRPr lang="en-US" sz="2000" dirty="0"/>
          </a:p>
        </p:txBody>
      </p:sp>
      <p:sp>
        <p:nvSpPr>
          <p:cNvPr id="6" name="codigo-fundo"/>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tools/check-integracao.mjs and fix the first red test with the implementer; stop when everything is green</a:t>
            </a:r>
            <a:endParaRPr lang="en-US" sz="14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verdict of the reviewer (Opus)</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APROVADO, with tests, CSP,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Haiku with the orchestrator</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US$ 1.02</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card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Green cards you can play;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moldura"/>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m" descr="Search by ticket or epic (e.g. ARENA-1): lessons, do, don'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ticket or epic (e.g. ARENA-1):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Memória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igo-fundo"/>
          <p:cNvSpPr/>
          <p:nvPr/>
        </p:nvSpPr>
        <p:spPr>
          <a:xfrm>
            <a:off x="4937760" y="1920240"/>
            <a:ext cx="6705295" cy="1000811"/>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33299"/>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open ~/Applications/Memória.app   (or: memoria)</a:t>
            </a:r>
            <a:endParaRPr lang="en-US" sz="1700" dirty="0"/>
          </a:p>
        </p:txBody>
      </p:sp>
      <p:sp>
        <p:nvSpPr>
          <p:cNvPr id="9" name="codigo-fundo"/>
          <p:cNvSpPr/>
          <p:nvPr/>
        </p:nvSpPr>
        <p:spPr>
          <a:xfrm>
            <a:off x="4937760" y="3149651"/>
            <a:ext cx="6705295" cy="1051560"/>
          </a:xfrm>
          <a:prstGeom prst="rect">
            <a:avLst/>
          </a:prstGeom>
          <a:solidFill>
            <a:srgbClr val="140920"/>
          </a:solidFill>
          <a:ln w="12700">
            <a:solidFill>
              <a:srgbClr val="140920"/>
            </a:solidFill>
            <a:prstDash val="solid"/>
          </a:ln>
        </p:spPr>
      </p:sp>
      <p:sp>
        <p:nvSpPr>
          <p:cNvPr id="10" name="codigo-rotulo"/>
          <p:cNvSpPr txBox="1"/>
          <p:nvPr/>
        </p:nvSpPr>
        <p:spPr>
          <a:xfrm>
            <a:off x="5166360" y="333253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80003"/>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Memória   (or: memoria)</a:t>
            </a:r>
            <a:endParaRPr lang="en-US" sz="20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Jira or GitHub issue</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your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or GitHub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igo-fundo"/>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igo"/>
          <p:cNvSpPr txBox="1"/>
          <p:nvPr/>
        </p:nvSpPr>
        <p:spPr>
          <a:xfrm>
            <a:off x="5166360" y="24505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&lt;your repository&gt;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ABC-123</a:t>
            </a:r>
            <a:endParaRPr lang="en-US" sz="1800" dirty="0"/>
          </a:p>
        </p:txBody>
      </p:sp>
      <p:sp>
        <p:nvSpPr>
          <p:cNvPr id="9" name="codigo-fundo"/>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igo-rotulo"/>
          <p:cNvSpPr txBox="1"/>
          <p:nvPr/>
        </p:nvSpPr>
        <p:spPr>
          <a:xfrm>
            <a:off x="5166360" y="39319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igo"/>
          <p:cNvSpPr txBox="1"/>
          <p:nvPr/>
        </p:nvSpPr>
        <p:spPr>
          <a:xfrm>
            <a:off x="5166360" y="42793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~/workshop-claude/exemplo-projeto-real</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issues/EX-1.json</a:t>
            </a:r>
            <a:endParaRPr lang="en-US" sz="18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Watch the dashboard in another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igo-fundo"/>
          <p:cNvSpPr/>
          <p:nvPr/>
        </p:nvSpPr>
        <p:spPr>
          <a:xfrm>
            <a:off x="4937760" y="3200400"/>
            <a:ext cx="6705295" cy="983894"/>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316382"/>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node ~/.workshop-claude/kit/orquestrador/painel.mjs</a:t>
            </a:r>
            <a:endParaRPr lang="en-US" sz="16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ticket">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MCP with login in /mcp; if it fails, the Atlassian CLI (acli auth login)</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git-pull-reques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gh auth login: less context than an MCP and no shared tokens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user-check">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comments, worklog and PR only after your yes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secrets, dangerous code and the Opus verdict</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one comment per subtask, with agent, model, time and cost, and the worklog. GitHub: the PR</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/memoria</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lessons from this task stay for the next one</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a-numero-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a-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a-numero-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a-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a-numero-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a-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400" dirty="0"/>
          </a:p>
        </p:txBody>
      </p:sp>
      <p:sp>
        <p:nvSpPr>
          <p:cNvPr id="9" name="lista-numero-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a-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cost is not guessed</a:t>
            </a:r>
            <a:endParaRPr lang="en-US" sz="2400" dirty="0"/>
          </a:p>
        </p:txBody>
      </p:sp>
      <p:sp>
        <p:nvSpPr>
          <p:cNvPr id="11" name="lista-numero-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a-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a-numero-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a-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a-numero-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a-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a-numero-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a-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Memória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rodape"/>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2026-10-16T18:36:43Z</dcterms:created>
  <dcterms:modified xsi:type="dcterms:W3CDTF">2026-10-16T18:36:43Z</dcterms:modified>
</cp:coreProperties>
</file>