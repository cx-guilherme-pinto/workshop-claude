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b4af70-d772-2265-3089-425564eee516}">
          <p14:sldIdLst>
            <p14:sldId id="256"/>
            <p14:sldId id="257"/>
            <p14:sldId id="258"/>
          </p14:sldIdLst>
        </p14:section>
        <p14:section name="Install" id="{c6cc6bed-7d7c-2757-d0e3-7a94134512a8}">
          <p14:sldIdLst>
            <p14:sldId id="259"/>
            <p14:sldId id="260"/>
            <p14:sldId id="261"/>
          </p14:sldIdLst>
        </p14:section>
        <p14:section name="Concepts" id="{d177fadf-12c1-ce03-102a-b19a03631030}">
          <p14:sldIdLst>
            <p14:sldId id="262"/>
            <p14:sldId id="263"/>
            <p14:sldId id="264"/>
            <p14:sldId id="265"/>
            <p14:sldId id="266"/>
            <p14:sldId id="267"/>
            <p14:sldId id="268"/>
            <p14:sldId id="269"/>
            <p14:sldId id="270"/>
          </p14:sldIdLst>
        </p14:section>
        <p14:section name="Preview" id="{6d67ec52-9c1f-9ea7-c700-19356342ccb5}">
          <p14:sldIdLst>
            <p14:sldId id="271"/>
            <p14:sldId id="272"/>
            <p14:sldId id="273"/>
            <p14:sldId id="274"/>
          </p14:sldIdLst>
        </p14:section>
        <p14:section name="Project 1" id="{2b5dbd94-6803-21aa-f98c-d7c18f41bc1b}">
          <p14:sldIdLst>
            <p14:sldId id="275"/>
            <p14:sldId id="276"/>
            <p14:sldId id="277"/>
            <p14:sldId id="278"/>
            <p14:sldId id="279"/>
            <p14:sldId id="280"/>
            <p14:sldId id="281"/>
            <p14:sldId id="282"/>
            <p14:sldId id="283"/>
            <p14:sldId id="284"/>
            <p14:sldId id="285"/>
            <p14:sldId id="286"/>
            <p14:sldId id="287"/>
            <p14:sldId id="288"/>
            <p14:sldId id="289"/>
            <p14:sldId id="290"/>
          </p14:sldIdLst>
        </p14:section>
        <p14:section name="Memory" id="{ab979270-dd77-1a54-1184-761e78870af6}">
          <p14:sldIdLst>
            <p14:sldId id="291"/>
            <p14:sldId id="292"/>
          </p14:sldIdLst>
        </p14:section>
        <p14:section name="Project 2" id="{7ff962b0-6032-3fbd-04c1-27637ff489fb}">
          <p14:sldIdLst>
            <p14:sldId id="293"/>
            <p14:sldId id="294"/>
            <p14:sldId id="295"/>
            <p14:sldId id="296"/>
            <p14:sldId id="297"/>
            <p14:sldId id="298"/>
            <p14:sldId id="299"/>
          </p14:sldIdLst>
        </p14:section>
        <p14:section name="Closing" id="{15b9dc51-c09f-24d5-71ec-31ed085bccf7}">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(v1.0.0-rc.1).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14:30] 2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16:30] 2 min · you should be here at 15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 → 18:30] 2 min · you should be here at 17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 20:30] 2 min · you should be here at 19 min
The plan is a dependency graph. We run it in waves: everything that is ready runs in parallel. The three cryptography tasks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With 8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23:30]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25:30] 1 min · you should be here at 25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26:00] 0.5 min · you should be here at 26 min
Bridge into Project 1. What they are about to see is the cycle from the previous slide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 → 28:30] 2.5 min · you should be here at 26 min
Sped-up video of a real run with 100 tasks. On the left, the /status page: each square is a task, yellow while an agent works on it and green when its test passes. On the right, the terminal with the agent batches. The time and cost are the real ones.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29:30] 1 min · you should be here at 29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30:00] 0.5 min · you should be here at 30 min
25 minutes of hands-on. In the measured run, the 100-task swarm took 6.5 min (the full session, 9 min);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31:00] 1 min · you should be here at 30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Show someone's plan on the projector. In wave 1, lib-hash and the challenge tasks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38:30] 1.5 min · you should be here at 37 min
Explain before running it. The key point: a script picks what runs, not the model. That is why cost and time are predictable.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From here the swarm works for a few minutes (6.5 min in the measured run; longer with new accounts).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42:30] 2 min · you should be here at 41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 → 44:00] 1.5 min · you should be here at 43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1 min · you should be here at 44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48:00] 3 min · you should be here at 45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49:30] 1.5 min · CAN SKIP · you should be here at 48 min
Skip if running late. Example routine: a daily security review with node tools/routine.mjs --install --yes (without --yes it only shows what it would do),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[49:30 → 51:30] 2 min · you should be here at 50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 → 53:30] 2 min · you should be here at 52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[53:30 → 55:30] 2 min · you should be here at 54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[55:30 → 57:30] 2 min · you should be here at 56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[57:30 → 59:30] 2 min · you should be here at 58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[59:30 → 62:30] 3 min · you should be here at 60 min
The app opens in your native language and has a language selector. Routines, worktrees and headless mode were already covered while we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 → 63:00] 0.5 min · you should be here at 63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64:30] 1.5 min · you should be here at 63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 → 68:30] 4 min · you should be here at 65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[68:30 → 73:30] 5 min · you should be here at 69 min
The planner (Opus) proposes the graph and a script validates it: ids, dependencies, cycles and known agents. Tasks that touch the same files go in different batches, at swarm time.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[73:30 → 83:30] 10 min · you should be here at 74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[83:30 → 84:30] 1 min · CAN SKIP · you should be here at 84 min
Skip if running late. The Atlassian MCP uses the company's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[84:30 → 86:30] 2 min · you should be here at 85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[86:30 → 88:30] 2 min · you should be here at 87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5.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5.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5.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5.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5.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5.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real one, from Jira or GitHub, broken down and running</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graph of what you learned, ready to use tomorrow</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with all 100 tasks: US$ 3.39 in one real end-to-end run (9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42372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 (Terminal)</a:t>
            </a:r>
            <a:endParaRPr lang="en-US" sz="1300" dirty="0"/>
          </a:p>
        </p:txBody>
      </p:sp>
      <p:sp>
        <p:nvSpPr>
          <p:cNvPr id="8" name="code"/>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https://github.com/cx-guilherme-pinto/workshop-claude/releases/download/v1.0.0-rc.1/setup-mac.sh | bash</a:t>
            </a:r>
            <a:endParaRPr lang="en-US" sz="1400" dirty="0"/>
          </a:p>
        </p:txBody>
      </p:sp>
      <p:sp>
        <p:nvSpPr>
          <p:cNvPr id="9" name="code-background"/>
          <p:cNvSpPr/>
          <p:nvPr/>
        </p:nvSpPr>
        <p:spPr>
          <a:xfrm>
            <a:off x="4937760" y="3572561"/>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75544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 (PowerShell)</a:t>
            </a:r>
            <a:endParaRPr lang="en-US" sz="1300" dirty="0"/>
          </a:p>
        </p:txBody>
      </p:sp>
      <p:sp>
        <p:nvSpPr>
          <p:cNvPr id="11" name="code"/>
          <p:cNvSpPr txBox="1"/>
          <p:nvPr/>
        </p:nvSpPr>
        <p:spPr>
          <a:xfrm>
            <a:off x="5166360" y="4102913"/>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https://github.com/cx-guilherme-pinto/workshop-claude/releases/download/v1.0.0-rc.1/bootstrap-windows.ps1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-Check</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-Doctor</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project files, with permissions you control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git, scripts: it reads the output and fixes what fails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and your memory via MCP; GitHub with gh</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e"/>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after"/>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91640"/>
            <a:ext cx="3484778" cy="3749040"/>
          </a:xfrm>
          <a:prstGeom prst="rect">
            <a:avLst/>
          </a:prstGeom>
          <a:solidFill>
            <a:srgbClr val="FFFFFF"/>
          </a:solidFill>
          <a:ln w="12700">
            <a:solidFill>
              <a:srgbClr val="FFFFFF"/>
            </a:solidFill>
            <a:prstDash val="solid"/>
          </a:ln>
        </p:spPr>
      </p:sp>
      <p:sp>
        <p:nvSpPr>
          <p:cNvPr id="4" name="model-icon-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2132381"/>
            <a:ext cx="307238" cy="307238"/>
          </a:xfrm>
          <a:prstGeom prst="rect">
            <a:avLst/>
          </a:prstGeom>
        </p:spPr>
      </p:pic>
      <p:sp>
        <p:nvSpPr>
          <p:cNvPr id="6" name="model-name-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planning and review</a:t>
            </a:r>
            <a:endParaRPr lang="en-US" sz="2000" dirty="0"/>
          </a:p>
        </p:txBody>
      </p:sp>
      <p:sp>
        <p:nvSpPr>
          <p:cNvPr id="8" name="model-price-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9" name="model-1"/>
          <p:cNvSpPr/>
          <p:nvPr/>
        </p:nvSpPr>
        <p:spPr>
          <a:xfrm>
            <a:off x="4353458" y="1691640"/>
            <a:ext cx="3484778" cy="3749040"/>
          </a:xfrm>
          <a:prstGeom prst="rect">
            <a:avLst/>
          </a:prstGeom>
          <a:solidFill>
            <a:srgbClr val="FFFFFF"/>
          </a:solidFill>
          <a:ln w="12700">
            <a:solidFill>
              <a:srgbClr val="FFFFFF"/>
            </a:solidFill>
            <a:prstDash val="solid"/>
          </a:ln>
        </p:spPr>
      </p:sp>
      <p:sp>
        <p:nvSpPr>
          <p:cNvPr id="10" name="model-icon-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2132381"/>
            <a:ext cx="307238" cy="307238"/>
          </a:xfrm>
          <a:prstGeom prst="rect">
            <a:avLst/>
          </a:prstGeom>
        </p:spPr>
      </p:pic>
      <p:sp>
        <p:nvSpPr>
          <p:cNvPr id="12" name="model-name-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4" name="model-price-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5" name="model-2"/>
          <p:cNvSpPr/>
          <p:nvPr/>
        </p:nvSpPr>
        <p:spPr>
          <a:xfrm>
            <a:off x="8158277" y="1691640"/>
            <a:ext cx="3484778" cy="3749040"/>
          </a:xfrm>
          <a:prstGeom prst="rect">
            <a:avLst/>
          </a:prstGeom>
          <a:solidFill>
            <a:srgbClr val="FFFFFF"/>
          </a:solidFill>
          <a:ln w="12700">
            <a:solidFill>
              <a:srgbClr val="FFFFFF"/>
            </a:solidFill>
            <a:prstDash val="solid"/>
          </a:ln>
        </p:spPr>
      </p:sp>
      <p:sp>
        <p:nvSpPr>
          <p:cNvPr id="16" name="model-icon-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2132381"/>
            <a:ext cx="307238" cy="307238"/>
          </a:xfrm>
          <a:prstGeom prst="rect">
            <a:avLst/>
          </a:prstGeom>
        </p:spPr>
      </p:pic>
      <p:sp>
        <p:nvSpPr>
          <p:cNvPr id="18" name="model-name-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20" name="model-price-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21" name="footer"/>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platform.claude.com/docs/en/about-claude/pricing (2026-10-16).</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US$ 0.0018</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rout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reads the plan and the state and returns the next batch of calls (one wave can take several)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bo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launches exactly those calls, all in the same message</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list-checks">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runs the test of each task and decides: green or red</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26664"/>
            <a:ext cx="11094415" cy="3513231"/>
          </a:xfrm>
          <a:prstGeom prst="rect">
            <a:avLst/>
          </a:prstGeom>
        </p:spPr>
      </p:pic>
      <p:sp>
        <p:nvSpPr>
          <p:cNvPr id="4" name="status-legend-background"/>
          <p:cNvSpPr/>
          <p:nvPr/>
        </p:nvSpPr>
        <p:spPr>
          <a:xfrm>
            <a:off x="548640" y="5139896"/>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213048"/>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240480"/>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213048"/>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240480"/>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213048"/>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240480"/>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240480"/>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706824"/>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Real recorded session (plan, swarm, review and cost): 6.9 min · US$ 2.55 · 107 agents</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app shell, 4 challenge formats and one test for each task</a:t>
            </a:r>
            <a:endParaRPr lang="en-US" sz="19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105 tasks: 100 challenges, lib-hash, 2 pages, integration and review</a:t>
            </a:r>
            <a:endParaRPr lang="en-US" sz="19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your swarm: Haiku, Sonnet and Opus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3419856"/>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e"/>
          <p:cNvSpPr txBox="1"/>
          <p:nvPr/>
        </p:nvSpPr>
        <p:spPr>
          <a:xfrm>
            <a:off x="777240" y="2039112"/>
            <a:ext cx="5303520" cy="2752344"/>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Read,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  node tools/*, memory_search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the Arena specs (summarised in TASKS.md). Out: plan.json and PLAN.md, the graph with the dependencies, the waves and the cost estimate.</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US$ 3.70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e"/>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task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task and that task's test, and uses the right model: Haiku for the bulk.</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page in the browser</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http://localhost:3000/status: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34644"/>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Code signals, a script reacts</a:t>
            </a:r>
            <a:endParaRPr lang="en-US" sz="3200" dirty="0"/>
          </a:p>
        </p:txBody>
      </p:sp>
      <p:sp>
        <p:nvSpPr>
          <p:cNvPr id="3" name="code-background"/>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e"/>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tools/workshop/hooks/subagent-stop.mjs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targe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statusline is a script</a:t>
            </a:r>
            <a:endParaRPr lang="en-US" sz="3200" dirty="0"/>
          </a:p>
        </p:txBody>
      </p:sp>
      <p:sp>
        <p:nvSpPr>
          <p:cNvPr id="3" name="code-background"/>
          <p:cNvSpPr/>
          <p:nvPr/>
        </p:nvSpPr>
        <p:spPr>
          <a:xfrm>
            <a:off x="548640" y="1508760"/>
            <a:ext cx="5760720" cy="223570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e"/>
          <p:cNvSpPr txBox="1"/>
          <p:nvPr/>
        </p:nvSpPr>
        <p:spPr>
          <a:xfrm>
            <a:off x="777240" y="2039112"/>
            <a:ext cx="5303520" cy="1568196"/>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Claude Code ── session JSON ──▶ statusline.mjs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statusline.mjs ──── one line ────▶ screen</a:t>
            </a:r>
            <a:endParaRPr lang="en-US" sz="1500" dirty="0"/>
          </a:p>
          <a:p>
            <a:pPr indent="0" marL="0">
              <a:buNone/>
            </a:pP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Sonnet 5.5 · session US$ 0.42</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project US$ 1.10 of US$ 5.00</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swarm 12✓ 2… 1✗ · 3 min</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gauge">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e"/>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e"/>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git-f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branch">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calendar-clo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At the end, look for red squares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any, let /loop fix them</a:t>
            </a:r>
            <a:endParaRPr lang="en-US" sz="2000" dirty="0"/>
          </a:p>
        </p:txBody>
      </p:sp>
      <p:sp>
        <p:nvSpPr>
          <p:cNvPr id="6" name="code-background"/>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tools/workshop/orchestrator/grade.mjs --all and fix the first red task with the implementer agent; stop when everything is green</a:t>
            </a:r>
            <a:endParaRPr lang="en-US" sz="14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12" name="notice-background"/>
          <p:cNvSpPr/>
          <p:nvPr/>
        </p:nvSpPr>
        <p:spPr>
          <a:xfrm>
            <a:off x="6202375" y="384048"/>
            <a:ext cx="5440680" cy="457200"/>
          </a:xfrm>
          <a:prstGeom prst="rect">
            <a:avLst/>
          </a:prstGeom>
          <a:solidFill>
            <a:srgbClr val="F25928"/>
          </a:solidFill>
          <a:ln w="12700">
            <a:solidFill>
              <a:srgbClr val="F25928"/>
            </a:solidFill>
            <a:prstDash val="solid"/>
          </a:ln>
        </p:spPr>
      </p:sp>
      <p:sp>
        <p:nvSpPr>
          <p:cNvPr id="13" name="notice"/>
          <p:cNvSpPr txBox="1"/>
          <p:nvPr/>
        </p:nvSpPr>
        <p:spPr>
          <a:xfrm>
            <a:off x="6366967" y="384048"/>
            <a:ext cx="51114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 is in Teams: copy it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US$ 3.39</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56055"/>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04895"/>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687775"/>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4035247"/>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Jira or GitHub issue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(ABC-123) or GitHub (#42)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e"/>
          <p:cNvSpPr txBox="1"/>
          <p:nvPr/>
        </p:nvSpPr>
        <p:spPr>
          <a:xfrm>
            <a:off x="5166360" y="24505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&lt;your repository&gt;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ABC-123</a:t>
            </a:r>
            <a:endParaRPr lang="en-US" sz="18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e"/>
          <p:cNvSpPr txBox="1"/>
          <p:nvPr/>
        </p:nvSpPr>
        <p:spPr>
          <a:xfrm>
            <a:off x="5166360" y="42793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~/workshop-claude/practice-project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issues/EX-1.json</a:t>
            </a:r>
            <a:endParaRPr lang="en-US" sz="18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00400"/>
            <a:ext cx="6705295" cy="1660550"/>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cd &lt;your repository&gt;</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ticket">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MCP, logged in via /mcp; if it fails, the Atlassian CLI (acli auth login)</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pull-reques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gh auth login: uses less context than an MCP and shares no tokens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user-che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comments, worklog and PR only after you say yes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secrets, dangerous code and the Opus verdict</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one comment per subtask, plus the worklog. GitHub: the PR</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lessons from this task stay for the next one</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2026-10-17T00:27:58Z</dcterms:created>
  <dcterms:modified xsi:type="dcterms:W3CDTF">2026-10-17T00:27:58Z</dcterms:modified>
</cp:coreProperties>
</file>