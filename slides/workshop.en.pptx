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afa358-2408-318c-1405-d609386d5c8b}">
          <p14:sldIdLst>
            <p14:sldId id="256"/>
            <p14:sldId id="257"/>
            <p14:sldId id="258"/>
          </p14:sldIdLst>
        </p14:section>
        <p14:section name="Install" id="{679f89cd-5f64-4807-e7db-6b827c1d2e9a}">
          <p14:sldIdLst>
            <p14:sldId id="259"/>
            <p14:sldId id="260"/>
            <p14:sldId id="261"/>
          </p14:sldIdLst>
        </p14:section>
        <p14:section name="Concepts" id="{ca8177b0-bd07-e3ae-7178-ce44abcb0e34}">
          <p14:sldIdLst>
            <p14:sldId id="262"/>
            <p14:sldId id="263"/>
            <p14:sldId id="264"/>
            <p14:sldId id="265"/>
            <p14:sldId id="266"/>
            <p14:sldId id="267"/>
            <p14:sldId id="268"/>
            <p14:sldId id="269"/>
            <p14:sldId id="270"/>
          </p14:sldIdLst>
        </p14:section>
        <p14:section name="Preview" id="{6f0966db-42aa-2f0f-d283-af4a99f4c1eb}">
          <p14:sldIdLst>
            <p14:sldId id="271"/>
            <p14:sldId id="272"/>
            <p14:sldId id="273"/>
            <p14:sldId id="274"/>
          </p14:sldIdLst>
        </p14:section>
        <p14:section name="Project 1" id="{8cd6b96a-cfb0-4554-2465-21817d75bfbb}">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40b0ffef-6ed8-3ddf-9aaa-4b41c4e27d7f}">
          <p14:sldIdLst>
            <p14:sldId id="291"/>
            <p14:sldId id="292"/>
          </p14:sldIdLst>
        </p14:section>
        <p14:section name="Project 2" id="{29abdb0a-59f1-f61f-c8b1-4f2e2c39ca41}">
          <p14:sldIdLst>
            <p14:sldId id="293"/>
            <p14:sldId id="294"/>
            <p14:sldId id="295"/>
            <p14:sldId id="296"/>
            <p14:sldId id="297"/>
            <p14:sldId id="298"/>
            <p14:sldId id="299"/>
          </p14:sldIdLst>
        </p14:section>
        <p14:section name="Closing" id="{a0d3a0a0-95ce-3800-ec9c-f0b8463fe471}">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memory app: memoria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does the same with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/estado page: each square is a task, yellow while an agent works on it and green when its test passes. On the right, the terminal with the agent batches. The time and cost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benchmark, the 15-task swarm took 2 to 3 minutes (the full session, 3.5 to 5);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(2 to 3 in the benchmark;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tools/rotina.mjs --instalar --sim (without --sim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ULO-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FECHO-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CAO-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Image 1" descr="/Users/guilhermepinto/Github/workshop-claude/slides/modelo/logo-branco.png">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A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roxo.png">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UDO">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ACA">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15 agents, up to 8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measured over 16 real runs: average US$ 1.02, maximum US$ 1.12.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igo-fundo"/>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igo-fundo"/>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igo"/>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o-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o-icone-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o-icone-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o-no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o-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o-icone-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o-icone-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o-no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o-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o-icone-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o-icone-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o-no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moldura"/>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m"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m-legenda"/>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apresenta-marca-0-circulo"/>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apresenta-marca-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apresenta-titulo-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apresenta-texto-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apresenta-marca-1-circulo"/>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apresenta-marca-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apresenta-titulo-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apresenta-texto-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apresenta-marca-2-circulo"/>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apresenta-marca-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apresenta-titulo-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apresenta-texto-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100 tasks. On your laptop: 15.</a:t>
            </a:r>
            <a:endParaRPr lang="en-US" sz="1500" dirty="0"/>
          </a:p>
        </p:txBody>
      </p:sp>
      <p:sp>
        <p:nvSpPr>
          <p:cNvPr id="18" name="legenda-fundo"/>
          <p:cNvSpPr/>
          <p:nvPr/>
        </p:nvSpPr>
        <p:spPr>
          <a:xfrm>
            <a:off x="548640" y="5669280"/>
            <a:ext cx="11094415" cy="502920"/>
          </a:xfrm>
          <a:prstGeom prst="rect">
            <a:avLst/>
          </a:prstGeom>
          <a:solidFill>
            <a:srgbClr val="FFFFFF"/>
          </a:solidFill>
          <a:ln w="12700">
            <a:solidFill>
              <a:srgbClr val="FFFFFF"/>
            </a:solidFill>
            <a:prstDash val="solid"/>
          </a:ln>
        </p:spPr>
      </p:sp>
      <p:sp>
        <p:nvSpPr>
          <p:cNvPr id="19" name="legenda-estado-titulo"/>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legenda-estado-0"/>
          <p:cNvSpPr/>
          <p:nvPr/>
        </p:nvSpPr>
        <p:spPr>
          <a:xfrm>
            <a:off x="2926431" y="5806440"/>
            <a:ext cx="219456" cy="219456"/>
          </a:xfrm>
          <a:prstGeom prst="rect">
            <a:avLst/>
          </a:prstGeom>
          <a:solidFill>
            <a:srgbClr val="C4C7C1"/>
          </a:solidFill>
          <a:ln w="12700">
            <a:solidFill>
              <a:srgbClr val="C4C7C1"/>
            </a:solidFill>
            <a:prstDash val="solid"/>
          </a:ln>
        </p:spPr>
      </p:sp>
      <p:sp>
        <p:nvSpPr>
          <p:cNvPr id="21" name="legenda-estado-rotulo-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legenda-estado-1"/>
          <p:cNvSpPr/>
          <p:nvPr/>
        </p:nvSpPr>
        <p:spPr>
          <a:xfrm>
            <a:off x="4232926" y="5806440"/>
            <a:ext cx="219456" cy="219456"/>
          </a:xfrm>
          <a:prstGeom prst="rect">
            <a:avLst/>
          </a:prstGeom>
          <a:solidFill>
            <a:srgbClr val="F1C232"/>
          </a:solidFill>
          <a:ln w="12700">
            <a:solidFill>
              <a:srgbClr val="F1C232"/>
            </a:solidFill>
            <a:prstDash val="solid"/>
          </a:ln>
        </p:spPr>
      </p:sp>
      <p:sp>
        <p:nvSpPr>
          <p:cNvPr id="23" name="legenda-estado-rotulo-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legenda-estado-2"/>
          <p:cNvSpPr/>
          <p:nvPr/>
        </p:nvSpPr>
        <p:spPr>
          <a:xfrm>
            <a:off x="6024418" y="5806440"/>
            <a:ext cx="219456" cy="219456"/>
          </a:xfrm>
          <a:prstGeom prst="rect">
            <a:avLst/>
          </a:prstGeom>
          <a:solidFill>
            <a:srgbClr val="1E9E57"/>
          </a:solidFill>
          <a:ln w="12700">
            <a:solidFill>
              <a:srgbClr val="1E9E57"/>
            </a:solidFill>
            <a:prstDash val="solid"/>
          </a:ln>
        </p:spPr>
      </p:sp>
      <p:sp>
        <p:nvSpPr>
          <p:cNvPr id="25" name="legenda-estado-rotulo-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legenda-estado-3"/>
          <p:cNvSpPr/>
          <p:nvPr/>
        </p:nvSpPr>
        <p:spPr>
          <a:xfrm>
            <a:off x="7654245" y="5806440"/>
            <a:ext cx="219456" cy="219456"/>
          </a:xfrm>
          <a:prstGeom prst="rect">
            <a:avLst/>
          </a:prstGeom>
          <a:solidFill>
            <a:srgbClr val="D2463F"/>
          </a:solidFill>
          <a:ln w="12700">
            <a:solidFill>
              <a:srgbClr val="D2463F"/>
            </a:solidFill>
            <a:prstDash val="solid"/>
          </a:ln>
        </p:spPr>
      </p:sp>
      <p:sp>
        <p:nvSpPr>
          <p:cNvPr id="27" name="legenda-estado-rotulo-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yours, with 15.</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legenda-estado-fundo"/>
          <p:cNvSpPr/>
          <p:nvPr/>
        </p:nvSpPr>
        <p:spPr>
          <a:xfrm>
            <a:off x="548640" y="5139896"/>
            <a:ext cx="11094415" cy="420624"/>
          </a:xfrm>
          <a:prstGeom prst="rect">
            <a:avLst/>
          </a:prstGeom>
          <a:solidFill>
            <a:srgbClr val="140920"/>
          </a:solidFill>
          <a:ln w="12700">
            <a:solidFill>
              <a:srgbClr val="140920"/>
            </a:solidFill>
            <a:prstDash val="solid"/>
          </a:ln>
        </p:spPr>
      </p:sp>
      <p:sp>
        <p:nvSpPr>
          <p:cNvPr id="5" name="legenda-estado-titulo"/>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legenda-estado-0"/>
          <p:cNvSpPr/>
          <p:nvPr/>
        </p:nvSpPr>
        <p:spPr>
          <a:xfrm>
            <a:off x="2778693" y="5240480"/>
            <a:ext cx="219456" cy="219456"/>
          </a:xfrm>
          <a:prstGeom prst="rect">
            <a:avLst/>
          </a:prstGeom>
          <a:solidFill>
            <a:srgbClr val="3A423E"/>
          </a:solidFill>
          <a:ln w="12700">
            <a:solidFill>
              <a:srgbClr val="3A423E"/>
            </a:solidFill>
            <a:prstDash val="solid"/>
          </a:ln>
        </p:spPr>
      </p:sp>
      <p:sp>
        <p:nvSpPr>
          <p:cNvPr id="7" name="legenda-estado-rotulo-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legenda-estado-1"/>
          <p:cNvSpPr/>
          <p:nvPr/>
        </p:nvSpPr>
        <p:spPr>
          <a:xfrm>
            <a:off x="4041663" y="5240480"/>
            <a:ext cx="219456" cy="219456"/>
          </a:xfrm>
          <a:prstGeom prst="rect">
            <a:avLst/>
          </a:prstGeom>
          <a:solidFill>
            <a:srgbClr val="F1C232"/>
          </a:solidFill>
          <a:ln w="12700">
            <a:solidFill>
              <a:srgbClr val="F1C232"/>
            </a:solidFill>
            <a:prstDash val="solid"/>
          </a:ln>
        </p:spPr>
      </p:sp>
      <p:sp>
        <p:nvSpPr>
          <p:cNvPr id="9" name="legenda-estado-rotulo-1"/>
          <p:cNvSpPr txBox="1"/>
          <p:nvPr/>
        </p:nvSpPr>
        <p:spPr>
          <a:xfrm>
            <a:off x="4370847" y="5213048"/>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legenda-estado-2"/>
          <p:cNvSpPr/>
          <p:nvPr/>
        </p:nvSpPr>
        <p:spPr>
          <a:xfrm>
            <a:off x="5752322" y="5240480"/>
            <a:ext cx="219456" cy="219456"/>
          </a:xfrm>
          <a:prstGeom prst="rect">
            <a:avLst/>
          </a:prstGeom>
          <a:solidFill>
            <a:srgbClr val="2FBF6C"/>
          </a:solidFill>
          <a:ln w="12700">
            <a:solidFill>
              <a:srgbClr val="2FBF6C"/>
            </a:solidFill>
            <a:prstDash val="solid"/>
          </a:ln>
        </p:spPr>
      </p:sp>
      <p:sp>
        <p:nvSpPr>
          <p:cNvPr id="11" name="legenda-estado-rotulo-2"/>
          <p:cNvSpPr txBox="1"/>
          <p:nvPr/>
        </p:nvSpPr>
        <p:spPr>
          <a:xfrm>
            <a:off x="608150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legenda-estado-3"/>
          <p:cNvSpPr/>
          <p:nvPr/>
        </p:nvSpPr>
        <p:spPr>
          <a:xfrm>
            <a:off x="7313752" y="5240480"/>
            <a:ext cx="219456" cy="219456"/>
          </a:xfrm>
          <a:prstGeom prst="rect">
            <a:avLst/>
          </a:prstGeom>
          <a:solidFill>
            <a:srgbClr val="EF5B52"/>
          </a:solidFill>
          <a:ln w="12700">
            <a:solidFill>
              <a:srgbClr val="EF5B52"/>
            </a:solidFill>
            <a:prstDash val="solid"/>
          </a:ln>
        </p:spPr>
      </p:sp>
      <p:sp>
        <p:nvSpPr>
          <p:cNvPr id="13" name="legenda-estado-rotulo-3"/>
          <p:cNvSpPr txBox="1"/>
          <p:nvPr/>
        </p:nvSpPr>
        <p:spPr>
          <a:xfrm>
            <a:off x="764293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legenda"/>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jog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legenda"/>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ca-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15 challenges, lib-hash and two pages: one task each</a:t>
            </a:r>
            <a:endParaRPr lang="en-US" sz="1900" dirty="0"/>
          </a:p>
        </p:txBody>
      </p:sp>
      <p:sp>
        <p:nvSpPr>
          <p:cNvPr id="11"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ca-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igo-fundo"/>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igo"/>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memoria_procurar</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PLANO.md, the graph with the dependencies, the waves and the cost estimate.</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igo-fundo"/>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igo"/>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/estado page in the browser</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igo-fundo"/>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p:txBody>
      </p:sp>
      <p:sp>
        <p:nvSpPr>
          <p:cNvPr id="6" name="codigo-fundo"/>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igo-fundo"/>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igo"/>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igo-fundo"/>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igo"/>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igo-fundo"/>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igo-fundo"/>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igo"/>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igo-fundo"/>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tools/workshop/orquestrador/grade.mjs --todos and fix the first red task with the implementer agent; stop when everything is green</a:t>
            </a:r>
            <a:endParaRPr lang="en-US" sz="14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aviso-fundo"/>
          <p:cNvSpPr/>
          <p:nvPr/>
        </p:nvSpPr>
        <p:spPr>
          <a:xfrm>
            <a:off x="6202375" y="384048"/>
            <a:ext cx="5440680" cy="457200"/>
          </a:xfrm>
          <a:prstGeom prst="rect">
            <a:avLst/>
          </a:prstGeom>
          <a:solidFill>
            <a:srgbClr val="F25928"/>
          </a:solidFill>
          <a:ln w="12700">
            <a:solidFill>
              <a:srgbClr val="F25928"/>
            </a:solidFill>
            <a:prstDash val="solid"/>
          </a:ln>
        </p:spPr>
      </p:sp>
      <p:sp>
        <p:nvSpPr>
          <p:cNvPr id="13" name="aviso"/>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APROVADO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US$ 1.02</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moldura"/>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m"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igo-fundo"/>
          <p:cNvSpPr/>
          <p:nvPr/>
        </p:nvSpPr>
        <p:spPr>
          <a:xfrm>
            <a:off x="4937760" y="1920240"/>
            <a:ext cx="6705295" cy="1389888"/>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open ~/Applications/Memória.app</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memoria</a:t>
            </a:r>
            <a:endParaRPr lang="en-US" sz="2000" dirty="0"/>
          </a:p>
        </p:txBody>
      </p:sp>
      <p:sp>
        <p:nvSpPr>
          <p:cNvPr id="9" name="codigo-fundo"/>
          <p:cNvSpPr/>
          <p:nvPr/>
        </p:nvSpPr>
        <p:spPr>
          <a:xfrm>
            <a:off x="4937760" y="3538728"/>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721608"/>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406908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Memória</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memoria</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igo-fundo"/>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igo"/>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igo-fundo"/>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igo-rotulo"/>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igo"/>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~/workshop-claude/exemplo-projeto-real</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igo-fundo"/>
          <p:cNvSpPr/>
          <p:nvPr/>
        </p:nvSpPr>
        <p:spPr>
          <a:xfrm>
            <a:off x="4937760" y="3200400"/>
            <a:ext cx="6705295" cy="1186891"/>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51937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"$HOME/.workshop-claude/kit/orquestrador/painel.mjs"</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/memoria</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a-numero-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a-numero-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a-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a-numero-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a-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a-numero-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Memória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rodape"/>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2026-10-16T21:56:02Z</dcterms:created>
  <dcterms:modified xsi:type="dcterms:W3CDTF">2026-10-16T21:56:02Z</dcterms:modified>
</cp:coreProperties>
</file>