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679301e-133b-341e-3651-5a8b6005c7f3}">
          <p14:sldIdLst>
            <p14:sldId id="256"/>
            <p14:sldId id="257"/>
            <p14:sldId id="258"/>
          </p14:sldIdLst>
        </p14:section>
        <p14:section name="Install" id="{5ee80364-6bd5-b105-214b-d163d3de6237}">
          <p14:sldIdLst>
            <p14:sldId id="259"/>
            <p14:sldId id="260"/>
            <p14:sldId id="261"/>
          </p14:sldIdLst>
        </p14:section>
        <p14:section name="Concepts" id="{686115e4-bc48-d85b-3289-17d84aa93624}">
          <p14:sldIdLst>
            <p14:sldId id="262"/>
            <p14:sldId id="263"/>
            <p14:sldId id="264"/>
            <p14:sldId id="265"/>
            <p14:sldId id="266"/>
            <p14:sldId id="267"/>
          </p14:sldIdLst>
        </p14:section>
        <p14:section name="Preview" id="{09607535-1697-ed92-f4a2-3a23a34e2fa1}">
          <p14:sldIdLst>
            <p14:sldId id="268"/>
            <p14:sldId id="269"/>
            <p14:sldId id="270"/>
            <p14:sldId id="271"/>
          </p14:sldIdLst>
        </p14:section>
        <p14:section name="Project 1" id="{eeefe025-2389-b243-e3b5-69dae9885121}">
          <p14:sldIdLst>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 name="Memory" id="{8618fe91-c94e-4558-e838-7e9a71a4584d}">
          <p14:sldIdLst>
            <p14:sldId id="289"/>
            <p14:sldId id="290"/>
          </p14:sldIdLst>
        </p14:section>
        <p14:section name="Project 2" id="{5fa3a588-c105-2baf-ac0b-fbc5acf06745}">
          <p14:sldIdLst>
            <p14:sldId id="291"/>
            <p14:sldId id="292"/>
            <p14:sldId id="293"/>
            <p14:sldId id="294"/>
            <p14:sldId id="295"/>
            <p14:sldId id="296"/>
          </p14:sldIdLst>
        </p14:section>
        <p14:section name="Closing" id="{57befebc-b7a9-f55d-26a9-7a51f67280d4}">
          <p14:sldIdLst>
            <p14:sldId id="297"/>
            <p14:sldId id="298"/>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1:00] 1 min · you should be here at 0 min
Welcome. In 90 minutes we will put a swarm of agents to work building a game and then working on a real task, in a repository with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2:30] 1.5 min · you should be here at 1 min
Three concrete outcomes. Everything stays installed on each laptop and keeps working after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 4:00] 1.5 min · you should be here at 3 min
The budget is backed by the benchmark, not by cuts. If someone goes over the target, a warning shows up and they keep working. The footer numbers come from the Project 1 reference run (8 agents in parallel, as on everyone's laptop): they are the same numbers used in the rest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 5:30] 1.5 min · you should be here at 4 min
Almost everyone installed beforehand (pre-work): for them this slide only shows where the command is. Anyone who has not installed yet runs it now and follows along with a neighbour while it installs (10 to 20 minutes). The same command installs on another machine. The commands are generated from repos.conf: they are always right for the published version (v1.0.0-rc.4). To update only the Agent Memory app: agent-memory update.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 → 8:30] 3 min · you should be here at 6 min
Everyone runs the check. It takes 2 to 3 minutes and installs nothing. Anyone who did not run the setup follows along with a neighbour and installs during the questions. The setup speaks English, but it detects the machine language and writes the Claude Code language setting (Portuguese, English, Hindi or Hebrew): the skills answer in that language. The Arena, the orchestrator tables and the docs come in Portuguese or English (any other language gets English).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 10:30] 2 min · you should be here at 9 min
Doctor checks everything and, if a step failed, asks Claude for a diagnosis: it sends the state of each step and the end of the log, with no secrets. It runs nothing. Running the install command again only repeats the missing steps; there, on each failure, Claude suggests commands and runs them only after you confirm, one by one. If Claude is not installed yet, the pre-written help from TROUBLESHOOTING is shown.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11:00] 0.5 min · you should be here at 11 min
Seven minutes of ideas, one concept per slide. The task graph and cost measurement come later, in Project 1, right where they are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12:30] 1.5 min · you should be here at 11 min
Claude Code is not a chat: it is an agent that acts on the repository. Everything it does goes through permissions. Plan mode (Shift+Tab) makes it only plan, without touching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 → 14:00] 1.5 min · you should be here at 13 min
Skills replaced the old slash commands. The frontmatter pins the model and the allowed tools. Today we use two sets: /demo-* in the Arena and /task-* for everyday work. The kit skills are in English and tell Claude to answer in the participant's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 → 15:30] 1.5 min · you should be here at 14 min
A subagent is a Claude instance with a clean context, its own tools and the model we choose. It is defined in a .claude/agents/&lt;name&gt;.md file. The /agents command no longer opens a wizard: you edit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[15:30 → 17:00] 1.5 min · you should be here at 16 min
A cheap swarm is many small agents with clear instructions. What costs money is coordination. That is why the orchestrator is a script and the workers answer with one line. Both numbers come from the Project 1 reference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[17:00 → 18:00] 1 min · you should be here at 17 min
It is the same cycle in both projects: plan with Opus, run as a swarm, a security gate, measure and save what was learned. Each step shows up again in Project 1, where it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[18:00 → 19:00] 1 min · you should be here at 18 min
Before the video, say what is going to be built. The Arena is a security mini-game: each task builds a small challenge (find the line that exposes a secret, pick the real website, order the parts of a URL, type an answer). The app shell and the tests already exist; the agents write the challenges, one task each. Explain the colours now, because they show up everywhere: each square is a task, grey while it waits, yellow while an agent works on it, green when its test passes, red when it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[19:00 → 19:30] 0.5 min · you should be here at 19 min
Bridge into Project 1. What they are about to see is the cycle from the concepts (plan → swarm → review → cost → memory) in a real run with 100 tasks. Right after, each person builds the same Arena, with up to 8 agents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[19:30 → 22:00] 2.5 min · you should be here at 20 min
Sped-up video of a real run with 100 tasks, recorded before your own card and the cards that fail on purpose existed (8 agents in parallel), so the footer numbers are not the Project 1 ones (on each laptop, 8 run in parallel; see the cost slide). On the left, the /status page: each square is a task, yellow while an agent works on it and green when its test passes. On the right, the terminal with the agent batches. Plan B if the video fails: open /status?replay=recording in the recorded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 → 23:00] 1 min · you should be here at 22 min
Recording of someone playing the final Arena: point at the insecure line, pick the right answer, order the steps and type the answer. Each challenge explains the why at the end. At the end of Project 1 everyone plays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[23:00 → 23:30] 0.5 min · you should be here at 23 min
37 minutes of hands-on. In the reference run, the 100-task swarm took 7.4 min (the full session, 14 min); in interactive mode and with new accounts it can take longer. The slides between "Release the swarm" and "Why did this card fail?" (9 minutes) cover that wait: they are all done while the swarm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[23:30 → 24:30] 1 min · you should be here at 24 min
The tests already exist: each agent only has to turn its test green. That is what lets Haiku do the bulk of the work safely. That is 105 tasks; with each person's own card,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[24:30 → 29:30] 5 min · you should be here at 25 min
The example already has every field: just change the text. The template picks the format: spot-the-flaw (point at the insecure line), choice (pick the answer), order (put the steps in order) or answer (type the answer); each one has its own fields, and the example shows them. gen.mjs writes the card spec and test (cards/my-01/), and /demo-plan adds it to the other tasks: that makes 101 cards. Anyone who would rather not write one skips this step and keeps 100. On Windows, cp works in PowerShell.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[29:30 → 31:00] 1.5 min · you should be here at 30 min
Explain before running it. A skill is not magic: it is a Markdown recipe that Claude follows. Here it calls a script that builds the graph (always the same, from the tasks, your card included) and an Opus agent that only reviews it. The result is in files they can open and read (PLAN.md has the waves, the dependencies and the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[31:00 → 32:30] 1.5 min · you should be here at 31 min
The plan is a dependency graph. We run it in waves: everything that is ready runs in parallel. In wave 1, lib-hash and the challenges start together; the three cryptography tasks wait for lib-hash (a real dependency inside wave 1) and join as soon as it turns green. This is what /demo-plan draws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[32:30 → 35:30] 3 min · you should be here at 33 min
The trust dialog matters: without it, the project permissions stay off. In recent Claude Code versions, because the Arena pre-approves permissions, the preselected option is "No, exit": pressing Enter quits. Show the down arrow. /demo-plan checks the memory, builds the graph and asks the planner (Opus) to review it. Then show someone's plan on the projector. Optional cost decision: with --crypto haiku or --crypto sonnet each person picks the model for the cryptography tasks; at the end, in /demo-cost, they compare cost and green cards with a neighbour who picked the other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[35:30 → 37:00] 1.5 min · you should be here at 36 min
Explain before running it. The key point: a script picks what runs, not the model. With 8 calls in parallel, a model forgets dependencies or rewrites prompts; the script is reproducible, and that is what makes the cost predictable and the benchmark comparable. grade.mjs runs the test of each task and decides: green or red. If a task fails, the script retries it with the error message and, on the third attempt, with Sonnet.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[37:00 → 39:00] 2 min · you should be here at 37 min
Prediction, before pressing Enter: each person writes in Teams how much they think it will cost and how many cards will end up red. From here the swarm works for a few minutes (7.4 min in the reference run; longer with new accounts). The next four slides (9 minutes) happen during that wait; whoever finishes first plays the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[39:00 → 41:00] 2 min · you should be here at 39 min
/btw answers on the side, outside the conversation. Careful: while the answer panel is open, the agents' results wait (Claude Code shows "background task updates waiting while this panel is open"). Read it and press Esc so the swarm carries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[41:00 → 44:00] 3 min · CAN SKIP · you should be here at 41 min
Still during the swarm. Plan mode only reads and proposes. claude -p is the basis for scripts and CI. Esc Esc opens rewind: it restores code and conversation to a checkpoint, but not what was done through Bash nor most of what the subagents did. If someone asks about worktrees: claude -w &lt;name&gt; opens an isolated copy of the repository on its own branch, and isolation: worktree gives a subagent its own worktree when tasks touch the same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[44:00 → 46:00] 2 min · you should be here at 44 min
Still during the swarm, and outside the Arena, so the swarm session is not touched. A hook is "when X happens, run Y", set up in a settings.json; Claude writes hooks very well, just describe what you want. settings.local.json belongs to this folder only and stays out of git. In Project 2 (the practice project) the hook also fires for the /task-swarm agents: open edits.log and watch the files show up. The kit uses SubagentStop to record the cost of each agent (see "Measure, don't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[46:00 → 48:00] 2 min · you should be here at 46 min
Still during the swarm. The kit statusline reads what the hook recorded and shows the session and project cost, live, against the US$ 5 target: show the one in Terminal 1 changing as the agents finish. Asking to save it in .claude/settings.local.json matters: otherwise /statusline writes to the user settings and replaces the kit one in every project. To get the kit one back in this project, delete statusLine from settings.local.json. Claude Code's /usage may show more, because some versions do not know the latest prices yet; /demo-cost uses the published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[48:00 → 53:00] 5 min · you should be here at 48 min
The lesson of Project 1: the agent does not guess what the spec does not say. The test shows what it expected and what it got; the card spec did not say it, so neither Haiku nor Sonnet (which steps in on the third attempt) gets it right. Whoever finishes repeats it for the other red cards: the gate only approves when everything is green. Compare with the Teams prediction: how many red cards did they expect? Optional extra, for anyone who wants to automate it: /loop 2m run node tools/workshop/orchestrator/grade.mjs --all and fix the first red task with the implementer agent; stop when everything is green (/loop repeats a prompt at each interval; Esc cancels).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[53:00 → 55:00] 2 min · you should be here at 53 min
A security game with security flaws would be the worst example. The gate links each check to the OWASP Top 10. With cards still red, the gate says GATE: REJECTED and lists what is missing: go back to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[55:00 → 56:00] 1 min · CAN SKIP · you should be here at 55 min
Before /demo-cost: where the numbers come from. The kit hook is like the one they created, on a different event: it reads the real tokens from the transcript, multiplies them by the published prices and appends one line. It never blocks anything. The statusline and /demo-cost only read those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[56:00 → 58:00] 2 min · you should be here at 56 min
The report uses real tokens and published prices. At the end it saves the lessons to the memory app. Whoever used --crypto haiku compares with whoever used --crypto sonnet: cost and green cards. Duel: each room collects everyone's cost and green cards in Teams, and the two rooms compare at the end (and against the prediction made before the swarm).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[58:00 → 60:00] 2 min · you should be here at 58 min
The tests also run in the browser. It is the same test that decided the colour of the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[60:00 → 62:00] 2 min · you should be here at 60 min
They are Markdown files in ~/.agent-memory, with an SQLite index. Everything stays on your PC. Each memory is linked to the Jira or GitHub ticket and to its epic: searching ABC-123 brings everything for that ticket and the epic. /task-intake and /task-plan check it before planning ("last time in this epic, don't do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[62:00 → 65:00] 3 min · you should be here at 62 min
The app opens in your native language and has a language selector. The lesson about the card that failed should be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[65:00 → 65:30] 0.5 min · you should be here at 65 min
22 minutes. Everyone's path is the practice project: the Municipal Library, a small API with tests and the issues EX-1 to EX-3 as JSON, with no Jira login and no MCP. Anyone who already has Jira or GitHub working can bring a task of their own. The task may not finish here: the goal is to leave with the orchestration running and to know how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[65:30 → 67:00] 1.5 min · you should be here at 66 min
The /task-* skills are installed at user level and work in any repository. Every write to Jira or GitHub asks for confirmation; in the practice project there is nothing to publish.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[67:00 → 70:00] 3 min · you should be here at 67 min
Anyone who still has Claude open in Terminal 3 (from the hook) only types the last line. EX-1 is small: validate the ISBN and the email when creating books and readers. Intake only reads; it writes nothing. With your own repository: Jira needs the /mcp login (atlassian) and GitHub uses 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[70:00 → 74:00] 4 min · you should be here at 70 min
The planner (Opus) proposes the graph and a script validates it: ids, dependencies, cycles and known agents. Tasks that touch the same files go in different batches, at swarm time. Integration and review are added automatically. A larger task (EX-2) gets more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[74:00 → 85:00] 11 min · you should be here at 74 min
The state lives in .workshop/. Running /task-swarm again resumes. Tasks that touch the same files go in different batches, or in git worktrees if the planner decides so. The Project 1 hook is working: open ~/workshop-claude/edits.log and watch the files the agents edit. Whoever finishes EX-1 moves on to EX-3 (small, security: a reader can see another reader's loans) or EX-2 (medium, more agents), and can run /task-gate.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[85:00 → 87:00] 2 min · you should be here at 85 min
To use it with your own issues: Jira goes through the Atlassian MCP, logged in via /mcp; if that fails, the Atlassian CLI (acli auth login), which the setup already installed, reads the issue and posts the comments (hours are logged by hand). The Atlassian MCP uses the company's Rovo credits and the admin can limit it. GitHub uses gh (gh auth login): it uses less context than an MCP and shares no tokens. Example comment: agent ws-worker-07 · Haiku · 5 s · US$ 0.004.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[87:00 → 88:30] 1.5 min · you should be here at 87 min
A summary in five sentences. The third one joins the two lessons of Project 1: the orchestrator is a script, and the card that failed failed because of its spec.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[88:30 → 89:30] 1 min · you should be here at 89 min
Three concrete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[89:30 → 90:00] 0.5 min · you should be here at 90 min
Questions can go past 90 minutes. Anyone who did not run the setup installs now. If there is time: the result of the duel between the two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1.png"/><Relationship Id="rId3" Type="http://schemas.openxmlformats.org/officeDocument/2006/relationships/image" Target="../media/TITLE-image-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CLOSING-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SECTION-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615391" y="611734"/>
            <a:ext cx="2112264" cy="264262"/>
          </a:xfrm>
          <a:prstGeom prst="rect">
            <a:avLst/>
          </a:prstGeom>
        </p:spPr>
      </p:pic>
      <p:sp>
        <p:nvSpPr>
          <p:cNvPr id="3"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4" name="logo" descr="Logo">    </p:cNvPr>
          <p:cNvPicPr>
            <a:picLocks noChangeAspect="1"/>
          </p:cNvPicPr>
          <p:nvPr/>
        </p:nvPicPr>
        <p:blipFill>
          <a:blip r:embed="rId2"/>
          <a:stretch>
            <a:fillRect/>
          </a:stretch>
        </p:blipFill>
        <p:spPr>
          <a:xfrm>
            <a:off x="472745" y="6557162"/>
            <a:ext cx="750722" cy="94183"/>
          </a:xfrm>
          <a:prstGeom prst="rect">
            <a:avLst/>
          </a:prstGeom>
        </p:spPr>
      </p:pic>
      <p:sp>
        <p:nvSpPr>
          <p:cNvPr id="5" name="Text 1"/>
          <p:cNvSpPr/>
          <p:nvPr>
            <p:ph idx="103" type="title" hasCustomPrompt="1"/>
          </p:nvPr>
        </p:nvSpPr>
        <p:spPr>
          <a:xfrm>
            <a:off x="615391" y="1325880"/>
            <a:ext cx="8778240" cy="2011680"/>
          </a:xfrm>
          <a:prstGeom prst="rect">
            <a:avLst/>
          </a:prstGeom>
          <a:noFill/>
          <a:ln/>
        </p:spPr>
        <p:txBody>
          <a:bodyPr wrap="square" rtlCol="0"/>
          <a:lstStyle>
            <a:lvl1pPr algn="l" indent="0" marL="0">
              <a:buNone/>
              <a:defRPr lang="en-US" sz="4800" dirty="0">
                <a:solidFill>
                  <a:srgbClr val="FCF9FE"/>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800" dirty="0"/>
          </a:p>
        </p:txBody>
      </p:sp>
      <p:sp>
        <p:nvSpPr>
          <p:cNvPr id="6" name="Text 1"/>
          <p:cNvSpPr/>
          <p:nvPr>
            <p:ph idx="104" type="body" hasCustomPrompt="1"/>
          </p:nvPr>
        </p:nvSpPr>
        <p:spPr>
          <a:xfrm>
            <a:off x="615391" y="3474720"/>
            <a:ext cx="8778240" cy="1097280"/>
          </a:xfrm>
          <a:prstGeom prst="rect">
            <a:avLst/>
          </a:prstGeom>
          <a:noFill/>
          <a:ln/>
        </p:spPr>
        <p:txBody>
          <a:bodyPr wrap="square" rtlCol="0"/>
          <a:lstStyle>
            <a:lvl1pPr algn="l" indent="0" marL="0">
              <a:buNone/>
              <a:defRPr lang="en-US" sz="2600" dirty="0">
                <a:solidFill>
                  <a:srgbClr val="F25928"/>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4952848" y="5074920"/>
            <a:ext cx="2286000" cy="285750"/>
          </a:xfrm>
          <a:prstGeom prst="rect">
            <a:avLst/>
          </a:prstGeom>
        </p:spPr>
      </p:pic>
      <p:sp>
        <p:nvSpPr>
          <p:cNvPr id="3" name="Text 0"/>
          <p:cNvSpPr/>
          <p:nvPr>
            <p:ph idx="101" type="title" hasCustomPrompt="1"/>
          </p:nvPr>
        </p:nvSpPr>
        <p:spPr>
          <a:xfrm>
            <a:off x="914400" y="2011680"/>
            <a:ext cx="10362895" cy="1463040"/>
          </a:xfrm>
          <a:prstGeom prst="rect">
            <a:avLst/>
          </a:prstGeom>
          <a:noFill/>
          <a:ln/>
        </p:spPr>
        <p:txBody>
          <a:bodyPr wrap="square" rtlCol="0"/>
          <a:lstStyle>
            <a:lvl1pPr algn="ctr" indent="0" marL="0">
              <a:buNone/>
              <a:defRPr lang="en-US" sz="6000" dirty="0">
                <a:solidFill>
                  <a:srgbClr val="FCF9FE"/>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6000" dirty="0"/>
          </a:p>
        </p:txBody>
      </p:sp>
      <p:sp>
        <p:nvSpPr>
          <p:cNvPr id="4" name="Text 0"/>
          <p:cNvSpPr/>
          <p:nvPr>
            <p:ph idx="102" type="body" hasCustomPrompt="1"/>
          </p:nvPr>
        </p:nvSpPr>
        <p:spPr>
          <a:xfrm>
            <a:off x="914400" y="3566160"/>
            <a:ext cx="10362895" cy="822960"/>
          </a:xfrm>
          <a:prstGeom prst="rect">
            <a:avLst/>
          </a:prstGeom>
          <a:noFill/>
          <a:ln/>
        </p:spPr>
        <p:txBody>
          <a:bodyPr wrap="square" rtlCol="0"/>
          <a:lstStyle>
            <a:lvl1pPr algn="ctr" indent="0" marL="0">
              <a:buNone/>
              <a:defRPr lang="en-US" sz="2800" dirty="0">
                <a:solidFill>
                  <a:srgbClr val="F25928"/>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715975" y="611734"/>
            <a:ext cx="2112264" cy="264262"/>
          </a:xfrm>
          <a:prstGeom prst="rect">
            <a:avLst/>
          </a:prstGeom>
        </p:spPr>
      </p:pic>
      <p:sp>
        <p:nvSpPr>
          <p:cNvPr id="3" name="Text 0"/>
          <p:cNvSpPr/>
          <p:nvPr>
            <p:ph idx="101" type="title" hasCustomPrompt="1"/>
          </p:nvPr>
        </p:nvSpPr>
        <p:spPr>
          <a:xfrm>
            <a:off x="715975" y="1051560"/>
            <a:ext cx="7498080" cy="1554480"/>
          </a:xfrm>
          <a:prstGeom prst="rect">
            <a:avLst/>
          </a:prstGeom>
          <a:noFill/>
          <a:ln/>
        </p:spPr>
        <p:txBody>
          <a:bodyPr wrap="square" rtlCol="0"/>
          <a:lstStyle>
            <a:lvl1pPr algn="l" indent="0" marL="0">
              <a:buNone/>
              <a:defRPr lang="en-US" sz="46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600" dirty="0"/>
          </a:p>
        </p:txBody>
      </p:sp>
      <p:sp>
        <p:nvSpPr>
          <p:cNvPr id="4" name="Text 0"/>
          <p:cNvSpPr/>
          <p:nvPr>
            <p:ph idx="102" type="body" hasCustomPrompt="1"/>
          </p:nvPr>
        </p:nvSpPr>
        <p:spPr>
          <a:xfrm>
            <a:off x="715975" y="2697480"/>
            <a:ext cx="5852160" cy="1097280"/>
          </a:xfrm>
          <a:prstGeom prst="rect">
            <a:avLst/>
          </a:prstGeom>
          <a:noFill/>
          <a:ln/>
        </p:spPr>
        <p:txBody>
          <a:bodyPr wrap="square" rtlCol="0"/>
          <a:lstStyle>
            <a:lvl1pPr algn="l" indent="0" marL="0">
              <a:buNone/>
              <a:defRPr lang="en-US" sz="2000" dirty="0">
                <a:solidFill>
                  <a:srgbClr val="4A405A"/>
                </a:solidFill>
                <a:latin typeface="Arial" pitchFamily="34" charset="0"/>
                <a:ea typeface="Arial" pitchFamily="34" charset="-122"/>
                <a:cs typeface="Arial" pitchFamily="34" charset="-120"/>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615391" y="411480"/>
            <a:ext cx="10957255" cy="868680"/>
          </a:xfrm>
          <a:prstGeom prst="rect">
            <a:avLst/>
          </a:prstGeom>
          <a:noFill/>
          <a:ln/>
        </p:spPr>
        <p:txBody>
          <a:bodyPr wrap="square" rtlCol="0"/>
          <a:lstStyle>
            <a:lvl1pPr algn="l" indent="0" marL="0">
              <a:buNone/>
              <a:defRPr lang="en-US" sz="32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O-IT-NOW">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548640" y="896112"/>
            <a:ext cx="11094415" cy="868680"/>
          </a:xfrm>
          <a:prstGeom prst="rect">
            <a:avLst/>
          </a:prstGeom>
          <a:noFill/>
          <a:ln/>
        </p:spPr>
        <p:txBody>
          <a:bodyPr wrap="square" rtlCol="0"/>
          <a:lstStyle>
            <a:lvl1pPr algn="l" indent="0" marL="0">
              <a:buNone/>
              <a:defRPr lang="en-US" sz="34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6.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6.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5.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5.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5.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video" Target="../media/media-15-1.mp4"/><Relationship Id="rId2" Type="http://schemas.microsoft.com/office/2007/relationships/media" Target="../media/media-15-1.mp4"/><Relationship Id="rId3" Type="http://schemas.openxmlformats.org/officeDocument/2006/relationships/image" Target="../media/image-15-3.png"/><Relationship Id="rId4" Type="http://schemas.openxmlformats.org/officeDocument/2006/relationships/slideLayout" Target="../slideLayouts/slideLayout5.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video" Target="../media/media-16-1.mp4"/><Relationship Id="rId2" Type="http://schemas.microsoft.com/office/2007/relationships/media" Target="../media/media-16-1.mp4"/><Relationship Id="rId3" Type="http://schemas.openxmlformats.org/officeDocument/2006/relationships/image" Target="../media/image-16-3.png"/><Relationship Id="rId4" Type="http://schemas.openxmlformats.org/officeDocument/2006/relationships/slideLayout" Target="../slideLayouts/slideLayout5.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6.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5.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5.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6.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5.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6.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6.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6.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6.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6.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6.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6.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5.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6.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6.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6.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6.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5.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3" type="title" hasCustomPrompt="1"/>
          </p:nvPr>
        </p:nvSpPr>
        <p:spPr>
          <a:xfrm>
            <a:off x="615391" y="1325880"/>
            <a:ext cx="8778240" cy="2011680"/>
          </a:xfrm>
          <a:prstGeom prst="rect">
            <a:avLst/>
          </a:prstGeom>
          <a:noFill/>
          <a:ln/>
        </p:spPr>
        <p:txBody>
          <a:bodyPr wrap="square" lIns="0" tIns="0" rIns="0" bIns="0" rtlCol="0" anchor="b"/>
          <a:lstStyle/>
          <a:p>
            <a:pPr algn="l" indent="0" marL="0">
              <a:buNone/>
            </a:pPr>
            <a:r>
              <a:rPr lang="en-US" sz="4800" dirty="0">
                <a:solidFill>
                  <a:srgbClr val="FCF9FE"/>
                </a:solidFill>
                <a:latin typeface="Founders Grotesk Medium" pitchFamily="34" charset="0"/>
                <a:ea typeface="Founders Grotesk Medium" pitchFamily="34" charset="-122"/>
                <a:cs typeface="Founders Grotesk Medium" pitchFamily="34" charset="-120"/>
              </a:rPr>
              <a:t>Agent orchestration with Claude</a:t>
            </a:r>
            <a:endParaRPr lang="en-US" sz="4800" dirty="0"/>
          </a:p>
        </p:txBody>
      </p:sp>
      <p:sp>
        <p:nvSpPr>
          <p:cNvPr id="3" name="Text 1"/>
          <p:cNvSpPr/>
          <p:nvPr>
            <p:ph idx="104" type="body" hasCustomPrompt="1"/>
          </p:nvPr>
        </p:nvSpPr>
        <p:spPr>
          <a:xfrm>
            <a:off x="615391" y="3474720"/>
            <a:ext cx="8778240" cy="1097280"/>
          </a:xfrm>
          <a:prstGeom prst="rect">
            <a:avLst/>
          </a:prstGeom>
          <a:noFill/>
          <a:ln/>
        </p:spPr>
        <p:txBody>
          <a:bodyPr wrap="square" lIns="0" tIns="0" rIns="0" bIns="0" rtlCol="0" anchor="t"/>
          <a:lstStyle/>
          <a:p>
            <a:pPr algn="l" indent="0" marL="0">
              <a:buNone/>
            </a:pPr>
            <a:r>
              <a:rPr lang="en-US" sz="2600" dirty="0">
                <a:solidFill>
                  <a:srgbClr val="F25928"/>
                </a:solidFill>
                <a:latin typeface="Founders Grotesk Medium" pitchFamily="34" charset="0"/>
                <a:ea typeface="Founders Grotesk Medium" pitchFamily="34" charset="-122"/>
                <a:cs typeface="Founders Grotesk Medium" pitchFamily="34" charset="-120"/>
              </a:rPr>
              <a:t>Skills, subagents and parallel swarms, with measured cost</a:t>
            </a: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You'll leave the workshop with this</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networ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swarm</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that builds a security game with 100 challenges, up to 8 agents in parallel</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clipboard-check">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task</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in a real repository, broken down and running: the practice one or your own</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memory</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graph of what you learned, ready to use tomorrow</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Ground rules on cost</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US$ 5</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target per person, for everything you do today</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US$ 10</a:t>
            </a:r>
            <a:endParaRPr lang="en-US" sz="60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safety cap, never the goal</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sessions stopped because of cost</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Project 1, in one real end-to-end run: US$ 4.30, 120 agents, swarm in 7.4 min, session in 14 min.</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Install the kit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Already installed? Go to the next slide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Paste it into a terminal and answer the questions</a:t>
            </a:r>
            <a:endParaRPr lang="en-US" sz="2000" dirty="0"/>
          </a:p>
        </p:txBody>
      </p:sp>
      <p:sp>
        <p:nvSpPr>
          <p:cNvPr id="6" name="code-background"/>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 (Terminal)</a:t>
            </a:r>
            <a:endParaRPr lang="en-US" sz="1500" dirty="0"/>
          </a:p>
        </p:txBody>
      </p:sp>
      <p:sp>
        <p:nvSpPr>
          <p:cNvPr id="8" name="code"/>
          <p:cNvSpPr txBox="1"/>
          <p:nvPr/>
        </p:nvSpPr>
        <p:spPr>
          <a:xfrm>
            <a:off x="5166360" y="2487168"/>
            <a:ext cx="6248095" cy="896112"/>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curl -fsSL https://github.com/cx-guilherme-pinto/workshop-claude/releases/download/v1.0.0-rc.4/setup-mac.sh | bash</a:t>
            </a:r>
            <a:endParaRPr lang="en-US" sz="1400" dirty="0"/>
          </a:p>
        </p:txBody>
      </p:sp>
      <p:sp>
        <p:nvSpPr>
          <p:cNvPr id="9" name="code-background"/>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e-label"/>
          <p:cNvSpPr txBox="1"/>
          <p:nvPr/>
        </p:nvSpPr>
        <p:spPr>
          <a:xfrm>
            <a:off x="5166360" y="39319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 (PowerShell)</a:t>
            </a:r>
            <a:endParaRPr lang="en-US" sz="1500" dirty="0"/>
          </a:p>
        </p:txBody>
      </p:sp>
      <p:sp>
        <p:nvSpPr>
          <p:cNvPr id="11" name="code"/>
          <p:cNvSpPr txBox="1"/>
          <p:nvPr/>
        </p:nvSpPr>
        <p:spPr>
          <a:xfrm>
            <a:off x="5166360" y="4315968"/>
            <a:ext cx="6248095" cy="896112"/>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irm https://github.com/cx-guilherme-pinto/workshop-claude/releases/download/v1.0.0-rc.4/bootstrap-windows.ps1 | iex</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setup summary table, with every step done</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Check your installation</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Wait for the summary table</a:t>
            </a:r>
            <a:endParaRPr lang="en-US" sz="2000" dirty="0"/>
          </a:p>
        </p:txBody>
      </p:sp>
      <p:sp>
        <p:nvSpPr>
          <p:cNvPr id="6" name="code-background"/>
          <p:cNvSpPr/>
          <p:nvPr/>
        </p:nvSpPr>
        <p:spPr>
          <a:xfrm>
            <a:off x="4937760" y="1920240"/>
            <a:ext cx="6705295" cy="1054303"/>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--check</a:t>
            </a:r>
            <a:endParaRPr lang="en-US" sz="1800" dirty="0"/>
          </a:p>
        </p:txBody>
      </p:sp>
      <p:sp>
        <p:nvSpPr>
          <p:cNvPr id="9" name="code-background"/>
          <p:cNvSpPr/>
          <p:nvPr/>
        </p:nvSpPr>
        <p:spPr>
          <a:xfrm>
            <a:off x="4937760" y="3203143"/>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386023"/>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3770071"/>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powershell -NoProfile -ExecutionPolicy Bypass -File "$env:USERPROFILE\.workshop-claude\setup-windows.ps1" -Check</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"Check complete: everything is ready for the workshop."</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Did a step fail?</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doctor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Claude's diagnosis (under US$ 0.01)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Follow the steps and run the install command again</a:t>
            </a:r>
            <a:endParaRPr lang="en-US" sz="2000" dirty="0"/>
          </a:p>
        </p:txBody>
      </p:sp>
      <p:sp>
        <p:nvSpPr>
          <p:cNvPr id="6" name="code-background"/>
          <p:cNvSpPr/>
          <p:nvPr/>
        </p:nvSpPr>
        <p:spPr>
          <a:xfrm>
            <a:off x="4937760" y="1920240"/>
            <a:ext cx="6705295" cy="1054303"/>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--doctor</a:t>
            </a:r>
            <a:endParaRPr lang="en-US" sz="1800" dirty="0"/>
          </a:p>
        </p:txBody>
      </p:sp>
      <p:sp>
        <p:nvSpPr>
          <p:cNvPr id="9" name="code-background"/>
          <p:cNvSpPr/>
          <p:nvPr/>
        </p:nvSpPr>
        <p:spPr>
          <a:xfrm>
            <a:off x="4937760" y="3203143"/>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386023"/>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3770071"/>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powershell -NoProfile -ExecutionPolicy Bypass -File "$env:USERPROFILE\.workshop-claude\setup-windows.ps1" -Doctor</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What failed, why and how to fix it; the install only repeats what is missing</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Concepts</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Skills, agents and money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Claude Code works in your project</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file-pen-line">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Reads and writes</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project files, with permissions you control</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square-terminal">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Runs commands</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tests, git, scripts: it reads the output and fixes what fails</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plug">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Connects to tools</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Jira and your memory via MCP; GitHub with gh</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skill is a recipe with a name</a:t>
            </a:r>
            <a:endParaRPr lang="en-US" sz="3200" dirty="0"/>
          </a:p>
        </p:txBody>
      </p:sp>
      <p:sp>
        <p:nvSpPr>
          <p:cNvPr id="3" name="intro"/>
          <p:cNvSpPr txBox="1"/>
          <p:nvPr/>
        </p:nvSpPr>
        <p:spPr>
          <a:xfrm>
            <a:off x="548640" y="1371600"/>
            <a:ext cx="11094415" cy="50292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SKILL.md file in a folder. You type /name and Claude follows the recipe.</a:t>
            </a:r>
            <a:endParaRPr lang="en-US" sz="2000" dirty="0"/>
          </a:p>
        </p:txBody>
      </p:sp>
      <p:sp>
        <p:nvSpPr>
          <p:cNvPr id="4" name="code-background"/>
          <p:cNvSpPr/>
          <p:nvPr/>
        </p:nvSpPr>
        <p:spPr>
          <a:xfrm>
            <a:off x="548640" y="1965960"/>
            <a:ext cx="11094415" cy="3749040"/>
          </a:xfrm>
          <a:prstGeom prst="rect">
            <a:avLst/>
          </a:prstGeom>
          <a:solidFill>
            <a:srgbClr val="140920"/>
          </a:solidFill>
          <a:ln w="12700">
            <a:solidFill>
              <a:srgbClr val="140920"/>
            </a:solidFill>
            <a:prstDash val="solid"/>
          </a:ln>
        </p:spPr>
      </p:sp>
      <p:sp>
        <p:nvSpPr>
          <p:cNvPr id="5" name="code"/>
          <p:cNvSpPr txBox="1"/>
          <p:nvPr/>
        </p:nvSpPr>
        <p:spPr>
          <a:xfrm>
            <a:off x="777240" y="2148840"/>
            <a:ext cx="10637215"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demo-swarm</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description: Runs the Arena swarm in waves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Bash(node tools/*),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1. Run next-wave.mjs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2. Launch exactly the calls it returns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3. Repeat until STATE: DONE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Answer in the participant's language.</a:t>
            </a:r>
            <a:endParaRPr lang="en-US" sz="2000" dirty="0"/>
          </a:p>
        </p:txBody>
      </p:sp>
      <p:sp>
        <p:nvSpPr>
          <p:cNvPr id="6" name="after"/>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4A405A"/>
                </a:solidFill>
                <a:latin typeface="Arial" pitchFamily="34" charset="0"/>
                <a:ea typeface="Arial" pitchFamily="34" charset="-122"/>
                <a:cs typeface="Arial" pitchFamily="34" charset="-120"/>
              </a:rPr>
              <a:t>.claude/skills/ in the project · ~/.claude/skills/ for every project · written in English, they answer in your language</a:t>
            </a:r>
            <a:endParaRPr lang="en-US" sz="17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Subagents: their own context and model</a:t>
            </a:r>
            <a:endParaRPr lang="en-US" sz="3200" dirty="0"/>
          </a:p>
        </p:txBody>
      </p:sp>
      <p:sp>
        <p:nvSpPr>
          <p:cNvPr id="3" name="model-0"/>
          <p:cNvSpPr/>
          <p:nvPr/>
        </p:nvSpPr>
        <p:spPr>
          <a:xfrm>
            <a:off x="548640" y="1600200"/>
            <a:ext cx="3484778" cy="3611880"/>
          </a:xfrm>
          <a:prstGeom prst="rect">
            <a:avLst/>
          </a:prstGeom>
          <a:solidFill>
            <a:srgbClr val="FFFFFF"/>
          </a:solidFill>
          <a:ln w="12700">
            <a:solidFill>
              <a:srgbClr val="FFFFFF"/>
            </a:solidFill>
            <a:prstDash val="solid"/>
          </a:ln>
        </p:spPr>
      </p:sp>
      <p:sp>
        <p:nvSpPr>
          <p:cNvPr id="4" name="model-icon-0-circle"/>
          <p:cNvSpPr/>
          <p:nvPr/>
        </p:nvSpPr>
        <p:spPr>
          <a:xfrm>
            <a:off x="868680" y="1874520"/>
            <a:ext cx="548640" cy="548640"/>
          </a:xfrm>
          <a:prstGeom prst="ellipse">
            <a:avLst/>
          </a:prstGeom>
          <a:solidFill>
            <a:srgbClr val="6B34FD"/>
          </a:solidFill>
          <a:ln w="12700">
            <a:solidFill>
              <a:srgbClr val="6B34FD"/>
            </a:solidFill>
            <a:prstDash val="solid"/>
          </a:ln>
        </p:spPr>
      </p:sp>
      <p:pic>
        <p:nvPicPr>
          <p:cNvPr id="5" name="model-icon-0" descr="brain">    </p:cNvPr>
          <p:cNvPicPr>
            <a:picLocks noChangeAspect="1"/>
          </p:cNvPicPr>
          <p:nvPr/>
        </p:nvPicPr>
        <p:blipFill>
          <a:blip r:embed="rId1"/>
          <a:stretch>
            <a:fillRect/>
          </a:stretch>
        </p:blipFill>
        <p:spPr>
          <a:xfrm>
            <a:off x="989381" y="1995221"/>
            <a:ext cx="307238" cy="307238"/>
          </a:xfrm>
          <a:prstGeom prst="rect">
            <a:avLst/>
          </a:prstGeom>
        </p:spPr>
      </p:pic>
      <p:sp>
        <p:nvSpPr>
          <p:cNvPr id="6" name="model-name-0"/>
          <p:cNvSpPr txBox="1"/>
          <p:nvPr/>
        </p:nvSpPr>
        <p:spPr>
          <a:xfrm>
            <a:off x="868680"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Opus</a:t>
            </a:r>
            <a:endParaRPr lang="en-US" sz="4800" dirty="0"/>
          </a:p>
        </p:txBody>
      </p:sp>
      <p:sp>
        <p:nvSpPr>
          <p:cNvPr id="7" name="model-role-0"/>
          <p:cNvSpPr txBox="1"/>
          <p:nvPr/>
        </p:nvSpPr>
        <p:spPr>
          <a:xfrm>
            <a:off x="868680"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planning and review</a:t>
            </a:r>
            <a:endParaRPr lang="en-US" sz="2200" dirty="0"/>
          </a:p>
        </p:txBody>
      </p:sp>
      <p:sp>
        <p:nvSpPr>
          <p:cNvPr id="8" name="model-price-0"/>
          <p:cNvSpPr txBox="1"/>
          <p:nvPr/>
        </p:nvSpPr>
        <p:spPr>
          <a:xfrm>
            <a:off x="868680"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US$ 4 / 20</a:t>
            </a:r>
            <a:endParaRPr lang="en-US" sz="2200" dirty="0"/>
          </a:p>
        </p:txBody>
      </p:sp>
      <p:sp>
        <p:nvSpPr>
          <p:cNvPr id="9" name="model-1"/>
          <p:cNvSpPr/>
          <p:nvPr/>
        </p:nvSpPr>
        <p:spPr>
          <a:xfrm>
            <a:off x="4353458" y="1600200"/>
            <a:ext cx="3484778" cy="3611880"/>
          </a:xfrm>
          <a:prstGeom prst="rect">
            <a:avLst/>
          </a:prstGeom>
          <a:solidFill>
            <a:srgbClr val="FFFFFF"/>
          </a:solidFill>
          <a:ln w="12700">
            <a:solidFill>
              <a:srgbClr val="FFFFFF"/>
            </a:solidFill>
            <a:prstDash val="solid"/>
          </a:ln>
        </p:spPr>
      </p:sp>
      <p:sp>
        <p:nvSpPr>
          <p:cNvPr id="10" name="model-icon-1-circle"/>
          <p:cNvSpPr/>
          <p:nvPr/>
        </p:nvSpPr>
        <p:spPr>
          <a:xfrm>
            <a:off x="4673498" y="1874520"/>
            <a:ext cx="548640" cy="548640"/>
          </a:xfrm>
          <a:prstGeom prst="ellipse">
            <a:avLst/>
          </a:prstGeom>
          <a:solidFill>
            <a:srgbClr val="6B34FD"/>
          </a:solidFill>
          <a:ln w="12700">
            <a:solidFill>
              <a:srgbClr val="6B34FD"/>
            </a:solidFill>
            <a:prstDash val="solid"/>
          </a:ln>
        </p:spPr>
      </p:sp>
      <p:pic>
        <p:nvPicPr>
          <p:cNvPr id="11" name="model-icon-1" descr="puzzle">    </p:cNvPr>
          <p:cNvPicPr>
            <a:picLocks noChangeAspect="1"/>
          </p:cNvPicPr>
          <p:nvPr/>
        </p:nvPicPr>
        <p:blipFill>
          <a:blip r:embed="rId2"/>
          <a:stretch>
            <a:fillRect/>
          </a:stretch>
        </p:blipFill>
        <p:spPr>
          <a:xfrm>
            <a:off x="4794199" y="1995221"/>
            <a:ext cx="307238" cy="307238"/>
          </a:xfrm>
          <a:prstGeom prst="rect">
            <a:avLst/>
          </a:prstGeom>
        </p:spPr>
      </p:pic>
      <p:sp>
        <p:nvSpPr>
          <p:cNvPr id="12" name="model-name-1"/>
          <p:cNvSpPr txBox="1"/>
          <p:nvPr/>
        </p:nvSpPr>
        <p:spPr>
          <a:xfrm>
            <a:off x="4673498"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Sonnet</a:t>
            </a:r>
            <a:endParaRPr lang="en-US" sz="4800" dirty="0"/>
          </a:p>
        </p:txBody>
      </p:sp>
      <p:sp>
        <p:nvSpPr>
          <p:cNvPr id="13" name="model-role-1"/>
          <p:cNvSpPr txBox="1"/>
          <p:nvPr/>
        </p:nvSpPr>
        <p:spPr>
          <a:xfrm>
            <a:off x="4673498"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integration and hard logic</a:t>
            </a:r>
            <a:endParaRPr lang="en-US" sz="2200" dirty="0"/>
          </a:p>
        </p:txBody>
      </p:sp>
      <p:sp>
        <p:nvSpPr>
          <p:cNvPr id="14" name="model-price-1"/>
          <p:cNvSpPr txBox="1"/>
          <p:nvPr/>
        </p:nvSpPr>
        <p:spPr>
          <a:xfrm>
            <a:off x="4673498"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US$ 2 / 10</a:t>
            </a:r>
            <a:endParaRPr lang="en-US" sz="2200" dirty="0"/>
          </a:p>
        </p:txBody>
      </p:sp>
      <p:sp>
        <p:nvSpPr>
          <p:cNvPr id="15" name="model-2"/>
          <p:cNvSpPr/>
          <p:nvPr/>
        </p:nvSpPr>
        <p:spPr>
          <a:xfrm>
            <a:off x="8158277" y="1600200"/>
            <a:ext cx="3484778" cy="3611880"/>
          </a:xfrm>
          <a:prstGeom prst="rect">
            <a:avLst/>
          </a:prstGeom>
          <a:solidFill>
            <a:srgbClr val="FFFFFF"/>
          </a:solidFill>
          <a:ln w="12700">
            <a:solidFill>
              <a:srgbClr val="FFFFFF"/>
            </a:solidFill>
            <a:prstDash val="solid"/>
          </a:ln>
        </p:spPr>
      </p:sp>
      <p:sp>
        <p:nvSpPr>
          <p:cNvPr id="16" name="model-icon-2-circle"/>
          <p:cNvSpPr/>
          <p:nvPr/>
        </p:nvSpPr>
        <p:spPr>
          <a:xfrm>
            <a:off x="8478317" y="1874520"/>
            <a:ext cx="548640" cy="548640"/>
          </a:xfrm>
          <a:prstGeom prst="ellipse">
            <a:avLst/>
          </a:prstGeom>
          <a:solidFill>
            <a:srgbClr val="6B34FD"/>
          </a:solidFill>
          <a:ln w="12700">
            <a:solidFill>
              <a:srgbClr val="6B34FD"/>
            </a:solidFill>
            <a:prstDash val="solid"/>
          </a:ln>
        </p:spPr>
      </p:sp>
      <p:pic>
        <p:nvPicPr>
          <p:cNvPr id="17" name="model-icon-2" descr="feather">    </p:cNvPr>
          <p:cNvPicPr>
            <a:picLocks noChangeAspect="1"/>
          </p:cNvPicPr>
          <p:nvPr/>
        </p:nvPicPr>
        <p:blipFill>
          <a:blip r:embed="rId3"/>
          <a:stretch>
            <a:fillRect/>
          </a:stretch>
        </p:blipFill>
        <p:spPr>
          <a:xfrm>
            <a:off x="8599018" y="1995221"/>
            <a:ext cx="307238" cy="307238"/>
          </a:xfrm>
          <a:prstGeom prst="rect">
            <a:avLst/>
          </a:prstGeom>
        </p:spPr>
      </p:pic>
      <p:sp>
        <p:nvSpPr>
          <p:cNvPr id="18" name="model-name-2"/>
          <p:cNvSpPr txBox="1"/>
          <p:nvPr/>
        </p:nvSpPr>
        <p:spPr>
          <a:xfrm>
            <a:off x="8478317"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Haiku</a:t>
            </a:r>
            <a:endParaRPr lang="en-US" sz="4800" dirty="0"/>
          </a:p>
        </p:txBody>
      </p:sp>
      <p:sp>
        <p:nvSpPr>
          <p:cNvPr id="19" name="model-role-2"/>
          <p:cNvSpPr txBox="1"/>
          <p:nvPr/>
        </p:nvSpPr>
        <p:spPr>
          <a:xfrm>
            <a:off x="8478317"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the bulk of the swarm</a:t>
            </a:r>
            <a:endParaRPr lang="en-US" sz="2200" dirty="0"/>
          </a:p>
        </p:txBody>
      </p:sp>
      <p:sp>
        <p:nvSpPr>
          <p:cNvPr id="20" name="model-price-2"/>
          <p:cNvSpPr txBox="1"/>
          <p:nvPr/>
        </p:nvSpPr>
        <p:spPr>
          <a:xfrm>
            <a:off x="8478317"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US$ 0.10 / 0.50</a:t>
            </a:r>
            <a:endParaRPr lang="en-US" sz="2200" dirty="0"/>
          </a:p>
        </p:txBody>
      </p:sp>
      <p:sp>
        <p:nvSpPr>
          <p:cNvPr id="21" name="footer"/>
          <p:cNvSpPr txBox="1"/>
          <p:nvPr/>
        </p:nvSpPr>
        <p:spPr>
          <a:xfrm>
            <a:off x="548640" y="5376672"/>
            <a:ext cx="11094415" cy="822960"/>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Price per million tokens: input / output.</a:t>
            </a:r>
            <a:endParaRPr lang="en-US" sz="1800" dirty="0"/>
          </a:p>
          <a:p>
            <a:pPr indent="0" marL="0">
              <a:buNone/>
            </a:pPr>
            <a:r>
              <a:rPr lang="en-US" sz="1800" dirty="0">
                <a:solidFill>
                  <a:srgbClr val="140920"/>
                </a:solidFill>
                <a:latin typeface="Arial" pitchFamily="34" charset="0"/>
                <a:ea typeface="Arial" pitchFamily="34" charset="-122"/>
                <a:cs typeface="Arial" pitchFamily="34" charset="-120"/>
              </a:rPr>
              <a:t>Source: platform.claude.com/docs/en/about-claude/pricing (2026-10-16)</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cost rule of thumb</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20×</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Haiku is 20 times cheaper than Sonnet</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4400" b="1" dirty="0">
                <a:solidFill>
                  <a:srgbClr val="140920"/>
                </a:solidFill>
                <a:latin typeface="Founders Grotesk Medium" pitchFamily="34" charset="0"/>
                <a:ea typeface="Founders Grotesk Medium" pitchFamily="34" charset="-122"/>
                <a:cs typeface="Founders Grotesk Medium" pitchFamily="34" charset="-120"/>
              </a:rPr>
              <a:t>US$ 0.0014</a:t>
            </a:r>
            <a:endParaRPr lang="en-US" sz="44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average cost of one small task done by a Haiku agent</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80%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of the cost goes to the main session, not to the swarm</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As much as possible on Haiku. Sonnet only where Haiku fails. Opus only to think and review.</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cycle of every task</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plan</a:t>
            </a:r>
            <a:endParaRPr lang="en-US" sz="17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task becomes a graph, reviewed by Opus</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swarm</a:t>
            </a:r>
            <a:endParaRPr lang="en-US" sz="17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Haiku agents build the pieces in parallel</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review</a:t>
            </a:r>
            <a:endParaRPr lang="en-US" sz="17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Opus checks the tests and the security</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cost</a:t>
            </a:r>
            <a:endParaRPr lang="en-US" sz="17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what it cost, per agent and per model</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700" b="1" dirty="0">
                <a:solidFill>
                  <a:srgbClr val="FCF9FE"/>
                </a:solidFill>
                <a:latin typeface="Founders Grotesk Medium" pitchFamily="34" charset="0"/>
                <a:ea typeface="Founders Grotesk Medium" pitchFamily="34" charset="-122"/>
                <a:cs typeface="Founders Grotesk Medium" pitchFamily="34" charset="-120"/>
              </a:rPr>
              <a:t>memory</a:t>
            </a:r>
            <a:endParaRPr lang="en-US" sz="17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lessons stay for next time</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build: the Security Arena</a:t>
            </a:r>
            <a:endParaRPr lang="en-US" sz="3200" dirty="0"/>
          </a:p>
        </p:txBody>
      </p:sp>
      <p:sp>
        <p:nvSpPr>
          <p:cNvPr id="3" name="frame"/>
          <p:cNvSpPr/>
          <p:nvPr/>
        </p:nvSpPr>
        <p:spPr>
          <a:xfrm>
            <a:off x="548640" y="1470660"/>
            <a:ext cx="5541264" cy="3742944"/>
          </a:xfrm>
          <a:prstGeom prst="rect">
            <a:avLst/>
          </a:prstGeom>
          <a:solidFill>
            <a:srgbClr val="FFFFFF"/>
          </a:solidFill>
          <a:ln w="12700">
            <a:solidFill>
              <a:srgbClr val="FFFFFF"/>
            </a:solidFill>
            <a:prstDash val="solid"/>
          </a:ln>
        </p:spPr>
      </p:sp>
      <p:pic>
        <p:nvPicPr>
          <p:cNvPr id="4" name="image" descr="One challenge of the game: click the line that exposes the secret and confirm.">    </p:cNvPr>
          <p:cNvPicPr>
            <a:picLocks noChangeAspect="1"/>
          </p:cNvPicPr>
          <p:nvPr/>
        </p:nvPicPr>
        <p:blipFill>
          <a:blip r:embed="rId1"/>
          <a:stretch>
            <a:fillRect/>
          </a:stretch>
        </p:blipFill>
        <p:spPr>
          <a:xfrm>
            <a:off x="621792" y="1543812"/>
            <a:ext cx="5394960" cy="3596640"/>
          </a:xfrm>
          <a:prstGeom prst="rect">
            <a:avLst/>
          </a:prstGeom>
        </p:spPr>
      </p:pic>
      <p:sp>
        <p:nvSpPr>
          <p:cNvPr id="5" name="image-caption"/>
          <p:cNvSpPr txBox="1"/>
          <p:nvPr/>
        </p:nvSpPr>
        <p:spPr>
          <a:xfrm>
            <a:off x="548640" y="5305044"/>
            <a:ext cx="5541264" cy="320040"/>
          </a:xfrm>
          <a:prstGeom prst="rect">
            <a:avLst/>
          </a:prstGeom>
          <a:noFill/>
          <a:ln/>
        </p:spPr>
        <p:txBody>
          <a:bodyPr wrap="square" lIns="0" tIns="0" rIns="0" bIns="0" rtlCol="0" anchor="t"/>
          <a:lstStyle/>
          <a:p>
            <a:pPr indent="0" marL="0">
              <a:buNone/>
            </a:pPr>
            <a:r>
              <a:rPr lang="en-US" sz="1300" dirty="0">
                <a:solidFill>
                  <a:srgbClr val="4A405A"/>
                </a:solidFill>
                <a:latin typeface="Arial" pitchFamily="34" charset="0"/>
                <a:ea typeface="Arial" pitchFamily="34" charset="-122"/>
                <a:cs typeface="Arial" pitchFamily="34" charset="-120"/>
              </a:rPr>
              <a:t>One challenge of the game: click the line that exposes the secret and confirm.</a:t>
            </a:r>
            <a:endParaRPr lang="en-US" sz="1300" dirty="0"/>
          </a:p>
        </p:txBody>
      </p:sp>
      <p:sp>
        <p:nvSpPr>
          <p:cNvPr id="6" name="intro-mark-0-circle"/>
          <p:cNvSpPr/>
          <p:nvPr/>
        </p:nvSpPr>
        <p:spPr>
          <a:xfrm>
            <a:off x="6492240" y="1463040"/>
            <a:ext cx="502920" cy="502920"/>
          </a:xfrm>
          <a:prstGeom prst="ellipse">
            <a:avLst/>
          </a:prstGeom>
          <a:solidFill>
            <a:srgbClr val="6B34FD"/>
          </a:solidFill>
          <a:ln w="12700">
            <a:solidFill>
              <a:srgbClr val="6B34FD"/>
            </a:solidFill>
            <a:prstDash val="solid"/>
          </a:ln>
        </p:spPr>
      </p:sp>
      <p:pic>
        <p:nvPicPr>
          <p:cNvPr id="7" name="intro-mark-0" descr="gamepad-2">    </p:cNvPr>
          <p:cNvPicPr>
            <a:picLocks noChangeAspect="1"/>
          </p:cNvPicPr>
          <p:nvPr/>
        </p:nvPicPr>
        <p:blipFill>
          <a:blip r:embed="rId2"/>
          <a:stretch>
            <a:fillRect/>
          </a:stretch>
        </p:blipFill>
        <p:spPr>
          <a:xfrm>
            <a:off x="6602882" y="1573682"/>
            <a:ext cx="281635" cy="281635"/>
          </a:xfrm>
          <a:prstGeom prst="rect">
            <a:avLst/>
          </a:prstGeom>
        </p:spPr>
      </p:pic>
      <p:sp>
        <p:nvSpPr>
          <p:cNvPr id="8" name="intro-title-0"/>
          <p:cNvSpPr txBox="1"/>
          <p:nvPr/>
        </p:nvSpPr>
        <p:spPr>
          <a:xfrm>
            <a:off x="7223760" y="149961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A mini-game, ready to play</a:t>
            </a:r>
            <a:endParaRPr lang="en-US" sz="1900" dirty="0"/>
          </a:p>
        </p:txBody>
      </p:sp>
      <p:sp>
        <p:nvSpPr>
          <p:cNvPr id="9" name="intro-text-0"/>
          <p:cNvSpPr txBox="1"/>
          <p:nvPr/>
        </p:nvSpPr>
        <p:spPr>
          <a:xfrm>
            <a:off x="7223760" y="188366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Short security challenges, in the browser, across 10 categories: passwords, phishing, web, networks, cryptography and more.</a:t>
            </a:r>
            <a:endParaRPr lang="en-US" sz="1500" dirty="0"/>
          </a:p>
        </p:txBody>
      </p:sp>
      <p:sp>
        <p:nvSpPr>
          <p:cNvPr id="10" name="intro-mark-1-circle"/>
          <p:cNvSpPr/>
          <p:nvPr/>
        </p:nvSpPr>
        <p:spPr>
          <a:xfrm>
            <a:off x="6492240" y="2804160"/>
            <a:ext cx="502920" cy="502920"/>
          </a:xfrm>
          <a:prstGeom prst="ellipse">
            <a:avLst/>
          </a:prstGeom>
          <a:solidFill>
            <a:srgbClr val="6B34FD"/>
          </a:solidFill>
          <a:ln w="12700">
            <a:solidFill>
              <a:srgbClr val="6B34FD"/>
            </a:solidFill>
            <a:prstDash val="solid"/>
          </a:ln>
        </p:spPr>
      </p:sp>
      <p:pic>
        <p:nvPicPr>
          <p:cNvPr id="11" name="intro-mark-1" descr="layers">    </p:cNvPr>
          <p:cNvPicPr>
            <a:picLocks noChangeAspect="1"/>
          </p:cNvPicPr>
          <p:nvPr/>
        </p:nvPicPr>
        <p:blipFill>
          <a:blip r:embed="rId3"/>
          <a:stretch>
            <a:fillRect/>
          </a:stretch>
        </p:blipFill>
        <p:spPr>
          <a:xfrm>
            <a:off x="6602882" y="2914802"/>
            <a:ext cx="281635" cy="281635"/>
          </a:xfrm>
          <a:prstGeom prst="rect">
            <a:avLst/>
          </a:prstGeom>
        </p:spPr>
      </p:pic>
      <p:sp>
        <p:nvSpPr>
          <p:cNvPr id="12" name="intro-title-1"/>
          <p:cNvSpPr txBox="1"/>
          <p:nvPr/>
        </p:nvSpPr>
        <p:spPr>
          <a:xfrm>
            <a:off x="7223760" y="284073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Each task builds a challenge</a:t>
            </a:r>
            <a:endParaRPr lang="en-US" sz="1900" dirty="0"/>
          </a:p>
        </p:txBody>
      </p:sp>
      <p:sp>
        <p:nvSpPr>
          <p:cNvPr id="13" name="intro-text-1"/>
          <p:cNvSpPr txBox="1"/>
          <p:nvPr/>
        </p:nvSpPr>
        <p:spPr>
          <a:xfrm>
            <a:off x="7223760" y="322478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4 formats: point at the insecure line, pick the answer, put the steps in order or type the answer.</a:t>
            </a:r>
            <a:endParaRPr lang="en-US" sz="1500" dirty="0"/>
          </a:p>
        </p:txBody>
      </p:sp>
      <p:sp>
        <p:nvSpPr>
          <p:cNvPr id="14" name="intro-mark-2-circle"/>
          <p:cNvSpPr/>
          <p:nvPr/>
        </p:nvSpPr>
        <p:spPr>
          <a:xfrm>
            <a:off x="6492240" y="4145280"/>
            <a:ext cx="502920" cy="502920"/>
          </a:xfrm>
          <a:prstGeom prst="ellipse">
            <a:avLst/>
          </a:prstGeom>
          <a:solidFill>
            <a:srgbClr val="6B34FD"/>
          </a:solidFill>
          <a:ln w="12700">
            <a:solidFill>
              <a:srgbClr val="6B34FD"/>
            </a:solidFill>
            <a:prstDash val="solid"/>
          </a:ln>
        </p:spPr>
      </p:sp>
      <p:pic>
        <p:nvPicPr>
          <p:cNvPr id="15" name="intro-mark-2" descr="bot">    </p:cNvPr>
          <p:cNvPicPr>
            <a:picLocks noChangeAspect="1"/>
          </p:cNvPicPr>
          <p:nvPr/>
        </p:nvPicPr>
        <p:blipFill>
          <a:blip r:embed="rId4"/>
          <a:stretch>
            <a:fillRect/>
          </a:stretch>
        </p:blipFill>
        <p:spPr>
          <a:xfrm>
            <a:off x="6602882" y="4255922"/>
            <a:ext cx="281635" cy="281635"/>
          </a:xfrm>
          <a:prstGeom prst="rect">
            <a:avLst/>
          </a:prstGeom>
        </p:spPr>
      </p:pic>
      <p:sp>
        <p:nvSpPr>
          <p:cNvPr id="16" name="intro-title-2"/>
          <p:cNvSpPr txBox="1"/>
          <p:nvPr/>
        </p:nvSpPr>
        <p:spPr>
          <a:xfrm>
            <a:off x="7223760" y="418185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One agent per task</a:t>
            </a:r>
            <a:endParaRPr lang="en-US" sz="1900" dirty="0"/>
          </a:p>
        </p:txBody>
      </p:sp>
      <p:sp>
        <p:nvSpPr>
          <p:cNvPr id="17" name="intro-text-2"/>
          <p:cNvSpPr txBox="1"/>
          <p:nvPr/>
        </p:nvSpPr>
        <p:spPr>
          <a:xfrm>
            <a:off x="7223760" y="456590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does one task, and that task's test says whether it is right. In the video and on your laptop: the same 100.</a:t>
            </a:r>
            <a:endParaRPr lang="en-US" sz="1500" dirty="0"/>
          </a:p>
        </p:txBody>
      </p:sp>
      <p:sp>
        <p:nvSpPr>
          <p:cNvPr id="18" name="legend-background"/>
          <p:cNvSpPr/>
          <p:nvPr/>
        </p:nvSpPr>
        <p:spPr>
          <a:xfrm>
            <a:off x="548640" y="5669280"/>
            <a:ext cx="11094415" cy="502920"/>
          </a:xfrm>
          <a:prstGeom prst="rect">
            <a:avLst/>
          </a:prstGeom>
          <a:solidFill>
            <a:srgbClr val="FFFFFF"/>
          </a:solidFill>
          <a:ln w="12700">
            <a:solidFill>
              <a:srgbClr val="FFFFFF"/>
            </a:solidFill>
            <a:prstDash val="solid"/>
          </a:ln>
        </p:spPr>
      </p:sp>
      <p:sp>
        <p:nvSpPr>
          <p:cNvPr id="19" name="status-legend-title"/>
          <p:cNvSpPr txBox="1"/>
          <p:nvPr/>
        </p:nvSpPr>
        <p:spPr>
          <a:xfrm>
            <a:off x="777240" y="5779008"/>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20" name="status-legend-0"/>
          <p:cNvSpPr/>
          <p:nvPr/>
        </p:nvSpPr>
        <p:spPr>
          <a:xfrm>
            <a:off x="2926431" y="5806440"/>
            <a:ext cx="219456" cy="219456"/>
          </a:xfrm>
          <a:prstGeom prst="rect">
            <a:avLst/>
          </a:prstGeom>
          <a:solidFill>
            <a:srgbClr val="C4C7C1"/>
          </a:solidFill>
          <a:ln w="12700">
            <a:solidFill>
              <a:srgbClr val="C4C7C1"/>
            </a:solidFill>
            <a:prstDash val="solid"/>
          </a:ln>
        </p:spPr>
      </p:sp>
      <p:sp>
        <p:nvSpPr>
          <p:cNvPr id="21" name="status-legend-label-0"/>
          <p:cNvSpPr txBox="1"/>
          <p:nvPr/>
        </p:nvSpPr>
        <p:spPr>
          <a:xfrm>
            <a:off x="3255615" y="5779008"/>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22" name="status-legend-1"/>
          <p:cNvSpPr/>
          <p:nvPr/>
        </p:nvSpPr>
        <p:spPr>
          <a:xfrm>
            <a:off x="4232926" y="5806440"/>
            <a:ext cx="219456" cy="219456"/>
          </a:xfrm>
          <a:prstGeom prst="rect">
            <a:avLst/>
          </a:prstGeom>
          <a:solidFill>
            <a:srgbClr val="F1C232"/>
          </a:solidFill>
          <a:ln w="12700">
            <a:solidFill>
              <a:srgbClr val="F1C232"/>
            </a:solidFill>
            <a:prstDash val="solid"/>
          </a:ln>
        </p:spPr>
      </p:sp>
      <p:sp>
        <p:nvSpPr>
          <p:cNvPr id="23" name="status-legend-label-1"/>
          <p:cNvSpPr txBox="1"/>
          <p:nvPr/>
        </p:nvSpPr>
        <p:spPr>
          <a:xfrm>
            <a:off x="4562110" y="5779008"/>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24" name="status-legend-2"/>
          <p:cNvSpPr/>
          <p:nvPr/>
        </p:nvSpPr>
        <p:spPr>
          <a:xfrm>
            <a:off x="6024418" y="5806440"/>
            <a:ext cx="219456" cy="219456"/>
          </a:xfrm>
          <a:prstGeom prst="rect">
            <a:avLst/>
          </a:prstGeom>
          <a:solidFill>
            <a:srgbClr val="1E9E57"/>
          </a:solidFill>
          <a:ln w="12700">
            <a:solidFill>
              <a:srgbClr val="1E9E57"/>
            </a:solidFill>
            <a:prstDash val="solid"/>
          </a:ln>
        </p:spPr>
      </p:sp>
      <p:sp>
        <p:nvSpPr>
          <p:cNvPr id="25" name="status-legend-label-2"/>
          <p:cNvSpPr txBox="1"/>
          <p:nvPr/>
        </p:nvSpPr>
        <p:spPr>
          <a:xfrm>
            <a:off x="6353602"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26" name="status-legend-3"/>
          <p:cNvSpPr/>
          <p:nvPr/>
        </p:nvSpPr>
        <p:spPr>
          <a:xfrm>
            <a:off x="7654245" y="5806440"/>
            <a:ext cx="219456" cy="219456"/>
          </a:xfrm>
          <a:prstGeom prst="rect">
            <a:avLst/>
          </a:prstGeom>
          <a:solidFill>
            <a:srgbClr val="D2463F"/>
          </a:solidFill>
          <a:ln w="12700">
            <a:solidFill>
              <a:srgbClr val="D2463F"/>
            </a:solidFill>
            <a:prstDash val="solid"/>
          </a:ln>
        </p:spPr>
      </p:sp>
      <p:sp>
        <p:nvSpPr>
          <p:cNvPr id="27" name="status-legend-label-3"/>
          <p:cNvSpPr txBox="1"/>
          <p:nvPr/>
        </p:nvSpPr>
        <p:spPr>
          <a:xfrm>
            <a:off x="7983429"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The swarm in action</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Arena with 100 tasks, built by agents in parallel. Then you build the same one.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swarm building the Arena</a:t>
            </a:r>
            <a:endParaRPr lang="en-US" sz="3200" dirty="0"/>
          </a:p>
        </p:txBody>
      </p:sp>
      <p:pic>
        <p:nvPicPr>
          <p:cNvPr id="3" name="video-swarm">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690226"/>
            <a:ext cx="11094415" cy="3386108"/>
          </a:xfrm>
          <a:prstGeom prst="rect">
            <a:avLst/>
          </a:prstGeom>
        </p:spPr>
      </p:pic>
      <p:sp>
        <p:nvSpPr>
          <p:cNvPr id="4" name="status-legend-background"/>
          <p:cNvSpPr/>
          <p:nvPr/>
        </p:nvSpPr>
        <p:spPr>
          <a:xfrm>
            <a:off x="548640" y="5076334"/>
            <a:ext cx="11094415" cy="420624"/>
          </a:xfrm>
          <a:prstGeom prst="rect">
            <a:avLst/>
          </a:prstGeom>
          <a:solidFill>
            <a:srgbClr val="140920"/>
          </a:solidFill>
          <a:ln w="12700">
            <a:solidFill>
              <a:srgbClr val="140920"/>
            </a:solidFill>
            <a:prstDash val="solid"/>
          </a:ln>
        </p:spPr>
      </p:sp>
      <p:sp>
        <p:nvSpPr>
          <p:cNvPr id="5" name="status-legend-title"/>
          <p:cNvSpPr txBox="1"/>
          <p:nvPr/>
        </p:nvSpPr>
        <p:spPr>
          <a:xfrm>
            <a:off x="777240" y="5149486"/>
            <a:ext cx="2001453" cy="274320"/>
          </a:xfrm>
          <a:prstGeom prst="rect">
            <a:avLst/>
          </a:prstGeom>
          <a:noFill/>
          <a:ln/>
        </p:spPr>
        <p:txBody>
          <a:bodyPr wrap="square" lIns="0" tIns="0" rIns="0" bIns="0" rtlCol="0" anchor="ctr"/>
          <a:lstStyle/>
          <a:p>
            <a:pPr indent="0" marL="0">
              <a:buNone/>
            </a:pPr>
            <a:r>
              <a:rPr lang="en-US" sz="1200" b="1" dirty="0">
                <a:solidFill>
                  <a:srgbClr val="FCF9FE"/>
                </a:solidFill>
                <a:latin typeface="Arial" pitchFamily="34" charset="0"/>
                <a:ea typeface="Arial" pitchFamily="34" charset="-122"/>
                <a:cs typeface="Arial" pitchFamily="34" charset="-120"/>
              </a:rPr>
              <a:t>Each square is a task:</a:t>
            </a:r>
            <a:endParaRPr lang="en-US" sz="1200" dirty="0"/>
          </a:p>
        </p:txBody>
      </p:sp>
      <p:sp>
        <p:nvSpPr>
          <p:cNvPr id="6" name="status-legend-0"/>
          <p:cNvSpPr/>
          <p:nvPr/>
        </p:nvSpPr>
        <p:spPr>
          <a:xfrm>
            <a:off x="2778693" y="5176918"/>
            <a:ext cx="219456" cy="219456"/>
          </a:xfrm>
          <a:prstGeom prst="rect">
            <a:avLst/>
          </a:prstGeom>
          <a:solidFill>
            <a:srgbClr val="3A423E"/>
          </a:solidFill>
          <a:ln w="12700">
            <a:solidFill>
              <a:srgbClr val="3A423E"/>
            </a:solidFill>
            <a:prstDash val="solid"/>
          </a:ln>
        </p:spPr>
      </p:sp>
      <p:sp>
        <p:nvSpPr>
          <p:cNvPr id="7" name="status-legend-label-0"/>
          <p:cNvSpPr txBox="1"/>
          <p:nvPr/>
        </p:nvSpPr>
        <p:spPr>
          <a:xfrm>
            <a:off x="3107877" y="5149486"/>
            <a:ext cx="93378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waiting</a:t>
            </a:r>
            <a:endParaRPr lang="en-US" sz="1200" dirty="0"/>
          </a:p>
        </p:txBody>
      </p:sp>
      <p:sp>
        <p:nvSpPr>
          <p:cNvPr id="8" name="status-legend-1"/>
          <p:cNvSpPr/>
          <p:nvPr/>
        </p:nvSpPr>
        <p:spPr>
          <a:xfrm>
            <a:off x="4041663" y="5176918"/>
            <a:ext cx="219456" cy="219456"/>
          </a:xfrm>
          <a:prstGeom prst="rect">
            <a:avLst/>
          </a:prstGeom>
          <a:solidFill>
            <a:srgbClr val="F1C232"/>
          </a:solidFill>
          <a:ln w="12700">
            <a:solidFill>
              <a:srgbClr val="F1C232"/>
            </a:solidFill>
            <a:prstDash val="solid"/>
          </a:ln>
        </p:spPr>
      </p:sp>
      <p:sp>
        <p:nvSpPr>
          <p:cNvPr id="9" name="status-legend-label-1"/>
          <p:cNvSpPr txBox="1"/>
          <p:nvPr/>
        </p:nvSpPr>
        <p:spPr>
          <a:xfrm>
            <a:off x="4370847" y="5149486"/>
            <a:ext cx="1381476"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agent working</a:t>
            </a:r>
            <a:endParaRPr lang="en-US" sz="1200" dirty="0"/>
          </a:p>
        </p:txBody>
      </p:sp>
      <p:sp>
        <p:nvSpPr>
          <p:cNvPr id="10" name="status-legend-2"/>
          <p:cNvSpPr/>
          <p:nvPr/>
        </p:nvSpPr>
        <p:spPr>
          <a:xfrm>
            <a:off x="5752322" y="5176918"/>
            <a:ext cx="219456" cy="219456"/>
          </a:xfrm>
          <a:prstGeom prst="rect">
            <a:avLst/>
          </a:prstGeom>
          <a:solidFill>
            <a:srgbClr val="2FBF6C"/>
          </a:solidFill>
          <a:ln w="12700">
            <a:solidFill>
              <a:srgbClr val="2FBF6C"/>
            </a:solidFill>
            <a:prstDash val="solid"/>
          </a:ln>
        </p:spPr>
      </p:sp>
      <p:sp>
        <p:nvSpPr>
          <p:cNvPr id="11" name="status-legend-label-2"/>
          <p:cNvSpPr txBox="1"/>
          <p:nvPr/>
        </p:nvSpPr>
        <p:spPr>
          <a:xfrm>
            <a:off x="6081506" y="5149486"/>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passed</a:t>
            </a:r>
            <a:endParaRPr lang="en-US" sz="1200" dirty="0"/>
          </a:p>
        </p:txBody>
      </p:sp>
      <p:sp>
        <p:nvSpPr>
          <p:cNvPr id="12" name="status-legend-3"/>
          <p:cNvSpPr/>
          <p:nvPr/>
        </p:nvSpPr>
        <p:spPr>
          <a:xfrm>
            <a:off x="7313752" y="5176918"/>
            <a:ext cx="219456" cy="219456"/>
          </a:xfrm>
          <a:prstGeom prst="rect">
            <a:avLst/>
          </a:prstGeom>
          <a:solidFill>
            <a:srgbClr val="EF5B52"/>
          </a:solidFill>
          <a:ln w="12700">
            <a:solidFill>
              <a:srgbClr val="EF5B52"/>
            </a:solidFill>
            <a:prstDash val="solid"/>
          </a:ln>
        </p:spPr>
      </p:sp>
      <p:sp>
        <p:nvSpPr>
          <p:cNvPr id="13" name="status-legend-label-3"/>
          <p:cNvSpPr txBox="1"/>
          <p:nvPr/>
        </p:nvSpPr>
        <p:spPr>
          <a:xfrm>
            <a:off x="7642936" y="5149486"/>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failed</a:t>
            </a:r>
            <a:endParaRPr lang="en-US" sz="1200" dirty="0"/>
          </a:p>
        </p:txBody>
      </p:sp>
      <p:sp>
        <p:nvSpPr>
          <p:cNvPr id="14" name="caption"/>
          <p:cNvSpPr txBox="1"/>
          <p:nvPr/>
        </p:nvSpPr>
        <p:spPr>
          <a:xfrm>
            <a:off x="548640" y="5643262"/>
            <a:ext cx="11094415" cy="329184"/>
          </a:xfrm>
          <a:prstGeom prst="rect">
            <a:avLst/>
          </a:prstGeom>
          <a:noFill/>
          <a:ln/>
        </p:spPr>
        <p:txBody>
          <a:bodyPr wrap="square" lIns="0" tIns="0" rIns="0" bIns="0" rtlCol="0" anchor="ctr"/>
          <a:lstStyle/>
          <a:p>
            <a:pPr indent="0" marL="0">
              <a:buNone/>
            </a:pPr>
            <a:r>
              <a:rPr lang="en-US" sz="1600" dirty="0">
                <a:solidFill>
                  <a:srgbClr val="4A405A"/>
                </a:solidFill>
                <a:latin typeface="Arial" pitchFamily="34" charset="0"/>
                <a:ea typeface="Arial" pitchFamily="34" charset="-122"/>
                <a:cs typeface="Arial" pitchFamily="34" charset="-120"/>
              </a:rPr>
              <a:t>A different run, recorded earlier (8 agents in parallel): 8.6 min · US$ 3.36 · 107 agents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result: the game, ready to use</a:t>
            </a:r>
            <a:endParaRPr lang="en-US" sz="3200" dirty="0"/>
          </a:p>
        </p:txBody>
      </p:sp>
      <p:pic>
        <p:nvPicPr>
          <p:cNvPr id="3" name="video-gam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194408" y="1371600"/>
            <a:ext cx="7802880" cy="4389120"/>
          </a:xfrm>
          <a:prstGeom prst="rect">
            <a:avLst/>
          </a:prstGeom>
        </p:spPr>
      </p:pic>
      <p:sp>
        <p:nvSpPr>
          <p:cNvPr id="4" name="caption"/>
          <p:cNvSpPr txBox="1"/>
          <p:nvPr/>
        </p:nvSpPr>
        <p:spPr>
          <a:xfrm>
            <a:off x="548640" y="5897880"/>
            <a:ext cx="11094415" cy="329184"/>
          </a:xfrm>
          <a:prstGeom prst="rect">
            <a:avLst/>
          </a:prstGeom>
          <a:noFill/>
          <a:ln/>
        </p:spPr>
        <p:txBody>
          <a:bodyPr wrap="square" lIns="0" tIns="0" rIns="0" bIns="0" rtlCol="0" anchor="ctr"/>
          <a:lstStyle/>
          <a:p>
            <a:pPr indent="0" marL="0">
              <a:buNone/>
            </a:pPr>
            <a:r>
              <a:rPr lang="en-US" sz="1600" dirty="0">
                <a:solidFill>
                  <a:srgbClr val="4A405A"/>
                </a:solidFill>
                <a:latin typeface="Arial" pitchFamily="34" charset="0"/>
                <a:ea typeface="Arial" pitchFamily="34" charset="-122"/>
                <a:cs typeface="Arial" pitchFamily="34" charset="-120"/>
              </a:rPr>
              <a:t>The Arena the swarm built: security challenges in 4 formats, to play in the browser.</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1</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Security Arena</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do in this project today</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
          <p:cNvSpPr/>
          <p:nvPr/>
        </p:nvSpPr>
        <p:spPr>
          <a:xfrm>
            <a:off x="868680" y="2011680"/>
            <a:ext cx="548640" cy="548640"/>
          </a:xfrm>
          <a:prstGeom prst="rect">
            <a:avLst/>
          </a:prstGeom>
          <a:solidFill>
            <a:srgbClr val="1E9E57"/>
          </a:solidFill>
          <a:ln w="12700">
            <a:solidFill>
              <a:srgbClr val="1E9E57"/>
            </a:solidFill>
            <a:prstDash val="solid"/>
          </a:ln>
        </p:spPr>
      </p:sp>
      <p:sp>
        <p:nvSpPr>
          <p:cNvPr id="5"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Ready</a:t>
            </a:r>
            <a:endParaRPr lang="en-US" sz="2600" dirty="0"/>
          </a:p>
        </p:txBody>
      </p:sp>
      <p:sp>
        <p:nvSpPr>
          <p:cNvPr id="6"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app shell, 4 challenge formats and one test for each task</a:t>
            </a:r>
            <a:endParaRPr lang="en-US" sz="2000" dirty="0"/>
          </a:p>
        </p:txBody>
      </p:sp>
      <p:sp>
        <p:nvSpPr>
          <p:cNvPr id="7"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8" name="mark-1"/>
          <p:cNvSpPr/>
          <p:nvPr/>
        </p:nvSpPr>
        <p:spPr>
          <a:xfrm>
            <a:off x="4673498" y="2011680"/>
            <a:ext cx="548640" cy="548640"/>
          </a:xfrm>
          <a:prstGeom prst="rect">
            <a:avLst/>
          </a:prstGeom>
          <a:solidFill>
            <a:srgbClr val="C4C7C1"/>
          </a:solidFill>
          <a:ln w="12700">
            <a:solidFill>
              <a:srgbClr val="C4C7C1"/>
            </a:solidFill>
            <a:prstDash val="solid"/>
          </a:ln>
        </p:spPr>
      </p:sp>
      <p:sp>
        <p:nvSpPr>
          <p:cNvPr id="9"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To do</a:t>
            </a:r>
            <a:endParaRPr lang="en-US" sz="2600" dirty="0"/>
          </a:p>
        </p:txBody>
      </p:sp>
      <p:sp>
        <p:nvSpPr>
          <p:cNvPr id="10"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100 challenges plus yours, lib-hash, 2 pages, integration and review</a:t>
            </a:r>
            <a:endParaRPr lang="en-US" sz="2000" dirty="0"/>
          </a:p>
        </p:txBody>
      </p:sp>
      <p:sp>
        <p:nvSpPr>
          <p:cNvPr id="11"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2" name="mark-2"/>
          <p:cNvSpPr/>
          <p:nvPr/>
        </p:nvSpPr>
        <p:spPr>
          <a:xfrm>
            <a:off x="8478317" y="2011680"/>
            <a:ext cx="548640" cy="548640"/>
          </a:xfrm>
          <a:prstGeom prst="rect">
            <a:avLst/>
          </a:prstGeom>
          <a:solidFill>
            <a:srgbClr val="F1C232"/>
          </a:solidFill>
          <a:ln w="12700">
            <a:solidFill>
              <a:srgbClr val="F1C232"/>
            </a:solidFill>
            <a:prstDash val="solid"/>
          </a:ln>
        </p:spPr>
      </p:sp>
      <p:sp>
        <p:nvSpPr>
          <p:cNvPr id="13"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Who does it</a:t>
            </a:r>
            <a:endParaRPr lang="en-US" sz="2600" dirty="0"/>
          </a:p>
        </p:txBody>
      </p:sp>
      <p:sp>
        <p:nvSpPr>
          <p:cNvPr id="14"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your swarm: Haiku, Sonnet and Opus</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Write your card</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Before planning, add a challenge of your own to the 100: the swarm builds it too.</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example to specs/my-card.json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your editor, change title, concept, prompt and template: spot-the-flaw, choice, order or answer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Generate the card files</a:t>
            </a:r>
            <a:endParaRPr lang="en-US" sz="2000" dirty="0"/>
          </a:p>
        </p:txBody>
      </p:sp>
      <p:sp>
        <p:nvSpPr>
          <p:cNvPr id="7" name="code-background"/>
          <p:cNvSpPr/>
          <p:nvPr/>
        </p:nvSpPr>
        <p:spPr>
          <a:xfrm>
            <a:off x="4937760" y="2240280"/>
            <a:ext cx="6705295" cy="1900123"/>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9" name="code"/>
          <p:cNvSpPr txBox="1"/>
          <p:nvPr/>
        </p:nvSpPr>
        <p:spPr>
          <a:xfrm>
            <a:off x="5166360" y="2807208"/>
            <a:ext cx="6248095" cy="1196035"/>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~/workshop-claude/demo-project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cp specs/my-card.example.json specs/my-card.json</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 edit specs/my-card.json, then:</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node tools/gen.mjs</a:t>
            </a:r>
            <a:endParaRPr lang="en-US" sz="17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After the swarm: card my-01 in the gallery and on /status (101 cards), built by a Haiku agent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/demo-plan does</a:t>
            </a:r>
            <a:endParaRPr lang="en-US" sz="3200" dirty="0"/>
          </a:p>
        </p:txBody>
      </p:sp>
      <p:sp>
        <p:nvSpPr>
          <p:cNvPr id="3" name="code-background"/>
          <p:cNvSpPr/>
          <p:nvPr/>
        </p:nvSpPr>
        <p:spPr>
          <a:xfrm>
            <a:off x="548640" y="1508760"/>
            <a:ext cx="5760720" cy="4133088"/>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.claude/skills/demo-plan/SKILL.md (summary)</a:t>
            </a:r>
            <a:endParaRPr lang="en-US" sz="1500" dirty="0"/>
          </a:p>
        </p:txBody>
      </p:sp>
      <p:sp>
        <p:nvSpPr>
          <p:cNvPr id="5" name="code"/>
          <p:cNvSpPr txBox="1"/>
          <p:nvPr/>
        </p:nvSpPr>
        <p:spPr>
          <a:xfrm>
            <a:off x="777240" y="2075688"/>
            <a:ext cx="5303520"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demo-plan</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Read,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node tools/*, memory_search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1. Look up lessons in the memory</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2. node tools/plan.mjs → the graph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3. The planner (Opus) reviews it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4. Show waves, diagram and cost</a:t>
            </a:r>
            <a:endParaRPr lang="en-US" sz="2000" dirty="0"/>
          </a:p>
        </p:txBody>
      </p:sp>
      <p:sp>
        <p:nvSpPr>
          <p:cNvPr id="6" name="anatomy-mark-0-circle"/>
          <p:cNvSpPr/>
          <p:nvPr/>
        </p:nvSpPr>
        <p:spPr>
          <a:xfrm>
            <a:off x="6766560" y="1508760"/>
            <a:ext cx="438912" cy="438912"/>
          </a:xfrm>
          <a:prstGeom prst="ellipse">
            <a:avLst/>
          </a:prstGeom>
          <a:solidFill>
            <a:srgbClr val="6B34FD"/>
          </a:solidFill>
          <a:ln w="12700">
            <a:solidFill>
              <a:srgbClr val="6B34FD"/>
            </a:solidFill>
            <a:prstDash val="solid"/>
          </a:ln>
        </p:spPr>
      </p:sp>
      <p:pic>
        <p:nvPicPr>
          <p:cNvPr id="7" name="anatomy-mark-0" descr="scroll-text">    </p:cNvPr>
          <p:cNvPicPr>
            <a:picLocks noChangeAspect="1"/>
          </p:cNvPicPr>
          <p:nvPr/>
        </p:nvPicPr>
        <p:blipFill>
          <a:blip r:embed="rId1"/>
          <a:stretch>
            <a:fillRect/>
          </a:stretch>
        </p:blipFill>
        <p:spPr>
          <a:xfrm>
            <a:off x="6863121" y="1605321"/>
            <a:ext cx="245791" cy="245791"/>
          </a:xfrm>
          <a:prstGeom prst="rect">
            <a:avLst/>
          </a:prstGeom>
        </p:spPr>
      </p:pic>
      <p:sp>
        <p:nvSpPr>
          <p:cNvPr id="8" name="anatomy-title-0"/>
          <p:cNvSpPr txBox="1"/>
          <p:nvPr/>
        </p:nvSpPr>
        <p:spPr>
          <a:xfrm>
            <a:off x="7388352" y="15270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It is a skill</a:t>
            </a:r>
            <a:endParaRPr lang="en-US" sz="2200" dirty="0"/>
          </a:p>
        </p:txBody>
      </p:sp>
      <p:sp>
        <p:nvSpPr>
          <p:cNvPr id="9" name="anatomy-text-0"/>
          <p:cNvSpPr txBox="1"/>
          <p:nvPr/>
        </p:nvSpPr>
        <p:spPr>
          <a:xfrm>
            <a:off x="7388352" y="19842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A Markdown file with steps: you type /demo-plan and Claude follows the recipe.</a:t>
            </a:r>
            <a:endParaRPr lang="en-US" sz="1800" dirty="0"/>
          </a:p>
        </p:txBody>
      </p:sp>
      <p:sp>
        <p:nvSpPr>
          <p:cNvPr id="10" name="anatomy-mark-1-circle"/>
          <p:cNvSpPr/>
          <p:nvPr/>
        </p:nvSpPr>
        <p:spPr>
          <a:xfrm>
            <a:off x="6766560" y="2956560"/>
            <a:ext cx="438912" cy="438912"/>
          </a:xfrm>
          <a:prstGeom prst="ellipse">
            <a:avLst/>
          </a:prstGeom>
          <a:solidFill>
            <a:srgbClr val="6B34FD"/>
          </a:solidFill>
          <a:ln w="12700">
            <a:solidFill>
              <a:srgbClr val="6B34FD"/>
            </a:solidFill>
            <a:prstDash val="solid"/>
          </a:ln>
        </p:spPr>
      </p:sp>
      <p:pic>
        <p:nvPicPr>
          <p:cNvPr id="11" name="anatomy-mark-1" descr="workflow">    </p:cNvPr>
          <p:cNvPicPr>
            <a:picLocks noChangeAspect="1"/>
          </p:cNvPicPr>
          <p:nvPr/>
        </p:nvPicPr>
        <p:blipFill>
          <a:blip r:embed="rId2"/>
          <a:stretch>
            <a:fillRect/>
          </a:stretch>
        </p:blipFill>
        <p:spPr>
          <a:xfrm>
            <a:off x="6863121" y="3053121"/>
            <a:ext cx="245791" cy="245791"/>
          </a:xfrm>
          <a:prstGeom prst="rect">
            <a:avLst/>
          </a:prstGeom>
        </p:spPr>
      </p:pic>
      <p:sp>
        <p:nvSpPr>
          <p:cNvPr id="12" name="anatomy-title-1"/>
          <p:cNvSpPr txBox="1"/>
          <p:nvPr/>
        </p:nvSpPr>
        <p:spPr>
          <a:xfrm>
            <a:off x="7388352" y="29748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What goes in and out</a:t>
            </a:r>
            <a:endParaRPr lang="en-US" sz="2200" dirty="0"/>
          </a:p>
        </p:txBody>
      </p:sp>
      <p:sp>
        <p:nvSpPr>
          <p:cNvPr id="13" name="anatomy-text-1"/>
          <p:cNvSpPr txBox="1"/>
          <p:nvPr/>
        </p:nvSpPr>
        <p:spPr>
          <a:xfrm>
            <a:off x="7388352" y="34320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In: the Arena specs. Out: plan.json and PLAN.md, with the graph and the estimate.</a:t>
            </a:r>
            <a:endParaRPr lang="en-US" sz="1800" dirty="0"/>
          </a:p>
        </p:txBody>
      </p:sp>
      <p:sp>
        <p:nvSpPr>
          <p:cNvPr id="14" name="anatomy-mark-2-circle"/>
          <p:cNvSpPr/>
          <p:nvPr/>
        </p:nvSpPr>
        <p:spPr>
          <a:xfrm>
            <a:off x="6766560" y="4404360"/>
            <a:ext cx="438912" cy="438912"/>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63121" y="4500921"/>
            <a:ext cx="245791" cy="245791"/>
          </a:xfrm>
          <a:prstGeom prst="rect">
            <a:avLst/>
          </a:prstGeom>
        </p:spPr>
      </p:pic>
      <p:sp>
        <p:nvSpPr>
          <p:cNvPr id="16" name="anatomy-title-2"/>
          <p:cNvSpPr txBox="1"/>
          <p:nvPr/>
        </p:nvSpPr>
        <p:spPr>
          <a:xfrm>
            <a:off x="7388352" y="44226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200" dirty="0"/>
          </a:p>
        </p:txBody>
      </p:sp>
      <p:sp>
        <p:nvSpPr>
          <p:cNvPr id="17" name="anatomy-text-2"/>
          <p:cNvSpPr txBox="1"/>
          <p:nvPr/>
        </p:nvSpPr>
        <p:spPr>
          <a:xfrm>
            <a:off x="7388352" y="48798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/task-plan does the same for a Jira or GitHub issue.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Task → graph → waves</a:t>
            </a:r>
            <a:endParaRPr lang="en-US" sz="3200" dirty="0"/>
          </a:p>
        </p:txBody>
      </p:sp>
      <p:sp>
        <p:nvSpPr>
          <p:cNvPr id="3" name="wave-0"/>
          <p:cNvSpPr/>
          <p:nvPr/>
        </p:nvSpPr>
        <p:spPr>
          <a:xfrm>
            <a:off x="548640" y="1600200"/>
            <a:ext cx="4023360" cy="4069080"/>
          </a:xfrm>
          <a:prstGeom prst="rect">
            <a:avLst/>
          </a:prstGeom>
          <a:solidFill>
            <a:srgbClr val="FFFFFF"/>
          </a:solidFill>
          <a:ln w="12700">
            <a:solidFill>
              <a:srgbClr val="FFFFFF"/>
            </a:solidFill>
            <a:prstDash val="solid"/>
          </a:ln>
        </p:spPr>
      </p:sp>
      <p:sp>
        <p:nvSpPr>
          <p:cNvPr id="4" name="wave-na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wave-model-icon-0-circle"/>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wave-model-icon-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wave-model-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wave-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the challenges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label"/>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task-0"/>
          <p:cNvSpPr/>
          <p:nvPr/>
        </p:nvSpPr>
        <p:spPr>
          <a:xfrm>
            <a:off x="822960" y="3931920"/>
            <a:ext cx="384048" cy="384048"/>
          </a:xfrm>
          <a:prstGeom prst="rect">
            <a:avLst/>
          </a:prstGeom>
          <a:solidFill>
            <a:srgbClr val="1E9E57"/>
          </a:solidFill>
          <a:ln w="12700">
            <a:solidFill>
              <a:srgbClr val="1E9E57"/>
            </a:solidFill>
            <a:prstDash val="solid"/>
          </a:ln>
        </p:spPr>
      </p:sp>
      <p:sp>
        <p:nvSpPr>
          <p:cNvPr id="12" name="task-1"/>
          <p:cNvSpPr/>
          <p:nvPr/>
        </p:nvSpPr>
        <p:spPr>
          <a:xfrm>
            <a:off x="1389888" y="3931920"/>
            <a:ext cx="384048" cy="384048"/>
          </a:xfrm>
          <a:prstGeom prst="rect">
            <a:avLst/>
          </a:prstGeom>
          <a:solidFill>
            <a:srgbClr val="1E9E57"/>
          </a:solidFill>
          <a:ln w="12700">
            <a:solidFill>
              <a:srgbClr val="1E9E57"/>
            </a:solidFill>
            <a:prstDash val="solid"/>
          </a:ln>
        </p:spPr>
      </p:sp>
      <p:sp>
        <p:nvSpPr>
          <p:cNvPr id="13" name="task-2"/>
          <p:cNvSpPr/>
          <p:nvPr/>
        </p:nvSpPr>
        <p:spPr>
          <a:xfrm>
            <a:off x="1956816" y="3931920"/>
            <a:ext cx="384048" cy="384048"/>
          </a:xfrm>
          <a:prstGeom prst="rect">
            <a:avLst/>
          </a:prstGeom>
          <a:solidFill>
            <a:srgbClr val="F1C232"/>
          </a:solidFill>
          <a:ln w="12700">
            <a:solidFill>
              <a:srgbClr val="F1C232"/>
            </a:solidFill>
            <a:prstDash val="solid"/>
          </a:ln>
        </p:spPr>
      </p:sp>
      <p:sp>
        <p:nvSpPr>
          <p:cNvPr id="14" name="task-3"/>
          <p:cNvSpPr/>
          <p:nvPr/>
        </p:nvSpPr>
        <p:spPr>
          <a:xfrm>
            <a:off x="2523744" y="3931920"/>
            <a:ext cx="384048" cy="384048"/>
          </a:xfrm>
          <a:prstGeom prst="rect">
            <a:avLst/>
          </a:prstGeom>
          <a:solidFill>
            <a:srgbClr val="1E9E57"/>
          </a:solidFill>
          <a:ln w="12700">
            <a:solidFill>
              <a:srgbClr val="1E9E57"/>
            </a:solidFill>
            <a:prstDash val="solid"/>
          </a:ln>
        </p:spPr>
      </p:sp>
      <p:sp>
        <p:nvSpPr>
          <p:cNvPr id="15" name="task-4"/>
          <p:cNvSpPr/>
          <p:nvPr/>
        </p:nvSpPr>
        <p:spPr>
          <a:xfrm>
            <a:off x="3090672" y="3931920"/>
            <a:ext cx="384048" cy="384048"/>
          </a:xfrm>
          <a:prstGeom prst="rect">
            <a:avLst/>
          </a:prstGeom>
          <a:solidFill>
            <a:srgbClr val="1E9E57"/>
          </a:solidFill>
          <a:ln w="12700">
            <a:solidFill>
              <a:srgbClr val="1E9E57"/>
            </a:solidFill>
            <a:prstDash val="solid"/>
          </a:ln>
        </p:spPr>
      </p:sp>
      <p:sp>
        <p:nvSpPr>
          <p:cNvPr id="16" name="task-5"/>
          <p:cNvSpPr/>
          <p:nvPr/>
        </p:nvSpPr>
        <p:spPr>
          <a:xfrm>
            <a:off x="3657600" y="3931920"/>
            <a:ext cx="384048" cy="384048"/>
          </a:xfrm>
          <a:prstGeom prst="rect">
            <a:avLst/>
          </a:prstGeom>
          <a:solidFill>
            <a:srgbClr val="F1C232"/>
          </a:solidFill>
          <a:ln w="12700">
            <a:solidFill>
              <a:srgbClr val="F1C232"/>
            </a:solidFill>
            <a:prstDash val="solid"/>
          </a:ln>
        </p:spPr>
      </p:sp>
      <p:sp>
        <p:nvSpPr>
          <p:cNvPr id="17" name="task-6"/>
          <p:cNvSpPr/>
          <p:nvPr/>
        </p:nvSpPr>
        <p:spPr>
          <a:xfrm>
            <a:off x="822960" y="4434840"/>
            <a:ext cx="384048" cy="384048"/>
          </a:xfrm>
          <a:prstGeom prst="rect">
            <a:avLst/>
          </a:prstGeom>
          <a:solidFill>
            <a:srgbClr val="1E9E57"/>
          </a:solidFill>
          <a:ln w="12700">
            <a:solidFill>
              <a:srgbClr val="1E9E57"/>
            </a:solidFill>
            <a:prstDash val="solid"/>
          </a:ln>
        </p:spPr>
      </p:sp>
      <p:sp>
        <p:nvSpPr>
          <p:cNvPr id="18" name="task-7"/>
          <p:cNvSpPr/>
          <p:nvPr/>
        </p:nvSpPr>
        <p:spPr>
          <a:xfrm>
            <a:off x="1389888" y="4434840"/>
            <a:ext cx="384048" cy="384048"/>
          </a:xfrm>
          <a:prstGeom prst="rect">
            <a:avLst/>
          </a:prstGeom>
          <a:solidFill>
            <a:srgbClr val="1E9E57"/>
          </a:solidFill>
          <a:ln w="12700">
            <a:solidFill>
              <a:srgbClr val="1E9E57"/>
            </a:solidFill>
            <a:prstDash val="solid"/>
          </a:ln>
        </p:spPr>
      </p:sp>
      <p:sp>
        <p:nvSpPr>
          <p:cNvPr id="19" name="task-8"/>
          <p:cNvSpPr/>
          <p:nvPr/>
        </p:nvSpPr>
        <p:spPr>
          <a:xfrm>
            <a:off x="1956816" y="4434840"/>
            <a:ext cx="384048" cy="384048"/>
          </a:xfrm>
          <a:prstGeom prst="rect">
            <a:avLst/>
          </a:prstGeom>
          <a:solidFill>
            <a:srgbClr val="F1C232"/>
          </a:solidFill>
          <a:ln w="12700">
            <a:solidFill>
              <a:srgbClr val="F1C232"/>
            </a:solidFill>
            <a:prstDash val="solid"/>
          </a:ln>
        </p:spPr>
      </p:sp>
      <p:sp>
        <p:nvSpPr>
          <p:cNvPr id="20" name="task-9"/>
          <p:cNvSpPr/>
          <p:nvPr/>
        </p:nvSpPr>
        <p:spPr>
          <a:xfrm>
            <a:off x="2523744" y="4434840"/>
            <a:ext cx="384048" cy="384048"/>
          </a:xfrm>
          <a:prstGeom prst="rect">
            <a:avLst/>
          </a:prstGeom>
          <a:solidFill>
            <a:srgbClr val="1E9E57"/>
          </a:solidFill>
          <a:ln w="12700">
            <a:solidFill>
              <a:srgbClr val="1E9E57"/>
            </a:solidFill>
            <a:prstDash val="solid"/>
          </a:ln>
        </p:spPr>
      </p:sp>
      <p:sp>
        <p:nvSpPr>
          <p:cNvPr id="21" name="task-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task-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y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y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y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ypto-label"/>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tasks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arrow-0"/>
          <p:cNvSpPr/>
          <p:nvPr/>
        </p:nvSpPr>
        <p:spPr>
          <a:xfrm>
            <a:off x="4626864" y="3575304"/>
            <a:ext cx="144170" cy="0"/>
          </a:xfrm>
          <a:prstGeom prst="line">
            <a:avLst/>
          </a:prstGeom>
          <a:noFill/>
          <a:ln w="31750">
            <a:solidFill>
              <a:srgbClr val="140920"/>
            </a:solidFill>
            <a:prstDash val="solid"/>
            <a:tailEnd type="triangle"/>
          </a:ln>
        </p:spPr>
      </p:sp>
      <p:sp>
        <p:nvSpPr>
          <p:cNvPr id="28" name="wave-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wave-na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wave-model-icon-1-circle"/>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wave-model-icon-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wave-model-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wave-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wave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wave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arrow-1"/>
          <p:cNvSpPr/>
          <p:nvPr/>
        </p:nvSpPr>
        <p:spPr>
          <a:xfrm>
            <a:off x="6983882" y="3575304"/>
            <a:ext cx="144170" cy="0"/>
          </a:xfrm>
          <a:prstGeom prst="line">
            <a:avLst/>
          </a:prstGeom>
          <a:noFill/>
          <a:ln w="31750">
            <a:solidFill>
              <a:srgbClr val="140920"/>
            </a:solidFill>
            <a:prstDash val="solid"/>
            <a:tailEnd type="triangle"/>
          </a:ln>
        </p:spPr>
      </p:sp>
      <p:sp>
        <p:nvSpPr>
          <p:cNvPr id="37" name="wave-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wave-na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wave-model-icon-2-circle"/>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wave-model-icon-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wave-model-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wave-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wave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arrow-2"/>
          <p:cNvSpPr/>
          <p:nvPr/>
        </p:nvSpPr>
        <p:spPr>
          <a:xfrm>
            <a:off x="9340901" y="3575304"/>
            <a:ext cx="144170" cy="0"/>
          </a:xfrm>
          <a:prstGeom prst="line">
            <a:avLst/>
          </a:prstGeom>
          <a:noFill/>
          <a:ln w="31750">
            <a:solidFill>
              <a:srgbClr val="140920"/>
            </a:solidFill>
            <a:prstDash val="solid"/>
            <a:tailEnd type="triangle"/>
          </a:ln>
        </p:spPr>
      </p:sp>
      <p:sp>
        <p:nvSpPr>
          <p:cNvPr id="45" name="wave-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wave-na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wave-model-icon-3-circle"/>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wave-model-icon-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wave-model-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wave-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wave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status-legend-title"/>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status-legend-0"/>
          <p:cNvSpPr/>
          <p:nvPr/>
        </p:nvSpPr>
        <p:spPr>
          <a:xfrm>
            <a:off x="2697831" y="5861304"/>
            <a:ext cx="219456" cy="219456"/>
          </a:xfrm>
          <a:prstGeom prst="rect">
            <a:avLst/>
          </a:prstGeom>
          <a:solidFill>
            <a:srgbClr val="C4C7C1"/>
          </a:solidFill>
          <a:ln w="12700">
            <a:solidFill>
              <a:srgbClr val="C4C7C1"/>
            </a:solidFill>
            <a:prstDash val="solid"/>
          </a:ln>
        </p:spPr>
      </p:sp>
      <p:sp>
        <p:nvSpPr>
          <p:cNvPr id="54" name="status-legend-label-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status-legend-1"/>
          <p:cNvSpPr/>
          <p:nvPr/>
        </p:nvSpPr>
        <p:spPr>
          <a:xfrm>
            <a:off x="4004326" y="5861304"/>
            <a:ext cx="219456" cy="219456"/>
          </a:xfrm>
          <a:prstGeom prst="rect">
            <a:avLst/>
          </a:prstGeom>
          <a:solidFill>
            <a:srgbClr val="F1C232"/>
          </a:solidFill>
          <a:ln w="12700">
            <a:solidFill>
              <a:srgbClr val="F1C232"/>
            </a:solidFill>
            <a:prstDash val="solid"/>
          </a:ln>
        </p:spPr>
      </p:sp>
      <p:sp>
        <p:nvSpPr>
          <p:cNvPr id="56" name="status-legend-label-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status-legend-2"/>
          <p:cNvSpPr/>
          <p:nvPr/>
        </p:nvSpPr>
        <p:spPr>
          <a:xfrm>
            <a:off x="5795818" y="5861304"/>
            <a:ext cx="219456" cy="219456"/>
          </a:xfrm>
          <a:prstGeom prst="rect">
            <a:avLst/>
          </a:prstGeom>
          <a:solidFill>
            <a:srgbClr val="1E9E57"/>
          </a:solidFill>
          <a:ln w="12700">
            <a:solidFill>
              <a:srgbClr val="1E9E57"/>
            </a:solidFill>
            <a:prstDash val="solid"/>
          </a:ln>
        </p:spPr>
      </p:sp>
      <p:sp>
        <p:nvSpPr>
          <p:cNvPr id="58" name="status-legend-label-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status-legend-3"/>
          <p:cNvSpPr/>
          <p:nvPr/>
        </p:nvSpPr>
        <p:spPr>
          <a:xfrm>
            <a:off x="7425645" y="5861304"/>
            <a:ext cx="219456" cy="219456"/>
          </a:xfrm>
          <a:prstGeom prst="rect">
            <a:avLst/>
          </a:prstGeom>
          <a:solidFill>
            <a:srgbClr val="D2463F"/>
          </a:solidFill>
          <a:ln w="12700">
            <a:solidFill>
              <a:srgbClr val="D2463F"/>
            </a:solidFill>
            <a:prstDash val="solid"/>
          </a:ln>
        </p:spPr>
      </p:sp>
      <p:sp>
        <p:nvSpPr>
          <p:cNvPr id="60" name="status-legend-label-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Plan the swarm</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the Arena folder, open Claude Code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"Yes, I trust this folder" (↓ then Enter: the preselected option exits)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/demo-plan</a:t>
            </a:r>
            <a:endParaRPr lang="en-US" sz="2000" dirty="0"/>
          </a:p>
        </p:txBody>
      </p:sp>
      <p:sp>
        <p:nvSpPr>
          <p:cNvPr id="6" name="code-background"/>
          <p:cNvSpPr/>
          <p:nvPr/>
        </p:nvSpPr>
        <p:spPr>
          <a:xfrm>
            <a:off x="4937760" y="1920240"/>
            <a:ext cx="6705295" cy="1764792"/>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1060704"/>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a:t>
            </a:r>
            <a:endParaRPr lang="en-US" sz="2000" dirty="0"/>
          </a:p>
        </p:txBody>
      </p:sp>
      <p:sp>
        <p:nvSpPr>
          <p:cNvPr id="9" name="code-background"/>
          <p:cNvSpPr/>
          <p:nvPr/>
        </p:nvSpPr>
        <p:spPr>
          <a:xfrm>
            <a:off x="4937760" y="3913632"/>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4096512"/>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Optional: you pick the cryptography model</a:t>
            </a:r>
            <a:endParaRPr lang="en-US" sz="1500" dirty="0"/>
          </a:p>
        </p:txBody>
      </p:sp>
      <p:sp>
        <p:nvSpPr>
          <p:cNvPr id="11" name="code"/>
          <p:cNvSpPr txBox="1"/>
          <p:nvPr/>
        </p:nvSpPr>
        <p:spPr>
          <a:xfrm>
            <a:off x="5166360" y="4480560"/>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/demo-plan --crypto haiku</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 --crypto sonnet</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Mermaid diagram, 4 waves and an estimate close to US$ 3.98</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/demo-swarm does</a:t>
            </a:r>
            <a:endParaRPr lang="en-US" sz="3200" dirty="0"/>
          </a:p>
        </p:txBody>
      </p:sp>
      <p:sp>
        <p:nvSpPr>
          <p:cNvPr id="3" name="code-background"/>
          <p:cNvSpPr/>
          <p:nvPr/>
        </p:nvSpPr>
        <p:spPr>
          <a:xfrm>
            <a:off x="548640" y="1508760"/>
            <a:ext cx="5760720" cy="4133088"/>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.claude/skills/demo-swarm/SKILL.md (summary)</a:t>
            </a:r>
            <a:endParaRPr lang="en-US" sz="1500" dirty="0"/>
          </a:p>
        </p:txBody>
      </p:sp>
      <p:sp>
        <p:nvSpPr>
          <p:cNvPr id="5" name="code"/>
          <p:cNvSpPr txBox="1"/>
          <p:nvPr/>
        </p:nvSpPr>
        <p:spPr>
          <a:xfrm>
            <a:off x="777240" y="2075688"/>
            <a:ext cx="5303520"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demo-swarm</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node tools/*,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Repeat until STATE: DONE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1. next-wave.mjs → the next batch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2. Launch the batch, in parallel</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3. 1 agent = 1 task + its test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4. Show agent, model and cost</a:t>
            </a:r>
            <a:endParaRPr lang="en-US" sz="2000" dirty="0"/>
          </a:p>
        </p:txBody>
      </p:sp>
      <p:sp>
        <p:nvSpPr>
          <p:cNvPr id="6" name="anatomy-mark-0-circle"/>
          <p:cNvSpPr/>
          <p:nvPr/>
        </p:nvSpPr>
        <p:spPr>
          <a:xfrm>
            <a:off x="6766560" y="1508760"/>
            <a:ext cx="438912" cy="438912"/>
          </a:xfrm>
          <a:prstGeom prst="ellipse">
            <a:avLst/>
          </a:prstGeom>
          <a:solidFill>
            <a:srgbClr val="6B34FD"/>
          </a:solidFill>
          <a:ln w="12700">
            <a:solidFill>
              <a:srgbClr val="6B34FD"/>
            </a:solidFill>
            <a:prstDash val="solid"/>
          </a:ln>
        </p:spPr>
      </p:sp>
      <p:pic>
        <p:nvPicPr>
          <p:cNvPr id="7" name="anatomy-mark-0" descr="route">    </p:cNvPr>
          <p:cNvPicPr>
            <a:picLocks noChangeAspect="1"/>
          </p:cNvPicPr>
          <p:nvPr/>
        </p:nvPicPr>
        <p:blipFill>
          <a:blip r:embed="rId1"/>
          <a:stretch>
            <a:fillRect/>
          </a:stretch>
        </p:blipFill>
        <p:spPr>
          <a:xfrm>
            <a:off x="6863121" y="1605321"/>
            <a:ext cx="245791" cy="245791"/>
          </a:xfrm>
          <a:prstGeom prst="rect">
            <a:avLst/>
          </a:prstGeom>
        </p:spPr>
      </p:pic>
      <p:sp>
        <p:nvSpPr>
          <p:cNvPr id="8" name="anatomy-title-0"/>
          <p:cNvSpPr txBox="1"/>
          <p:nvPr/>
        </p:nvSpPr>
        <p:spPr>
          <a:xfrm>
            <a:off x="7388352" y="15270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A script decides</a:t>
            </a:r>
            <a:endParaRPr lang="en-US" sz="2200" dirty="0"/>
          </a:p>
        </p:txBody>
      </p:sp>
      <p:sp>
        <p:nvSpPr>
          <p:cNvPr id="9" name="anatomy-text-0"/>
          <p:cNvSpPr txBox="1"/>
          <p:nvPr/>
        </p:nvSpPr>
        <p:spPr>
          <a:xfrm>
            <a:off x="7388352" y="19842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next-wave.mjs reads the graph and says what runs now. Claude launches that batch: no improvising.</a:t>
            </a:r>
            <a:endParaRPr lang="en-US" sz="1800" dirty="0"/>
          </a:p>
        </p:txBody>
      </p:sp>
      <p:sp>
        <p:nvSpPr>
          <p:cNvPr id="10" name="anatomy-mark-1-circle"/>
          <p:cNvSpPr/>
          <p:nvPr/>
        </p:nvSpPr>
        <p:spPr>
          <a:xfrm>
            <a:off x="6766560" y="2956560"/>
            <a:ext cx="438912" cy="438912"/>
          </a:xfrm>
          <a:prstGeom prst="ellipse">
            <a:avLst/>
          </a:prstGeom>
          <a:solidFill>
            <a:srgbClr val="6B34FD"/>
          </a:solidFill>
          <a:ln w="12700">
            <a:solidFill>
              <a:srgbClr val="6B34FD"/>
            </a:solidFill>
            <a:prstDash val="solid"/>
          </a:ln>
        </p:spPr>
      </p:sp>
      <p:pic>
        <p:nvPicPr>
          <p:cNvPr id="11" name="anatomy-mark-1" descr="bot">    </p:cNvPr>
          <p:cNvPicPr>
            <a:picLocks noChangeAspect="1"/>
          </p:cNvPicPr>
          <p:nvPr/>
        </p:nvPicPr>
        <p:blipFill>
          <a:blip r:embed="rId2"/>
          <a:stretch>
            <a:fillRect/>
          </a:stretch>
        </p:blipFill>
        <p:spPr>
          <a:xfrm>
            <a:off x="6863121" y="3053121"/>
            <a:ext cx="245791" cy="245791"/>
          </a:xfrm>
          <a:prstGeom prst="rect">
            <a:avLst/>
          </a:prstGeom>
        </p:spPr>
      </p:pic>
      <p:sp>
        <p:nvSpPr>
          <p:cNvPr id="12" name="anatomy-title-1"/>
          <p:cNvSpPr txBox="1"/>
          <p:nvPr/>
        </p:nvSpPr>
        <p:spPr>
          <a:xfrm>
            <a:off x="7388352" y="29748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One agent, one task</a:t>
            </a:r>
            <a:endParaRPr lang="en-US" sz="2200" dirty="0"/>
          </a:p>
        </p:txBody>
      </p:sp>
      <p:sp>
        <p:nvSpPr>
          <p:cNvPr id="13" name="anatomy-text-1"/>
          <p:cNvSpPr txBox="1"/>
          <p:nvPr/>
        </p:nvSpPr>
        <p:spPr>
          <a:xfrm>
            <a:off x="7388352" y="34320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A clean context, one task, its test and the right model: Haiku for the bulk.</a:t>
            </a:r>
            <a:endParaRPr lang="en-US" sz="1800" dirty="0"/>
          </a:p>
        </p:txBody>
      </p:sp>
      <p:sp>
        <p:nvSpPr>
          <p:cNvPr id="14" name="anatomy-mark-2-circle"/>
          <p:cNvSpPr/>
          <p:nvPr/>
        </p:nvSpPr>
        <p:spPr>
          <a:xfrm>
            <a:off x="6766560" y="4404360"/>
            <a:ext cx="438912" cy="438912"/>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63121" y="4500921"/>
            <a:ext cx="245791" cy="245791"/>
          </a:xfrm>
          <a:prstGeom prst="rect">
            <a:avLst/>
          </a:prstGeom>
        </p:spPr>
      </p:pic>
      <p:sp>
        <p:nvSpPr>
          <p:cNvPr id="16" name="anatomy-title-2"/>
          <p:cNvSpPr txBox="1"/>
          <p:nvPr/>
        </p:nvSpPr>
        <p:spPr>
          <a:xfrm>
            <a:off x="7388352" y="44226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200" dirty="0"/>
          </a:p>
        </p:txBody>
      </p:sp>
      <p:sp>
        <p:nvSpPr>
          <p:cNvPr id="17" name="anatomy-text-2"/>
          <p:cNvSpPr txBox="1"/>
          <p:nvPr/>
        </p:nvSpPr>
        <p:spPr>
          <a:xfrm>
            <a:off x="7388352" y="48798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/task-swarm does the same with the subtasks of your issue.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Release the swarm</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second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Start the server and open the /status address it prints</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a:t>
            </a:r>
            <a:endParaRPr lang="en-US" sz="2000" dirty="0"/>
          </a:p>
        </p:txBody>
      </p:sp>
      <p:sp>
        <p:nvSpPr>
          <p:cNvPr id="9" name="code-background"/>
          <p:cNvSpPr/>
          <p:nvPr/>
        </p:nvSpPr>
        <p:spPr>
          <a:xfrm>
            <a:off x="4937760" y="3236976"/>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341985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2</a:t>
            </a:r>
            <a:endParaRPr lang="en-US" sz="1500" dirty="0"/>
          </a:p>
        </p:txBody>
      </p:sp>
      <p:sp>
        <p:nvSpPr>
          <p:cNvPr id="11" name="code"/>
          <p:cNvSpPr txBox="1"/>
          <p:nvPr/>
        </p:nvSpPr>
        <p:spPr>
          <a:xfrm>
            <a:off x="5166360" y="3803904"/>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node server.js</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On /status (usually http://localhost:3000/status; if the port is busy, node server.js prints another one): the squares turn yellow and then green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Ask without interrupting</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back to Terminal 1; leave the swarm running</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Type /btw and your question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answer and close it with Esc</a:t>
            </a:r>
            <a:endParaRPr lang="en-US" sz="2000" dirty="0"/>
          </a:p>
        </p:txBody>
      </p:sp>
      <p:sp>
        <p:nvSpPr>
          <p:cNvPr id="6" name="code-background"/>
          <p:cNvSpPr/>
          <p:nvPr/>
        </p:nvSpPr>
        <p:spPr>
          <a:xfrm>
            <a:off x="4937760" y="1920240"/>
            <a:ext cx="6705295" cy="107122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67132"/>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/btw why does task cr-01 wait for lib-hash?</a:t>
            </a:r>
            <a:endParaRPr lang="en-US" sz="19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An answer on the side, outside the conversation; after Esc, the swarm carries on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 a third terminal: three features</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third terminal in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Plan mode: Shift+Tab until "plan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Headless: a question without opening a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Rewind: Esc Esc to go back</a:t>
            </a:r>
            <a:endParaRPr lang="en-US" sz="2000" dirty="0"/>
          </a:p>
        </p:txBody>
      </p:sp>
      <p:sp>
        <p:nvSpPr>
          <p:cNvPr id="6" name="code-background"/>
          <p:cNvSpPr/>
          <p:nvPr/>
        </p:nvSpPr>
        <p:spPr>
          <a:xfrm>
            <a:off x="4937760" y="1920240"/>
            <a:ext cx="6705295" cy="132496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Plan mode</a:t>
            </a:r>
            <a:endParaRPr lang="en-US" sz="1500" dirty="0"/>
          </a:p>
        </p:txBody>
      </p:sp>
      <p:sp>
        <p:nvSpPr>
          <p:cNvPr id="8" name="code"/>
          <p:cNvSpPr txBox="1"/>
          <p:nvPr/>
        </p:nvSpPr>
        <p:spPr>
          <a:xfrm>
            <a:off x="5166360" y="2487168"/>
            <a:ext cx="6248095" cy="620878"/>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(Shift+Tab) How would you add an 11th category?</a:t>
            </a:r>
            <a:endParaRPr lang="en-US" sz="1700" dirty="0"/>
          </a:p>
        </p:txBody>
      </p:sp>
      <p:sp>
        <p:nvSpPr>
          <p:cNvPr id="9" name="code-background"/>
          <p:cNvSpPr/>
          <p:nvPr/>
        </p:nvSpPr>
        <p:spPr>
          <a:xfrm>
            <a:off x="4937760" y="3473806"/>
            <a:ext cx="6705295" cy="1561795"/>
          </a:xfrm>
          <a:prstGeom prst="rect">
            <a:avLst/>
          </a:prstGeom>
          <a:solidFill>
            <a:srgbClr val="140920"/>
          </a:solidFill>
          <a:ln w="12700">
            <a:solidFill>
              <a:srgbClr val="140920"/>
            </a:solidFill>
            <a:prstDash val="solid"/>
          </a:ln>
        </p:spPr>
      </p:sp>
      <p:sp>
        <p:nvSpPr>
          <p:cNvPr id="10" name="code-label"/>
          <p:cNvSpPr txBox="1"/>
          <p:nvPr/>
        </p:nvSpPr>
        <p:spPr>
          <a:xfrm>
            <a:off x="5166360" y="365668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Headless</a:t>
            </a:r>
            <a:endParaRPr lang="en-US" sz="1500" dirty="0"/>
          </a:p>
        </p:txBody>
      </p:sp>
      <p:sp>
        <p:nvSpPr>
          <p:cNvPr id="11" name="code"/>
          <p:cNvSpPr txBox="1"/>
          <p:nvPr/>
        </p:nvSpPr>
        <p:spPr>
          <a:xfrm>
            <a:off x="5166360" y="4040734"/>
            <a:ext cx="6248095" cy="857707"/>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claude -p "Summarise PLAN.md in one sentence" --model claude-haiku-5-5</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plan with no changes, one sentence in the terminal and a checkpoint to rewind to</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Create a PostToolUse hook</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A hook is a command Claude Code runs on its own on an event. The kit measures cost this way.</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Terminal 3, open Claude in the practice project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Ask for the hook in your own words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/hooks and check it is there</a:t>
            </a:r>
            <a:endParaRPr lang="en-US" sz="2000" dirty="0"/>
          </a:p>
        </p:txBody>
      </p:sp>
      <p:sp>
        <p:nvSpPr>
          <p:cNvPr id="7" name="code-background"/>
          <p:cNvSpPr/>
          <p:nvPr/>
        </p:nvSpPr>
        <p:spPr>
          <a:xfrm>
            <a:off x="4937760" y="2240280"/>
            <a:ext cx="6705295" cy="2779776"/>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9" name="code"/>
          <p:cNvSpPr txBox="1"/>
          <p:nvPr/>
        </p:nvSpPr>
        <p:spPr>
          <a:xfrm>
            <a:off x="5166360" y="2807208"/>
            <a:ext cx="6248095" cy="207568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~/workshop-claude/practice-project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&gt; Create a PostToolUse hook in</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.claude/settings.local.json: after</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each Edit or Write, append the time and</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the file to ~/workshop-claude/edits.log</a:t>
            </a:r>
            <a:endParaRPr lang="en-US" sz="20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/hooks shows your PostToolUse; in Project 2, every edited file shows up in edits.log</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Make your own statusline</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The line under the input box is a script: it gets the session as JSON and returns one line.</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Still in Terminal 3, type /statusline and what you want to see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Accept the script Claude writes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See the new line under the input box</a:t>
            </a:r>
            <a:endParaRPr lang="en-US" sz="2000" dirty="0"/>
          </a:p>
        </p:txBody>
      </p:sp>
      <p:sp>
        <p:nvSpPr>
          <p:cNvPr id="7" name="code-background"/>
          <p:cNvSpPr/>
          <p:nvPr/>
        </p:nvSpPr>
        <p:spPr>
          <a:xfrm>
            <a:off x="4937760" y="2240280"/>
            <a:ext cx="6705295" cy="2035454"/>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9" name="code"/>
          <p:cNvSpPr txBox="1"/>
          <p:nvPr/>
        </p:nvSpPr>
        <p:spPr>
          <a:xfrm>
            <a:off x="5166360" y="2807208"/>
            <a:ext cx="6248095" cy="1331366"/>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/statusline show the model, the git branch</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and the session cost; save it only in</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this project, in</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.claude/settings.local.json</a:t>
            </a:r>
            <a:endParaRPr lang="en-US" sz="19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Your line in this project; in Terminal 1, the kit statusline still shows the swarm cost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Why did this card fail?</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4 cards fail on purpose: their spec leaves out a detail that the test checks.</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On /status, click a red square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test line that failed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Add the missing detail to cards/&lt;id&gt;/spec.md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only that card again</a:t>
            </a:r>
            <a:endParaRPr lang="en-US" sz="2000" dirty="0"/>
          </a:p>
        </p:txBody>
      </p:sp>
      <p:sp>
        <p:nvSpPr>
          <p:cNvPr id="7" name="code-background"/>
          <p:cNvSpPr/>
          <p:nvPr/>
        </p:nvSpPr>
        <p:spPr>
          <a:xfrm>
            <a:off x="4937760" y="2240280"/>
            <a:ext cx="6705295" cy="1088136"/>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Browser</a:t>
            </a:r>
            <a:endParaRPr lang="en-US" sz="1500" dirty="0"/>
          </a:p>
        </p:txBody>
      </p:sp>
      <p:sp>
        <p:nvSpPr>
          <p:cNvPr id="9" name="code"/>
          <p:cNvSpPr txBox="1"/>
          <p:nvPr/>
        </p:nvSpPr>
        <p:spPr>
          <a:xfrm>
            <a:off x="5166360" y="280720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http://localhost:3000/status</a:t>
            </a:r>
            <a:endParaRPr lang="en-US" sz="2000" dirty="0"/>
          </a:p>
        </p:txBody>
      </p:sp>
      <p:sp>
        <p:nvSpPr>
          <p:cNvPr id="10" name="code-background"/>
          <p:cNvSpPr/>
          <p:nvPr/>
        </p:nvSpPr>
        <p:spPr>
          <a:xfrm>
            <a:off x="4937760" y="3557016"/>
            <a:ext cx="6705295" cy="1088136"/>
          </a:xfrm>
          <a:prstGeom prst="rect">
            <a:avLst/>
          </a:prstGeom>
          <a:solidFill>
            <a:srgbClr val="140920"/>
          </a:solidFill>
          <a:ln w="12700">
            <a:solidFill>
              <a:srgbClr val="140920"/>
            </a:solidFill>
            <a:prstDash val="solid"/>
          </a:ln>
        </p:spPr>
      </p:sp>
      <p:sp>
        <p:nvSpPr>
          <p:cNvPr id="11" name="code-label"/>
          <p:cNvSpPr txBox="1"/>
          <p:nvPr/>
        </p:nvSpPr>
        <p:spPr>
          <a:xfrm>
            <a:off x="5166360" y="373989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12" name="code"/>
          <p:cNvSpPr txBox="1"/>
          <p:nvPr/>
        </p:nvSpPr>
        <p:spPr>
          <a:xfrm>
            <a:off x="5166360" y="4123944"/>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 --retry &lt;id&gt;</a:t>
            </a:r>
            <a:endParaRPr lang="en-US" sz="2000" dirty="0"/>
          </a:p>
        </p:txBody>
      </p:sp>
      <p:sp>
        <p:nvSpPr>
          <p:cNvPr id="13"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4"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5"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That square turns green: the quality of the spec decides the swarm</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security gate</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/demo-review</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Opus reviewer's verdict</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/demo-review</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GATE: APPROVED: tests green, CSP on, no eval or innerHTML, no secrets</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Measure, don't guess</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 finishes</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every swarm agent, when it is done</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SubagentStop hook runs</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 kit script (the Stop hook measures the main session)</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Tokens × price</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real transcript tokens, at the published prices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One line in usage.jsonl</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agent, model, time and cost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Statusline and /demo-cost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live cost and the final report</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How much did it cost?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/demo-cost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the Haiku agents with the main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with your neighbour: cost and green cards</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/demo-cost</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Cost per agent, model and wave, close to US$ 4.30</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Play what the swarm built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gallery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a challenge and play (yours is my-01)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"Run tests"</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Browser</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Challenges from green tasks are playable; the red ones show why they failed</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memory of what you did</a:t>
            </a:r>
            <a:endParaRPr lang="en-US" sz="3200" dirty="0"/>
          </a:p>
        </p:txBody>
      </p:sp>
      <p:sp>
        <p:nvSpPr>
          <p:cNvPr id="3" name="frame"/>
          <p:cNvSpPr/>
          <p:nvPr/>
        </p:nvSpPr>
        <p:spPr>
          <a:xfrm>
            <a:off x="2202536" y="1389888"/>
            <a:ext cx="7786624" cy="4443984"/>
          </a:xfrm>
          <a:prstGeom prst="rect">
            <a:avLst/>
          </a:prstGeom>
          <a:solidFill>
            <a:srgbClr val="FFFFFF"/>
          </a:solidFill>
          <a:ln w="12700">
            <a:solidFill>
              <a:srgbClr val="FFFFFF"/>
            </a:solidFill>
            <a:prstDash val="solid"/>
          </a:ln>
        </p:spPr>
      </p:sp>
      <p:pic>
        <p:nvPicPr>
          <p:cNvPr id="4" name="image" descr="Search by project, issue or epic (e.g. arena or EX-1): lessons, &quot;do&quot;, &quot;don't&quot; and history, linked to projects, epics, tasks and files">    </p:cNvPr>
          <p:cNvPicPr>
            <a:picLocks noChangeAspect="1"/>
          </p:cNvPicPr>
          <p:nvPr/>
        </p:nvPicPr>
        <p:blipFill>
          <a:blip r:embed="rId1"/>
          <a:stretch>
            <a:fillRect/>
          </a:stretch>
        </p:blipFill>
        <p:spPr>
          <a:xfrm>
            <a:off x="2275688" y="1463040"/>
            <a:ext cx="7640320" cy="4297680"/>
          </a:xfrm>
          <a:prstGeom prst="rect">
            <a:avLst/>
          </a:prstGeom>
        </p:spPr>
      </p:pic>
      <p:sp>
        <p:nvSpPr>
          <p:cNvPr id="5" name="caption"/>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Search by project, issue or epic (e.g. arena or EX-1): lessons, "do", "don't" and history, linked to projects, epics, tasks and files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Open your first graph</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Agent Memory app</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a node to read the lesson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Drag the time slider</a:t>
            </a:r>
            <a:endParaRPr lang="en-US" sz="2000" dirty="0"/>
          </a:p>
        </p:txBody>
      </p:sp>
      <p:sp>
        <p:nvSpPr>
          <p:cNvPr id="6" name="code-background"/>
          <p:cNvSpPr/>
          <p:nvPr/>
        </p:nvSpPr>
        <p:spPr>
          <a:xfrm>
            <a:off x="4937760" y="1920240"/>
            <a:ext cx="6705295" cy="1392631"/>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688543"/>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open "$HOME/Applications/Agent Memory.app"</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or: agent-memory</a:t>
            </a:r>
            <a:endParaRPr lang="en-US" sz="1900" dirty="0"/>
          </a:p>
        </p:txBody>
      </p:sp>
      <p:sp>
        <p:nvSpPr>
          <p:cNvPr id="9" name="code-background"/>
          <p:cNvSpPr/>
          <p:nvPr/>
        </p:nvSpPr>
        <p:spPr>
          <a:xfrm>
            <a:off x="4937760" y="3541471"/>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3724351"/>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4108399"/>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Start menu → Agent Memory</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or: agent-memory</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Arena session graph, with the lessons linked to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2</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A real task: the Municipal Library, or your own</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same cycle, in another repository</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/task-intake</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reads the issue: a JSON file in the practice project, or Jira or GitHub</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/task-plan</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decides how many agents and why</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/task-swarm</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agents work in batches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tests, secrets and the Opus verdict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/task-report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comments, worklog and PR, after you say yes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Start with issue EX-1</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Terminal 3, in the practice project, open Claude Code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issue EX-1 (no login: it is a JSON file)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Jira or GitHub already working? You can use an issue of your own</a:t>
            </a:r>
            <a:endParaRPr lang="en-US" sz="2000" dirty="0"/>
          </a:p>
        </p:txBody>
      </p:sp>
      <p:sp>
        <p:nvSpPr>
          <p:cNvPr id="6" name="code-background"/>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 · practice project</a:t>
            </a:r>
            <a:endParaRPr lang="en-US" sz="1500" dirty="0"/>
          </a:p>
        </p:txBody>
      </p:sp>
      <p:sp>
        <p:nvSpPr>
          <p:cNvPr id="8" name="code"/>
          <p:cNvSpPr txBox="1"/>
          <p:nvPr/>
        </p:nvSpPr>
        <p:spPr>
          <a:xfrm>
            <a:off x="5166360" y="2487168"/>
            <a:ext cx="6248095" cy="896112"/>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~/workshop-claude/practice-project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/task-intake issues/EX-1.json</a:t>
            </a:r>
            <a:endParaRPr lang="en-US" sz="1700" dirty="0"/>
          </a:p>
        </p:txBody>
      </p:sp>
      <p:sp>
        <p:nvSpPr>
          <p:cNvPr id="9" name="code-background"/>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e-label"/>
          <p:cNvSpPr txBox="1"/>
          <p:nvPr/>
        </p:nvSpPr>
        <p:spPr>
          <a:xfrm>
            <a:off x="5166360" y="39319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Optional · your repository</a:t>
            </a:r>
            <a:endParaRPr lang="en-US" sz="1500" dirty="0"/>
          </a:p>
        </p:txBody>
      </p:sp>
      <p:sp>
        <p:nvSpPr>
          <p:cNvPr id="11" name="code"/>
          <p:cNvSpPr txBox="1"/>
          <p:nvPr/>
        </p:nvSpPr>
        <p:spPr>
          <a:xfrm>
            <a:off x="5166360" y="4315968"/>
            <a:ext cx="6248095" cy="896112"/>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&lt;your repository&gt;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/task-intake ABC-123</a:t>
            </a:r>
            <a:endParaRPr lang="en-US" sz="17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Title, acceptance criteria and the test command of the project (npm test)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4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planner decides how many agents</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/task-plan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why it picked that number of agents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Approve or adjust</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/task-plan</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EX-1 is small: 1 to 3 agents, with a reason and an estimate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11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Put the swarm to work</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another terminal, in the project folder, open the dashboard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Stop with Esc; run /task-swarm again to resume</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/task-swarm</a:t>
            </a:r>
            <a:endParaRPr lang="en-US" sz="2000" dirty="0"/>
          </a:p>
        </p:txBody>
      </p:sp>
      <p:sp>
        <p:nvSpPr>
          <p:cNvPr id="9" name="code-background"/>
          <p:cNvSpPr/>
          <p:nvPr/>
        </p:nvSpPr>
        <p:spPr>
          <a:xfrm>
            <a:off x="4937760" y="3236976"/>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41985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Another terminal</a:t>
            </a:r>
            <a:endParaRPr lang="en-US" sz="1500" dirty="0"/>
          </a:p>
        </p:txBody>
      </p:sp>
      <p:sp>
        <p:nvSpPr>
          <p:cNvPr id="11" name="code"/>
          <p:cNvSpPr txBox="1"/>
          <p:nvPr/>
        </p:nvSpPr>
        <p:spPr>
          <a:xfrm>
            <a:off x="5166360" y="3803904"/>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cd ~/workshop-claude/practice-project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node "$HOME/.workshop-claude/kit/orchestrator/dashboard.mjs"</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Batches of agents finishing and npm test green; never two on the same file at the same time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After the workshop</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shield-chec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tests, secrets, dangerous code and the Opus verdict</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message-square-text">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/task-report</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Jira (MCP or acli) or GitHub (gh): comments, worklog and PR, only after you say yes</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/memory</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lessons from this task stay for the next one</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Five ideas to take with you</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Skills make work repeatable</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84124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Subagents bring a clean context and the right model per piece</a:t>
            </a:r>
            <a:endParaRPr lang="en-US" sz="2400" dirty="0"/>
          </a:p>
        </p:txBody>
      </p:sp>
      <p:sp>
        <p:nvSpPr>
          <p:cNvPr id="7" name="list-number-2"/>
          <p:cNvSpPr/>
          <p:nvPr/>
        </p:nvSpPr>
        <p:spPr>
          <a:xfrm>
            <a:off x="548640" y="367588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65760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A script decides the graph; the spec decides the result</a:t>
            </a:r>
            <a:endParaRPr lang="en-US" sz="2400" dirty="0"/>
          </a:p>
        </p:txBody>
      </p:sp>
      <p:sp>
        <p:nvSpPr>
          <p:cNvPr id="9" name="list-number-3"/>
          <p:cNvSpPr/>
          <p:nvPr/>
        </p:nvSpPr>
        <p:spPr>
          <a:xfrm>
            <a:off x="548640" y="449884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10" name="list-item-3"/>
          <p:cNvSpPr txBox="1"/>
          <p:nvPr/>
        </p:nvSpPr>
        <p:spPr>
          <a:xfrm>
            <a:off x="1280160" y="448056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Measure with hooks; never guess the cost</a:t>
            </a:r>
            <a:endParaRPr lang="en-US" sz="2400" dirty="0"/>
          </a:p>
        </p:txBody>
      </p:sp>
      <p:sp>
        <p:nvSpPr>
          <p:cNvPr id="11" name="list-number-4"/>
          <p:cNvSpPr/>
          <p:nvPr/>
        </p:nvSpPr>
        <p:spPr>
          <a:xfrm>
            <a:off x="548640" y="53218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12" name="list-item-4"/>
          <p:cNvSpPr txBox="1"/>
          <p:nvPr/>
        </p:nvSpPr>
        <p:spPr>
          <a:xfrm>
            <a:off x="1280160" y="53035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Memory makes each task teach the next one</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Tomorrow</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Run /task-intake on the next issue assigned to you</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Write a skill for a task you repeat every week</a:t>
            </a:r>
            <a:endParaRPr lang="en-US" sz="2400" dirty="0"/>
          </a:p>
        </p:txBody>
      </p:sp>
      <p:sp>
        <p:nvSpPr>
          <p:cNvPr id="7" name="list-number-2"/>
          <p:cNvSpPr/>
          <p:nvPr/>
        </p:nvSpPr>
        <p:spPr>
          <a:xfrm>
            <a:off x="548640" y="331012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29184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Open Agent Memory before planning</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1" type="title" hasCustomPrompt="1"/>
          </p:nvPr>
        </p:nvSpPr>
        <p:spPr>
          <a:xfrm>
            <a:off x="914400" y="2011680"/>
            <a:ext cx="10362895" cy="1463040"/>
          </a:xfrm>
          <a:prstGeom prst="rect">
            <a:avLst/>
          </a:prstGeom>
          <a:noFill/>
          <a:ln/>
        </p:spPr>
        <p:txBody>
          <a:bodyPr wrap="square" lIns="0" tIns="0" rIns="0" bIns="0" rtlCol="0" anchor="b"/>
          <a:lstStyle/>
          <a:p>
            <a:pPr algn="ctr" indent="0" marL="0">
              <a:buNone/>
            </a:pPr>
            <a:r>
              <a:rPr lang="en-US" sz="6000" dirty="0">
                <a:solidFill>
                  <a:srgbClr val="FCF9FE"/>
                </a:solidFill>
                <a:latin typeface="Founders Grotesk Medium" pitchFamily="34" charset="0"/>
                <a:ea typeface="Founders Grotesk Medium" pitchFamily="34" charset="-122"/>
                <a:cs typeface="Founders Grotesk Medium" pitchFamily="34" charset="-120"/>
              </a:rPr>
              <a:t>Questions</a:t>
            </a:r>
            <a:endParaRPr lang="en-US" sz="6000" dirty="0"/>
          </a:p>
        </p:txBody>
      </p:sp>
      <p:sp>
        <p:nvSpPr>
          <p:cNvPr id="3" name="Text 0"/>
          <p:cNvSpPr/>
          <p:nvPr>
            <p:ph idx="102" type="body" hasCustomPrompt="1"/>
          </p:nvPr>
        </p:nvSpPr>
        <p:spPr>
          <a:xfrm>
            <a:off x="914400" y="3566160"/>
            <a:ext cx="10362895" cy="822960"/>
          </a:xfrm>
          <a:prstGeom prst="rect">
            <a:avLst/>
          </a:prstGeom>
          <a:noFill/>
          <a:ln/>
        </p:spPr>
        <p:txBody>
          <a:bodyPr wrap="square" lIns="0" tIns="0" rIns="0" bIns="0" rtlCol="0" anchor="t"/>
          <a:lstStyle/>
          <a:p>
            <a:pPr algn="ctr" indent="0" marL="0">
              <a:buNone/>
            </a:pPr>
            <a:r>
              <a:rPr lang="en-US" sz="2800" dirty="0">
                <a:solidFill>
                  <a:srgbClr val="F25928"/>
                </a:solidFill>
                <a:latin typeface="Founders Grotesk Medium" pitchFamily="34" charset="0"/>
                <a:ea typeface="Founders Grotesk Medium" pitchFamily="34" charset="-122"/>
                <a:cs typeface="Founders Grotesk Medium" pitchFamily="34" charset="-120"/>
              </a:rPr>
              <a:t>No time limit</a:t>
            </a:r>
            <a:endParaRPr lang="en-US" sz="2800" dirty="0"/>
          </a:p>
        </p:txBody>
      </p:sp>
      <p:sp>
        <p:nvSpPr>
          <p:cNvPr id="4" name="footer"/>
          <p:cNvSpPr txBox="1"/>
          <p:nvPr/>
        </p:nvSpPr>
        <p:spPr>
          <a:xfrm>
            <a:off x="914400" y="4389120"/>
            <a:ext cx="10362895" cy="365760"/>
          </a:xfrm>
          <a:prstGeom prst="rect">
            <a:avLst/>
          </a:prstGeom>
          <a:noFill/>
          <a:ln/>
        </p:spPr>
        <p:txBody>
          <a:bodyPr wrap="square" lIns="0" tIns="0" rIns="0" bIns="0" rtlCol="0" anchor="t"/>
          <a:lstStyle/>
          <a:p>
            <a:pPr algn="ctr" indent="0" marL="0">
              <a:buNone/>
            </a:pPr>
            <a:r>
              <a:rPr lang="en-US" sz="1600" dirty="0">
                <a:solidFill>
                  <a:srgbClr val="B9AEDB"/>
                </a:solidFill>
                <a:latin typeface="Arial" pitchFamily="34" charset="0"/>
                <a:ea typeface="Arial" pitchFamily="34" charset="-122"/>
                <a:cs typeface="Arial" pitchFamily="34" charset="-120"/>
              </a:rPr>
              <a:t>https://github.com/cx-guilherme-pinto/workshop-claude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Founders Grotesk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orchestration with Claude</dc:title>
  <dc:subject>PptxGenJS Presentation</dc:subject>
  <dc:creator>Workshop Claude</dc:creator>
  <cp:lastModifiedBy>Workshop Claude</cp:lastModifiedBy>
  <cp:revision>1</cp:revision>
  <dcterms:created xsi:type="dcterms:W3CDTF">2026-10-19T10:57:00Z</dcterms:created>
  <dcterms:modified xsi:type="dcterms:W3CDTF">2026-10-19T10:57:00Z</dcterms:modified>
</cp:coreProperties>
</file>