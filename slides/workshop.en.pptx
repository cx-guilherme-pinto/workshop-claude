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Lst>
  <p:notesMasterIdLst>
    <p:notesMasterId r:id="rId4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b0ec8bae-e932-5b81-67d8-eca18e1802da}">
          <p14:sldIdLst>
            <p14:sldId id="256"/>
            <p14:sldId id="257"/>
            <p14:sldId id="258"/>
            <p14:sldId id="259"/>
          </p14:sldIdLst>
        </p14:section>
        <p14:section name="Check" id="{de108aa5-3be7-8075-fa1e-00c94424e0d7}">
          <p14:sldIdLst>
            <p14:sldId id="260"/>
            <p14:sldId id="261"/>
          </p14:sldIdLst>
        </p14:section>
        <p14:section name="Concepts" id="{42a0f558-8db8-d245-a0e2-2b0efa2ae7c6}">
          <p14:sldIdLst>
            <p14:sldId id="262"/>
            <p14:sldId id="263"/>
            <p14:sldId id="264"/>
            <p14:sldId id="265"/>
            <p14:sldId id="266"/>
            <p14:sldId id="267"/>
            <p14:sldId id="268"/>
            <p14:sldId id="269"/>
            <p14:sldId id="270"/>
            <p14:sldId id="271"/>
          </p14:sldIdLst>
        </p14:section>
        <p14:section name="Preview" id="{6b87cb00-bf88-6752-f9b2-43cdee5e8c8d}">
          <p14:sldIdLst>
            <p14:sldId id="272"/>
            <p14:sldId id="273"/>
          </p14:sldIdLst>
        </p14:section>
        <p14:section name="Project 1" id="{0e5fd9d0-3193-fdc8-1ebd-b4d504d475f0}">
          <p14:sldIdLst>
            <p14:sldId id="274"/>
            <p14:sldId id="275"/>
            <p14:sldId id="276"/>
            <p14:sldId id="277"/>
            <p14:sldId id="278"/>
            <p14:sldId id="279"/>
            <p14:sldId id="280"/>
            <p14:sldId id="281"/>
            <p14:sldId id="282"/>
            <p14:sldId id="283"/>
            <p14:sldId id="284"/>
            <p14:sldId id="285"/>
            <p14:sldId id="286"/>
          </p14:sldIdLst>
        </p14:section>
        <p14:section name="Memory" id="{5c197615-2c1e-d81e-c17b-d4a116f9775e}">
          <p14:sldIdLst>
            <p14:sldId id="287"/>
            <p14:sldId id="288"/>
          </p14:sldIdLst>
        </p14:section>
        <p14:section name="Project 2" id="{ca49f354-2847-cc42-24e8-41a4fd5b9f3f}">
          <p14:sldIdLst>
            <p14:sldId id="289"/>
            <p14:sldId id="290"/>
            <p14:sldId id="291"/>
            <p14:sldId id="292"/>
            <p14:sldId id="293"/>
            <p14:sldId id="294"/>
            <p14:sldId id="295"/>
            <p14:sldId id="296"/>
          </p14:sldIdLst>
        </p14:section>
        <p14:section name="Closing" id="{1fd8cfca-b62e-81d3-0536-a3d56575432f}">
          <p14:sldIdLst>
            <p14:sldId id="297"/>
            <p14:sldId id="298"/>
            <p14:sldId id="299"/>
            <p14:sldId id="30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notesMaster" Target="notesMasters/notes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 → 1:00] 1 min · you should be here at 0 min
Welcome. In 90 minutes we will put a swarm of agents to work building a game and then working on a real task of your 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 → 2:30] 1.5 min · you should be here at 1 min
Three concrete outcomes. Everything stays installed on each laptop and keeps working after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[2:30 → 3:30] 1 min · you should be here at 3 min
The clock is in the notes of each slide. Questions are at the end, with no time limit.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[3:30 → 5:00] 1.5 min · you should be here at 4 min
The budget is backed by the benchmark, not by cuts. If someone goes over the target, a warning shows up and they keep working.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[5:00 → 8:00] 3 min · you should be here at 5 min
Everyone runs the check. It takes 2 to 3 minutes and installs nothing. Anyone who did not run the setup follows along with a neighbour and installs during the questions. The setup speaks English, but it detects the machine language and writes the Claude Code language setting (Portuguese, English, Hindi or Hebrew): the skills answer in that language. The Arena, the orchestrator tables and the docs come in Portuguese or English (any other language gets English).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[8:00 → 10:00] 2 min · you should be here at 8 min
Claude reads only the log excerpt for that step, with no secrets, and suggests commands. It never runs anything without confirmation. If Claude is not installed yet, the pre-written message from TROUBLESHOOTING is shown.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[10:00 → 10:30] 0.5 min · you should be here at 10 min
Fifteen minutes of ideas, one concept per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[10:30 → 12:00] 1.5 min · you should be here at 11 min
Claude Code is not a chat: it is an agent that acts on the repository. Everything it does goes through permissions. Plan mode (Shift+Tab) makes it only plan, without touching anything.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[12:00 → 14:00] 2 min · you should be here at 12 min
Skills replaced the old slash commands. The frontmatter pins the model and the allowed tools. Today we use two sets: /demo-* in the Arena and /task-* for everyday work. The kit skills are in English and tell Claude to answer in the participant's language.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[14:00 → 16:00] 2 min · you should be here at 14 min
A subagent is a Claude instance with a clean context, its own tools and the model we choose. It is defined in a .claude/agents/&lt;name&gt;.md file. The /agents command no longer opens a wizard: you edit the 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[16:00 → 18:00] 2 min · you should be here at 16 min
A cheap swarm is many small agents with clear instructions. What costs money is coordination. That is why the orchestrator is a script and the workers answer with one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[18:00 → 20:00] 2 min · you should be here at 18 min
The plan is a dependency graph. We run it in waves: everything that is ready runs in parallel. The three cryptography cards wait for lib/hash, a real dependency inside wave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[20:00 → 21:30] 1.5 min · you should be here at 20 min
With 15 calls in parallel, a model forgets dependencies or rewrites prompts. The script is reproducible: that is what makes the cost predictable and the benchmark comparable.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[21:30 → 23:00] 1.5 min · you should be here at 22 min
Hooks are commands that Claude Code runs on events. Ours only measures: it reads the real tokens from the transcript, multiplies them by the published prices and appends one line. It never blocks anything.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[23:00 → 24:00] 1 min · you should be here at 23 min
It is the same cycle in both projects: plan with Opus, run as a swarm, a security gate, measure and save what was learned.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[24:00 → 25:00] 1 min · CAN SKIP · you should be here at 24 min
Skip if running late. Claude Code refuses a 21st concurrent subagent. API rate limits are per organisation. That is why we work in batches.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[25:00 → 29:00] 4 min · you should be here at 25 min
Sped-up video of a real run in presenter mode. The time and cost on screen are the real ones. Plan B if the video fails: open /estado?replay=gravacao in the recorded Arena.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[29:00 → 30:00] 1 min · you should be here at 29 min
Open the final Arena in the browser and play a card. It is a static app, with no risk. The game comes in Portuguese or English, depending on the machine language.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[30:00 → 30:30] 0.5 min · you should be here at 30 min
25 minutes of hands-on. In the benchmark, the 15-card swarm took 4 to 6 minutes; in interactive mode and with new accounts it can take longer. We use that time to look at features.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[30:30 → 31:30] 1 min · you should be here at 31 min
The tests already exist: each agent only has to turn its test green. That is what lets Haiku do the bulk of the work safely.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[31:30 → 34:30] 3 min · you should be here at 32 min
The trust dialog matters: without it, the project permissions stay off. /demo-plan checks the memory, builds the graph and asks the planner (Opus) to review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[34:30 → 36:00] 1.5 min · you should be here at 35 min
Show someone's plan on the projector. In wave 1, lib/hash and the cards start together; the cryptography ones join as soon as hash turns green.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[36:00 → 38:00] 2 min · you should be here at 36 min
From here the swarm works for a few minutes (4 to 6 in the benchmark). The next slides use that time; whoever finishes first plays the Arena.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[38:00 → 40:00] 2 min · you should be here at 38 min
/btw answers on the side. It is the right way to ask questions during a long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[40:00 → 42:00] 2 min · you should be here at 40 min
Show the statusline changing as the agents finish. Explain why /usage can show more: versions that do not know the latest prices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[42:00 → 45:00] 3 min · you should be here at 42 min
Plan mode only reads and proposes. claude -p is the basis for scripts and CI. Esc Esc opens rewind: it restores code and conversation to a checkpoint, but not what was done through Bash nor most of what the subagents did.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[45:00 → 47:00] 2 min · CAN SKIP · you should be here at 45 min
Skip if running late. Example routine: a daily security review with node tools/rotina.mjs --instalar, which registers a claude -p "/demo-review --auto" in launchd or in Task Scheduler.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[47:00 → 49:00] 2 min · you should be here at 47 min
/loop repeats a prompt at each interval, while the session is open. Esc cancels.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[49:00 → 51:00] 2 min · you should be here at 49 min
A security game with security flaws would be the worst example. The gate links each check to the OWASP Top 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[51:00 → 53:00] 2 min · you should be here at 51 min
The report uses real tokens and published prices. At the end it saves the lessons to the memory 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[53:00 → 55:00] 2 min · you should be here at 53 min
The tests also run in the browser. It is the same test that decided the colour of the square.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[55:00 → 57:00] 2 min · you should be here at 55 min
They are Markdown files in ~/.memoria, with an SQLite index. Everything stays on your PC. Each memory is linked to the Jira or GitHub ticket and to its epic: searching ABC-123 brings everything for that ticket and the epic. /task-intake and /task-plan check it before planning ("last time in this epic, don't do 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[57:00 → 60:00] 3 min · you should be here at 57 min
The app opens in your native language and has a language selector. Routines, worktrees and headless mode were already covered during the waiting moments.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[60:00 → 60:30] 0.5 min · you should be here at 60 min
25 minutes. The task may not finish here: the goal is to leave with the orchestration running and to know how to continue.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[60:30 → 62:00] 1.5 min · you should be here at 61 min
The /task-* skills are installed at user level and work in any repository. Every write to Jira or GitHub asks for confirmation.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[62:00 → 66:00] 4 min · you should be here at 62 min
For Jira you need to have logged in via /mcp (atlassian). GitHub uses gh. Intake only reads; it writes nothing.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[66:00 → 71:00] 5 min · you should be here at 66 min
The planner (Opus) proposes the graph and a script validates it: cycles, shared files, known agents. Integration and review are added automatically.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[71:00 → 81:00] 10 min · you should be here at 71 min
The state lives in .workshop/. Running /task-swarm again resumes. Tasks that touch the same files go in different batches, or in git worktrees if the planner decides 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[81:00 → 82:00] 1 min · CAN SKIP · you should be here at 81 min
Skip if running late. The Atlassian MCP spends the company Rovo credits and the admin can limit it. If the MCP fails, the skills use the official Atlassian CLI (acli), which the setup already installed: it reads the issue and posts the comments; hours are logged by hand.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[82:00 → 84:00] 2 min · you should be here at 82 min
Example comment: agent ws-worker-07 · Haiku · 5 s · US$ 0.004.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[84:00 → 85:00] 1 min · CAN SKIP · you should be here at 84 min
Skip if running late. With a subscription, the same session can continue on the phone and routines run in the cloud.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[85:00 → 87:00] 2 min · you should be here at 85 min
A summary in five sentences.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[87:00 → 88:30] 1.5 min · you should be here at 87 min
The commands are generated from repos.conf: they are always right for the published 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[88:30 → 89:30] 1 min · you should be here at 89 min
Three concrete actions.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[89:30 → 90:00] 0.5 min · you should be here at 90 min
Questions can go past 90 minutes. Anyone who did not run the setup installs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ULO">
    <p:bg>
      <p:bgPr>
        <a:solidFill>
          <a:srgbClr val="0F131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0"/>
            <a:ext cx="7863840" cy="1920240"/>
          </a:xfrm>
          <a:prstGeom prst="rect">
            <a:avLst/>
          </a:prstGeom>
          <a:noFill/>
          <a:ln/>
        </p:spPr>
        <p:txBody>
          <a:bodyPr wrap="square" rtlCol="0"/>
          <a:lstStyle>
            <a:lvl1pPr algn="l" indent="0" marL="0">
              <a:buNone/>
              <a:defRPr lang="en-US" sz="5200" b="1" dirty="0">
                <a:solidFill>
                  <a:srgbClr val="E8EDE9"/>
                </a:solidFill>
                <a:latin typeface="Bricolage Grotesque" pitchFamily="34" charset="0"/>
                <a:ea typeface="Bricolage Grotesque" pitchFamily="34" charset="-122"/>
                <a:cs typeface="Bricolage Grotesque" pitchFamily="34" charset="-120"/>
              </a:defRPr>
            </a:lvl1pPr>
          </a:lstStyle>
          <a:p>
            <a:pPr algn="l" indent="0" marL="0">
              <a:buNone/>
            </a:pPr>
            <a:endParaRPr lang="en-US" sz="5200" dirty="0"/>
          </a:p>
        </p:txBody>
      </p:sp>
      <p:sp>
        <p:nvSpPr>
          <p:cNvPr id="3" name="Text 0"/>
          <p:cNvSpPr/>
          <p:nvPr>
            <p:ph idx="101" type="body" hasCustomPrompt="1"/>
          </p:nvPr>
        </p:nvSpPr>
        <p:spPr>
          <a:xfrm>
            <a:off x="548640" y="3977640"/>
            <a:ext cx="7863840" cy="914400"/>
          </a:xfrm>
          <a:prstGeom prst="rect">
            <a:avLst/>
          </a:prstGeom>
          <a:noFill/>
          <a:ln/>
        </p:spPr>
        <p:txBody>
          <a:bodyPr wrap="square" rtlCol="0"/>
          <a:lstStyle>
            <a:lvl1pPr algn="l" indent="0" marL="0">
              <a:buNone/>
              <a:defRPr lang="en-US" sz="2200" dirty="0">
                <a:solidFill>
                  <a:srgbClr val="9BA59F"/>
                </a:solidFill>
                <a:latin typeface="Arial" pitchFamily="34" charset="0"/>
                <a:ea typeface="Arial" pitchFamily="34" charset="-122"/>
                <a:cs typeface="Arial" pitchFamily="34" charset="-120"/>
              </a:defRPr>
            </a:lvl1pPr>
          </a:lstStyle>
          <a:p>
            <a:pPr algn="l"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CAO">
    <p:bg>
      <p:bgPr>
        <a:solidFill>
          <a:srgbClr val="0F131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0"/>
            <a:ext cx="10972800" cy="1371600"/>
          </a:xfrm>
          <a:prstGeom prst="rect">
            <a:avLst/>
          </a:prstGeom>
          <a:noFill/>
          <a:ln/>
        </p:spPr>
        <p:txBody>
          <a:bodyPr wrap="square" rtlCol="0"/>
          <a:lstStyle>
            <a:lvl1pPr algn="l" indent="0" marL="0">
              <a:buNone/>
              <a:defRPr lang="en-US" sz="6000" b="1" dirty="0">
                <a:solidFill>
                  <a:srgbClr val="E8EDE9"/>
                </a:solidFill>
                <a:latin typeface="Bricolage Grotesque" pitchFamily="34" charset="0"/>
                <a:ea typeface="Bricolage Grotesque" pitchFamily="34" charset="-122"/>
                <a:cs typeface="Bricolage Grotesque" pitchFamily="34" charset="-120"/>
              </a:defRPr>
            </a:lvl1pPr>
          </a:lstStyle>
          <a:p>
            <a:pPr algn="l" indent="0" marL="0">
              <a:buNone/>
            </a:pPr>
            <a:endParaRPr lang="en-US" sz="6000" dirty="0"/>
          </a:p>
        </p:txBody>
      </p:sp>
      <p:sp>
        <p:nvSpPr>
          <p:cNvPr id="3" name="Text 0"/>
          <p:cNvSpPr/>
          <p:nvPr>
            <p:ph idx="101" type="body" hasCustomPrompt="1"/>
          </p:nvPr>
        </p:nvSpPr>
        <p:spPr>
          <a:xfrm>
            <a:off x="548640" y="3840480"/>
            <a:ext cx="10972800" cy="731520"/>
          </a:xfrm>
          <a:prstGeom prst="rect">
            <a:avLst/>
          </a:prstGeom>
          <a:noFill/>
          <a:ln/>
        </p:spPr>
        <p:txBody>
          <a:bodyPr wrap="square" rtlCol="0"/>
          <a:lstStyle>
            <a:lvl1pPr algn="l" indent="0" marL="0">
              <a:buNone/>
              <a:defRPr lang="en-US" sz="2400" dirty="0">
                <a:solidFill>
                  <a:srgbClr val="9BA59F"/>
                </a:solidFill>
                <a:latin typeface="Arial" pitchFamily="34" charset="0"/>
                <a:ea typeface="Arial" pitchFamily="34" charset="-122"/>
                <a:cs typeface="Arial" pitchFamily="34" charset="-120"/>
              </a:defRPr>
            </a:lvl1pPr>
          </a:lstStyle>
          <a:p>
            <a:pPr algn="l" indent="0" marL="0">
              <a:buNone/>
            </a:pPr>
            <a:endParaRPr lang="en-US" sz="24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UDO">
    <p:bg>
      <p:bgPr>
        <a:solidFill>
          <a:srgbClr val="F2F2E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914400"/>
          </a:xfrm>
          <a:prstGeom prst="rect">
            <a:avLst/>
          </a:prstGeom>
          <a:noFill/>
          <a:ln/>
        </p:spPr>
        <p:txBody>
          <a:bodyPr wrap="square" rtlCol="0"/>
          <a:lstStyle>
            <a:lvl1pPr algn="l" indent="0" marL="0">
              <a:buNone/>
              <a:defRPr lang="en-US" sz="3600" b="1" dirty="0">
                <a:solidFill>
                  <a:srgbClr val="121614"/>
                </a:solidFill>
                <a:latin typeface="Bricolage Grotesque" pitchFamily="34" charset="0"/>
                <a:ea typeface="Bricolage Grotesque" pitchFamily="34" charset="-122"/>
                <a:cs typeface="Bricolage Grotesque" pitchFamily="34" charset="-120"/>
              </a:defRPr>
            </a:lvl1pPr>
          </a:lstStyle>
          <a:p>
            <a:pPr algn="l" indent="0" marL="0">
              <a:buNone/>
            </a:pPr>
            <a:endParaRPr lang="en-US" sz="3600" dirty="0"/>
          </a:p>
        </p:txBody>
      </p:sp>
      <p:sp>
        <p:nvSpPr>
          <p:cNvPr id="3" name="Text 0"/>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45C57"/>
                </a:solidFill>
                <a:latin typeface="Arial" pitchFamily="34" charset="0"/>
                <a:ea typeface="Arial" pitchFamily="34" charset="-122"/>
                <a:cs typeface="Arial" pitchFamily="34" charset="-120"/>
              </a:rPr>
              <a:t>Agent orchestration with Claude</a:t>
            </a:r>
            <a:endParaRPr lang="en-US" sz="1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45C57"/>
                </a:solidFill>
                <a:latin typeface="Arial"/>
                <a:ea typeface="Arial"/>
                <a:cs typeface="Aria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FACA">
    <p:bg>
      <p:bgPr>
        <a:solidFill>
          <a:srgbClr val="F1C23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868680"/>
            <a:ext cx="11094415" cy="868680"/>
          </a:xfrm>
          <a:prstGeom prst="rect">
            <a:avLst/>
          </a:prstGeom>
          <a:noFill/>
          <a:ln/>
        </p:spPr>
        <p:txBody>
          <a:bodyPr wrap="square" rtlCol="0"/>
          <a:lstStyle>
            <a:lvl1pPr algn="l" indent="0" marL="0">
              <a:buNone/>
              <a:defRPr lang="en-US" sz="3800" b="1" dirty="0">
                <a:solidFill>
                  <a:srgbClr val="121614"/>
                </a:solidFill>
                <a:latin typeface="Bricolage Grotesque" pitchFamily="34" charset="0"/>
                <a:ea typeface="Bricolage Grotesque" pitchFamily="34" charset="-122"/>
                <a:cs typeface="Bricolage Grotesque" pitchFamily="34" charset="-120"/>
              </a:defRPr>
            </a:lvl1pPr>
          </a:lstStyle>
          <a:p>
            <a:pPr algn="l" indent="0" marL="0">
              <a:buNone/>
            </a:pPr>
            <a:endParaRPr lang="en-US" sz="38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121614"/>
                </a:solidFill>
                <a:latin typeface="Arial"/>
                <a:ea typeface="Arial"/>
                <a:cs typeface="Arial"/>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45C57"/>
                </a:solidFill>
                <a:latin typeface="Arial"/>
                <a:ea typeface="Arial"/>
                <a:cs typeface="Aria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video" Target="../media/media-17-1.mp4"/><Relationship Id="rId2" Type="http://schemas.microsoft.com/office/2007/relationships/media" Target="../media/media-17-1.mp4"/><Relationship Id="rId3" Type="http://schemas.openxmlformats.org/officeDocument/2006/relationships/image" Target="../media/image-17-3.png"/><Relationship Id="rId4" Type="http://schemas.openxmlformats.org/officeDocument/2006/relationships/slideLayout" Target="../slideLayouts/slideLayout4.xml"/><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4.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4.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0"/>
            <a:ext cx="7863840" cy="1920240"/>
          </a:xfrm>
          <a:prstGeom prst="rect">
            <a:avLst/>
          </a:prstGeom>
          <a:noFill/>
          <a:ln/>
        </p:spPr>
        <p:txBody>
          <a:bodyPr wrap="square" lIns="0" tIns="0" rIns="0" bIns="0" rtlCol="0" anchor="b"/>
          <a:lstStyle/>
          <a:p>
            <a:pPr algn="l" indent="0" marL="0">
              <a:buNone/>
            </a:pPr>
            <a:r>
              <a:rPr lang="en-US" sz="5200" b="1" dirty="0">
                <a:solidFill>
                  <a:srgbClr val="E8EDE9"/>
                </a:solidFill>
                <a:latin typeface="Bricolage Grotesque" pitchFamily="34" charset="0"/>
                <a:ea typeface="Bricolage Grotesque" pitchFamily="34" charset="-122"/>
                <a:cs typeface="Bricolage Grotesque" pitchFamily="34" charset="-120"/>
              </a:rPr>
              <a:t>Agent orchestration with Claude</a:t>
            </a:r>
            <a:endParaRPr lang="en-US" sz="5200" dirty="0"/>
          </a:p>
        </p:txBody>
      </p:sp>
      <p:sp>
        <p:nvSpPr>
          <p:cNvPr id="3" name="Text 0"/>
          <p:cNvSpPr/>
          <p:nvPr>
            <p:ph idx="101" type="body" hasCustomPrompt="1"/>
          </p:nvPr>
        </p:nvSpPr>
        <p:spPr>
          <a:xfrm>
            <a:off x="548640" y="3977640"/>
            <a:ext cx="7863840" cy="914400"/>
          </a:xfrm>
          <a:prstGeom prst="rect">
            <a:avLst/>
          </a:prstGeom>
          <a:noFill/>
          <a:ln/>
        </p:spPr>
        <p:txBody>
          <a:bodyPr wrap="square" lIns="0" tIns="0" rIns="0" bIns="0" rtlCol="0" anchor="t"/>
          <a:lstStyle/>
          <a:p>
            <a:pPr algn="l" indent="0" marL="0">
              <a:buNone/>
            </a:pPr>
            <a:r>
              <a:rPr lang="en-US" sz="2200" dirty="0">
                <a:solidFill>
                  <a:srgbClr val="9BA59F"/>
                </a:solidFill>
                <a:latin typeface="Arial" pitchFamily="34" charset="0"/>
                <a:ea typeface="Arial" pitchFamily="34" charset="-122"/>
                <a:cs typeface="Arial" pitchFamily="34" charset="-120"/>
              </a:rPr>
              <a:t>Skills, subagents and parallel swarms, with measured cost</a:t>
            </a:r>
            <a:endParaRPr lang="en-US" sz="2200" dirty="0"/>
          </a:p>
        </p:txBody>
      </p:sp>
      <p:sp>
        <p:nvSpPr>
          <p:cNvPr id="4" name="estado-0-0"/>
          <p:cNvSpPr/>
          <p:nvPr/>
        </p:nvSpPr>
        <p:spPr>
          <a:xfrm>
            <a:off x="9052560" y="1463040"/>
            <a:ext cx="384048" cy="384048"/>
          </a:xfrm>
          <a:prstGeom prst="rect">
            <a:avLst/>
          </a:prstGeom>
          <a:solidFill>
            <a:srgbClr val="1E9E57"/>
          </a:solidFill>
          <a:ln w="12700">
            <a:solidFill>
              <a:srgbClr val="1E9E57"/>
            </a:solidFill>
            <a:prstDash val="solid"/>
          </a:ln>
        </p:spPr>
      </p:sp>
      <p:sp>
        <p:nvSpPr>
          <p:cNvPr id="5" name="estado-0-1"/>
          <p:cNvSpPr/>
          <p:nvPr/>
        </p:nvSpPr>
        <p:spPr>
          <a:xfrm>
            <a:off x="9546336" y="1463040"/>
            <a:ext cx="384048" cy="384048"/>
          </a:xfrm>
          <a:prstGeom prst="rect">
            <a:avLst/>
          </a:prstGeom>
          <a:solidFill>
            <a:srgbClr val="1E9E57"/>
          </a:solidFill>
          <a:ln w="12700">
            <a:solidFill>
              <a:srgbClr val="1E9E57"/>
            </a:solidFill>
            <a:prstDash val="solid"/>
          </a:ln>
        </p:spPr>
      </p:sp>
      <p:sp>
        <p:nvSpPr>
          <p:cNvPr id="6" name="estado-0-2"/>
          <p:cNvSpPr/>
          <p:nvPr/>
        </p:nvSpPr>
        <p:spPr>
          <a:xfrm>
            <a:off x="10040112" y="1463040"/>
            <a:ext cx="384048" cy="384048"/>
          </a:xfrm>
          <a:prstGeom prst="rect">
            <a:avLst/>
          </a:prstGeom>
          <a:solidFill>
            <a:srgbClr val="D2463F"/>
          </a:solidFill>
          <a:ln w="12700">
            <a:solidFill>
              <a:srgbClr val="D2463F"/>
            </a:solidFill>
            <a:prstDash val="solid"/>
          </a:ln>
        </p:spPr>
      </p:sp>
      <p:sp>
        <p:nvSpPr>
          <p:cNvPr id="7" name="estado-0-3"/>
          <p:cNvSpPr/>
          <p:nvPr/>
        </p:nvSpPr>
        <p:spPr>
          <a:xfrm>
            <a:off x="10533888" y="1463040"/>
            <a:ext cx="384048" cy="384048"/>
          </a:xfrm>
          <a:prstGeom prst="rect">
            <a:avLst/>
          </a:prstGeom>
          <a:solidFill>
            <a:srgbClr val="C4C7C1"/>
          </a:solidFill>
          <a:ln w="12700">
            <a:solidFill>
              <a:srgbClr val="C4C7C1"/>
            </a:solidFill>
            <a:prstDash val="solid"/>
          </a:ln>
        </p:spPr>
      </p:sp>
      <p:sp>
        <p:nvSpPr>
          <p:cNvPr id="8" name="estado-0-4"/>
          <p:cNvSpPr/>
          <p:nvPr/>
        </p:nvSpPr>
        <p:spPr>
          <a:xfrm>
            <a:off x="11027664" y="1463040"/>
            <a:ext cx="384048" cy="384048"/>
          </a:xfrm>
          <a:prstGeom prst="rect">
            <a:avLst/>
          </a:prstGeom>
          <a:solidFill>
            <a:srgbClr val="F1C232"/>
          </a:solidFill>
          <a:ln w="12700">
            <a:solidFill>
              <a:srgbClr val="F1C232"/>
            </a:solidFill>
            <a:prstDash val="solid"/>
          </a:ln>
        </p:spPr>
      </p:sp>
      <p:sp>
        <p:nvSpPr>
          <p:cNvPr id="9" name="estado-1-0"/>
          <p:cNvSpPr/>
          <p:nvPr/>
        </p:nvSpPr>
        <p:spPr>
          <a:xfrm>
            <a:off x="9052560" y="1956816"/>
            <a:ext cx="384048" cy="384048"/>
          </a:xfrm>
          <a:prstGeom prst="rect">
            <a:avLst/>
          </a:prstGeom>
          <a:solidFill>
            <a:srgbClr val="1E9E57"/>
          </a:solidFill>
          <a:ln w="12700">
            <a:solidFill>
              <a:srgbClr val="1E9E57"/>
            </a:solidFill>
            <a:prstDash val="solid"/>
          </a:ln>
        </p:spPr>
      </p:sp>
      <p:sp>
        <p:nvSpPr>
          <p:cNvPr id="10" name="estado-1-1"/>
          <p:cNvSpPr/>
          <p:nvPr/>
        </p:nvSpPr>
        <p:spPr>
          <a:xfrm>
            <a:off x="9546336" y="1956816"/>
            <a:ext cx="384048" cy="384048"/>
          </a:xfrm>
          <a:prstGeom prst="rect">
            <a:avLst/>
          </a:prstGeom>
          <a:solidFill>
            <a:srgbClr val="1E9E57"/>
          </a:solidFill>
          <a:ln w="12700">
            <a:solidFill>
              <a:srgbClr val="1E9E57"/>
            </a:solidFill>
            <a:prstDash val="solid"/>
          </a:ln>
        </p:spPr>
      </p:sp>
      <p:sp>
        <p:nvSpPr>
          <p:cNvPr id="11" name="estado-1-2"/>
          <p:cNvSpPr/>
          <p:nvPr/>
        </p:nvSpPr>
        <p:spPr>
          <a:xfrm>
            <a:off x="10040112" y="1956816"/>
            <a:ext cx="384048" cy="384048"/>
          </a:xfrm>
          <a:prstGeom prst="rect">
            <a:avLst/>
          </a:prstGeom>
          <a:solidFill>
            <a:srgbClr val="1E9E57"/>
          </a:solidFill>
          <a:ln w="12700">
            <a:solidFill>
              <a:srgbClr val="1E9E57"/>
            </a:solidFill>
            <a:prstDash val="solid"/>
          </a:ln>
        </p:spPr>
      </p:sp>
      <p:sp>
        <p:nvSpPr>
          <p:cNvPr id="12" name="estado-1-3"/>
          <p:cNvSpPr/>
          <p:nvPr/>
        </p:nvSpPr>
        <p:spPr>
          <a:xfrm>
            <a:off x="10533888" y="1956816"/>
            <a:ext cx="384048" cy="384048"/>
          </a:xfrm>
          <a:prstGeom prst="rect">
            <a:avLst/>
          </a:prstGeom>
          <a:solidFill>
            <a:srgbClr val="D2463F"/>
          </a:solidFill>
          <a:ln w="12700">
            <a:solidFill>
              <a:srgbClr val="D2463F"/>
            </a:solidFill>
            <a:prstDash val="solid"/>
          </a:ln>
        </p:spPr>
      </p:sp>
      <p:sp>
        <p:nvSpPr>
          <p:cNvPr id="13" name="estado-1-4"/>
          <p:cNvSpPr/>
          <p:nvPr/>
        </p:nvSpPr>
        <p:spPr>
          <a:xfrm>
            <a:off x="11027664" y="1956816"/>
            <a:ext cx="384048" cy="384048"/>
          </a:xfrm>
          <a:prstGeom prst="rect">
            <a:avLst/>
          </a:prstGeom>
          <a:solidFill>
            <a:srgbClr val="C4C7C1"/>
          </a:solidFill>
          <a:ln w="12700">
            <a:solidFill>
              <a:srgbClr val="C4C7C1"/>
            </a:solidFill>
            <a:prstDash val="solid"/>
          </a:ln>
        </p:spPr>
      </p:sp>
      <p:sp>
        <p:nvSpPr>
          <p:cNvPr id="14" name="estado-2-0"/>
          <p:cNvSpPr/>
          <p:nvPr/>
        </p:nvSpPr>
        <p:spPr>
          <a:xfrm>
            <a:off x="9052560" y="2450592"/>
            <a:ext cx="384048" cy="384048"/>
          </a:xfrm>
          <a:prstGeom prst="rect">
            <a:avLst/>
          </a:prstGeom>
          <a:solidFill>
            <a:srgbClr val="C4C7C1"/>
          </a:solidFill>
          <a:ln w="12700">
            <a:solidFill>
              <a:srgbClr val="C4C7C1"/>
            </a:solidFill>
            <a:prstDash val="solid"/>
          </a:ln>
        </p:spPr>
      </p:sp>
      <p:sp>
        <p:nvSpPr>
          <p:cNvPr id="15" name="estado-2-1"/>
          <p:cNvSpPr/>
          <p:nvPr/>
        </p:nvSpPr>
        <p:spPr>
          <a:xfrm>
            <a:off x="9546336" y="2450592"/>
            <a:ext cx="384048" cy="384048"/>
          </a:xfrm>
          <a:prstGeom prst="rect">
            <a:avLst/>
          </a:prstGeom>
          <a:solidFill>
            <a:srgbClr val="1E9E57"/>
          </a:solidFill>
          <a:ln w="12700">
            <a:solidFill>
              <a:srgbClr val="1E9E57"/>
            </a:solidFill>
            <a:prstDash val="solid"/>
          </a:ln>
        </p:spPr>
      </p:sp>
      <p:sp>
        <p:nvSpPr>
          <p:cNvPr id="16" name="estado-2-2"/>
          <p:cNvSpPr/>
          <p:nvPr/>
        </p:nvSpPr>
        <p:spPr>
          <a:xfrm>
            <a:off x="10040112" y="2450592"/>
            <a:ext cx="384048" cy="384048"/>
          </a:xfrm>
          <a:prstGeom prst="rect">
            <a:avLst/>
          </a:prstGeom>
          <a:solidFill>
            <a:srgbClr val="1E9E57"/>
          </a:solidFill>
          <a:ln w="12700">
            <a:solidFill>
              <a:srgbClr val="1E9E57"/>
            </a:solidFill>
            <a:prstDash val="solid"/>
          </a:ln>
        </p:spPr>
      </p:sp>
      <p:sp>
        <p:nvSpPr>
          <p:cNvPr id="17" name="estado-2-3"/>
          <p:cNvSpPr/>
          <p:nvPr/>
        </p:nvSpPr>
        <p:spPr>
          <a:xfrm>
            <a:off x="10533888" y="2450592"/>
            <a:ext cx="384048" cy="384048"/>
          </a:xfrm>
          <a:prstGeom prst="rect">
            <a:avLst/>
          </a:prstGeom>
          <a:solidFill>
            <a:srgbClr val="1E9E57"/>
          </a:solidFill>
          <a:ln w="12700">
            <a:solidFill>
              <a:srgbClr val="1E9E57"/>
            </a:solidFill>
            <a:prstDash val="solid"/>
          </a:ln>
        </p:spPr>
      </p:sp>
      <p:sp>
        <p:nvSpPr>
          <p:cNvPr id="18" name="estado-2-4"/>
          <p:cNvSpPr/>
          <p:nvPr/>
        </p:nvSpPr>
        <p:spPr>
          <a:xfrm>
            <a:off x="11027664" y="2450592"/>
            <a:ext cx="384048" cy="384048"/>
          </a:xfrm>
          <a:prstGeom prst="rect">
            <a:avLst/>
          </a:prstGeom>
          <a:solidFill>
            <a:srgbClr val="D2463F"/>
          </a:solidFill>
          <a:ln w="12700">
            <a:solidFill>
              <a:srgbClr val="D2463F"/>
            </a:solidFill>
            <a:prstDash val="solid"/>
          </a:ln>
        </p:spPr>
      </p:sp>
      <p:sp>
        <p:nvSpPr>
          <p:cNvPr id="19" name="estado-3-0"/>
          <p:cNvSpPr/>
          <p:nvPr/>
        </p:nvSpPr>
        <p:spPr>
          <a:xfrm>
            <a:off x="9052560" y="2944368"/>
            <a:ext cx="384048" cy="384048"/>
          </a:xfrm>
          <a:prstGeom prst="rect">
            <a:avLst/>
          </a:prstGeom>
          <a:solidFill>
            <a:srgbClr val="1E9E57"/>
          </a:solidFill>
          <a:ln w="12700">
            <a:solidFill>
              <a:srgbClr val="1E9E57"/>
            </a:solidFill>
            <a:prstDash val="solid"/>
          </a:ln>
        </p:spPr>
      </p:sp>
      <p:sp>
        <p:nvSpPr>
          <p:cNvPr id="20" name="estado-3-1"/>
          <p:cNvSpPr/>
          <p:nvPr/>
        </p:nvSpPr>
        <p:spPr>
          <a:xfrm>
            <a:off x="9546336" y="2944368"/>
            <a:ext cx="384048" cy="384048"/>
          </a:xfrm>
          <a:prstGeom prst="rect">
            <a:avLst/>
          </a:prstGeom>
          <a:solidFill>
            <a:srgbClr val="C4C7C1"/>
          </a:solidFill>
          <a:ln w="12700">
            <a:solidFill>
              <a:srgbClr val="C4C7C1"/>
            </a:solidFill>
            <a:prstDash val="solid"/>
          </a:ln>
        </p:spPr>
      </p:sp>
      <p:sp>
        <p:nvSpPr>
          <p:cNvPr id="21" name="estado-3-2"/>
          <p:cNvSpPr/>
          <p:nvPr/>
        </p:nvSpPr>
        <p:spPr>
          <a:xfrm>
            <a:off x="10040112" y="2944368"/>
            <a:ext cx="384048" cy="384048"/>
          </a:xfrm>
          <a:prstGeom prst="rect">
            <a:avLst/>
          </a:prstGeom>
          <a:solidFill>
            <a:srgbClr val="1E9E57"/>
          </a:solidFill>
          <a:ln w="12700">
            <a:solidFill>
              <a:srgbClr val="1E9E57"/>
            </a:solidFill>
            <a:prstDash val="solid"/>
          </a:ln>
        </p:spPr>
      </p:sp>
      <p:sp>
        <p:nvSpPr>
          <p:cNvPr id="22" name="estado-3-3"/>
          <p:cNvSpPr/>
          <p:nvPr/>
        </p:nvSpPr>
        <p:spPr>
          <a:xfrm>
            <a:off x="10533888" y="2944368"/>
            <a:ext cx="384048" cy="384048"/>
          </a:xfrm>
          <a:prstGeom prst="rect">
            <a:avLst/>
          </a:prstGeom>
          <a:solidFill>
            <a:srgbClr val="1E9E57"/>
          </a:solidFill>
          <a:ln w="12700">
            <a:solidFill>
              <a:srgbClr val="1E9E57"/>
            </a:solidFill>
            <a:prstDash val="solid"/>
          </a:ln>
        </p:spPr>
      </p:sp>
      <p:sp>
        <p:nvSpPr>
          <p:cNvPr id="23" name="estado-3-4"/>
          <p:cNvSpPr/>
          <p:nvPr/>
        </p:nvSpPr>
        <p:spPr>
          <a:xfrm>
            <a:off x="11027664" y="2944368"/>
            <a:ext cx="384048" cy="384048"/>
          </a:xfrm>
          <a:prstGeom prst="rect">
            <a:avLst/>
          </a:prstGeom>
          <a:solidFill>
            <a:srgbClr val="1E9E57"/>
          </a:solidFill>
          <a:ln w="12700">
            <a:solidFill>
              <a:srgbClr val="1E9E57"/>
            </a:solidFill>
            <a:prstDash val="solid"/>
          </a:ln>
        </p:spPr>
      </p:sp>
      <p:sp>
        <p:nvSpPr>
          <p:cNvPr id="24" name="estado-4-0"/>
          <p:cNvSpPr/>
          <p:nvPr/>
        </p:nvSpPr>
        <p:spPr>
          <a:xfrm>
            <a:off x="9052560" y="3438144"/>
            <a:ext cx="384048" cy="384048"/>
          </a:xfrm>
          <a:prstGeom prst="rect">
            <a:avLst/>
          </a:prstGeom>
          <a:solidFill>
            <a:srgbClr val="F1C232"/>
          </a:solidFill>
          <a:ln w="12700">
            <a:solidFill>
              <a:srgbClr val="F1C232"/>
            </a:solidFill>
            <a:prstDash val="solid"/>
          </a:ln>
        </p:spPr>
      </p:sp>
      <p:sp>
        <p:nvSpPr>
          <p:cNvPr id="25" name="estado-4-1"/>
          <p:cNvSpPr/>
          <p:nvPr/>
        </p:nvSpPr>
        <p:spPr>
          <a:xfrm>
            <a:off x="9546336" y="3438144"/>
            <a:ext cx="384048" cy="384048"/>
          </a:xfrm>
          <a:prstGeom prst="rect">
            <a:avLst/>
          </a:prstGeom>
          <a:solidFill>
            <a:srgbClr val="1E9E57"/>
          </a:solidFill>
          <a:ln w="12700">
            <a:solidFill>
              <a:srgbClr val="1E9E57"/>
            </a:solidFill>
            <a:prstDash val="solid"/>
          </a:ln>
        </p:spPr>
      </p:sp>
      <p:sp>
        <p:nvSpPr>
          <p:cNvPr id="26" name="estado-4-2"/>
          <p:cNvSpPr/>
          <p:nvPr/>
        </p:nvSpPr>
        <p:spPr>
          <a:xfrm>
            <a:off x="10040112" y="3438144"/>
            <a:ext cx="384048" cy="384048"/>
          </a:xfrm>
          <a:prstGeom prst="rect">
            <a:avLst/>
          </a:prstGeom>
          <a:solidFill>
            <a:srgbClr val="C4C7C1"/>
          </a:solidFill>
          <a:ln w="12700">
            <a:solidFill>
              <a:srgbClr val="C4C7C1"/>
            </a:solidFill>
            <a:prstDash val="solid"/>
          </a:ln>
        </p:spPr>
      </p:sp>
      <p:sp>
        <p:nvSpPr>
          <p:cNvPr id="27" name="estado-4-3"/>
          <p:cNvSpPr/>
          <p:nvPr/>
        </p:nvSpPr>
        <p:spPr>
          <a:xfrm>
            <a:off x="10533888" y="3438144"/>
            <a:ext cx="384048" cy="384048"/>
          </a:xfrm>
          <a:prstGeom prst="rect">
            <a:avLst/>
          </a:prstGeom>
          <a:solidFill>
            <a:srgbClr val="1E9E57"/>
          </a:solidFill>
          <a:ln w="12700">
            <a:solidFill>
              <a:srgbClr val="1E9E57"/>
            </a:solidFill>
            <a:prstDash val="solid"/>
          </a:ln>
        </p:spPr>
      </p:sp>
      <p:sp>
        <p:nvSpPr>
          <p:cNvPr id="28" name="estado-4-4"/>
          <p:cNvSpPr/>
          <p:nvPr/>
        </p:nvSpPr>
        <p:spPr>
          <a:xfrm>
            <a:off x="11027664" y="3438144"/>
            <a:ext cx="384048" cy="384048"/>
          </a:xfrm>
          <a:prstGeom prst="rect">
            <a:avLst/>
          </a:prstGeom>
          <a:solidFill>
            <a:srgbClr val="1E9E57"/>
          </a:solidFill>
          <a:ln w="12700">
            <a:solidFill>
              <a:srgbClr val="1E9E57"/>
            </a:solidFill>
            <a:prstDash val="solid"/>
          </a:ln>
        </p:spPr>
      </p:sp>
      <p:sp>
        <p:nvSpPr>
          <p:cNvPr id="29" name="estado-5-0"/>
          <p:cNvSpPr/>
          <p:nvPr/>
        </p:nvSpPr>
        <p:spPr>
          <a:xfrm>
            <a:off x="9052560" y="3931920"/>
            <a:ext cx="384048" cy="384048"/>
          </a:xfrm>
          <a:prstGeom prst="rect">
            <a:avLst/>
          </a:prstGeom>
          <a:solidFill>
            <a:srgbClr val="1E9E57"/>
          </a:solidFill>
          <a:ln w="12700">
            <a:solidFill>
              <a:srgbClr val="1E9E57"/>
            </a:solidFill>
            <a:prstDash val="solid"/>
          </a:ln>
        </p:spPr>
      </p:sp>
      <p:sp>
        <p:nvSpPr>
          <p:cNvPr id="30" name="estado-5-1"/>
          <p:cNvSpPr/>
          <p:nvPr/>
        </p:nvSpPr>
        <p:spPr>
          <a:xfrm>
            <a:off x="9546336" y="3931920"/>
            <a:ext cx="384048" cy="384048"/>
          </a:xfrm>
          <a:prstGeom prst="rect">
            <a:avLst/>
          </a:prstGeom>
          <a:solidFill>
            <a:srgbClr val="F1C232"/>
          </a:solidFill>
          <a:ln w="12700">
            <a:solidFill>
              <a:srgbClr val="F1C232"/>
            </a:solidFill>
            <a:prstDash val="solid"/>
          </a:ln>
        </p:spPr>
      </p:sp>
      <p:sp>
        <p:nvSpPr>
          <p:cNvPr id="31" name="estado-5-2"/>
          <p:cNvSpPr/>
          <p:nvPr/>
        </p:nvSpPr>
        <p:spPr>
          <a:xfrm>
            <a:off x="10040112" y="3931920"/>
            <a:ext cx="384048" cy="384048"/>
          </a:xfrm>
          <a:prstGeom prst="rect">
            <a:avLst/>
          </a:prstGeom>
          <a:solidFill>
            <a:srgbClr val="1E9E57"/>
          </a:solidFill>
          <a:ln w="12700">
            <a:solidFill>
              <a:srgbClr val="1E9E57"/>
            </a:solidFill>
            <a:prstDash val="solid"/>
          </a:ln>
        </p:spPr>
      </p:sp>
      <p:sp>
        <p:nvSpPr>
          <p:cNvPr id="32" name="estado-5-3"/>
          <p:cNvSpPr/>
          <p:nvPr/>
        </p:nvSpPr>
        <p:spPr>
          <a:xfrm>
            <a:off x="10533888" y="3931920"/>
            <a:ext cx="384048" cy="384048"/>
          </a:xfrm>
          <a:prstGeom prst="rect">
            <a:avLst/>
          </a:prstGeom>
          <a:solidFill>
            <a:srgbClr val="C4C7C1"/>
          </a:solidFill>
          <a:ln w="12700">
            <a:solidFill>
              <a:srgbClr val="C4C7C1"/>
            </a:solidFill>
            <a:prstDash val="solid"/>
          </a:ln>
        </p:spPr>
      </p:sp>
      <p:sp>
        <p:nvSpPr>
          <p:cNvPr id="33" name="estado-5-4"/>
          <p:cNvSpPr/>
          <p:nvPr/>
        </p:nvSpPr>
        <p:spPr>
          <a:xfrm>
            <a:off x="11027664" y="3931920"/>
            <a:ext cx="384048" cy="384048"/>
          </a:xfrm>
          <a:prstGeom prst="rect">
            <a:avLst/>
          </a:prstGeom>
          <a:solidFill>
            <a:srgbClr val="1E9E57"/>
          </a:solidFill>
          <a:ln w="12700">
            <a:solidFill>
              <a:srgbClr val="1E9E57"/>
            </a:solidFill>
            <a:prstDash val="solid"/>
          </a:ln>
        </p:spPr>
      </p:sp>
      <p:sp>
        <p:nvSpPr>
          <p:cNvPr id="34" name="estado-6-0"/>
          <p:cNvSpPr/>
          <p:nvPr/>
        </p:nvSpPr>
        <p:spPr>
          <a:xfrm>
            <a:off x="9052560" y="4425696"/>
            <a:ext cx="384048" cy="384048"/>
          </a:xfrm>
          <a:prstGeom prst="rect">
            <a:avLst/>
          </a:prstGeom>
          <a:solidFill>
            <a:srgbClr val="F1C232"/>
          </a:solidFill>
          <a:ln w="12700">
            <a:solidFill>
              <a:srgbClr val="F1C232"/>
            </a:solidFill>
            <a:prstDash val="solid"/>
          </a:ln>
        </p:spPr>
      </p:sp>
      <p:sp>
        <p:nvSpPr>
          <p:cNvPr id="35" name="estado-6-1"/>
          <p:cNvSpPr/>
          <p:nvPr/>
        </p:nvSpPr>
        <p:spPr>
          <a:xfrm>
            <a:off x="9546336" y="4425696"/>
            <a:ext cx="384048" cy="384048"/>
          </a:xfrm>
          <a:prstGeom prst="rect">
            <a:avLst/>
          </a:prstGeom>
          <a:solidFill>
            <a:srgbClr val="1E9E57"/>
          </a:solidFill>
          <a:ln w="12700">
            <a:solidFill>
              <a:srgbClr val="1E9E57"/>
            </a:solidFill>
            <a:prstDash val="solid"/>
          </a:ln>
        </p:spPr>
      </p:sp>
      <p:sp>
        <p:nvSpPr>
          <p:cNvPr id="36" name="estado-6-2"/>
          <p:cNvSpPr/>
          <p:nvPr/>
        </p:nvSpPr>
        <p:spPr>
          <a:xfrm>
            <a:off x="10040112" y="4425696"/>
            <a:ext cx="384048" cy="384048"/>
          </a:xfrm>
          <a:prstGeom prst="rect">
            <a:avLst/>
          </a:prstGeom>
          <a:solidFill>
            <a:srgbClr val="F1C232"/>
          </a:solidFill>
          <a:ln w="12700">
            <a:solidFill>
              <a:srgbClr val="F1C232"/>
            </a:solidFill>
            <a:prstDash val="solid"/>
          </a:ln>
        </p:spPr>
      </p:sp>
      <p:sp>
        <p:nvSpPr>
          <p:cNvPr id="37" name="estado-6-3"/>
          <p:cNvSpPr/>
          <p:nvPr/>
        </p:nvSpPr>
        <p:spPr>
          <a:xfrm>
            <a:off x="10533888" y="4425696"/>
            <a:ext cx="384048" cy="384048"/>
          </a:xfrm>
          <a:prstGeom prst="rect">
            <a:avLst/>
          </a:prstGeom>
          <a:solidFill>
            <a:srgbClr val="1E9E57"/>
          </a:solidFill>
          <a:ln w="12700">
            <a:solidFill>
              <a:srgbClr val="1E9E57"/>
            </a:solidFill>
            <a:prstDash val="solid"/>
          </a:ln>
        </p:spPr>
      </p:sp>
      <p:sp>
        <p:nvSpPr>
          <p:cNvPr id="38" name="estado-6-4"/>
          <p:cNvSpPr/>
          <p:nvPr/>
        </p:nvSpPr>
        <p:spPr>
          <a:xfrm>
            <a:off x="11027664" y="4425696"/>
            <a:ext cx="384048" cy="384048"/>
          </a:xfrm>
          <a:prstGeom prst="rect">
            <a:avLst/>
          </a:prstGeom>
          <a:solidFill>
            <a:srgbClr val="C4C7C1"/>
          </a:solidFill>
          <a:ln w="12700">
            <a:solidFill>
              <a:srgbClr val="C4C7C1"/>
            </a:solidFill>
            <a:prstDash val="solid"/>
          </a:ln>
        </p:spPr>
      </p:sp>
      <p:sp>
        <p:nvSpPr>
          <p:cNvPr id="39" name="estado-7-0"/>
          <p:cNvSpPr/>
          <p:nvPr/>
        </p:nvSpPr>
        <p:spPr>
          <a:xfrm>
            <a:off x="9052560" y="4919472"/>
            <a:ext cx="384048" cy="384048"/>
          </a:xfrm>
          <a:prstGeom prst="rect">
            <a:avLst/>
          </a:prstGeom>
          <a:solidFill>
            <a:srgbClr val="C4C7C1"/>
          </a:solidFill>
          <a:ln w="12700">
            <a:solidFill>
              <a:srgbClr val="C4C7C1"/>
            </a:solidFill>
            <a:prstDash val="solid"/>
          </a:ln>
        </p:spPr>
      </p:sp>
      <p:sp>
        <p:nvSpPr>
          <p:cNvPr id="40" name="estado-7-1"/>
          <p:cNvSpPr/>
          <p:nvPr/>
        </p:nvSpPr>
        <p:spPr>
          <a:xfrm>
            <a:off x="9546336" y="4919472"/>
            <a:ext cx="384048" cy="384048"/>
          </a:xfrm>
          <a:prstGeom prst="rect">
            <a:avLst/>
          </a:prstGeom>
          <a:solidFill>
            <a:srgbClr val="F1C232"/>
          </a:solidFill>
          <a:ln w="12700">
            <a:solidFill>
              <a:srgbClr val="F1C232"/>
            </a:solidFill>
            <a:prstDash val="solid"/>
          </a:ln>
        </p:spPr>
      </p:sp>
      <p:sp>
        <p:nvSpPr>
          <p:cNvPr id="41" name="estado-7-2"/>
          <p:cNvSpPr/>
          <p:nvPr/>
        </p:nvSpPr>
        <p:spPr>
          <a:xfrm>
            <a:off x="10040112" y="4919472"/>
            <a:ext cx="384048" cy="384048"/>
          </a:xfrm>
          <a:prstGeom prst="rect">
            <a:avLst/>
          </a:prstGeom>
          <a:solidFill>
            <a:srgbClr val="1E9E57"/>
          </a:solidFill>
          <a:ln w="12700">
            <a:solidFill>
              <a:srgbClr val="1E9E57"/>
            </a:solidFill>
            <a:prstDash val="solid"/>
          </a:ln>
        </p:spPr>
      </p:sp>
      <p:sp>
        <p:nvSpPr>
          <p:cNvPr id="42" name="estado-7-3"/>
          <p:cNvSpPr/>
          <p:nvPr/>
        </p:nvSpPr>
        <p:spPr>
          <a:xfrm>
            <a:off x="10533888" y="4919472"/>
            <a:ext cx="384048" cy="384048"/>
          </a:xfrm>
          <a:prstGeom prst="rect">
            <a:avLst/>
          </a:prstGeom>
          <a:solidFill>
            <a:srgbClr val="F1C232"/>
          </a:solidFill>
          <a:ln w="12700">
            <a:solidFill>
              <a:srgbClr val="F1C232"/>
            </a:solidFill>
            <a:prstDash val="solid"/>
          </a:ln>
        </p:spPr>
      </p:sp>
      <p:sp>
        <p:nvSpPr>
          <p:cNvPr id="43" name="estado-7-4"/>
          <p:cNvSpPr/>
          <p:nvPr/>
        </p:nvSpPr>
        <p:spPr>
          <a:xfrm>
            <a:off x="11027664" y="4919472"/>
            <a:ext cx="384048" cy="384048"/>
          </a:xfrm>
          <a:prstGeom prst="rect">
            <a:avLst/>
          </a:prstGeom>
          <a:solidFill>
            <a:srgbClr val="1E9E57"/>
          </a:solidFill>
          <a:ln w="12700">
            <a:solidFill>
              <a:srgbClr val="1E9E57"/>
            </a:solidFill>
            <a:prstDash val="solid"/>
          </a:ln>
        </p:spPr>
      </p:sp>
      <p:sp>
        <p:nvSpPr>
          <p:cNvPr id="44" name="estado-8-0"/>
          <p:cNvSpPr/>
          <p:nvPr/>
        </p:nvSpPr>
        <p:spPr>
          <a:xfrm>
            <a:off x="9052560" y="5413248"/>
            <a:ext cx="384048" cy="384048"/>
          </a:xfrm>
          <a:prstGeom prst="rect">
            <a:avLst/>
          </a:prstGeom>
          <a:solidFill>
            <a:srgbClr val="D2463F"/>
          </a:solidFill>
          <a:ln w="12700">
            <a:solidFill>
              <a:srgbClr val="D2463F"/>
            </a:solidFill>
            <a:prstDash val="solid"/>
          </a:ln>
        </p:spPr>
      </p:sp>
      <p:sp>
        <p:nvSpPr>
          <p:cNvPr id="45" name="estado-8-1"/>
          <p:cNvSpPr/>
          <p:nvPr/>
        </p:nvSpPr>
        <p:spPr>
          <a:xfrm>
            <a:off x="9546336" y="5413248"/>
            <a:ext cx="384048" cy="384048"/>
          </a:xfrm>
          <a:prstGeom prst="rect">
            <a:avLst/>
          </a:prstGeom>
          <a:solidFill>
            <a:srgbClr val="C4C7C1"/>
          </a:solidFill>
          <a:ln w="12700">
            <a:solidFill>
              <a:srgbClr val="C4C7C1"/>
            </a:solidFill>
            <a:prstDash val="solid"/>
          </a:ln>
        </p:spPr>
      </p:sp>
      <p:sp>
        <p:nvSpPr>
          <p:cNvPr id="46" name="estado-8-2"/>
          <p:cNvSpPr/>
          <p:nvPr/>
        </p:nvSpPr>
        <p:spPr>
          <a:xfrm>
            <a:off x="10040112" y="5413248"/>
            <a:ext cx="384048" cy="384048"/>
          </a:xfrm>
          <a:prstGeom prst="rect">
            <a:avLst/>
          </a:prstGeom>
          <a:solidFill>
            <a:srgbClr val="F1C232"/>
          </a:solidFill>
          <a:ln w="12700">
            <a:solidFill>
              <a:srgbClr val="F1C232"/>
            </a:solidFill>
            <a:prstDash val="solid"/>
          </a:ln>
        </p:spPr>
      </p:sp>
      <p:sp>
        <p:nvSpPr>
          <p:cNvPr id="47" name="estado-8-3"/>
          <p:cNvSpPr/>
          <p:nvPr/>
        </p:nvSpPr>
        <p:spPr>
          <a:xfrm>
            <a:off x="10533888" y="5413248"/>
            <a:ext cx="384048" cy="384048"/>
          </a:xfrm>
          <a:prstGeom prst="rect">
            <a:avLst/>
          </a:prstGeom>
          <a:solidFill>
            <a:srgbClr val="1E9E57"/>
          </a:solidFill>
          <a:ln w="12700">
            <a:solidFill>
              <a:srgbClr val="1E9E57"/>
            </a:solidFill>
            <a:prstDash val="solid"/>
          </a:ln>
        </p:spPr>
      </p:sp>
      <p:sp>
        <p:nvSpPr>
          <p:cNvPr id="48" name="estado-8-4"/>
          <p:cNvSpPr/>
          <p:nvPr/>
        </p:nvSpPr>
        <p:spPr>
          <a:xfrm>
            <a:off x="11027664" y="5413248"/>
            <a:ext cx="384048" cy="384048"/>
          </a:xfrm>
          <a:prstGeom prst="rect">
            <a:avLst/>
          </a:prstGeom>
          <a:solidFill>
            <a:srgbClr val="F1C232"/>
          </a:solidFill>
          <a:ln w="12700">
            <a:solidFill>
              <a:srgbClr val="F1C232"/>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914400"/>
          </a:xfrm>
          <a:prstGeom prst="rect">
            <a:avLst/>
          </a:prstGeom>
          <a:noFill/>
          <a:ln/>
        </p:spPr>
        <p:txBody>
          <a:bodyPr wrap="square" lIns="0" tIns="0" rIns="0" bIns="0" rtlCol="0" anchor="t"/>
          <a:lstStyle/>
          <a:p>
            <a:pPr algn="l" indent="0" marL="0">
              <a:buNone/>
            </a:pPr>
            <a:r>
              <a:rPr lang="en-US" sz="3600" b="1" dirty="0">
                <a:solidFill>
                  <a:srgbClr val="121614"/>
                </a:solidFill>
                <a:latin typeface="Bricolage Grotesque" pitchFamily="34" charset="0"/>
                <a:ea typeface="Bricolage Grotesque" pitchFamily="34" charset="-122"/>
                <a:cs typeface="Bricolage Grotesque" pitchFamily="34" charset="-120"/>
              </a:rPr>
              <a:t>What you take home</a:t>
            </a:r>
            <a:endParaRPr lang="en-US" sz="3600" dirty="0"/>
          </a:p>
        </p:txBody>
      </p:sp>
      <p:sp>
        <p:nvSpPr>
          <p:cNvPr id="3" name="coluna-0"/>
          <p:cNvSpPr/>
          <p:nvPr/>
        </p:nvSpPr>
        <p:spPr>
          <a:xfrm>
            <a:off x="548640" y="1691640"/>
            <a:ext cx="3484778" cy="3566160"/>
          </a:xfrm>
          <a:prstGeom prst="rect">
            <a:avLst/>
          </a:prstGeom>
          <a:solidFill>
            <a:srgbClr val="E6E6E1"/>
          </a:solidFill>
          <a:ln w="12700">
            <a:solidFill>
              <a:srgbClr val="E6E6E1"/>
            </a:solidFill>
            <a:prstDash val="solid"/>
          </a:ln>
        </p:spPr>
      </p:sp>
      <p:sp>
        <p:nvSpPr>
          <p:cNvPr id="4" name="marca-0"/>
          <p:cNvSpPr/>
          <p:nvPr/>
        </p:nvSpPr>
        <p:spPr>
          <a:xfrm>
            <a:off x="868680" y="2011680"/>
            <a:ext cx="384048" cy="384048"/>
          </a:xfrm>
          <a:prstGeom prst="rect">
            <a:avLst/>
          </a:prstGeom>
          <a:solidFill>
            <a:srgbClr val="1E9E57"/>
          </a:solidFill>
          <a:ln w="12700">
            <a:solidFill>
              <a:srgbClr val="1E9E57"/>
            </a:solidFill>
            <a:prstDash val="solid"/>
          </a:ln>
        </p:spPr>
      </p:sp>
      <p:sp>
        <p:nvSpPr>
          <p:cNvPr id="5" name="coluna-titulo-0"/>
          <p:cNvSpPr txBox="1"/>
          <p:nvPr/>
        </p:nvSpPr>
        <p:spPr>
          <a:xfrm>
            <a:off x="868680" y="2697480"/>
            <a:ext cx="2844698" cy="914400"/>
          </a:xfrm>
          <a:prstGeom prst="rect">
            <a:avLst/>
          </a:prstGeom>
          <a:noFill/>
          <a:ln/>
        </p:spPr>
        <p:txBody>
          <a:bodyPr wrap="square" lIns="0" tIns="0" rIns="0" bIns="0" rtlCol="0" anchor="t"/>
          <a:lstStyle/>
          <a:p>
            <a:pPr indent="0" marL="0">
              <a:buNone/>
            </a:pPr>
            <a:r>
              <a:rPr lang="en-US" sz="2600" b="1" dirty="0">
                <a:solidFill>
                  <a:srgbClr val="121614"/>
                </a:solidFill>
                <a:latin typeface="Bricolage Grotesque" pitchFamily="34" charset="0"/>
                <a:ea typeface="Bricolage Grotesque" pitchFamily="34" charset="-122"/>
                <a:cs typeface="Bricolage Grotesque" pitchFamily="34" charset="-120"/>
              </a:rPr>
              <a:t>A swarm</a:t>
            </a:r>
            <a:endParaRPr lang="en-US" sz="2600" dirty="0"/>
          </a:p>
        </p:txBody>
      </p:sp>
      <p:sp>
        <p:nvSpPr>
          <p:cNvPr id="6" name="coluna-texto-0"/>
          <p:cNvSpPr txBox="1"/>
          <p:nvPr/>
        </p:nvSpPr>
        <p:spPr>
          <a:xfrm>
            <a:off x="868680" y="3657600"/>
            <a:ext cx="2844698" cy="1463040"/>
          </a:xfrm>
          <a:prstGeom prst="rect">
            <a:avLst/>
          </a:prstGeom>
          <a:noFill/>
          <a:ln/>
        </p:spPr>
        <p:txBody>
          <a:bodyPr wrap="square" lIns="0" tIns="0" rIns="0" bIns="0" rtlCol="0" anchor="t"/>
          <a:lstStyle/>
          <a:p>
            <a:pPr indent="0" marL="0">
              <a:buNone/>
            </a:pPr>
            <a:r>
              <a:rPr lang="en-US" sz="2000" dirty="0">
                <a:solidFill>
                  <a:srgbClr val="121614"/>
                </a:solidFill>
                <a:latin typeface="Arial" pitchFamily="34" charset="0"/>
                <a:ea typeface="Arial" pitchFamily="34" charset="-122"/>
                <a:cs typeface="Arial" pitchFamily="34" charset="-120"/>
              </a:rPr>
              <a:t>that builds a security game with 15 agents in parallel</a:t>
            </a:r>
            <a:endParaRPr lang="en-US" sz="2000" dirty="0"/>
          </a:p>
        </p:txBody>
      </p:sp>
      <p:sp>
        <p:nvSpPr>
          <p:cNvPr id="7" name="coluna-1"/>
          <p:cNvSpPr/>
          <p:nvPr/>
        </p:nvSpPr>
        <p:spPr>
          <a:xfrm>
            <a:off x="4353458" y="1691640"/>
            <a:ext cx="3484778" cy="3566160"/>
          </a:xfrm>
          <a:prstGeom prst="rect">
            <a:avLst/>
          </a:prstGeom>
          <a:solidFill>
            <a:srgbClr val="E6E6E1"/>
          </a:solidFill>
          <a:ln w="12700">
            <a:solidFill>
              <a:srgbClr val="E6E6E1"/>
            </a:solidFill>
            <a:prstDash val="solid"/>
          </a:ln>
        </p:spPr>
      </p:sp>
      <p:sp>
        <p:nvSpPr>
          <p:cNvPr id="8" name="marca-1"/>
          <p:cNvSpPr/>
          <p:nvPr/>
        </p:nvSpPr>
        <p:spPr>
          <a:xfrm>
            <a:off x="4673498" y="2011680"/>
            <a:ext cx="384048" cy="384048"/>
          </a:xfrm>
          <a:prstGeom prst="rect">
            <a:avLst/>
          </a:prstGeom>
          <a:solidFill>
            <a:srgbClr val="1A4BE0"/>
          </a:solidFill>
          <a:ln w="12700">
            <a:solidFill>
              <a:srgbClr val="1A4BE0"/>
            </a:solidFill>
            <a:prstDash val="solid"/>
          </a:ln>
        </p:spPr>
      </p:sp>
      <p:sp>
        <p:nvSpPr>
          <p:cNvPr id="9" name="coluna-titulo-1"/>
          <p:cNvSpPr txBox="1"/>
          <p:nvPr/>
        </p:nvSpPr>
        <p:spPr>
          <a:xfrm>
            <a:off x="4673498" y="2697480"/>
            <a:ext cx="2844698" cy="914400"/>
          </a:xfrm>
          <a:prstGeom prst="rect">
            <a:avLst/>
          </a:prstGeom>
          <a:noFill/>
          <a:ln/>
        </p:spPr>
        <p:txBody>
          <a:bodyPr wrap="square" lIns="0" tIns="0" rIns="0" bIns="0" rtlCol="0" anchor="t"/>
          <a:lstStyle/>
          <a:p>
            <a:pPr indent="0" marL="0">
              <a:buNone/>
            </a:pPr>
            <a:r>
              <a:rPr lang="en-US" sz="2600" b="1" dirty="0">
                <a:solidFill>
                  <a:srgbClr val="121614"/>
                </a:solidFill>
                <a:latin typeface="Bricolage Grotesque" pitchFamily="34" charset="0"/>
                <a:ea typeface="Bricolage Grotesque" pitchFamily="34" charset="-122"/>
                <a:cs typeface="Bricolage Grotesque" pitchFamily="34" charset="-120"/>
              </a:rPr>
              <a:t>Your task</a:t>
            </a:r>
            <a:endParaRPr lang="en-US" sz="2600" dirty="0"/>
          </a:p>
        </p:txBody>
      </p:sp>
      <p:sp>
        <p:nvSpPr>
          <p:cNvPr id="10" name="coluna-texto-1"/>
          <p:cNvSpPr txBox="1"/>
          <p:nvPr/>
        </p:nvSpPr>
        <p:spPr>
          <a:xfrm>
            <a:off x="4673498" y="3657600"/>
            <a:ext cx="2844698" cy="1463040"/>
          </a:xfrm>
          <a:prstGeom prst="rect">
            <a:avLst/>
          </a:prstGeom>
          <a:noFill/>
          <a:ln/>
        </p:spPr>
        <p:txBody>
          <a:bodyPr wrap="square" lIns="0" tIns="0" rIns="0" bIns="0" rtlCol="0" anchor="t"/>
          <a:lstStyle/>
          <a:p>
            <a:pPr indent="0" marL="0">
              <a:buNone/>
            </a:pPr>
            <a:r>
              <a:rPr lang="en-US" sz="2000" dirty="0">
                <a:solidFill>
                  <a:srgbClr val="121614"/>
                </a:solidFill>
                <a:latin typeface="Arial" pitchFamily="34" charset="0"/>
                <a:ea typeface="Arial" pitchFamily="34" charset="-122"/>
                <a:cs typeface="Arial" pitchFamily="34" charset="-120"/>
              </a:rPr>
              <a:t>a real one, from Jira or GitHub, broken down and running</a:t>
            </a:r>
            <a:endParaRPr lang="en-US" sz="2000" dirty="0"/>
          </a:p>
        </p:txBody>
      </p:sp>
      <p:sp>
        <p:nvSpPr>
          <p:cNvPr id="11" name="coluna-2"/>
          <p:cNvSpPr/>
          <p:nvPr/>
        </p:nvSpPr>
        <p:spPr>
          <a:xfrm>
            <a:off x="8158277" y="1691640"/>
            <a:ext cx="3484778" cy="3566160"/>
          </a:xfrm>
          <a:prstGeom prst="rect">
            <a:avLst/>
          </a:prstGeom>
          <a:solidFill>
            <a:srgbClr val="E6E6E1"/>
          </a:solidFill>
          <a:ln w="12700">
            <a:solidFill>
              <a:srgbClr val="E6E6E1"/>
            </a:solidFill>
            <a:prstDash val="solid"/>
          </a:ln>
        </p:spPr>
      </p:sp>
      <p:sp>
        <p:nvSpPr>
          <p:cNvPr id="12" name="marca-2"/>
          <p:cNvSpPr/>
          <p:nvPr/>
        </p:nvSpPr>
        <p:spPr>
          <a:xfrm>
            <a:off x="8478317" y="2011680"/>
            <a:ext cx="384048" cy="384048"/>
          </a:xfrm>
          <a:prstGeom prst="rect">
            <a:avLst/>
          </a:prstGeom>
          <a:solidFill>
            <a:srgbClr val="F1C232"/>
          </a:solidFill>
          <a:ln w="12700">
            <a:solidFill>
              <a:srgbClr val="F1C232"/>
            </a:solidFill>
            <a:prstDash val="solid"/>
          </a:ln>
        </p:spPr>
      </p:sp>
      <p:sp>
        <p:nvSpPr>
          <p:cNvPr id="13" name="coluna-titulo-2"/>
          <p:cNvSpPr txBox="1"/>
          <p:nvPr/>
        </p:nvSpPr>
        <p:spPr>
          <a:xfrm>
            <a:off x="8478317" y="2697480"/>
            <a:ext cx="2844698" cy="914400"/>
          </a:xfrm>
          <a:prstGeom prst="rect">
            <a:avLst/>
          </a:prstGeom>
          <a:noFill/>
          <a:ln/>
        </p:spPr>
        <p:txBody>
          <a:bodyPr wrap="square" lIns="0" tIns="0" rIns="0" bIns="0" rtlCol="0" anchor="t"/>
          <a:lstStyle/>
          <a:p>
            <a:pPr indent="0" marL="0">
              <a:buNone/>
            </a:pPr>
            <a:r>
              <a:rPr lang="en-US" sz="2600" b="1" dirty="0">
                <a:solidFill>
                  <a:srgbClr val="121614"/>
                </a:solidFill>
                <a:latin typeface="Bricolage Grotesque" pitchFamily="34" charset="0"/>
                <a:ea typeface="Bricolage Grotesque" pitchFamily="34" charset="-122"/>
                <a:cs typeface="Bricolage Grotesque" pitchFamily="34" charset="-120"/>
              </a:rPr>
              <a:t>A memory</a:t>
            </a:r>
            <a:endParaRPr lang="en-US" sz="2600" dirty="0"/>
          </a:p>
        </p:txBody>
      </p:sp>
      <p:sp>
        <p:nvSpPr>
          <p:cNvPr id="14" name="coluna-texto-2"/>
          <p:cNvSpPr txBox="1"/>
          <p:nvPr/>
        </p:nvSpPr>
        <p:spPr>
          <a:xfrm>
            <a:off x="8478317" y="3657600"/>
            <a:ext cx="2844698" cy="1463040"/>
          </a:xfrm>
          <a:prstGeom prst="rect">
            <a:avLst/>
          </a:prstGeom>
          <a:noFill/>
          <a:ln/>
        </p:spPr>
        <p:txBody>
          <a:bodyPr wrap="square" lIns="0" tIns="0" rIns="0" bIns="0" rtlCol="0" anchor="t"/>
          <a:lstStyle/>
          <a:p>
            <a:pPr indent="0" marL="0">
              <a:buNone/>
            </a:pPr>
            <a:r>
              <a:rPr lang="en-US" sz="2000" dirty="0">
                <a:solidFill>
                  <a:srgbClr val="121614"/>
                </a:solidFill>
                <a:latin typeface="Arial" pitchFamily="34" charset="0"/>
                <a:ea typeface="Arial" pitchFamily="34" charset="-122"/>
                <a:cs typeface="Arial" pitchFamily="34" charset="-120"/>
              </a:rPr>
              <a:t>a graph of what you learned, ready to use tomorrow</a:t>
            </a:r>
            <a:endParaRPr lang="en-US" sz="2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45C57"/>
                </a:solidFill>
                <a:latin typeface="Arial"/>
                <a:ea typeface="Arial"/>
                <a:cs typeface="Aria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914400"/>
          </a:xfrm>
          <a:prstGeom prst="rect">
            <a:avLst/>
          </a:prstGeom>
          <a:noFill/>
          <a:ln/>
        </p:spPr>
        <p:txBody>
          <a:bodyPr wrap="square" lIns="0" tIns="0" rIns="0" bIns="0" rtlCol="0" anchor="t"/>
          <a:lstStyle/>
          <a:p>
            <a:pPr algn="l" indent="0" marL="0">
              <a:buNone/>
            </a:pPr>
            <a:r>
              <a:rPr lang="en-US" sz="3600" b="1" dirty="0">
                <a:solidFill>
                  <a:srgbClr val="121614"/>
                </a:solidFill>
                <a:latin typeface="Bricolage Grotesque" pitchFamily="34" charset="0"/>
                <a:ea typeface="Bricolage Grotesque" pitchFamily="34" charset="-122"/>
                <a:cs typeface="Bricolage Grotesque" pitchFamily="34" charset="-120"/>
              </a:rPr>
              <a:t>90 minutes</a:t>
            </a:r>
            <a:endParaRPr lang="en-US" sz="3600" dirty="0"/>
          </a:p>
        </p:txBody>
      </p:sp>
      <p:sp>
        <p:nvSpPr>
          <p:cNvPr id="3" name="bloco-0"/>
          <p:cNvSpPr/>
          <p:nvPr/>
        </p:nvSpPr>
        <p:spPr>
          <a:xfrm>
            <a:off x="548640" y="2011680"/>
            <a:ext cx="570636" cy="1463040"/>
          </a:xfrm>
          <a:prstGeom prst="rect">
            <a:avLst/>
          </a:prstGeom>
          <a:solidFill>
            <a:srgbClr val="D9DAD3"/>
          </a:solidFill>
          <a:ln w="12700">
            <a:solidFill>
              <a:srgbClr val="D9DAD3"/>
            </a:solidFill>
            <a:prstDash val="solid"/>
          </a:ln>
        </p:spPr>
      </p:sp>
      <p:sp>
        <p:nvSpPr>
          <p:cNvPr id="4" name="bloco-min-0"/>
          <p:cNvSpPr txBox="1"/>
          <p:nvPr/>
        </p:nvSpPr>
        <p:spPr>
          <a:xfrm>
            <a:off x="548640" y="3657600"/>
            <a:ext cx="1463040" cy="292608"/>
          </a:xfrm>
          <a:prstGeom prst="rect">
            <a:avLst/>
          </a:prstGeom>
          <a:noFill/>
          <a:ln/>
        </p:spPr>
        <p:txBody>
          <a:bodyPr wrap="square" lIns="0" tIns="0" rIns="0" bIns="0" rtlCol="0" anchor="t"/>
          <a:lstStyle/>
          <a:p>
            <a:pPr indent="0" marL="0">
              <a:buNone/>
            </a:pPr>
            <a:r>
              <a:rPr lang="en-US" sz="1400" dirty="0">
                <a:solidFill>
                  <a:srgbClr val="545C57"/>
                </a:solidFill>
                <a:latin typeface="Arial" pitchFamily="34" charset="0"/>
                <a:ea typeface="Arial" pitchFamily="34" charset="-122"/>
                <a:cs typeface="Arial" pitchFamily="34" charset="-120"/>
              </a:rPr>
              <a:t>0′</a:t>
            </a:r>
            <a:endParaRPr lang="en-US" sz="1400" dirty="0"/>
          </a:p>
        </p:txBody>
      </p:sp>
      <p:sp>
        <p:nvSpPr>
          <p:cNvPr id="5" name="bloco-nome-0"/>
          <p:cNvSpPr txBox="1"/>
          <p:nvPr/>
        </p:nvSpPr>
        <p:spPr>
          <a:xfrm>
            <a:off x="548640" y="3931920"/>
            <a:ext cx="2011680" cy="411480"/>
          </a:xfrm>
          <a:prstGeom prst="rect">
            <a:avLst/>
          </a:prstGeom>
          <a:noFill/>
          <a:ln/>
        </p:spPr>
        <p:txBody>
          <a:bodyPr wrap="square" lIns="0" tIns="0" rIns="0" bIns="0" rtlCol="0" anchor="t"/>
          <a:lstStyle/>
          <a:p>
            <a:pPr indent="0" marL="0">
              <a:buNone/>
            </a:pPr>
            <a:r>
              <a:rPr lang="en-US" sz="1800" b="1" dirty="0">
                <a:solidFill>
                  <a:srgbClr val="121614"/>
                </a:solidFill>
                <a:latin typeface="Bricolage Grotesque" pitchFamily="34" charset="0"/>
                <a:ea typeface="Bricolage Grotesque" pitchFamily="34" charset="-122"/>
                <a:cs typeface="Bricolage Grotesque" pitchFamily="34" charset="-120"/>
              </a:rPr>
              <a:t>Opening</a:t>
            </a:r>
            <a:endParaRPr lang="en-US" sz="1800" dirty="0"/>
          </a:p>
        </p:txBody>
      </p:sp>
      <p:sp>
        <p:nvSpPr>
          <p:cNvPr id="6" name="bloco-1"/>
          <p:cNvSpPr/>
          <p:nvPr/>
        </p:nvSpPr>
        <p:spPr>
          <a:xfrm>
            <a:off x="1164996" y="2011680"/>
            <a:ext cx="570636" cy="1463040"/>
          </a:xfrm>
          <a:prstGeom prst="rect">
            <a:avLst/>
          </a:prstGeom>
          <a:solidFill>
            <a:srgbClr val="F1C232"/>
          </a:solidFill>
          <a:ln w="12700">
            <a:solidFill>
              <a:srgbClr val="F1C232"/>
            </a:solidFill>
            <a:prstDash val="solid"/>
          </a:ln>
        </p:spPr>
      </p:sp>
      <p:sp>
        <p:nvSpPr>
          <p:cNvPr id="7" name="bloco-min-1"/>
          <p:cNvSpPr txBox="1"/>
          <p:nvPr/>
        </p:nvSpPr>
        <p:spPr>
          <a:xfrm>
            <a:off x="1164996" y="4526280"/>
            <a:ext cx="1463040" cy="292608"/>
          </a:xfrm>
          <a:prstGeom prst="rect">
            <a:avLst/>
          </a:prstGeom>
          <a:noFill/>
          <a:ln/>
        </p:spPr>
        <p:txBody>
          <a:bodyPr wrap="square" lIns="0" tIns="0" rIns="0" bIns="0" rtlCol="0" anchor="t"/>
          <a:lstStyle/>
          <a:p>
            <a:pPr indent="0" marL="0">
              <a:buNone/>
            </a:pPr>
            <a:r>
              <a:rPr lang="en-US" sz="1400" dirty="0">
                <a:solidFill>
                  <a:srgbClr val="545C57"/>
                </a:solidFill>
                <a:latin typeface="Arial" pitchFamily="34" charset="0"/>
                <a:ea typeface="Arial" pitchFamily="34" charset="-122"/>
                <a:cs typeface="Arial" pitchFamily="34" charset="-120"/>
              </a:rPr>
              <a:t>5′</a:t>
            </a:r>
            <a:endParaRPr lang="en-US" sz="1400" dirty="0"/>
          </a:p>
        </p:txBody>
      </p:sp>
      <p:sp>
        <p:nvSpPr>
          <p:cNvPr id="8" name="bloco-nome-1"/>
          <p:cNvSpPr txBox="1"/>
          <p:nvPr/>
        </p:nvSpPr>
        <p:spPr>
          <a:xfrm>
            <a:off x="1164996" y="4800600"/>
            <a:ext cx="2011680" cy="411480"/>
          </a:xfrm>
          <a:prstGeom prst="rect">
            <a:avLst/>
          </a:prstGeom>
          <a:noFill/>
          <a:ln/>
        </p:spPr>
        <p:txBody>
          <a:bodyPr wrap="square" lIns="0" tIns="0" rIns="0" bIns="0" rtlCol="0" anchor="t"/>
          <a:lstStyle/>
          <a:p>
            <a:pPr indent="0" marL="0">
              <a:buNone/>
            </a:pPr>
            <a:r>
              <a:rPr lang="en-US" sz="1800" b="1" dirty="0">
                <a:solidFill>
                  <a:srgbClr val="121614"/>
                </a:solidFill>
                <a:latin typeface="Bricolage Grotesque" pitchFamily="34" charset="0"/>
                <a:ea typeface="Bricolage Grotesque" pitchFamily="34" charset="-122"/>
                <a:cs typeface="Bricolage Grotesque" pitchFamily="34" charset="-120"/>
              </a:rPr>
              <a:t>Check</a:t>
            </a:r>
            <a:endParaRPr lang="en-US" sz="1800" dirty="0"/>
          </a:p>
        </p:txBody>
      </p:sp>
      <p:sp>
        <p:nvSpPr>
          <p:cNvPr id="9" name="bloco-2"/>
          <p:cNvSpPr/>
          <p:nvPr/>
        </p:nvSpPr>
        <p:spPr>
          <a:xfrm>
            <a:off x="1781353" y="2011680"/>
            <a:ext cx="1803349" cy="1463040"/>
          </a:xfrm>
          <a:prstGeom prst="rect">
            <a:avLst/>
          </a:prstGeom>
          <a:solidFill>
            <a:srgbClr val="D9DAD3"/>
          </a:solidFill>
          <a:ln w="12700">
            <a:solidFill>
              <a:srgbClr val="D9DAD3"/>
            </a:solidFill>
            <a:prstDash val="solid"/>
          </a:ln>
        </p:spPr>
      </p:sp>
      <p:sp>
        <p:nvSpPr>
          <p:cNvPr id="10" name="bloco-min-2"/>
          <p:cNvSpPr txBox="1"/>
          <p:nvPr/>
        </p:nvSpPr>
        <p:spPr>
          <a:xfrm>
            <a:off x="1781353" y="3657600"/>
            <a:ext cx="1463040" cy="292608"/>
          </a:xfrm>
          <a:prstGeom prst="rect">
            <a:avLst/>
          </a:prstGeom>
          <a:noFill/>
          <a:ln/>
        </p:spPr>
        <p:txBody>
          <a:bodyPr wrap="square" lIns="0" tIns="0" rIns="0" bIns="0" rtlCol="0" anchor="t"/>
          <a:lstStyle/>
          <a:p>
            <a:pPr indent="0" marL="0">
              <a:buNone/>
            </a:pPr>
            <a:r>
              <a:rPr lang="en-US" sz="1400" dirty="0">
                <a:solidFill>
                  <a:srgbClr val="545C57"/>
                </a:solidFill>
                <a:latin typeface="Arial" pitchFamily="34" charset="0"/>
                <a:ea typeface="Arial" pitchFamily="34" charset="-122"/>
                <a:cs typeface="Arial" pitchFamily="34" charset="-120"/>
              </a:rPr>
              <a:t>10′</a:t>
            </a:r>
            <a:endParaRPr lang="en-US" sz="1400" dirty="0"/>
          </a:p>
        </p:txBody>
      </p:sp>
      <p:sp>
        <p:nvSpPr>
          <p:cNvPr id="11" name="bloco-nome-2"/>
          <p:cNvSpPr txBox="1"/>
          <p:nvPr/>
        </p:nvSpPr>
        <p:spPr>
          <a:xfrm>
            <a:off x="1781353" y="3931920"/>
            <a:ext cx="2011680" cy="411480"/>
          </a:xfrm>
          <a:prstGeom prst="rect">
            <a:avLst/>
          </a:prstGeom>
          <a:noFill/>
          <a:ln/>
        </p:spPr>
        <p:txBody>
          <a:bodyPr wrap="square" lIns="0" tIns="0" rIns="0" bIns="0" rtlCol="0" anchor="t"/>
          <a:lstStyle/>
          <a:p>
            <a:pPr indent="0" marL="0">
              <a:buNone/>
            </a:pPr>
            <a:r>
              <a:rPr lang="en-US" sz="1800" b="1" dirty="0">
                <a:solidFill>
                  <a:srgbClr val="121614"/>
                </a:solidFill>
                <a:latin typeface="Bricolage Grotesque" pitchFamily="34" charset="0"/>
                <a:ea typeface="Bricolage Grotesque" pitchFamily="34" charset="-122"/>
                <a:cs typeface="Bricolage Grotesque" pitchFamily="34" charset="-120"/>
              </a:rPr>
              <a:t>Concepts</a:t>
            </a:r>
            <a:endParaRPr lang="en-US" sz="1800" dirty="0"/>
          </a:p>
        </p:txBody>
      </p:sp>
      <p:sp>
        <p:nvSpPr>
          <p:cNvPr id="12" name="bloco-3"/>
          <p:cNvSpPr/>
          <p:nvPr/>
        </p:nvSpPr>
        <p:spPr>
          <a:xfrm>
            <a:off x="3630422" y="2011680"/>
            <a:ext cx="570636" cy="1463040"/>
          </a:xfrm>
          <a:prstGeom prst="rect">
            <a:avLst/>
          </a:prstGeom>
          <a:solidFill>
            <a:srgbClr val="121614"/>
          </a:solidFill>
          <a:ln w="12700">
            <a:solidFill>
              <a:srgbClr val="121614"/>
            </a:solidFill>
            <a:prstDash val="solid"/>
          </a:ln>
        </p:spPr>
      </p:sp>
      <p:sp>
        <p:nvSpPr>
          <p:cNvPr id="13" name="bloco-min-3"/>
          <p:cNvSpPr txBox="1"/>
          <p:nvPr/>
        </p:nvSpPr>
        <p:spPr>
          <a:xfrm>
            <a:off x="3630422" y="4526280"/>
            <a:ext cx="1463040" cy="292608"/>
          </a:xfrm>
          <a:prstGeom prst="rect">
            <a:avLst/>
          </a:prstGeom>
          <a:noFill/>
          <a:ln/>
        </p:spPr>
        <p:txBody>
          <a:bodyPr wrap="square" lIns="0" tIns="0" rIns="0" bIns="0" rtlCol="0" anchor="t"/>
          <a:lstStyle/>
          <a:p>
            <a:pPr indent="0" marL="0">
              <a:buNone/>
            </a:pPr>
            <a:r>
              <a:rPr lang="en-US" sz="1400" dirty="0">
                <a:solidFill>
                  <a:srgbClr val="545C57"/>
                </a:solidFill>
                <a:latin typeface="Arial" pitchFamily="34" charset="0"/>
                <a:ea typeface="Arial" pitchFamily="34" charset="-122"/>
                <a:cs typeface="Arial" pitchFamily="34" charset="-120"/>
              </a:rPr>
              <a:t>25′</a:t>
            </a:r>
            <a:endParaRPr lang="en-US" sz="1400" dirty="0"/>
          </a:p>
        </p:txBody>
      </p:sp>
      <p:sp>
        <p:nvSpPr>
          <p:cNvPr id="14" name="bloco-nome-3"/>
          <p:cNvSpPr txBox="1"/>
          <p:nvPr/>
        </p:nvSpPr>
        <p:spPr>
          <a:xfrm>
            <a:off x="3630422" y="4800600"/>
            <a:ext cx="2011680" cy="411480"/>
          </a:xfrm>
          <a:prstGeom prst="rect">
            <a:avLst/>
          </a:prstGeom>
          <a:noFill/>
          <a:ln/>
        </p:spPr>
        <p:txBody>
          <a:bodyPr wrap="square" lIns="0" tIns="0" rIns="0" bIns="0" rtlCol="0" anchor="t"/>
          <a:lstStyle/>
          <a:p>
            <a:pPr indent="0" marL="0">
              <a:buNone/>
            </a:pPr>
            <a:r>
              <a:rPr lang="en-US" sz="1800" b="1" dirty="0">
                <a:solidFill>
                  <a:srgbClr val="121614"/>
                </a:solidFill>
                <a:latin typeface="Bricolage Grotesque" pitchFamily="34" charset="0"/>
                <a:ea typeface="Bricolage Grotesque" pitchFamily="34" charset="-122"/>
                <a:cs typeface="Bricolage Grotesque" pitchFamily="34" charset="-120"/>
              </a:rPr>
              <a:t>Preview</a:t>
            </a:r>
            <a:endParaRPr lang="en-US" sz="1800" dirty="0"/>
          </a:p>
        </p:txBody>
      </p:sp>
      <p:sp>
        <p:nvSpPr>
          <p:cNvPr id="15" name="bloco-4"/>
          <p:cNvSpPr/>
          <p:nvPr/>
        </p:nvSpPr>
        <p:spPr>
          <a:xfrm>
            <a:off x="4246778" y="2011680"/>
            <a:ext cx="3036062" cy="1463040"/>
          </a:xfrm>
          <a:prstGeom prst="rect">
            <a:avLst/>
          </a:prstGeom>
          <a:solidFill>
            <a:srgbClr val="1E9E57"/>
          </a:solidFill>
          <a:ln w="12700">
            <a:solidFill>
              <a:srgbClr val="1E9E57"/>
            </a:solidFill>
            <a:prstDash val="solid"/>
          </a:ln>
        </p:spPr>
      </p:sp>
      <p:sp>
        <p:nvSpPr>
          <p:cNvPr id="16" name="bloco-min-4"/>
          <p:cNvSpPr txBox="1"/>
          <p:nvPr/>
        </p:nvSpPr>
        <p:spPr>
          <a:xfrm>
            <a:off x="4246778" y="3657600"/>
            <a:ext cx="1463040" cy="292608"/>
          </a:xfrm>
          <a:prstGeom prst="rect">
            <a:avLst/>
          </a:prstGeom>
          <a:noFill/>
          <a:ln/>
        </p:spPr>
        <p:txBody>
          <a:bodyPr wrap="square" lIns="0" tIns="0" rIns="0" bIns="0" rtlCol="0" anchor="t"/>
          <a:lstStyle/>
          <a:p>
            <a:pPr indent="0" marL="0">
              <a:buNone/>
            </a:pPr>
            <a:r>
              <a:rPr lang="en-US" sz="1400" dirty="0">
                <a:solidFill>
                  <a:srgbClr val="545C57"/>
                </a:solidFill>
                <a:latin typeface="Arial" pitchFamily="34" charset="0"/>
                <a:ea typeface="Arial" pitchFamily="34" charset="-122"/>
                <a:cs typeface="Arial" pitchFamily="34" charset="-120"/>
              </a:rPr>
              <a:t>30′</a:t>
            </a:r>
            <a:endParaRPr lang="en-US" sz="1400" dirty="0"/>
          </a:p>
        </p:txBody>
      </p:sp>
      <p:sp>
        <p:nvSpPr>
          <p:cNvPr id="17" name="bloco-nome-4"/>
          <p:cNvSpPr txBox="1"/>
          <p:nvPr/>
        </p:nvSpPr>
        <p:spPr>
          <a:xfrm>
            <a:off x="4246778" y="3931920"/>
            <a:ext cx="2011680" cy="411480"/>
          </a:xfrm>
          <a:prstGeom prst="rect">
            <a:avLst/>
          </a:prstGeom>
          <a:noFill/>
          <a:ln/>
        </p:spPr>
        <p:txBody>
          <a:bodyPr wrap="square" lIns="0" tIns="0" rIns="0" bIns="0" rtlCol="0" anchor="t"/>
          <a:lstStyle/>
          <a:p>
            <a:pPr indent="0" marL="0">
              <a:buNone/>
            </a:pPr>
            <a:r>
              <a:rPr lang="en-US" sz="1800" b="1" dirty="0">
                <a:solidFill>
                  <a:srgbClr val="121614"/>
                </a:solidFill>
                <a:latin typeface="Bricolage Grotesque" pitchFamily="34" charset="0"/>
                <a:ea typeface="Bricolage Grotesque" pitchFamily="34" charset="-122"/>
                <a:cs typeface="Bricolage Grotesque" pitchFamily="34" charset="-120"/>
              </a:rPr>
              <a:t>Project 1</a:t>
            </a:r>
            <a:endParaRPr lang="en-US" sz="1800" dirty="0"/>
          </a:p>
        </p:txBody>
      </p:sp>
      <p:sp>
        <p:nvSpPr>
          <p:cNvPr id="18" name="bloco-5"/>
          <p:cNvSpPr/>
          <p:nvPr/>
        </p:nvSpPr>
        <p:spPr>
          <a:xfrm>
            <a:off x="7328560" y="2011680"/>
            <a:ext cx="570636" cy="1463040"/>
          </a:xfrm>
          <a:prstGeom prst="rect">
            <a:avLst/>
          </a:prstGeom>
          <a:solidFill>
            <a:srgbClr val="D9DAD3"/>
          </a:solidFill>
          <a:ln w="12700">
            <a:solidFill>
              <a:srgbClr val="D9DAD3"/>
            </a:solidFill>
            <a:prstDash val="solid"/>
          </a:ln>
        </p:spPr>
      </p:sp>
      <p:sp>
        <p:nvSpPr>
          <p:cNvPr id="19" name="bloco-min-5"/>
          <p:cNvSpPr txBox="1"/>
          <p:nvPr/>
        </p:nvSpPr>
        <p:spPr>
          <a:xfrm>
            <a:off x="7328560" y="4526280"/>
            <a:ext cx="1463040" cy="292608"/>
          </a:xfrm>
          <a:prstGeom prst="rect">
            <a:avLst/>
          </a:prstGeom>
          <a:noFill/>
          <a:ln/>
        </p:spPr>
        <p:txBody>
          <a:bodyPr wrap="square" lIns="0" tIns="0" rIns="0" bIns="0" rtlCol="0" anchor="t"/>
          <a:lstStyle/>
          <a:p>
            <a:pPr indent="0" marL="0">
              <a:buNone/>
            </a:pPr>
            <a:r>
              <a:rPr lang="en-US" sz="1400" dirty="0">
                <a:solidFill>
                  <a:srgbClr val="545C57"/>
                </a:solidFill>
                <a:latin typeface="Arial" pitchFamily="34" charset="0"/>
                <a:ea typeface="Arial" pitchFamily="34" charset="-122"/>
                <a:cs typeface="Arial" pitchFamily="34" charset="-120"/>
              </a:rPr>
              <a:t>55′</a:t>
            </a:r>
            <a:endParaRPr lang="en-US" sz="1400" dirty="0"/>
          </a:p>
        </p:txBody>
      </p:sp>
      <p:sp>
        <p:nvSpPr>
          <p:cNvPr id="20" name="bloco-nome-5"/>
          <p:cNvSpPr txBox="1"/>
          <p:nvPr/>
        </p:nvSpPr>
        <p:spPr>
          <a:xfrm>
            <a:off x="7328560" y="4800600"/>
            <a:ext cx="2011680" cy="411480"/>
          </a:xfrm>
          <a:prstGeom prst="rect">
            <a:avLst/>
          </a:prstGeom>
          <a:noFill/>
          <a:ln/>
        </p:spPr>
        <p:txBody>
          <a:bodyPr wrap="square" lIns="0" tIns="0" rIns="0" bIns="0" rtlCol="0" anchor="t"/>
          <a:lstStyle/>
          <a:p>
            <a:pPr indent="0" marL="0">
              <a:buNone/>
            </a:pPr>
            <a:r>
              <a:rPr lang="en-US" sz="1800" b="1" dirty="0">
                <a:solidFill>
                  <a:srgbClr val="121614"/>
                </a:solidFill>
                <a:latin typeface="Bricolage Grotesque" pitchFamily="34" charset="0"/>
                <a:ea typeface="Bricolage Grotesque" pitchFamily="34" charset="-122"/>
                <a:cs typeface="Bricolage Grotesque" pitchFamily="34" charset="-120"/>
              </a:rPr>
              <a:t>Memory</a:t>
            </a:r>
            <a:endParaRPr lang="en-US" sz="1800" dirty="0"/>
          </a:p>
        </p:txBody>
      </p:sp>
      <p:sp>
        <p:nvSpPr>
          <p:cNvPr id="21" name="bloco-6"/>
          <p:cNvSpPr/>
          <p:nvPr/>
        </p:nvSpPr>
        <p:spPr>
          <a:xfrm>
            <a:off x="7944917" y="2011680"/>
            <a:ext cx="3036062" cy="1463040"/>
          </a:xfrm>
          <a:prstGeom prst="rect">
            <a:avLst/>
          </a:prstGeom>
          <a:solidFill>
            <a:srgbClr val="1A4BE0"/>
          </a:solidFill>
          <a:ln w="12700">
            <a:solidFill>
              <a:srgbClr val="1A4BE0"/>
            </a:solidFill>
            <a:prstDash val="solid"/>
          </a:ln>
        </p:spPr>
      </p:sp>
      <p:sp>
        <p:nvSpPr>
          <p:cNvPr id="22" name="bloco-min-6"/>
          <p:cNvSpPr txBox="1"/>
          <p:nvPr/>
        </p:nvSpPr>
        <p:spPr>
          <a:xfrm>
            <a:off x="7944917" y="3657600"/>
            <a:ext cx="1463040" cy="292608"/>
          </a:xfrm>
          <a:prstGeom prst="rect">
            <a:avLst/>
          </a:prstGeom>
          <a:noFill/>
          <a:ln/>
        </p:spPr>
        <p:txBody>
          <a:bodyPr wrap="square" lIns="0" tIns="0" rIns="0" bIns="0" rtlCol="0" anchor="t"/>
          <a:lstStyle/>
          <a:p>
            <a:pPr indent="0" marL="0">
              <a:buNone/>
            </a:pPr>
            <a:r>
              <a:rPr lang="en-US" sz="1400" dirty="0">
                <a:solidFill>
                  <a:srgbClr val="545C57"/>
                </a:solidFill>
                <a:latin typeface="Arial" pitchFamily="34" charset="0"/>
                <a:ea typeface="Arial" pitchFamily="34" charset="-122"/>
                <a:cs typeface="Arial" pitchFamily="34" charset="-120"/>
              </a:rPr>
              <a:t>60′</a:t>
            </a:r>
            <a:endParaRPr lang="en-US" sz="1400" dirty="0"/>
          </a:p>
        </p:txBody>
      </p:sp>
      <p:sp>
        <p:nvSpPr>
          <p:cNvPr id="23" name="bloco-nome-6"/>
          <p:cNvSpPr txBox="1"/>
          <p:nvPr/>
        </p:nvSpPr>
        <p:spPr>
          <a:xfrm>
            <a:off x="7944917" y="3931920"/>
            <a:ext cx="2011680" cy="411480"/>
          </a:xfrm>
          <a:prstGeom prst="rect">
            <a:avLst/>
          </a:prstGeom>
          <a:noFill/>
          <a:ln/>
        </p:spPr>
        <p:txBody>
          <a:bodyPr wrap="square" lIns="0" tIns="0" rIns="0" bIns="0" rtlCol="0" anchor="t"/>
          <a:lstStyle/>
          <a:p>
            <a:pPr indent="0" marL="0">
              <a:buNone/>
            </a:pPr>
            <a:r>
              <a:rPr lang="en-US" sz="1800" b="1" dirty="0">
                <a:solidFill>
                  <a:srgbClr val="121614"/>
                </a:solidFill>
                <a:latin typeface="Bricolage Grotesque" pitchFamily="34" charset="0"/>
                <a:ea typeface="Bricolage Grotesque" pitchFamily="34" charset="-122"/>
                <a:cs typeface="Bricolage Grotesque" pitchFamily="34" charset="-120"/>
              </a:rPr>
              <a:t>Project 2</a:t>
            </a:r>
            <a:endParaRPr lang="en-US" sz="1800" dirty="0"/>
          </a:p>
        </p:txBody>
      </p:sp>
      <p:sp>
        <p:nvSpPr>
          <p:cNvPr id="24" name="bloco-7"/>
          <p:cNvSpPr/>
          <p:nvPr/>
        </p:nvSpPr>
        <p:spPr>
          <a:xfrm>
            <a:off x="11026699" y="2011680"/>
            <a:ext cx="570636" cy="1463040"/>
          </a:xfrm>
          <a:prstGeom prst="rect">
            <a:avLst/>
          </a:prstGeom>
          <a:solidFill>
            <a:srgbClr val="D9DAD3"/>
          </a:solidFill>
          <a:ln w="12700">
            <a:solidFill>
              <a:srgbClr val="D9DAD3"/>
            </a:solidFill>
            <a:prstDash val="solid"/>
          </a:ln>
        </p:spPr>
      </p:sp>
      <p:sp>
        <p:nvSpPr>
          <p:cNvPr id="25" name="bloco-min-7"/>
          <p:cNvSpPr txBox="1"/>
          <p:nvPr/>
        </p:nvSpPr>
        <p:spPr>
          <a:xfrm>
            <a:off x="11026699" y="4526280"/>
            <a:ext cx="1463040" cy="292608"/>
          </a:xfrm>
          <a:prstGeom prst="rect">
            <a:avLst/>
          </a:prstGeom>
          <a:noFill/>
          <a:ln/>
        </p:spPr>
        <p:txBody>
          <a:bodyPr wrap="square" lIns="0" tIns="0" rIns="0" bIns="0" rtlCol="0" anchor="t"/>
          <a:lstStyle/>
          <a:p>
            <a:pPr indent="0" marL="0">
              <a:buNone/>
            </a:pPr>
            <a:r>
              <a:rPr lang="en-US" sz="1400" dirty="0">
                <a:solidFill>
                  <a:srgbClr val="545C57"/>
                </a:solidFill>
                <a:latin typeface="Arial" pitchFamily="34" charset="0"/>
                <a:ea typeface="Arial" pitchFamily="34" charset="-122"/>
                <a:cs typeface="Arial" pitchFamily="34" charset="-120"/>
              </a:rPr>
              <a:t>85′</a:t>
            </a:r>
            <a:endParaRPr lang="en-US" sz="1400" dirty="0"/>
          </a:p>
        </p:txBody>
      </p:sp>
      <p:sp>
        <p:nvSpPr>
          <p:cNvPr id="26" name="bloco-nome-7"/>
          <p:cNvSpPr txBox="1"/>
          <p:nvPr/>
        </p:nvSpPr>
        <p:spPr>
          <a:xfrm>
            <a:off x="11026699" y="4800600"/>
            <a:ext cx="2011680" cy="411480"/>
          </a:xfrm>
          <a:prstGeom prst="rect">
            <a:avLst/>
          </a:prstGeom>
          <a:noFill/>
          <a:ln/>
        </p:spPr>
        <p:txBody>
          <a:bodyPr wrap="square" lIns="0" tIns="0" rIns="0" bIns="0" rtlCol="0" anchor="t"/>
          <a:lstStyle/>
          <a:p>
            <a:pPr indent="0" marL="0">
              <a:buNone/>
            </a:pPr>
            <a:r>
              <a:rPr lang="en-US" sz="1800" b="1" dirty="0">
                <a:solidFill>
                  <a:srgbClr val="121614"/>
                </a:solidFill>
                <a:latin typeface="Bricolage Grotesque" pitchFamily="34" charset="0"/>
                <a:ea typeface="Bricolage Grotesque" pitchFamily="34" charset="-122"/>
                <a:cs typeface="Bricolage Grotesque" pitchFamily="34" charset="-120"/>
              </a:rPr>
              <a:t>Wrap-up</a:t>
            </a:r>
            <a:endParaRPr lang="en-US" sz="1800" dirty="0"/>
          </a:p>
        </p:txBody>
      </p:sp>
      <p:sp>
        <p:nvSpPr>
          <p:cNvPr id="27" name="agenda-fim"/>
          <p:cNvSpPr txBox="1"/>
          <p:nvPr/>
        </p:nvSpPr>
        <p:spPr>
          <a:xfrm>
            <a:off x="7528255" y="5669280"/>
            <a:ext cx="4114800" cy="365760"/>
          </a:xfrm>
          <a:prstGeom prst="rect">
            <a:avLst/>
          </a:prstGeom>
          <a:noFill/>
          <a:ln/>
        </p:spPr>
        <p:txBody>
          <a:bodyPr wrap="square" lIns="0" tIns="0" rIns="0" bIns="0" rtlCol="0" anchor="t"/>
          <a:lstStyle/>
          <a:p>
            <a:pPr algn="r" indent="0" marL="0">
              <a:buNone/>
            </a:pPr>
            <a:r>
              <a:rPr lang="en-US" sz="1400" dirty="0">
                <a:solidFill>
                  <a:srgbClr val="545C57"/>
                </a:solidFill>
                <a:latin typeface="Arial" pitchFamily="34" charset="0"/>
                <a:ea typeface="Arial" pitchFamily="34" charset="-122"/>
                <a:cs typeface="Arial" pitchFamily="34" charset="-120"/>
              </a:rPr>
              <a:t>90′, then questions, no time limit</a:t>
            </a:r>
            <a:endParaRPr lang="en-US" sz="1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45C57"/>
                </a:solidFill>
                <a:latin typeface="Arial"/>
                <a:ea typeface="Arial"/>
                <a:cs typeface="Aria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914400"/>
          </a:xfrm>
          <a:prstGeom prst="rect">
            <a:avLst/>
          </a:prstGeom>
          <a:noFill/>
          <a:ln/>
        </p:spPr>
        <p:txBody>
          <a:bodyPr wrap="square" lIns="0" tIns="0" rIns="0" bIns="0" rtlCol="0" anchor="t"/>
          <a:lstStyle/>
          <a:p>
            <a:pPr algn="l" indent="0" marL="0">
              <a:buNone/>
            </a:pPr>
            <a:r>
              <a:rPr lang="en-US" sz="3600" b="1" dirty="0">
                <a:solidFill>
                  <a:srgbClr val="121614"/>
                </a:solidFill>
                <a:latin typeface="Bricolage Grotesque" pitchFamily="34" charset="0"/>
                <a:ea typeface="Bricolage Grotesque" pitchFamily="34" charset="-122"/>
                <a:cs typeface="Bricolage Grotesque" pitchFamily="34" charset="-120"/>
              </a:rPr>
              <a:t>The cost rules</a:t>
            </a:r>
            <a:endParaRPr lang="en-US" sz="3600" dirty="0"/>
          </a:p>
        </p:txBody>
      </p:sp>
      <p:sp>
        <p:nvSpPr>
          <p:cNvPr id="3" name="stat-0"/>
          <p:cNvSpPr/>
          <p:nvPr/>
        </p:nvSpPr>
        <p:spPr>
          <a:xfrm>
            <a:off x="548640" y="1737360"/>
            <a:ext cx="3484778" cy="3291840"/>
          </a:xfrm>
          <a:prstGeom prst="rect">
            <a:avLst/>
          </a:prstGeom>
          <a:solidFill>
            <a:srgbClr val="121614"/>
          </a:solidFill>
          <a:ln w="12700">
            <a:solidFill>
              <a:srgbClr val="121614"/>
            </a:solidFill>
            <a:prstDash val="solid"/>
          </a:ln>
        </p:spPr>
      </p:sp>
      <p:sp>
        <p:nvSpPr>
          <p:cNvPr id="4" name="stat-valor-0"/>
          <p:cNvSpPr txBox="1"/>
          <p:nvPr/>
        </p:nvSpPr>
        <p:spPr>
          <a:xfrm>
            <a:off x="868680" y="2057400"/>
            <a:ext cx="2844698" cy="1280160"/>
          </a:xfrm>
          <a:prstGeom prst="rect">
            <a:avLst/>
          </a:prstGeom>
          <a:noFill/>
          <a:ln/>
        </p:spPr>
        <p:txBody>
          <a:bodyPr wrap="square" lIns="0" tIns="0" rIns="0" bIns="0" rtlCol="0" anchor="t">
            <a:normAutofit/>
          </a:bodyPr>
          <a:lstStyle/>
          <a:p>
            <a:pPr indent="0" marL="0">
              <a:buNone/>
            </a:pPr>
            <a:r>
              <a:rPr lang="en-US" sz="6000" b="1" dirty="0">
                <a:solidFill>
                  <a:srgbClr val="E8EDE9"/>
                </a:solidFill>
                <a:latin typeface="Bricolage Grotesque" pitchFamily="34" charset="0"/>
                <a:ea typeface="Bricolage Grotesque" pitchFamily="34" charset="-122"/>
                <a:cs typeface="Bricolage Grotesque" pitchFamily="34" charset="-120"/>
              </a:rPr>
              <a:t>US$ 5</a:t>
            </a:r>
            <a:endParaRPr lang="en-US" sz="6000" dirty="0"/>
          </a:p>
        </p:txBody>
      </p:sp>
      <p:sp>
        <p:nvSpPr>
          <p:cNvPr id="5" name="stat-rotulo-0"/>
          <p:cNvSpPr txBox="1"/>
          <p:nvPr/>
        </p:nvSpPr>
        <p:spPr>
          <a:xfrm>
            <a:off x="868680" y="3474720"/>
            <a:ext cx="2844698" cy="1371600"/>
          </a:xfrm>
          <a:prstGeom prst="rect">
            <a:avLst/>
          </a:prstGeom>
          <a:noFill/>
          <a:ln/>
        </p:spPr>
        <p:txBody>
          <a:bodyPr wrap="square" lIns="0" tIns="0" rIns="0" bIns="0" rtlCol="0" anchor="t"/>
          <a:lstStyle/>
          <a:p>
            <a:pPr indent="0" marL="0">
              <a:buNone/>
            </a:pPr>
            <a:r>
              <a:rPr lang="en-US" sz="1800" dirty="0">
                <a:solidFill>
                  <a:srgbClr val="9BA59F"/>
                </a:solidFill>
                <a:latin typeface="Arial" pitchFamily="34" charset="0"/>
                <a:ea typeface="Arial" pitchFamily="34" charset="-122"/>
                <a:cs typeface="Arial" pitchFamily="34" charset="-120"/>
              </a:rPr>
              <a:t>target per person, for everything you do today</a:t>
            </a:r>
            <a:endParaRPr lang="en-US" sz="1800" dirty="0"/>
          </a:p>
        </p:txBody>
      </p:sp>
      <p:sp>
        <p:nvSpPr>
          <p:cNvPr id="6" name="stat-1"/>
          <p:cNvSpPr/>
          <p:nvPr/>
        </p:nvSpPr>
        <p:spPr>
          <a:xfrm>
            <a:off x="4353458" y="1737360"/>
            <a:ext cx="3484778" cy="3291840"/>
          </a:xfrm>
          <a:prstGeom prst="rect">
            <a:avLst/>
          </a:prstGeom>
          <a:solidFill>
            <a:srgbClr val="E6E6E1"/>
          </a:solidFill>
          <a:ln w="12700">
            <a:solidFill>
              <a:srgbClr val="E6E6E1"/>
            </a:solidFill>
            <a:prstDash val="solid"/>
          </a:ln>
        </p:spPr>
      </p:sp>
      <p:sp>
        <p:nvSpPr>
          <p:cNvPr id="7" name="stat-valor-1"/>
          <p:cNvSpPr txBox="1"/>
          <p:nvPr/>
        </p:nvSpPr>
        <p:spPr>
          <a:xfrm>
            <a:off x="4673498" y="2057400"/>
            <a:ext cx="2844698" cy="1280160"/>
          </a:xfrm>
          <a:prstGeom prst="rect">
            <a:avLst/>
          </a:prstGeom>
          <a:noFill/>
          <a:ln/>
        </p:spPr>
        <p:txBody>
          <a:bodyPr wrap="square" lIns="0" tIns="0" rIns="0" bIns="0" rtlCol="0" anchor="t">
            <a:normAutofit/>
          </a:bodyPr>
          <a:lstStyle/>
          <a:p>
            <a:pPr indent="0" marL="0">
              <a:buNone/>
            </a:pPr>
            <a:r>
              <a:rPr lang="en-US" sz="6000" b="1" dirty="0">
                <a:solidFill>
                  <a:srgbClr val="121614"/>
                </a:solidFill>
                <a:latin typeface="Bricolage Grotesque" pitchFamily="34" charset="0"/>
                <a:ea typeface="Bricolage Grotesque" pitchFamily="34" charset="-122"/>
                <a:cs typeface="Bricolage Grotesque" pitchFamily="34" charset="-120"/>
              </a:rPr>
              <a:t>US$ 10</a:t>
            </a:r>
            <a:endParaRPr lang="en-US" sz="6000" dirty="0"/>
          </a:p>
        </p:txBody>
      </p:sp>
      <p:sp>
        <p:nvSpPr>
          <p:cNvPr id="8" name="stat-rotulo-1"/>
          <p:cNvSpPr txBox="1"/>
          <p:nvPr/>
        </p:nvSpPr>
        <p:spPr>
          <a:xfrm>
            <a:off x="4673498" y="3474720"/>
            <a:ext cx="2844698" cy="1371600"/>
          </a:xfrm>
          <a:prstGeom prst="rect">
            <a:avLst/>
          </a:prstGeom>
          <a:noFill/>
          <a:ln/>
        </p:spPr>
        <p:txBody>
          <a:bodyPr wrap="square" lIns="0" tIns="0" rIns="0" bIns="0" rtlCol="0" anchor="t"/>
          <a:lstStyle/>
          <a:p>
            <a:pPr indent="0" marL="0">
              <a:buNone/>
            </a:pPr>
            <a:r>
              <a:rPr lang="en-US" sz="1800" dirty="0">
                <a:solidFill>
                  <a:srgbClr val="545C57"/>
                </a:solidFill>
                <a:latin typeface="Arial" pitchFamily="34" charset="0"/>
                <a:ea typeface="Arial" pitchFamily="34" charset="-122"/>
                <a:cs typeface="Arial" pitchFamily="34" charset="-120"/>
              </a:rPr>
              <a:t>safety cap, never the goal</a:t>
            </a:r>
            <a:endParaRPr lang="en-US" sz="1800" dirty="0"/>
          </a:p>
        </p:txBody>
      </p:sp>
      <p:sp>
        <p:nvSpPr>
          <p:cNvPr id="9" name="stat-2"/>
          <p:cNvSpPr/>
          <p:nvPr/>
        </p:nvSpPr>
        <p:spPr>
          <a:xfrm>
            <a:off x="8158277" y="1737360"/>
            <a:ext cx="3484778" cy="3291840"/>
          </a:xfrm>
          <a:prstGeom prst="rect">
            <a:avLst/>
          </a:prstGeom>
          <a:solidFill>
            <a:srgbClr val="E6E6E1"/>
          </a:solidFill>
          <a:ln w="12700">
            <a:solidFill>
              <a:srgbClr val="E6E6E1"/>
            </a:solidFill>
            <a:prstDash val="solid"/>
          </a:ln>
        </p:spPr>
      </p:sp>
      <p:sp>
        <p:nvSpPr>
          <p:cNvPr id="10" name="stat-valor-2"/>
          <p:cNvSpPr txBox="1"/>
          <p:nvPr/>
        </p:nvSpPr>
        <p:spPr>
          <a:xfrm>
            <a:off x="8478317" y="2057400"/>
            <a:ext cx="2844698" cy="1280160"/>
          </a:xfrm>
          <a:prstGeom prst="rect">
            <a:avLst/>
          </a:prstGeom>
          <a:noFill/>
          <a:ln/>
        </p:spPr>
        <p:txBody>
          <a:bodyPr wrap="square" lIns="0" tIns="0" rIns="0" bIns="0" rtlCol="0" anchor="t">
            <a:normAutofit/>
          </a:bodyPr>
          <a:lstStyle/>
          <a:p>
            <a:pPr indent="0" marL="0">
              <a:buNone/>
            </a:pPr>
            <a:r>
              <a:rPr lang="en-US" sz="6000" b="1" dirty="0">
                <a:solidFill>
                  <a:srgbClr val="121614"/>
                </a:solidFill>
                <a:latin typeface="Bricolage Grotesque" pitchFamily="34" charset="0"/>
                <a:ea typeface="Bricolage Grotesque" pitchFamily="34" charset="-122"/>
                <a:cs typeface="Bricolage Grotesque" pitchFamily="34" charset="-120"/>
              </a:rPr>
              <a:t>0</a:t>
            </a:r>
            <a:endParaRPr lang="en-US" sz="6000" dirty="0"/>
          </a:p>
        </p:txBody>
      </p:sp>
      <p:sp>
        <p:nvSpPr>
          <p:cNvPr id="11" name="stat-rotulo-2"/>
          <p:cNvSpPr txBox="1"/>
          <p:nvPr/>
        </p:nvSpPr>
        <p:spPr>
          <a:xfrm>
            <a:off x="8478317" y="3474720"/>
            <a:ext cx="2844698" cy="1371600"/>
          </a:xfrm>
          <a:prstGeom prst="rect">
            <a:avLst/>
          </a:prstGeom>
          <a:noFill/>
          <a:ln/>
        </p:spPr>
        <p:txBody>
          <a:bodyPr wrap="square" lIns="0" tIns="0" rIns="0" bIns="0" rtlCol="0" anchor="t"/>
          <a:lstStyle/>
          <a:p>
            <a:pPr indent="0" marL="0">
              <a:buNone/>
            </a:pPr>
            <a:r>
              <a:rPr lang="en-US" sz="1800" dirty="0">
                <a:solidFill>
                  <a:srgbClr val="545C57"/>
                </a:solidFill>
                <a:latin typeface="Arial" pitchFamily="34" charset="0"/>
                <a:ea typeface="Arial" pitchFamily="34" charset="-122"/>
                <a:cs typeface="Arial" pitchFamily="34" charset="-120"/>
              </a:rPr>
              <a:t>sessions stopped because of cost</a:t>
            </a:r>
            <a:endParaRPr lang="en-US" sz="1800" dirty="0"/>
          </a:p>
        </p:txBody>
      </p:sp>
      <p:sp>
        <p:nvSpPr>
          <p:cNvPr id="12" name="rodape"/>
          <p:cNvSpPr txBox="1"/>
          <p:nvPr/>
        </p:nvSpPr>
        <p:spPr>
          <a:xfrm>
            <a:off x="548640" y="5349240"/>
            <a:ext cx="11094415" cy="640080"/>
          </a:xfrm>
          <a:prstGeom prst="rect">
            <a:avLst/>
          </a:prstGeom>
          <a:noFill/>
          <a:ln/>
        </p:spPr>
        <p:txBody>
          <a:bodyPr wrap="square" lIns="0" tIns="0" rIns="0" bIns="0" rtlCol="0" anchor="t"/>
          <a:lstStyle/>
          <a:p>
            <a:pPr indent="0" marL="0">
              <a:buNone/>
            </a:pPr>
            <a:r>
              <a:rPr lang="en-US" sz="1600" dirty="0">
                <a:solidFill>
                  <a:srgbClr val="121614"/>
                </a:solidFill>
                <a:latin typeface="Arial" pitchFamily="34" charset="0"/>
                <a:ea typeface="Arial" pitchFamily="34" charset="-122"/>
                <a:cs typeface="Arial" pitchFamily="34" charset="-120"/>
              </a:rPr>
              <a:t>Measured over 10 real runs: average US$ 1.03, maximum US$ 1.12.</a:t>
            </a:r>
            <a:endParaRPr lang="en-US" sz="16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45C57"/>
                </a:solidFill>
                <a:latin typeface="Arial"/>
                <a:ea typeface="Arial"/>
                <a:cs typeface="Aria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faca-rotulo"/>
          <p:cNvSpPr txBox="1"/>
          <p:nvPr/>
        </p:nvSpPr>
        <p:spPr>
          <a:xfrm>
            <a:off x="548640" y="411480"/>
            <a:ext cx="5486400" cy="411480"/>
          </a:xfrm>
          <a:prstGeom prst="rect">
            <a:avLst/>
          </a:prstGeom>
          <a:noFill/>
          <a:ln/>
        </p:spPr>
        <p:txBody>
          <a:bodyPr wrap="square" lIns="0" tIns="0" rIns="0" bIns="0" rtlCol="0" anchor="t"/>
          <a:lstStyle/>
          <a:p>
            <a:pPr indent="0" marL="0">
              <a:buNone/>
            </a:pPr>
            <a:r>
              <a:rPr lang="en-US" sz="2000" b="1" dirty="0">
                <a:solidFill>
                  <a:srgbClr val="121614"/>
                </a:solidFill>
                <a:latin typeface="Bricolage Grotesque" pitchFamily="34" charset="0"/>
                <a:ea typeface="Bricolage Grotesque" pitchFamily="34" charset="-122"/>
                <a:cs typeface="Bricolage Grotesque" pitchFamily="34" charset="-120"/>
              </a:rPr>
              <a:t>Do it now · 3 min</a:t>
            </a:r>
            <a:endParaRPr lang="en-US" sz="2000" dirty="0"/>
          </a:p>
        </p:txBody>
      </p:sp>
      <p:sp>
        <p:nvSpPr>
          <p:cNvPr id="3" name="Text 0"/>
          <p:cNvSpPr/>
          <p:nvPr>
            <p:ph idx="100" type="title" hasCustomPrompt="1"/>
          </p:nvPr>
        </p:nvSpPr>
        <p:spPr>
          <a:xfrm>
            <a:off x="548640" y="868680"/>
            <a:ext cx="11094415" cy="868680"/>
          </a:xfrm>
          <a:prstGeom prst="rect">
            <a:avLst/>
          </a:prstGeom>
          <a:noFill/>
          <a:ln/>
        </p:spPr>
        <p:txBody>
          <a:bodyPr wrap="square" lIns="0" tIns="0" rIns="0" bIns="0" rtlCol="0" anchor="t"/>
          <a:lstStyle/>
          <a:p>
            <a:pPr algn="l" indent="0" marL="0">
              <a:buNone/>
            </a:pPr>
            <a:r>
              <a:rPr lang="en-US" sz="3800" b="1" dirty="0">
                <a:solidFill>
                  <a:srgbClr val="121614"/>
                </a:solidFill>
                <a:latin typeface="Bricolage Grotesque" pitchFamily="34" charset="0"/>
                <a:ea typeface="Bricolage Grotesque" pitchFamily="34" charset="-122"/>
                <a:cs typeface="Bricolage Grotesque" pitchFamily="34" charset="-120"/>
              </a:rPr>
              <a:t>Check your installation</a:t>
            </a:r>
            <a:endParaRPr lang="en-US" sz="3800" dirty="0"/>
          </a:p>
        </p:txBody>
      </p:sp>
      <p:sp>
        <p:nvSpPr>
          <p:cNvPr id="4" name="faca-passos"/>
          <p:cNvSpPr txBox="1"/>
          <p:nvPr/>
        </p:nvSpPr>
        <p:spPr>
          <a:xfrm>
            <a:off x="548640" y="1920240"/>
            <a:ext cx="4023360" cy="329184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21614"/>
                </a:solidFill>
                <a:latin typeface="Arial" pitchFamily="34" charset="0"/>
                <a:ea typeface="Arial" pitchFamily="34" charset="-122"/>
                <a:cs typeface="Arial" pitchFamily="34" charset="-120"/>
              </a:rPr>
              <a:t>Open a terminal</a:t>
            </a:r>
            <a:endParaRPr lang="en-US" sz="2000" dirty="0"/>
          </a:p>
          <a:p>
            <a:pPr marL="342900" indent="-342900">
              <a:spcAft>
                <a:spcPts val="1200"/>
              </a:spcAft>
              <a:buSzPct val="100000"/>
              <a:buFont typeface="+mj-lt"/>
              <a:buAutoNum type="arabicPeriod" startAt="1"/>
            </a:pPr>
            <a:r>
              <a:rPr lang="en-US" sz="2000" dirty="0">
                <a:solidFill>
                  <a:srgbClr val="121614"/>
                </a:solidFill>
                <a:latin typeface="Arial" pitchFamily="34" charset="0"/>
                <a:ea typeface="Arial" pitchFamily="34" charset="-122"/>
                <a:cs typeface="Arial" pitchFamily="34" charset="-120"/>
              </a:rPr>
              <a:t>Run the command for your system</a:t>
            </a:r>
            <a:endParaRPr lang="en-US" sz="2000" dirty="0"/>
          </a:p>
          <a:p>
            <a:pPr marL="342900" indent="-342900">
              <a:spcAft>
                <a:spcPts val="1200"/>
              </a:spcAft>
              <a:buSzPct val="100000"/>
              <a:buFont typeface="+mj-lt"/>
              <a:buAutoNum type="arabicPeriod" startAt="1"/>
            </a:pPr>
            <a:r>
              <a:rPr lang="en-US" sz="2000" dirty="0">
                <a:solidFill>
                  <a:srgbClr val="121614"/>
                </a:solidFill>
                <a:latin typeface="Arial" pitchFamily="34" charset="0"/>
                <a:ea typeface="Arial" pitchFamily="34" charset="-122"/>
                <a:cs typeface="Arial" pitchFamily="34" charset="-120"/>
              </a:rPr>
              <a:t>Wait for the summary table</a:t>
            </a:r>
            <a:endParaRPr lang="en-US" sz="2000" dirty="0"/>
          </a:p>
        </p:txBody>
      </p:sp>
      <p:sp>
        <p:nvSpPr>
          <p:cNvPr id="5" name="codigo-fundo"/>
          <p:cNvSpPr/>
          <p:nvPr/>
        </p:nvSpPr>
        <p:spPr>
          <a:xfrm>
            <a:off x="4937760" y="1920240"/>
            <a:ext cx="6705295" cy="1017727"/>
          </a:xfrm>
          <a:prstGeom prst="rect">
            <a:avLst/>
          </a:prstGeom>
          <a:solidFill>
            <a:srgbClr val="121614"/>
          </a:solidFill>
          <a:ln w="12700">
            <a:solidFill>
              <a:srgbClr val="121614"/>
            </a:solidFill>
            <a:prstDash val="solid"/>
          </a:ln>
        </p:spPr>
      </p:sp>
      <p:sp>
        <p:nvSpPr>
          <p:cNvPr id="6" name="codigo-rotulo"/>
          <p:cNvSpPr txBox="1"/>
          <p:nvPr/>
        </p:nvSpPr>
        <p:spPr>
          <a:xfrm>
            <a:off x="5166360" y="2103120"/>
            <a:ext cx="6248095" cy="274320"/>
          </a:xfrm>
          <a:prstGeom prst="rect">
            <a:avLst/>
          </a:prstGeom>
          <a:noFill/>
          <a:ln/>
        </p:spPr>
        <p:txBody>
          <a:bodyPr wrap="square" lIns="0" tIns="0" rIns="0" bIns="0" rtlCol="0" anchor="t"/>
          <a:lstStyle/>
          <a:p>
            <a:pPr indent="0" marL="0">
              <a:buNone/>
            </a:pPr>
            <a:r>
              <a:rPr lang="en-US" sz="1300" b="1" dirty="0">
                <a:solidFill>
                  <a:srgbClr val="F1C232"/>
                </a:solidFill>
                <a:latin typeface="Arial" pitchFamily="34" charset="0"/>
                <a:ea typeface="Arial" pitchFamily="34" charset="-122"/>
                <a:cs typeface="Arial" pitchFamily="34" charset="-120"/>
              </a:rPr>
              <a:t>Mac</a:t>
            </a:r>
            <a:endParaRPr lang="en-US" sz="1300" dirty="0"/>
          </a:p>
        </p:txBody>
      </p:sp>
      <p:sp>
        <p:nvSpPr>
          <p:cNvPr id="7" name="codigo"/>
          <p:cNvSpPr txBox="1"/>
          <p:nvPr/>
        </p:nvSpPr>
        <p:spPr>
          <a:xfrm>
            <a:off x="5166360" y="2450592"/>
            <a:ext cx="6248095" cy="350215"/>
          </a:xfrm>
          <a:prstGeom prst="rect">
            <a:avLst/>
          </a:prstGeom>
          <a:noFill/>
          <a:ln/>
        </p:spPr>
        <p:txBody>
          <a:bodyPr wrap="square" lIns="0" tIns="0" rIns="0" bIns="0" rtlCol="0" anchor="t"/>
          <a:lstStyle/>
          <a:p>
            <a:pPr indent="0" marL="0">
              <a:buNone/>
            </a:pPr>
            <a:r>
              <a:rPr lang="en-US" sz="1800" dirty="0">
                <a:solidFill>
                  <a:srgbClr val="E8EDE9"/>
                </a:solidFill>
                <a:latin typeface="Courier New" pitchFamily="34" charset="0"/>
                <a:ea typeface="Courier New" pitchFamily="34" charset="-122"/>
                <a:cs typeface="Courier New" pitchFamily="34" charset="-120"/>
              </a:rPr>
              <a:t>bash ~/.workshop-claude/setup-mac.sh --check</a:t>
            </a:r>
            <a:endParaRPr lang="en-US" sz="1800" dirty="0"/>
          </a:p>
        </p:txBody>
      </p:sp>
      <p:sp>
        <p:nvSpPr>
          <p:cNvPr id="8" name="codigo-fundo"/>
          <p:cNvSpPr/>
          <p:nvPr/>
        </p:nvSpPr>
        <p:spPr>
          <a:xfrm>
            <a:off x="4937760" y="3166567"/>
            <a:ext cx="6705295" cy="1186891"/>
          </a:xfrm>
          <a:prstGeom prst="rect">
            <a:avLst/>
          </a:prstGeom>
          <a:solidFill>
            <a:srgbClr val="121614"/>
          </a:solidFill>
          <a:ln w="12700">
            <a:solidFill>
              <a:srgbClr val="121614"/>
            </a:solidFill>
            <a:prstDash val="solid"/>
          </a:ln>
        </p:spPr>
      </p:sp>
      <p:sp>
        <p:nvSpPr>
          <p:cNvPr id="9" name="codigo-rotulo"/>
          <p:cNvSpPr txBox="1"/>
          <p:nvPr/>
        </p:nvSpPr>
        <p:spPr>
          <a:xfrm>
            <a:off x="5166360" y="3349447"/>
            <a:ext cx="6248095" cy="274320"/>
          </a:xfrm>
          <a:prstGeom prst="rect">
            <a:avLst/>
          </a:prstGeom>
          <a:noFill/>
          <a:ln/>
        </p:spPr>
        <p:txBody>
          <a:bodyPr wrap="square" lIns="0" tIns="0" rIns="0" bIns="0" rtlCol="0" anchor="t"/>
          <a:lstStyle/>
          <a:p>
            <a:pPr indent="0" marL="0">
              <a:buNone/>
            </a:pPr>
            <a:r>
              <a:rPr lang="en-US" sz="1300" b="1" dirty="0">
                <a:solidFill>
                  <a:srgbClr val="F1C232"/>
                </a:solidFill>
                <a:latin typeface="Arial" pitchFamily="34" charset="0"/>
                <a:ea typeface="Arial" pitchFamily="34" charset="-122"/>
                <a:cs typeface="Arial" pitchFamily="34" charset="-120"/>
              </a:rPr>
              <a:t>Windows</a:t>
            </a:r>
            <a:endParaRPr lang="en-US" sz="1300" dirty="0"/>
          </a:p>
        </p:txBody>
      </p:sp>
      <p:sp>
        <p:nvSpPr>
          <p:cNvPr id="10" name="codigo"/>
          <p:cNvSpPr txBox="1"/>
          <p:nvPr/>
        </p:nvSpPr>
        <p:spPr>
          <a:xfrm>
            <a:off x="5166360" y="3696919"/>
            <a:ext cx="6248095" cy="519379"/>
          </a:xfrm>
          <a:prstGeom prst="rect">
            <a:avLst/>
          </a:prstGeom>
          <a:noFill/>
          <a:ln/>
        </p:spPr>
        <p:txBody>
          <a:bodyPr wrap="square" lIns="0" tIns="0" rIns="0" bIns="0" rtlCol="0" anchor="t"/>
          <a:lstStyle/>
          <a:p>
            <a:pPr indent="0" marL="0">
              <a:buNone/>
            </a:pPr>
            <a:r>
              <a:rPr lang="en-US" sz="1400" dirty="0">
                <a:solidFill>
                  <a:srgbClr val="E8EDE9"/>
                </a:solidFill>
                <a:latin typeface="Courier New" pitchFamily="34" charset="0"/>
                <a:ea typeface="Courier New" pitchFamily="34" charset="-122"/>
                <a:cs typeface="Courier New" pitchFamily="34" charset="-120"/>
              </a:rPr>
              <a:t>powershell -NoProfile -ExecutionPolicy Bypass -File "$HOME\.workshop-claude\setup-windows.ps1" -Check</a:t>
            </a:r>
            <a:endParaRPr lang="en-US" sz="1400" dirty="0"/>
          </a:p>
        </p:txBody>
      </p:sp>
      <p:sp>
        <p:nvSpPr>
          <p:cNvPr id="11" name="esperado-marca"/>
          <p:cNvSpPr/>
          <p:nvPr/>
        </p:nvSpPr>
        <p:spPr>
          <a:xfrm>
            <a:off x="548640" y="5650992"/>
            <a:ext cx="292608" cy="292608"/>
          </a:xfrm>
          <a:prstGeom prst="rect">
            <a:avLst/>
          </a:prstGeom>
          <a:solidFill>
            <a:srgbClr val="1E9E57"/>
          </a:solidFill>
          <a:ln w="12700">
            <a:solidFill>
              <a:srgbClr val="1E9E57"/>
            </a:solidFill>
            <a:prstDash val="solid"/>
          </a:ln>
        </p:spPr>
      </p:sp>
      <p:sp>
        <p:nvSpPr>
          <p:cNvPr id="12" name="faca-esperado"/>
          <p:cNvSpPr txBox="1"/>
          <p:nvPr/>
        </p:nvSpPr>
        <p:spPr>
          <a:xfrm>
            <a:off x="1005840" y="5596128"/>
            <a:ext cx="9814255" cy="548640"/>
          </a:xfrm>
          <a:prstGeom prst="rect">
            <a:avLst/>
          </a:prstGeom>
          <a:noFill/>
          <a:ln/>
        </p:spPr>
        <p:txBody>
          <a:bodyPr wrap="square" lIns="0" tIns="0" rIns="0" bIns="0" rtlCol="0" anchor="t"/>
          <a:lstStyle/>
          <a:p>
            <a:pPr indent="0" marL="0">
              <a:buNone/>
            </a:pPr>
            <a:r>
              <a:rPr lang="en-US" sz="1800" b="1" dirty="0">
                <a:solidFill>
                  <a:srgbClr val="121614"/>
                </a:solidFill>
                <a:latin typeface="Arial" pitchFamily="34" charset="0"/>
                <a:ea typeface="Arial" pitchFamily="34" charset="-122"/>
                <a:cs typeface="Arial" pitchFamily="34" charset="-120"/>
              </a:rPr>
              <a:t>Expected result: </a:t>
            </a:r>
            <a:pPr indent="0" marL="0">
              <a:buNone/>
            </a:pPr>
            <a:r>
              <a:rPr lang="en-US" sz="1800" dirty="0">
                <a:solidFill>
                  <a:srgbClr val="121614"/>
                </a:solidFill>
                <a:latin typeface="Arial" pitchFamily="34" charset="0"/>
                <a:ea typeface="Arial" pitchFamily="34" charset="-122"/>
                <a:cs typeface="Arial" pitchFamily="34" charset="-120"/>
              </a:rPr>
              <a:t>"Everything is ready for the workshop"</a:t>
            </a:r>
            <a:endParaRPr lang="en-US" sz="18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121614"/>
                </a:solidFill>
                <a:latin typeface="Arial"/>
                <a:ea typeface="Arial"/>
                <a:cs typeface="Aria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faca-rotulo"/>
          <p:cNvSpPr txBox="1"/>
          <p:nvPr/>
        </p:nvSpPr>
        <p:spPr>
          <a:xfrm>
            <a:off x="548640" y="411480"/>
            <a:ext cx="5486400" cy="411480"/>
          </a:xfrm>
          <a:prstGeom prst="rect">
            <a:avLst/>
          </a:prstGeom>
          <a:noFill/>
          <a:ln/>
        </p:spPr>
        <p:txBody>
          <a:bodyPr wrap="square" lIns="0" tIns="0" rIns="0" bIns="0" rtlCol="0" anchor="t"/>
          <a:lstStyle/>
          <a:p>
            <a:pPr indent="0" marL="0">
              <a:buNone/>
            </a:pPr>
            <a:r>
              <a:rPr lang="en-US" sz="2000" b="1" dirty="0">
                <a:solidFill>
                  <a:srgbClr val="121614"/>
                </a:solidFill>
                <a:latin typeface="Bricolage Grotesque" pitchFamily="34" charset="0"/>
                <a:ea typeface="Bricolage Grotesque" pitchFamily="34" charset="-122"/>
                <a:cs typeface="Bricolage Grotesque" pitchFamily="34" charset="-120"/>
              </a:rPr>
              <a:t>Do it now · 2 min</a:t>
            </a:r>
            <a:endParaRPr lang="en-US" sz="2000" dirty="0"/>
          </a:p>
        </p:txBody>
      </p:sp>
      <p:sp>
        <p:nvSpPr>
          <p:cNvPr id="3" name="Text 0"/>
          <p:cNvSpPr/>
          <p:nvPr>
            <p:ph idx="100" type="title" hasCustomPrompt="1"/>
          </p:nvPr>
        </p:nvSpPr>
        <p:spPr>
          <a:xfrm>
            <a:off x="548640" y="868680"/>
            <a:ext cx="11094415" cy="868680"/>
          </a:xfrm>
          <a:prstGeom prst="rect">
            <a:avLst/>
          </a:prstGeom>
          <a:noFill/>
          <a:ln/>
        </p:spPr>
        <p:txBody>
          <a:bodyPr wrap="square" lIns="0" tIns="0" rIns="0" bIns="0" rtlCol="0" anchor="t"/>
          <a:lstStyle/>
          <a:p>
            <a:pPr algn="l" indent="0" marL="0">
              <a:buNone/>
            </a:pPr>
            <a:r>
              <a:rPr lang="en-US" sz="3800" b="1" dirty="0">
                <a:solidFill>
                  <a:srgbClr val="121614"/>
                </a:solidFill>
                <a:latin typeface="Bricolage Grotesque" pitchFamily="34" charset="0"/>
                <a:ea typeface="Bricolage Grotesque" pitchFamily="34" charset="-122"/>
                <a:cs typeface="Bricolage Grotesque" pitchFamily="34" charset="-120"/>
              </a:rPr>
              <a:t>Did a step fail?</a:t>
            </a:r>
            <a:endParaRPr lang="en-US" sz="3800" dirty="0"/>
          </a:p>
        </p:txBody>
      </p:sp>
      <p:sp>
        <p:nvSpPr>
          <p:cNvPr id="4" name="faca-passos"/>
          <p:cNvSpPr txBox="1"/>
          <p:nvPr/>
        </p:nvSpPr>
        <p:spPr>
          <a:xfrm>
            <a:off x="548640" y="1920240"/>
            <a:ext cx="4023360" cy="329184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21614"/>
                </a:solidFill>
                <a:latin typeface="Arial" pitchFamily="34" charset="0"/>
                <a:ea typeface="Arial" pitchFamily="34" charset="-122"/>
                <a:cs typeface="Arial" pitchFamily="34" charset="-120"/>
              </a:rPr>
              <a:t>Run doctor mode</a:t>
            </a:r>
            <a:endParaRPr lang="en-US" sz="2000" dirty="0"/>
          </a:p>
          <a:p>
            <a:pPr marL="342900" indent="-342900">
              <a:spcAft>
                <a:spcPts val="1200"/>
              </a:spcAft>
              <a:buSzPct val="100000"/>
              <a:buFont typeface="+mj-lt"/>
              <a:buAutoNum type="arabicPeriod" startAt="1"/>
            </a:pPr>
            <a:r>
              <a:rPr lang="en-US" sz="2000" dirty="0">
                <a:solidFill>
                  <a:srgbClr val="121614"/>
                </a:solidFill>
                <a:latin typeface="Arial" pitchFamily="34" charset="0"/>
                <a:ea typeface="Arial" pitchFamily="34" charset="-122"/>
                <a:cs typeface="Arial" pitchFamily="34" charset="-120"/>
              </a:rPr>
              <a:t>Accept the analysis by Claude (under US$ 0.01)</a:t>
            </a:r>
            <a:endParaRPr lang="en-US" sz="2000" dirty="0"/>
          </a:p>
          <a:p>
            <a:pPr marL="342900" indent="-342900">
              <a:spcAft>
                <a:spcPts val="1200"/>
              </a:spcAft>
              <a:buSzPct val="100000"/>
              <a:buFont typeface="+mj-lt"/>
              <a:buAutoNum type="arabicPeriod" startAt="1"/>
            </a:pPr>
            <a:r>
              <a:rPr lang="en-US" sz="2000" dirty="0">
                <a:solidFill>
                  <a:srgbClr val="121614"/>
                </a:solidFill>
                <a:latin typeface="Arial" pitchFamily="34" charset="0"/>
                <a:ea typeface="Arial" pitchFamily="34" charset="-122"/>
                <a:cs typeface="Arial" pitchFamily="34" charset="-120"/>
              </a:rPr>
              <a:t>Confirm the commands one by one</a:t>
            </a:r>
            <a:endParaRPr lang="en-US" sz="2000" dirty="0"/>
          </a:p>
        </p:txBody>
      </p:sp>
      <p:sp>
        <p:nvSpPr>
          <p:cNvPr id="5" name="codigo-fundo"/>
          <p:cNvSpPr/>
          <p:nvPr/>
        </p:nvSpPr>
        <p:spPr>
          <a:xfrm>
            <a:off x="4937760" y="1920240"/>
            <a:ext cx="6705295" cy="1017727"/>
          </a:xfrm>
          <a:prstGeom prst="rect">
            <a:avLst/>
          </a:prstGeom>
          <a:solidFill>
            <a:srgbClr val="121614"/>
          </a:solidFill>
          <a:ln w="12700">
            <a:solidFill>
              <a:srgbClr val="121614"/>
            </a:solidFill>
            <a:prstDash val="solid"/>
          </a:ln>
        </p:spPr>
      </p:sp>
      <p:sp>
        <p:nvSpPr>
          <p:cNvPr id="6" name="codigo-rotulo"/>
          <p:cNvSpPr txBox="1"/>
          <p:nvPr/>
        </p:nvSpPr>
        <p:spPr>
          <a:xfrm>
            <a:off x="5166360" y="2103120"/>
            <a:ext cx="6248095" cy="274320"/>
          </a:xfrm>
          <a:prstGeom prst="rect">
            <a:avLst/>
          </a:prstGeom>
          <a:noFill/>
          <a:ln/>
        </p:spPr>
        <p:txBody>
          <a:bodyPr wrap="square" lIns="0" tIns="0" rIns="0" bIns="0" rtlCol="0" anchor="t"/>
          <a:lstStyle/>
          <a:p>
            <a:pPr indent="0" marL="0">
              <a:buNone/>
            </a:pPr>
            <a:r>
              <a:rPr lang="en-US" sz="1300" b="1" dirty="0">
                <a:solidFill>
                  <a:srgbClr val="F1C232"/>
                </a:solidFill>
                <a:latin typeface="Arial" pitchFamily="34" charset="0"/>
                <a:ea typeface="Arial" pitchFamily="34" charset="-122"/>
                <a:cs typeface="Arial" pitchFamily="34" charset="-120"/>
              </a:rPr>
              <a:t>Mac</a:t>
            </a:r>
            <a:endParaRPr lang="en-US" sz="1300" dirty="0"/>
          </a:p>
        </p:txBody>
      </p:sp>
      <p:sp>
        <p:nvSpPr>
          <p:cNvPr id="7" name="codigo"/>
          <p:cNvSpPr txBox="1"/>
          <p:nvPr/>
        </p:nvSpPr>
        <p:spPr>
          <a:xfrm>
            <a:off x="5166360" y="2450592"/>
            <a:ext cx="6248095" cy="350215"/>
          </a:xfrm>
          <a:prstGeom prst="rect">
            <a:avLst/>
          </a:prstGeom>
          <a:noFill/>
          <a:ln/>
        </p:spPr>
        <p:txBody>
          <a:bodyPr wrap="square" lIns="0" tIns="0" rIns="0" bIns="0" rtlCol="0" anchor="t"/>
          <a:lstStyle/>
          <a:p>
            <a:pPr indent="0" marL="0">
              <a:buNone/>
            </a:pPr>
            <a:r>
              <a:rPr lang="en-US" sz="1800" dirty="0">
                <a:solidFill>
                  <a:srgbClr val="E8EDE9"/>
                </a:solidFill>
                <a:latin typeface="Courier New" pitchFamily="34" charset="0"/>
                <a:ea typeface="Courier New" pitchFamily="34" charset="-122"/>
                <a:cs typeface="Courier New" pitchFamily="34" charset="-120"/>
              </a:rPr>
              <a:t>bash ~/.workshop-claude/setup-mac.sh --doctor</a:t>
            </a:r>
            <a:endParaRPr lang="en-US" sz="1800" dirty="0"/>
          </a:p>
        </p:txBody>
      </p:sp>
      <p:sp>
        <p:nvSpPr>
          <p:cNvPr id="8" name="codigo-fundo"/>
          <p:cNvSpPr/>
          <p:nvPr/>
        </p:nvSpPr>
        <p:spPr>
          <a:xfrm>
            <a:off x="4937760" y="3166567"/>
            <a:ext cx="6705295" cy="1186891"/>
          </a:xfrm>
          <a:prstGeom prst="rect">
            <a:avLst/>
          </a:prstGeom>
          <a:solidFill>
            <a:srgbClr val="121614"/>
          </a:solidFill>
          <a:ln w="12700">
            <a:solidFill>
              <a:srgbClr val="121614"/>
            </a:solidFill>
            <a:prstDash val="solid"/>
          </a:ln>
        </p:spPr>
      </p:sp>
      <p:sp>
        <p:nvSpPr>
          <p:cNvPr id="9" name="codigo-rotulo"/>
          <p:cNvSpPr txBox="1"/>
          <p:nvPr/>
        </p:nvSpPr>
        <p:spPr>
          <a:xfrm>
            <a:off x="5166360" y="3349447"/>
            <a:ext cx="6248095" cy="274320"/>
          </a:xfrm>
          <a:prstGeom prst="rect">
            <a:avLst/>
          </a:prstGeom>
          <a:noFill/>
          <a:ln/>
        </p:spPr>
        <p:txBody>
          <a:bodyPr wrap="square" lIns="0" tIns="0" rIns="0" bIns="0" rtlCol="0" anchor="t"/>
          <a:lstStyle/>
          <a:p>
            <a:pPr indent="0" marL="0">
              <a:buNone/>
            </a:pPr>
            <a:r>
              <a:rPr lang="en-US" sz="1300" b="1" dirty="0">
                <a:solidFill>
                  <a:srgbClr val="F1C232"/>
                </a:solidFill>
                <a:latin typeface="Arial" pitchFamily="34" charset="0"/>
                <a:ea typeface="Arial" pitchFamily="34" charset="-122"/>
                <a:cs typeface="Arial" pitchFamily="34" charset="-120"/>
              </a:rPr>
              <a:t>Windows</a:t>
            </a:r>
            <a:endParaRPr lang="en-US" sz="1300" dirty="0"/>
          </a:p>
        </p:txBody>
      </p:sp>
      <p:sp>
        <p:nvSpPr>
          <p:cNvPr id="10" name="codigo"/>
          <p:cNvSpPr txBox="1"/>
          <p:nvPr/>
        </p:nvSpPr>
        <p:spPr>
          <a:xfrm>
            <a:off x="5166360" y="3696919"/>
            <a:ext cx="6248095" cy="519379"/>
          </a:xfrm>
          <a:prstGeom prst="rect">
            <a:avLst/>
          </a:prstGeom>
          <a:noFill/>
          <a:ln/>
        </p:spPr>
        <p:txBody>
          <a:bodyPr wrap="square" lIns="0" tIns="0" rIns="0" bIns="0" rtlCol="0" anchor="t"/>
          <a:lstStyle/>
          <a:p>
            <a:pPr indent="0" marL="0">
              <a:buNone/>
            </a:pPr>
            <a:r>
              <a:rPr lang="en-US" sz="1400" dirty="0">
                <a:solidFill>
                  <a:srgbClr val="E8EDE9"/>
                </a:solidFill>
                <a:latin typeface="Courier New" pitchFamily="34" charset="0"/>
                <a:ea typeface="Courier New" pitchFamily="34" charset="-122"/>
                <a:cs typeface="Courier New" pitchFamily="34" charset="-120"/>
              </a:rPr>
              <a:t>powershell -NoProfile -ExecutionPolicy Bypass -File "$HOME\.workshop-claude\setup-windows.ps1" -Doctor</a:t>
            </a:r>
            <a:endParaRPr lang="en-US" sz="1400" dirty="0"/>
          </a:p>
        </p:txBody>
      </p:sp>
      <p:sp>
        <p:nvSpPr>
          <p:cNvPr id="11" name="esperado-marca"/>
          <p:cNvSpPr/>
          <p:nvPr/>
        </p:nvSpPr>
        <p:spPr>
          <a:xfrm>
            <a:off x="548640" y="5650992"/>
            <a:ext cx="292608" cy="292608"/>
          </a:xfrm>
          <a:prstGeom prst="rect">
            <a:avLst/>
          </a:prstGeom>
          <a:solidFill>
            <a:srgbClr val="1E9E57"/>
          </a:solidFill>
          <a:ln w="12700">
            <a:solidFill>
              <a:srgbClr val="1E9E57"/>
            </a:solidFill>
            <a:prstDash val="solid"/>
          </a:ln>
        </p:spPr>
      </p:sp>
      <p:sp>
        <p:nvSpPr>
          <p:cNvPr id="12" name="faca-esperado"/>
          <p:cNvSpPr txBox="1"/>
          <p:nvPr/>
        </p:nvSpPr>
        <p:spPr>
          <a:xfrm>
            <a:off x="1005840" y="5596128"/>
            <a:ext cx="9814255" cy="548640"/>
          </a:xfrm>
          <a:prstGeom prst="rect">
            <a:avLst/>
          </a:prstGeom>
          <a:noFill/>
          <a:ln/>
        </p:spPr>
        <p:txBody>
          <a:bodyPr wrap="square" lIns="0" tIns="0" rIns="0" bIns="0" rtlCol="0" anchor="t"/>
          <a:lstStyle/>
          <a:p>
            <a:pPr indent="0" marL="0">
              <a:buNone/>
            </a:pPr>
            <a:r>
              <a:rPr lang="en-US" sz="1800" b="1" dirty="0">
                <a:solidFill>
                  <a:srgbClr val="121614"/>
                </a:solidFill>
                <a:latin typeface="Arial" pitchFamily="34" charset="0"/>
                <a:ea typeface="Arial" pitchFamily="34" charset="-122"/>
                <a:cs typeface="Arial" pitchFamily="34" charset="-120"/>
              </a:rPr>
              <a:t>Expected result: </a:t>
            </a:r>
            <a:pPr indent="0" marL="0">
              <a:buNone/>
            </a:pPr>
            <a:r>
              <a:rPr lang="en-US" sz="1800" dirty="0">
                <a:solidFill>
                  <a:srgbClr val="121614"/>
                </a:solidFill>
                <a:latin typeface="Arial" pitchFamily="34" charset="0"/>
                <a:ea typeface="Arial" pitchFamily="34" charset="-122"/>
                <a:cs typeface="Arial" pitchFamily="34" charset="-120"/>
              </a:rPr>
              <a:t>The failed step runs again and gets done</a:t>
            </a:r>
            <a:endParaRPr lang="en-US" sz="18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121614"/>
                </a:solidFill>
                <a:latin typeface="Arial"/>
                <a:ea typeface="Arial"/>
                <a:cs typeface="Aria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0"/>
            <a:ext cx="10972800" cy="1371600"/>
          </a:xfrm>
          <a:prstGeom prst="rect">
            <a:avLst/>
          </a:prstGeom>
          <a:noFill/>
          <a:ln/>
        </p:spPr>
        <p:txBody>
          <a:bodyPr wrap="square" lIns="0" tIns="0" rIns="0" bIns="0" rtlCol="0" anchor="b"/>
          <a:lstStyle/>
          <a:p>
            <a:pPr algn="l" indent="0" marL="0">
              <a:buNone/>
            </a:pPr>
            <a:r>
              <a:rPr lang="en-US" sz="6000" b="1" dirty="0">
                <a:solidFill>
                  <a:srgbClr val="E8EDE9"/>
                </a:solidFill>
                <a:latin typeface="Bricolage Grotesque" pitchFamily="34" charset="0"/>
                <a:ea typeface="Bricolage Grotesque" pitchFamily="34" charset="-122"/>
                <a:cs typeface="Bricolage Grotesque" pitchFamily="34" charset="-120"/>
              </a:rPr>
              <a:t>Concepts</a:t>
            </a:r>
            <a:endParaRPr lang="en-US" sz="6000" dirty="0"/>
          </a:p>
        </p:txBody>
      </p:sp>
      <p:sp>
        <p:nvSpPr>
          <p:cNvPr id="3" name="Text 0"/>
          <p:cNvSpPr/>
          <p:nvPr>
            <p:ph idx="101" type="body" hasCustomPrompt="1"/>
          </p:nvPr>
        </p:nvSpPr>
        <p:spPr>
          <a:xfrm>
            <a:off x="548640" y="3840480"/>
            <a:ext cx="10972800" cy="731520"/>
          </a:xfrm>
          <a:prstGeom prst="rect">
            <a:avLst/>
          </a:prstGeom>
          <a:noFill/>
          <a:ln/>
        </p:spPr>
        <p:txBody>
          <a:bodyPr wrap="square" lIns="0" tIns="0" rIns="0" bIns="0" rtlCol="0"/>
          <a:lstStyle/>
          <a:p>
            <a:pPr algn="l" indent="0" marL="0">
              <a:buNone/>
            </a:pPr>
            <a:r>
              <a:rPr lang="en-US" sz="2400" dirty="0">
                <a:solidFill>
                  <a:srgbClr val="9BA59F"/>
                </a:solidFill>
                <a:latin typeface="Arial" pitchFamily="34" charset="0"/>
                <a:ea typeface="Arial" pitchFamily="34" charset="-122"/>
                <a:cs typeface="Arial" pitchFamily="34" charset="-120"/>
              </a:rPr>
              <a:t>Skills, agents, graphs and money</a:t>
            </a:r>
            <a:endParaRPr lang="en-US" sz="2400" dirty="0"/>
          </a:p>
        </p:txBody>
      </p:sp>
      <p:sp>
        <p:nvSpPr>
          <p:cNvPr id="4" name="estado-0-0"/>
          <p:cNvSpPr/>
          <p:nvPr/>
        </p:nvSpPr>
        <p:spPr>
          <a:xfrm>
            <a:off x="548640" y="1280160"/>
            <a:ext cx="384048" cy="384048"/>
          </a:xfrm>
          <a:prstGeom prst="rect">
            <a:avLst/>
          </a:prstGeom>
          <a:solidFill>
            <a:srgbClr val="1E9E57"/>
          </a:solidFill>
          <a:ln w="12700">
            <a:solidFill>
              <a:srgbClr val="1E9E57"/>
            </a:solidFill>
            <a:prstDash val="solid"/>
          </a:ln>
        </p:spPr>
      </p:sp>
      <p:sp>
        <p:nvSpPr>
          <p:cNvPr id="5" name="estado-0-1"/>
          <p:cNvSpPr/>
          <p:nvPr/>
        </p:nvSpPr>
        <p:spPr>
          <a:xfrm>
            <a:off x="1042416" y="1280160"/>
            <a:ext cx="384048" cy="384048"/>
          </a:xfrm>
          <a:prstGeom prst="rect">
            <a:avLst/>
          </a:prstGeom>
          <a:solidFill>
            <a:srgbClr val="1E9E57"/>
          </a:solidFill>
          <a:ln w="12700">
            <a:solidFill>
              <a:srgbClr val="1E9E57"/>
            </a:solidFill>
            <a:prstDash val="solid"/>
          </a:ln>
        </p:spPr>
      </p:sp>
      <p:sp>
        <p:nvSpPr>
          <p:cNvPr id="6" name="estado-0-2"/>
          <p:cNvSpPr/>
          <p:nvPr/>
        </p:nvSpPr>
        <p:spPr>
          <a:xfrm>
            <a:off x="1536192" y="1280160"/>
            <a:ext cx="384048" cy="384048"/>
          </a:xfrm>
          <a:prstGeom prst="rect">
            <a:avLst/>
          </a:prstGeom>
          <a:solidFill>
            <a:srgbClr val="1E9E57"/>
          </a:solidFill>
          <a:ln w="12700">
            <a:solidFill>
              <a:srgbClr val="1E9E57"/>
            </a:solidFill>
            <a:prstDash val="solid"/>
          </a:ln>
        </p:spPr>
      </p:sp>
      <p:sp>
        <p:nvSpPr>
          <p:cNvPr id="7" name="estado-0-3"/>
          <p:cNvSpPr/>
          <p:nvPr/>
        </p:nvSpPr>
        <p:spPr>
          <a:xfrm>
            <a:off x="2029968" y="1280160"/>
            <a:ext cx="384048" cy="384048"/>
          </a:xfrm>
          <a:prstGeom prst="rect">
            <a:avLst/>
          </a:prstGeom>
          <a:solidFill>
            <a:srgbClr val="1E9E57"/>
          </a:solidFill>
          <a:ln w="12700">
            <a:solidFill>
              <a:srgbClr val="1E9E57"/>
            </a:solidFill>
            <a:prstDash val="solid"/>
          </a:ln>
        </p:spPr>
      </p:sp>
      <p:sp>
        <p:nvSpPr>
          <p:cNvPr id="8" name="estado-0-4"/>
          <p:cNvSpPr/>
          <p:nvPr/>
        </p:nvSpPr>
        <p:spPr>
          <a:xfrm>
            <a:off x="2523744" y="1280160"/>
            <a:ext cx="384048" cy="384048"/>
          </a:xfrm>
          <a:prstGeom prst="rect">
            <a:avLst/>
          </a:prstGeom>
          <a:solidFill>
            <a:srgbClr val="1E9E57"/>
          </a:solidFill>
          <a:ln w="12700">
            <a:solidFill>
              <a:srgbClr val="1E9E57"/>
            </a:solidFill>
            <a:prstDash val="solid"/>
          </a:ln>
        </p:spPr>
      </p:sp>
      <p:sp>
        <p:nvSpPr>
          <p:cNvPr id="9" name="estado-0-5"/>
          <p:cNvSpPr/>
          <p:nvPr/>
        </p:nvSpPr>
        <p:spPr>
          <a:xfrm>
            <a:off x="3017520" y="1280160"/>
            <a:ext cx="384048" cy="384048"/>
          </a:xfrm>
          <a:prstGeom prst="rect">
            <a:avLst/>
          </a:prstGeom>
          <a:solidFill>
            <a:srgbClr val="1E9E57"/>
          </a:solidFill>
          <a:ln w="12700">
            <a:solidFill>
              <a:srgbClr val="1E9E57"/>
            </a:solidFill>
            <a:prstDash val="solid"/>
          </a:ln>
        </p:spPr>
      </p:sp>
      <p:sp>
        <p:nvSpPr>
          <p:cNvPr id="10" name="estado-0-6"/>
          <p:cNvSpPr/>
          <p:nvPr/>
        </p:nvSpPr>
        <p:spPr>
          <a:xfrm>
            <a:off x="3511296" y="1280160"/>
            <a:ext cx="384048" cy="384048"/>
          </a:xfrm>
          <a:prstGeom prst="rect">
            <a:avLst/>
          </a:prstGeom>
          <a:solidFill>
            <a:srgbClr val="1E9E57"/>
          </a:solidFill>
          <a:ln w="12700">
            <a:solidFill>
              <a:srgbClr val="1E9E57"/>
            </a:solidFill>
            <a:prstDash val="solid"/>
          </a:ln>
        </p:spPr>
      </p:sp>
      <p:sp>
        <p:nvSpPr>
          <p:cNvPr id="11" name="estado-0-7"/>
          <p:cNvSpPr/>
          <p:nvPr/>
        </p:nvSpPr>
        <p:spPr>
          <a:xfrm>
            <a:off x="4005072" y="1280160"/>
            <a:ext cx="384048" cy="384048"/>
          </a:xfrm>
          <a:prstGeom prst="rect">
            <a:avLst/>
          </a:prstGeom>
          <a:solidFill>
            <a:srgbClr val="1E9E57"/>
          </a:solidFill>
          <a:ln w="12700">
            <a:solidFill>
              <a:srgbClr val="1E9E57"/>
            </a:solidFill>
            <a:prstDash val="solid"/>
          </a:ln>
        </p:spPr>
      </p:sp>
      <p:sp>
        <p:nvSpPr>
          <p:cNvPr id="12" name="estado-0-8"/>
          <p:cNvSpPr/>
          <p:nvPr/>
        </p:nvSpPr>
        <p:spPr>
          <a:xfrm>
            <a:off x="4498848" y="1280160"/>
            <a:ext cx="384048" cy="384048"/>
          </a:xfrm>
          <a:prstGeom prst="rect">
            <a:avLst/>
          </a:prstGeom>
          <a:solidFill>
            <a:srgbClr val="1E9E57"/>
          </a:solidFill>
          <a:ln w="12700">
            <a:solidFill>
              <a:srgbClr val="1E9E57"/>
            </a:solidFill>
            <a:prstDash val="solid"/>
          </a:ln>
        </p:spPr>
      </p:sp>
      <p:sp>
        <p:nvSpPr>
          <p:cNvPr id="13" name="estado-0-9"/>
          <p:cNvSpPr/>
          <p:nvPr/>
        </p:nvSpPr>
        <p:spPr>
          <a:xfrm>
            <a:off x="4992624" y="1280160"/>
            <a:ext cx="384048" cy="384048"/>
          </a:xfrm>
          <a:prstGeom prst="rect">
            <a:avLst/>
          </a:prstGeom>
          <a:solidFill>
            <a:srgbClr val="1E9E57"/>
          </a:solidFill>
          <a:ln w="12700">
            <a:solidFill>
              <a:srgbClr val="1E9E57"/>
            </a:solidFill>
            <a:prstDash val="solid"/>
          </a:ln>
        </p:spPr>
      </p:sp>
      <p:sp>
        <p:nvSpPr>
          <p:cNvPr id="14" name="estado-0-10"/>
          <p:cNvSpPr/>
          <p:nvPr/>
        </p:nvSpPr>
        <p:spPr>
          <a:xfrm>
            <a:off x="5486400" y="1280160"/>
            <a:ext cx="384048" cy="384048"/>
          </a:xfrm>
          <a:prstGeom prst="rect">
            <a:avLst/>
          </a:prstGeom>
          <a:solidFill>
            <a:srgbClr val="1E9E57"/>
          </a:solidFill>
          <a:ln w="12700">
            <a:solidFill>
              <a:srgbClr val="1E9E57"/>
            </a:solidFill>
            <a:prstDash val="solid"/>
          </a:ln>
        </p:spPr>
      </p:sp>
      <p:sp>
        <p:nvSpPr>
          <p:cNvPr id="15" name="estado-0-11"/>
          <p:cNvSpPr/>
          <p:nvPr/>
        </p:nvSpPr>
        <p:spPr>
          <a:xfrm>
            <a:off x="5980176" y="1280160"/>
            <a:ext cx="384048" cy="384048"/>
          </a:xfrm>
          <a:prstGeom prst="rect">
            <a:avLst/>
          </a:prstGeom>
          <a:solidFill>
            <a:srgbClr val="1E9E57"/>
          </a:solidFill>
          <a:ln w="12700">
            <a:solidFill>
              <a:srgbClr val="1E9E57"/>
            </a:solidFill>
            <a:prstDash val="solid"/>
          </a:ln>
        </p:spPr>
      </p:sp>
      <p:sp>
        <p:nvSpPr>
          <p:cNvPr id="16" name="estado-0-12"/>
          <p:cNvSpPr/>
          <p:nvPr/>
        </p:nvSpPr>
        <p:spPr>
          <a:xfrm>
            <a:off x="6473952" y="1280160"/>
            <a:ext cx="384048" cy="384048"/>
          </a:xfrm>
          <a:prstGeom prst="rect">
            <a:avLst/>
          </a:prstGeom>
          <a:solidFill>
            <a:srgbClr val="1E9E57"/>
          </a:solidFill>
          <a:ln w="12700">
            <a:solidFill>
              <a:srgbClr val="1E9E57"/>
            </a:solidFill>
            <a:prstDash val="solid"/>
          </a:ln>
        </p:spPr>
      </p:sp>
      <p:sp>
        <p:nvSpPr>
          <p:cNvPr id="17" name="estado-0-13"/>
          <p:cNvSpPr/>
          <p:nvPr/>
        </p:nvSpPr>
        <p:spPr>
          <a:xfrm>
            <a:off x="6967728" y="1280160"/>
            <a:ext cx="384048" cy="384048"/>
          </a:xfrm>
          <a:prstGeom prst="rect">
            <a:avLst/>
          </a:prstGeom>
          <a:solidFill>
            <a:srgbClr val="1E9E57"/>
          </a:solidFill>
          <a:ln w="12700">
            <a:solidFill>
              <a:srgbClr val="1E9E57"/>
            </a:solidFill>
            <a:prstDash val="solid"/>
          </a:ln>
        </p:spPr>
      </p:sp>
      <p:sp>
        <p:nvSpPr>
          <p:cNvPr id="18" name="estado-0-14"/>
          <p:cNvSpPr/>
          <p:nvPr/>
        </p:nvSpPr>
        <p:spPr>
          <a:xfrm>
            <a:off x="7461504" y="1280160"/>
            <a:ext cx="384048" cy="384048"/>
          </a:xfrm>
          <a:prstGeom prst="rect">
            <a:avLst/>
          </a:prstGeom>
          <a:solidFill>
            <a:srgbClr val="1E9E57"/>
          </a:solidFill>
          <a:ln w="12700">
            <a:solidFill>
              <a:srgbClr val="1E9E57"/>
            </a:solidFill>
            <a:prstDash val="solid"/>
          </a:ln>
        </p:spPr>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914400"/>
          </a:xfrm>
          <a:prstGeom prst="rect">
            <a:avLst/>
          </a:prstGeom>
          <a:noFill/>
          <a:ln/>
        </p:spPr>
        <p:txBody>
          <a:bodyPr wrap="square" lIns="0" tIns="0" rIns="0" bIns="0" rtlCol="0" anchor="t"/>
          <a:lstStyle/>
          <a:p>
            <a:pPr algn="l" indent="0" marL="0">
              <a:buNone/>
            </a:pPr>
            <a:r>
              <a:rPr lang="en-US" sz="3600" b="1" dirty="0">
                <a:solidFill>
                  <a:srgbClr val="121614"/>
                </a:solidFill>
                <a:latin typeface="Bricolage Grotesque" pitchFamily="34" charset="0"/>
                <a:ea typeface="Bricolage Grotesque" pitchFamily="34" charset="-122"/>
                <a:cs typeface="Bricolage Grotesque" pitchFamily="34" charset="-120"/>
              </a:rPr>
              <a:t>Claude Code works in your project</a:t>
            </a:r>
            <a:endParaRPr lang="en-US" sz="3600" dirty="0"/>
          </a:p>
        </p:txBody>
      </p:sp>
      <p:sp>
        <p:nvSpPr>
          <p:cNvPr id="3" name="coluna-0"/>
          <p:cNvSpPr/>
          <p:nvPr/>
        </p:nvSpPr>
        <p:spPr>
          <a:xfrm>
            <a:off x="548640" y="1691640"/>
            <a:ext cx="3484778" cy="3566160"/>
          </a:xfrm>
          <a:prstGeom prst="rect">
            <a:avLst/>
          </a:prstGeom>
          <a:solidFill>
            <a:srgbClr val="E6E6E1"/>
          </a:solidFill>
          <a:ln w="12700">
            <a:solidFill>
              <a:srgbClr val="E6E6E1"/>
            </a:solidFill>
            <a:prstDash val="solid"/>
          </a:ln>
        </p:spPr>
      </p:sp>
      <p:sp>
        <p:nvSpPr>
          <p:cNvPr id="4" name="marca-0"/>
          <p:cNvSpPr/>
          <p:nvPr/>
        </p:nvSpPr>
        <p:spPr>
          <a:xfrm>
            <a:off x="868680" y="2011680"/>
            <a:ext cx="384048" cy="384048"/>
          </a:xfrm>
          <a:prstGeom prst="rect">
            <a:avLst/>
          </a:prstGeom>
          <a:solidFill>
            <a:srgbClr val="1E9E57"/>
          </a:solidFill>
          <a:ln w="12700">
            <a:solidFill>
              <a:srgbClr val="1E9E57"/>
            </a:solidFill>
            <a:prstDash val="solid"/>
          </a:ln>
        </p:spPr>
      </p:sp>
      <p:sp>
        <p:nvSpPr>
          <p:cNvPr id="5" name="coluna-titulo-0"/>
          <p:cNvSpPr txBox="1"/>
          <p:nvPr/>
        </p:nvSpPr>
        <p:spPr>
          <a:xfrm>
            <a:off x="868680" y="2697480"/>
            <a:ext cx="2844698" cy="914400"/>
          </a:xfrm>
          <a:prstGeom prst="rect">
            <a:avLst/>
          </a:prstGeom>
          <a:noFill/>
          <a:ln/>
        </p:spPr>
        <p:txBody>
          <a:bodyPr wrap="square" lIns="0" tIns="0" rIns="0" bIns="0" rtlCol="0" anchor="t"/>
          <a:lstStyle/>
          <a:p>
            <a:pPr indent="0" marL="0">
              <a:buNone/>
            </a:pPr>
            <a:r>
              <a:rPr lang="en-US" sz="2600" b="1" dirty="0">
                <a:solidFill>
                  <a:srgbClr val="121614"/>
                </a:solidFill>
                <a:latin typeface="Bricolage Grotesque" pitchFamily="34" charset="0"/>
                <a:ea typeface="Bricolage Grotesque" pitchFamily="34" charset="-122"/>
                <a:cs typeface="Bricolage Grotesque" pitchFamily="34" charset="-120"/>
              </a:rPr>
              <a:t>Reads and writes</a:t>
            </a:r>
            <a:endParaRPr lang="en-US" sz="2600" dirty="0"/>
          </a:p>
        </p:txBody>
      </p:sp>
      <p:sp>
        <p:nvSpPr>
          <p:cNvPr id="6" name="coluna-texto-0"/>
          <p:cNvSpPr txBox="1"/>
          <p:nvPr/>
        </p:nvSpPr>
        <p:spPr>
          <a:xfrm>
            <a:off x="868680" y="3657600"/>
            <a:ext cx="2844698" cy="1463040"/>
          </a:xfrm>
          <a:prstGeom prst="rect">
            <a:avLst/>
          </a:prstGeom>
          <a:noFill/>
          <a:ln/>
        </p:spPr>
        <p:txBody>
          <a:bodyPr wrap="square" lIns="0" tIns="0" rIns="0" bIns="0" rtlCol="0" anchor="t"/>
          <a:lstStyle/>
          <a:p>
            <a:pPr indent="0" marL="0">
              <a:buNone/>
            </a:pPr>
            <a:r>
              <a:rPr lang="en-US" sz="2000" dirty="0">
                <a:solidFill>
                  <a:srgbClr val="121614"/>
                </a:solidFill>
                <a:latin typeface="Arial" pitchFamily="34" charset="0"/>
                <a:ea typeface="Arial" pitchFamily="34" charset="-122"/>
                <a:cs typeface="Arial" pitchFamily="34" charset="-120"/>
              </a:rPr>
              <a:t>project files, with permissions you control</a:t>
            </a:r>
            <a:endParaRPr lang="en-US" sz="2000" dirty="0"/>
          </a:p>
        </p:txBody>
      </p:sp>
      <p:sp>
        <p:nvSpPr>
          <p:cNvPr id="7" name="coluna-1"/>
          <p:cNvSpPr/>
          <p:nvPr/>
        </p:nvSpPr>
        <p:spPr>
          <a:xfrm>
            <a:off x="4353458" y="1691640"/>
            <a:ext cx="3484778" cy="3566160"/>
          </a:xfrm>
          <a:prstGeom prst="rect">
            <a:avLst/>
          </a:prstGeom>
          <a:solidFill>
            <a:srgbClr val="E6E6E1"/>
          </a:solidFill>
          <a:ln w="12700">
            <a:solidFill>
              <a:srgbClr val="E6E6E1"/>
            </a:solidFill>
            <a:prstDash val="solid"/>
          </a:ln>
        </p:spPr>
      </p:sp>
      <p:sp>
        <p:nvSpPr>
          <p:cNvPr id="8" name="marca-1"/>
          <p:cNvSpPr/>
          <p:nvPr/>
        </p:nvSpPr>
        <p:spPr>
          <a:xfrm>
            <a:off x="4673498" y="2011680"/>
            <a:ext cx="384048" cy="384048"/>
          </a:xfrm>
          <a:prstGeom prst="rect">
            <a:avLst/>
          </a:prstGeom>
          <a:solidFill>
            <a:srgbClr val="1A4BE0"/>
          </a:solidFill>
          <a:ln w="12700">
            <a:solidFill>
              <a:srgbClr val="1A4BE0"/>
            </a:solidFill>
            <a:prstDash val="solid"/>
          </a:ln>
        </p:spPr>
      </p:sp>
      <p:sp>
        <p:nvSpPr>
          <p:cNvPr id="9" name="coluna-titulo-1"/>
          <p:cNvSpPr txBox="1"/>
          <p:nvPr/>
        </p:nvSpPr>
        <p:spPr>
          <a:xfrm>
            <a:off x="4673498" y="2697480"/>
            <a:ext cx="2844698" cy="914400"/>
          </a:xfrm>
          <a:prstGeom prst="rect">
            <a:avLst/>
          </a:prstGeom>
          <a:noFill/>
          <a:ln/>
        </p:spPr>
        <p:txBody>
          <a:bodyPr wrap="square" lIns="0" tIns="0" rIns="0" bIns="0" rtlCol="0" anchor="t"/>
          <a:lstStyle/>
          <a:p>
            <a:pPr indent="0" marL="0">
              <a:buNone/>
            </a:pPr>
            <a:r>
              <a:rPr lang="en-US" sz="2600" b="1" dirty="0">
                <a:solidFill>
                  <a:srgbClr val="121614"/>
                </a:solidFill>
                <a:latin typeface="Bricolage Grotesque" pitchFamily="34" charset="0"/>
                <a:ea typeface="Bricolage Grotesque" pitchFamily="34" charset="-122"/>
                <a:cs typeface="Bricolage Grotesque" pitchFamily="34" charset="-120"/>
              </a:rPr>
              <a:t>Runs commands</a:t>
            </a:r>
            <a:endParaRPr lang="en-US" sz="2600" dirty="0"/>
          </a:p>
        </p:txBody>
      </p:sp>
      <p:sp>
        <p:nvSpPr>
          <p:cNvPr id="10" name="coluna-texto-1"/>
          <p:cNvSpPr txBox="1"/>
          <p:nvPr/>
        </p:nvSpPr>
        <p:spPr>
          <a:xfrm>
            <a:off x="4673498" y="3657600"/>
            <a:ext cx="2844698" cy="1463040"/>
          </a:xfrm>
          <a:prstGeom prst="rect">
            <a:avLst/>
          </a:prstGeom>
          <a:noFill/>
          <a:ln/>
        </p:spPr>
        <p:txBody>
          <a:bodyPr wrap="square" lIns="0" tIns="0" rIns="0" bIns="0" rtlCol="0" anchor="t"/>
          <a:lstStyle/>
          <a:p>
            <a:pPr indent="0" marL="0">
              <a:buNone/>
            </a:pPr>
            <a:r>
              <a:rPr lang="en-US" sz="2000" dirty="0">
                <a:solidFill>
                  <a:srgbClr val="121614"/>
                </a:solidFill>
                <a:latin typeface="Arial" pitchFamily="34" charset="0"/>
                <a:ea typeface="Arial" pitchFamily="34" charset="-122"/>
                <a:cs typeface="Arial" pitchFamily="34" charset="-120"/>
              </a:rPr>
              <a:t>tests, git, scripts: it sees the result and fixes it</a:t>
            </a:r>
            <a:endParaRPr lang="en-US" sz="2000" dirty="0"/>
          </a:p>
        </p:txBody>
      </p:sp>
      <p:sp>
        <p:nvSpPr>
          <p:cNvPr id="11" name="coluna-2"/>
          <p:cNvSpPr/>
          <p:nvPr/>
        </p:nvSpPr>
        <p:spPr>
          <a:xfrm>
            <a:off x="8158277" y="1691640"/>
            <a:ext cx="3484778" cy="3566160"/>
          </a:xfrm>
          <a:prstGeom prst="rect">
            <a:avLst/>
          </a:prstGeom>
          <a:solidFill>
            <a:srgbClr val="E6E6E1"/>
          </a:solidFill>
          <a:ln w="12700">
            <a:solidFill>
              <a:srgbClr val="E6E6E1"/>
            </a:solidFill>
            <a:prstDash val="solid"/>
          </a:ln>
        </p:spPr>
      </p:sp>
      <p:sp>
        <p:nvSpPr>
          <p:cNvPr id="12" name="marca-2"/>
          <p:cNvSpPr/>
          <p:nvPr/>
        </p:nvSpPr>
        <p:spPr>
          <a:xfrm>
            <a:off x="8478317" y="2011680"/>
            <a:ext cx="384048" cy="384048"/>
          </a:xfrm>
          <a:prstGeom prst="rect">
            <a:avLst/>
          </a:prstGeom>
          <a:solidFill>
            <a:srgbClr val="F1C232"/>
          </a:solidFill>
          <a:ln w="12700">
            <a:solidFill>
              <a:srgbClr val="F1C232"/>
            </a:solidFill>
            <a:prstDash val="solid"/>
          </a:ln>
        </p:spPr>
      </p:sp>
      <p:sp>
        <p:nvSpPr>
          <p:cNvPr id="13" name="coluna-titulo-2"/>
          <p:cNvSpPr txBox="1"/>
          <p:nvPr/>
        </p:nvSpPr>
        <p:spPr>
          <a:xfrm>
            <a:off x="8478317" y="2697480"/>
            <a:ext cx="2844698" cy="914400"/>
          </a:xfrm>
          <a:prstGeom prst="rect">
            <a:avLst/>
          </a:prstGeom>
          <a:noFill/>
          <a:ln/>
        </p:spPr>
        <p:txBody>
          <a:bodyPr wrap="square" lIns="0" tIns="0" rIns="0" bIns="0" rtlCol="0" anchor="t"/>
          <a:lstStyle/>
          <a:p>
            <a:pPr indent="0" marL="0">
              <a:buNone/>
            </a:pPr>
            <a:r>
              <a:rPr lang="en-US" sz="2600" b="1" dirty="0">
                <a:solidFill>
                  <a:srgbClr val="121614"/>
                </a:solidFill>
                <a:latin typeface="Bricolage Grotesque" pitchFamily="34" charset="0"/>
                <a:ea typeface="Bricolage Grotesque" pitchFamily="34" charset="-122"/>
                <a:cs typeface="Bricolage Grotesque" pitchFamily="34" charset="-120"/>
              </a:rPr>
              <a:t>Connects to tools</a:t>
            </a:r>
            <a:endParaRPr lang="en-US" sz="2600" dirty="0"/>
          </a:p>
        </p:txBody>
      </p:sp>
      <p:sp>
        <p:nvSpPr>
          <p:cNvPr id="14" name="coluna-texto-2"/>
          <p:cNvSpPr txBox="1"/>
          <p:nvPr/>
        </p:nvSpPr>
        <p:spPr>
          <a:xfrm>
            <a:off x="8478317" y="3657600"/>
            <a:ext cx="2844698" cy="1463040"/>
          </a:xfrm>
          <a:prstGeom prst="rect">
            <a:avLst/>
          </a:prstGeom>
          <a:noFill/>
          <a:ln/>
        </p:spPr>
        <p:txBody>
          <a:bodyPr wrap="square" lIns="0" tIns="0" rIns="0" bIns="0" rtlCol="0" anchor="t"/>
          <a:lstStyle/>
          <a:p>
            <a:pPr indent="0" marL="0">
              <a:buNone/>
            </a:pPr>
            <a:r>
              <a:rPr lang="en-US" sz="2000" dirty="0">
                <a:solidFill>
                  <a:srgbClr val="121614"/>
                </a:solidFill>
                <a:latin typeface="Arial" pitchFamily="34" charset="0"/>
                <a:ea typeface="Arial" pitchFamily="34" charset="-122"/>
                <a:cs typeface="Arial" pitchFamily="34" charset="-120"/>
              </a:rPr>
              <a:t>Jira, GitHub and your memory, via MCP</a:t>
            </a:r>
            <a:endParaRPr lang="en-US" sz="2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45C57"/>
                </a:solidFill>
                <a:latin typeface="Arial"/>
                <a:ea typeface="Arial"/>
                <a:cs typeface="Aria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914400"/>
          </a:xfrm>
          <a:prstGeom prst="rect">
            <a:avLst/>
          </a:prstGeom>
          <a:noFill/>
          <a:ln/>
        </p:spPr>
        <p:txBody>
          <a:bodyPr wrap="square" lIns="0" tIns="0" rIns="0" bIns="0" rtlCol="0" anchor="t"/>
          <a:lstStyle/>
          <a:p>
            <a:pPr algn="l" indent="0" marL="0">
              <a:buNone/>
            </a:pPr>
            <a:r>
              <a:rPr lang="en-US" sz="3600" b="1" dirty="0">
                <a:solidFill>
                  <a:srgbClr val="121614"/>
                </a:solidFill>
                <a:latin typeface="Bricolage Grotesque" pitchFamily="34" charset="0"/>
                <a:ea typeface="Bricolage Grotesque" pitchFamily="34" charset="-122"/>
                <a:cs typeface="Bricolage Grotesque" pitchFamily="34" charset="-120"/>
              </a:rPr>
              <a:t>A skill is a recipe with a name</a:t>
            </a:r>
            <a:endParaRPr lang="en-US" sz="3600" dirty="0"/>
          </a:p>
        </p:txBody>
      </p:sp>
      <p:sp>
        <p:nvSpPr>
          <p:cNvPr id="3" name="intro"/>
          <p:cNvSpPr txBox="1"/>
          <p:nvPr/>
        </p:nvSpPr>
        <p:spPr>
          <a:xfrm>
            <a:off x="548640" y="1463040"/>
            <a:ext cx="11094415" cy="548640"/>
          </a:xfrm>
          <a:prstGeom prst="rect">
            <a:avLst/>
          </a:prstGeom>
          <a:noFill/>
          <a:ln/>
        </p:spPr>
        <p:txBody>
          <a:bodyPr wrap="square" lIns="0" tIns="0" rIns="0" bIns="0" rtlCol="0" anchor="t"/>
          <a:lstStyle/>
          <a:p>
            <a:pPr indent="0" marL="0">
              <a:buNone/>
            </a:pPr>
            <a:r>
              <a:rPr lang="en-US" sz="2000" dirty="0">
                <a:solidFill>
                  <a:srgbClr val="121614"/>
                </a:solidFill>
                <a:latin typeface="Arial" pitchFamily="34" charset="0"/>
                <a:ea typeface="Arial" pitchFamily="34" charset="-122"/>
                <a:cs typeface="Arial" pitchFamily="34" charset="-120"/>
              </a:rPr>
              <a:t>A SKILL.md file in a folder. You type /name and Claude follows the recipe.</a:t>
            </a:r>
            <a:endParaRPr lang="en-US" sz="2000" dirty="0"/>
          </a:p>
        </p:txBody>
      </p:sp>
      <p:sp>
        <p:nvSpPr>
          <p:cNvPr id="4" name="codigo-fundo"/>
          <p:cNvSpPr/>
          <p:nvPr/>
        </p:nvSpPr>
        <p:spPr>
          <a:xfrm>
            <a:off x="548640" y="2148840"/>
            <a:ext cx="11094415" cy="3429000"/>
          </a:xfrm>
          <a:prstGeom prst="rect">
            <a:avLst/>
          </a:prstGeom>
          <a:solidFill>
            <a:srgbClr val="121614"/>
          </a:solidFill>
          <a:ln w="12700">
            <a:solidFill>
              <a:srgbClr val="121614"/>
            </a:solidFill>
            <a:prstDash val="solid"/>
          </a:ln>
        </p:spPr>
      </p:sp>
      <p:sp>
        <p:nvSpPr>
          <p:cNvPr id="5" name="codigo"/>
          <p:cNvSpPr txBox="1"/>
          <p:nvPr/>
        </p:nvSpPr>
        <p:spPr>
          <a:xfrm>
            <a:off x="777240" y="2331720"/>
            <a:ext cx="10637215" cy="3108960"/>
          </a:xfrm>
          <a:prstGeom prst="rect">
            <a:avLst/>
          </a:prstGeom>
          <a:noFill/>
          <a:ln/>
        </p:spPr>
        <p:txBody>
          <a:bodyPr wrap="square" lIns="0" tIns="0" rIns="0" bIns="0" rtlCol="0" anchor="t"/>
          <a:lstStyle/>
          <a:p>
            <a:pPr indent="0" marL="0">
              <a:buNone/>
            </a:pPr>
            <a:r>
              <a:rPr lang="en-US" sz="1500" dirty="0">
                <a:solidFill>
                  <a:srgbClr val="E8EDE9"/>
                </a:solidFill>
                <a:latin typeface="Courier New" pitchFamily="34" charset="0"/>
                <a:ea typeface="Courier New" pitchFamily="34" charset="-122"/>
                <a:cs typeface="Courier New" pitchFamily="34" charset="-120"/>
              </a:rPr>
              <a:t>---</a:t>
            </a:r>
            <a:endParaRPr lang="en-US" sz="1500" dirty="0"/>
          </a:p>
          <a:p>
            <a:pPr indent="0" marL="0">
              <a:buNone/>
            </a:pPr>
            <a:r>
              <a:rPr lang="en-US" sz="1500" dirty="0">
                <a:solidFill>
                  <a:srgbClr val="E8EDE9"/>
                </a:solidFill>
                <a:latin typeface="Courier New" pitchFamily="34" charset="0"/>
                <a:ea typeface="Courier New" pitchFamily="34" charset="-122"/>
                <a:cs typeface="Courier New" pitchFamily="34" charset="-120"/>
              </a:rPr>
              <a:t>name: demo-swarm</a:t>
            </a:r>
            <a:endParaRPr lang="en-US" sz="1500" dirty="0"/>
          </a:p>
          <a:p>
            <a:pPr indent="0" marL="0">
              <a:buNone/>
            </a:pPr>
            <a:r>
              <a:rPr lang="en-US" sz="1500" dirty="0">
                <a:solidFill>
                  <a:srgbClr val="E8EDE9"/>
                </a:solidFill>
                <a:latin typeface="Courier New" pitchFamily="34" charset="0"/>
                <a:ea typeface="Courier New" pitchFamily="34" charset="-122"/>
                <a:cs typeface="Courier New" pitchFamily="34" charset="-120"/>
              </a:rPr>
              <a:t>description: Runs the Arena swarm in waves</a:t>
            </a:r>
            <a:endParaRPr lang="en-US" sz="1500" dirty="0"/>
          </a:p>
          <a:p>
            <a:pPr indent="0" marL="0">
              <a:buNone/>
            </a:pPr>
            <a:r>
              <a:rPr lang="en-US" sz="1500" dirty="0">
                <a:solidFill>
                  <a:srgbClr val="E8EDE9"/>
                </a:solidFill>
                <a:latin typeface="Courier New" pitchFamily="34" charset="0"/>
                <a:ea typeface="Courier New" pitchFamily="34" charset="-122"/>
                <a:cs typeface="Courier New" pitchFamily="34" charset="-120"/>
              </a:rPr>
              <a:t>model: sonnet</a:t>
            </a:r>
            <a:endParaRPr lang="en-US" sz="1500" dirty="0"/>
          </a:p>
          <a:p>
            <a:pPr indent="0" marL="0">
              <a:buNone/>
            </a:pPr>
            <a:r>
              <a:rPr lang="en-US" sz="1500" dirty="0">
                <a:solidFill>
                  <a:srgbClr val="E8EDE9"/>
                </a:solidFill>
                <a:latin typeface="Courier New" pitchFamily="34" charset="0"/>
                <a:ea typeface="Courier New" pitchFamily="34" charset="-122"/>
                <a:cs typeface="Courier New" pitchFamily="34" charset="-120"/>
              </a:rPr>
              <a:t>allowed-tools:</a:t>
            </a:r>
            <a:endParaRPr lang="en-US" sz="1500" dirty="0"/>
          </a:p>
          <a:p>
            <a:pPr indent="0" marL="0">
              <a:buNone/>
            </a:pPr>
            <a:r>
              <a:rPr lang="en-US" sz="1500" dirty="0">
                <a:solidFill>
                  <a:srgbClr val="E8EDE9"/>
                </a:solidFill>
                <a:latin typeface="Courier New" pitchFamily="34" charset="0"/>
                <a:ea typeface="Courier New" pitchFamily="34" charset="-122"/>
                <a:cs typeface="Courier New" pitchFamily="34" charset="-120"/>
              </a:rPr>
              <a:t>  - Bash(node tools/*)</a:t>
            </a:r>
            <a:endParaRPr lang="en-US" sz="1500" dirty="0"/>
          </a:p>
          <a:p>
            <a:pPr indent="0" marL="0">
              <a:buNone/>
            </a:pPr>
            <a:r>
              <a:rPr lang="en-US" sz="1500" dirty="0">
                <a:solidFill>
                  <a:srgbClr val="E8EDE9"/>
                </a:solidFill>
                <a:latin typeface="Courier New" pitchFamily="34" charset="0"/>
                <a:ea typeface="Courier New" pitchFamily="34" charset="-122"/>
                <a:cs typeface="Courier New" pitchFamily="34" charset="-120"/>
              </a:rPr>
              <a:t>  - Agent</a:t>
            </a:r>
            <a:endParaRPr lang="en-US" sz="1500" dirty="0"/>
          </a:p>
          <a:p>
            <a:pPr indent="0" marL="0">
              <a:buNone/>
            </a:pPr>
            <a:r>
              <a:rPr lang="en-US" sz="1500" dirty="0">
                <a:solidFill>
                  <a:srgbClr val="E8EDE9"/>
                </a:solidFill>
                <a:latin typeface="Courier New" pitchFamily="34" charset="0"/>
                <a:ea typeface="Courier New" pitchFamily="34" charset="-122"/>
                <a:cs typeface="Courier New" pitchFamily="34" charset="-120"/>
              </a:rPr>
              <a:t>---</a:t>
            </a:r>
            <a:endParaRPr lang="en-US" sz="1500" dirty="0"/>
          </a:p>
          <a:p>
            <a:pPr indent="0" marL="0">
              <a:buNone/>
            </a:pPr>
            <a:r>
              <a:rPr lang="en-US" sz="1500" dirty="0">
                <a:solidFill>
                  <a:srgbClr val="E8EDE9"/>
                </a:solidFill>
                <a:latin typeface="Courier New" pitchFamily="34" charset="0"/>
                <a:ea typeface="Courier New" pitchFamily="34" charset="-122"/>
                <a:cs typeface="Courier New" pitchFamily="34" charset="-120"/>
              </a:rPr>
              <a:t>1. Run next-wave.mjs</a:t>
            </a:r>
            <a:endParaRPr lang="en-US" sz="1500" dirty="0"/>
          </a:p>
          <a:p>
            <a:pPr indent="0" marL="0">
              <a:buNone/>
            </a:pPr>
            <a:r>
              <a:rPr lang="en-US" sz="1500" dirty="0">
                <a:solidFill>
                  <a:srgbClr val="E8EDE9"/>
                </a:solidFill>
                <a:latin typeface="Courier New" pitchFamily="34" charset="0"/>
                <a:ea typeface="Courier New" pitchFamily="34" charset="-122"/>
                <a:cs typeface="Courier New" pitchFamily="34" charset="-120"/>
              </a:rPr>
              <a:t>2. Launch exactly the calls it returns</a:t>
            </a:r>
            <a:endParaRPr lang="en-US" sz="1500" dirty="0"/>
          </a:p>
          <a:p>
            <a:pPr indent="0" marL="0">
              <a:buNone/>
            </a:pPr>
            <a:r>
              <a:rPr lang="en-US" sz="1500" dirty="0">
                <a:solidFill>
                  <a:srgbClr val="E8EDE9"/>
                </a:solidFill>
                <a:latin typeface="Courier New" pitchFamily="34" charset="0"/>
                <a:ea typeface="Courier New" pitchFamily="34" charset="-122"/>
                <a:cs typeface="Courier New" pitchFamily="34" charset="-120"/>
              </a:rPr>
              <a:t>3. Repeat until ESTADO: FIM</a:t>
            </a:r>
            <a:endParaRPr lang="en-US" sz="1500" dirty="0"/>
          </a:p>
          <a:p>
            <a:pPr indent="0" marL="0">
              <a:buNone/>
            </a:pPr>
            <a:r>
              <a:rPr lang="en-US" sz="1500" dirty="0">
                <a:solidFill>
                  <a:srgbClr val="E8EDE9"/>
                </a:solidFill>
                <a:latin typeface="Courier New" pitchFamily="34" charset="0"/>
                <a:ea typeface="Courier New" pitchFamily="34" charset="-122"/>
                <a:cs typeface="Courier New" pitchFamily="34" charset="-120"/>
              </a:rPr>
              <a:t>Answer in the participant's language.</a:t>
            </a:r>
            <a:endParaRPr lang="en-US" sz="1500" dirty="0"/>
          </a:p>
        </p:txBody>
      </p:sp>
      <p:sp>
        <p:nvSpPr>
          <p:cNvPr id="6" name="depois"/>
          <p:cNvSpPr txBox="1"/>
          <p:nvPr/>
        </p:nvSpPr>
        <p:spPr>
          <a:xfrm>
            <a:off x="548640" y="5760720"/>
            <a:ext cx="11094415" cy="502920"/>
          </a:xfrm>
          <a:prstGeom prst="rect">
            <a:avLst/>
          </a:prstGeom>
          <a:noFill/>
          <a:ln/>
        </p:spPr>
        <p:txBody>
          <a:bodyPr wrap="square" lIns="0" tIns="0" rIns="0" bIns="0" rtlCol="0" anchor="t"/>
          <a:lstStyle/>
          <a:p>
            <a:pPr indent="0" marL="0">
              <a:buNone/>
            </a:pPr>
            <a:r>
              <a:rPr lang="en-US" sz="1500" dirty="0">
                <a:solidFill>
                  <a:srgbClr val="545C57"/>
                </a:solidFill>
                <a:latin typeface="Arial" pitchFamily="34" charset="0"/>
                <a:ea typeface="Arial" pitchFamily="34" charset="-122"/>
                <a:cs typeface="Arial" pitchFamily="34" charset="-120"/>
              </a:rPr>
              <a:t>.claude/skills/ in the project · ~/.claude/skills/ for every project · written in English, they answer in your language</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45C57"/>
                </a:solidFill>
                <a:latin typeface="Arial"/>
                <a:ea typeface="Arial"/>
                <a:cs typeface="Aria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914400"/>
          </a:xfrm>
          <a:prstGeom prst="rect">
            <a:avLst/>
          </a:prstGeom>
          <a:noFill/>
          <a:ln/>
        </p:spPr>
        <p:txBody>
          <a:bodyPr wrap="square" lIns="0" tIns="0" rIns="0" bIns="0" rtlCol="0" anchor="t"/>
          <a:lstStyle/>
          <a:p>
            <a:pPr algn="l" indent="0" marL="0">
              <a:buNone/>
            </a:pPr>
            <a:r>
              <a:rPr lang="en-US" sz="3600" b="1" dirty="0">
                <a:solidFill>
                  <a:srgbClr val="121614"/>
                </a:solidFill>
                <a:latin typeface="Bricolage Grotesque" pitchFamily="34" charset="0"/>
                <a:ea typeface="Bricolage Grotesque" pitchFamily="34" charset="-122"/>
                <a:cs typeface="Bricolage Grotesque" pitchFamily="34" charset="-120"/>
              </a:rPr>
              <a:t>Subagents: their own context and model</a:t>
            </a:r>
            <a:endParaRPr lang="en-US" sz="3600" dirty="0"/>
          </a:p>
        </p:txBody>
      </p:sp>
      <p:sp>
        <p:nvSpPr>
          <p:cNvPr id="3" name="modelo-0"/>
          <p:cNvSpPr/>
          <p:nvPr/>
        </p:nvSpPr>
        <p:spPr>
          <a:xfrm>
            <a:off x="548640" y="1691640"/>
            <a:ext cx="3484778" cy="3749040"/>
          </a:xfrm>
          <a:prstGeom prst="rect">
            <a:avLst/>
          </a:prstGeom>
          <a:solidFill>
            <a:srgbClr val="E6E6E1"/>
          </a:solidFill>
          <a:ln w="12700">
            <a:solidFill>
              <a:srgbClr val="E6E6E1"/>
            </a:solidFill>
            <a:prstDash val="solid"/>
          </a:ln>
        </p:spPr>
      </p:sp>
      <p:sp>
        <p:nvSpPr>
          <p:cNvPr id="4" name="modelo-marca-0"/>
          <p:cNvSpPr/>
          <p:nvPr/>
        </p:nvSpPr>
        <p:spPr>
          <a:xfrm>
            <a:off x="868680" y="2011680"/>
            <a:ext cx="384048" cy="384048"/>
          </a:xfrm>
          <a:prstGeom prst="rect">
            <a:avLst/>
          </a:prstGeom>
          <a:solidFill>
            <a:srgbClr val="1A4BE0"/>
          </a:solidFill>
          <a:ln w="12700">
            <a:solidFill>
              <a:srgbClr val="1A4BE0"/>
            </a:solidFill>
            <a:prstDash val="solid"/>
          </a:ln>
        </p:spPr>
      </p:sp>
      <p:sp>
        <p:nvSpPr>
          <p:cNvPr id="5" name="modelo-nome-0"/>
          <p:cNvSpPr txBox="1"/>
          <p:nvPr/>
        </p:nvSpPr>
        <p:spPr>
          <a:xfrm>
            <a:off x="868680" y="2606040"/>
            <a:ext cx="2844698" cy="1005840"/>
          </a:xfrm>
          <a:prstGeom prst="rect">
            <a:avLst/>
          </a:prstGeom>
          <a:noFill/>
          <a:ln/>
        </p:spPr>
        <p:txBody>
          <a:bodyPr wrap="square" lIns="0" tIns="0" rIns="0" bIns="0" rtlCol="0" anchor="t"/>
          <a:lstStyle/>
          <a:p>
            <a:pPr indent="0" marL="0">
              <a:buNone/>
            </a:pPr>
            <a:r>
              <a:rPr lang="en-US" sz="4800" b="1" dirty="0">
                <a:solidFill>
                  <a:srgbClr val="121614"/>
                </a:solidFill>
                <a:latin typeface="Bricolage Grotesque" pitchFamily="34" charset="0"/>
                <a:ea typeface="Bricolage Grotesque" pitchFamily="34" charset="-122"/>
                <a:cs typeface="Bricolage Grotesque" pitchFamily="34" charset="-120"/>
              </a:rPr>
              <a:t>Opus</a:t>
            </a:r>
            <a:endParaRPr lang="en-US" sz="4800" dirty="0"/>
          </a:p>
        </p:txBody>
      </p:sp>
      <p:sp>
        <p:nvSpPr>
          <p:cNvPr id="6" name="modelo-papel-0"/>
          <p:cNvSpPr txBox="1"/>
          <p:nvPr/>
        </p:nvSpPr>
        <p:spPr>
          <a:xfrm>
            <a:off x="868680" y="3703320"/>
            <a:ext cx="2844698" cy="822960"/>
          </a:xfrm>
          <a:prstGeom prst="rect">
            <a:avLst/>
          </a:prstGeom>
          <a:noFill/>
          <a:ln/>
        </p:spPr>
        <p:txBody>
          <a:bodyPr wrap="square" lIns="0" tIns="0" rIns="0" bIns="0" rtlCol="0" anchor="t"/>
          <a:lstStyle/>
          <a:p>
            <a:pPr indent="0" marL="0">
              <a:buNone/>
            </a:pPr>
            <a:r>
              <a:rPr lang="en-US" sz="2000" dirty="0">
                <a:solidFill>
                  <a:srgbClr val="121614"/>
                </a:solidFill>
                <a:latin typeface="Arial" pitchFamily="34" charset="0"/>
                <a:ea typeface="Arial" pitchFamily="34" charset="-122"/>
                <a:cs typeface="Arial" pitchFamily="34" charset="-120"/>
              </a:rPr>
              <a:t>plan and review</a:t>
            </a:r>
            <a:endParaRPr lang="en-US" sz="2000" dirty="0"/>
          </a:p>
        </p:txBody>
      </p:sp>
      <p:sp>
        <p:nvSpPr>
          <p:cNvPr id="7" name="modelo-preco-0"/>
          <p:cNvSpPr txBox="1"/>
          <p:nvPr/>
        </p:nvSpPr>
        <p:spPr>
          <a:xfrm>
            <a:off x="868680" y="4663440"/>
            <a:ext cx="2844698" cy="457200"/>
          </a:xfrm>
          <a:prstGeom prst="rect">
            <a:avLst/>
          </a:prstGeom>
          <a:noFill/>
          <a:ln/>
        </p:spPr>
        <p:txBody>
          <a:bodyPr wrap="square" lIns="0" tIns="0" rIns="0" bIns="0" rtlCol="0" anchor="t"/>
          <a:lstStyle/>
          <a:p>
            <a:pPr indent="0" marL="0">
              <a:buNone/>
            </a:pPr>
            <a:r>
              <a:rPr lang="en-US" sz="1800" b="1" dirty="0">
                <a:solidFill>
                  <a:srgbClr val="545C57"/>
                </a:solidFill>
                <a:latin typeface="Arial" pitchFamily="34" charset="0"/>
                <a:ea typeface="Arial" pitchFamily="34" charset="-122"/>
                <a:cs typeface="Arial" pitchFamily="34" charset="-120"/>
              </a:rPr>
              <a:t>US$ 4 / 20</a:t>
            </a:r>
            <a:endParaRPr lang="en-US" sz="1800" dirty="0"/>
          </a:p>
        </p:txBody>
      </p:sp>
      <p:sp>
        <p:nvSpPr>
          <p:cNvPr id="8" name="modelo-1"/>
          <p:cNvSpPr/>
          <p:nvPr/>
        </p:nvSpPr>
        <p:spPr>
          <a:xfrm>
            <a:off x="4353458" y="1691640"/>
            <a:ext cx="3484778" cy="3749040"/>
          </a:xfrm>
          <a:prstGeom prst="rect">
            <a:avLst/>
          </a:prstGeom>
          <a:solidFill>
            <a:srgbClr val="E6E6E1"/>
          </a:solidFill>
          <a:ln w="12700">
            <a:solidFill>
              <a:srgbClr val="E6E6E1"/>
            </a:solidFill>
            <a:prstDash val="solid"/>
          </a:ln>
        </p:spPr>
      </p:sp>
      <p:sp>
        <p:nvSpPr>
          <p:cNvPr id="9" name="modelo-marca-1"/>
          <p:cNvSpPr/>
          <p:nvPr/>
        </p:nvSpPr>
        <p:spPr>
          <a:xfrm>
            <a:off x="4673498" y="2011680"/>
            <a:ext cx="384048" cy="384048"/>
          </a:xfrm>
          <a:prstGeom prst="rect">
            <a:avLst/>
          </a:prstGeom>
          <a:solidFill>
            <a:srgbClr val="1E9E57"/>
          </a:solidFill>
          <a:ln w="12700">
            <a:solidFill>
              <a:srgbClr val="1E9E57"/>
            </a:solidFill>
            <a:prstDash val="solid"/>
          </a:ln>
        </p:spPr>
      </p:sp>
      <p:sp>
        <p:nvSpPr>
          <p:cNvPr id="10" name="modelo-nome-1"/>
          <p:cNvSpPr txBox="1"/>
          <p:nvPr/>
        </p:nvSpPr>
        <p:spPr>
          <a:xfrm>
            <a:off x="4673498" y="2606040"/>
            <a:ext cx="2844698" cy="1005840"/>
          </a:xfrm>
          <a:prstGeom prst="rect">
            <a:avLst/>
          </a:prstGeom>
          <a:noFill/>
          <a:ln/>
        </p:spPr>
        <p:txBody>
          <a:bodyPr wrap="square" lIns="0" tIns="0" rIns="0" bIns="0" rtlCol="0" anchor="t"/>
          <a:lstStyle/>
          <a:p>
            <a:pPr indent="0" marL="0">
              <a:buNone/>
            </a:pPr>
            <a:r>
              <a:rPr lang="en-US" sz="4800" b="1" dirty="0">
                <a:solidFill>
                  <a:srgbClr val="121614"/>
                </a:solidFill>
                <a:latin typeface="Bricolage Grotesque" pitchFamily="34" charset="0"/>
                <a:ea typeface="Bricolage Grotesque" pitchFamily="34" charset="-122"/>
                <a:cs typeface="Bricolage Grotesque" pitchFamily="34" charset="-120"/>
              </a:rPr>
              <a:t>Sonnet</a:t>
            </a:r>
            <a:endParaRPr lang="en-US" sz="4800" dirty="0"/>
          </a:p>
        </p:txBody>
      </p:sp>
      <p:sp>
        <p:nvSpPr>
          <p:cNvPr id="11" name="modelo-papel-1"/>
          <p:cNvSpPr txBox="1"/>
          <p:nvPr/>
        </p:nvSpPr>
        <p:spPr>
          <a:xfrm>
            <a:off x="4673498" y="3703320"/>
            <a:ext cx="2844698" cy="822960"/>
          </a:xfrm>
          <a:prstGeom prst="rect">
            <a:avLst/>
          </a:prstGeom>
          <a:noFill/>
          <a:ln/>
        </p:spPr>
        <p:txBody>
          <a:bodyPr wrap="square" lIns="0" tIns="0" rIns="0" bIns="0" rtlCol="0" anchor="t"/>
          <a:lstStyle/>
          <a:p>
            <a:pPr indent="0" marL="0">
              <a:buNone/>
            </a:pPr>
            <a:r>
              <a:rPr lang="en-US" sz="2000" dirty="0">
                <a:solidFill>
                  <a:srgbClr val="121614"/>
                </a:solidFill>
                <a:latin typeface="Arial" pitchFamily="34" charset="0"/>
                <a:ea typeface="Arial" pitchFamily="34" charset="-122"/>
                <a:cs typeface="Arial" pitchFamily="34" charset="-120"/>
              </a:rPr>
              <a:t>integration and hard logic</a:t>
            </a:r>
            <a:endParaRPr lang="en-US" sz="2000" dirty="0"/>
          </a:p>
        </p:txBody>
      </p:sp>
      <p:sp>
        <p:nvSpPr>
          <p:cNvPr id="12" name="modelo-preco-1"/>
          <p:cNvSpPr txBox="1"/>
          <p:nvPr/>
        </p:nvSpPr>
        <p:spPr>
          <a:xfrm>
            <a:off x="4673498" y="4663440"/>
            <a:ext cx="2844698" cy="457200"/>
          </a:xfrm>
          <a:prstGeom prst="rect">
            <a:avLst/>
          </a:prstGeom>
          <a:noFill/>
          <a:ln/>
        </p:spPr>
        <p:txBody>
          <a:bodyPr wrap="square" lIns="0" tIns="0" rIns="0" bIns="0" rtlCol="0" anchor="t"/>
          <a:lstStyle/>
          <a:p>
            <a:pPr indent="0" marL="0">
              <a:buNone/>
            </a:pPr>
            <a:r>
              <a:rPr lang="en-US" sz="1800" b="1" dirty="0">
                <a:solidFill>
                  <a:srgbClr val="545C57"/>
                </a:solidFill>
                <a:latin typeface="Arial" pitchFamily="34" charset="0"/>
                <a:ea typeface="Arial" pitchFamily="34" charset="-122"/>
                <a:cs typeface="Arial" pitchFamily="34" charset="-120"/>
              </a:rPr>
              <a:t>US$ 2 / 10</a:t>
            </a:r>
            <a:endParaRPr lang="en-US" sz="1800" dirty="0"/>
          </a:p>
        </p:txBody>
      </p:sp>
      <p:sp>
        <p:nvSpPr>
          <p:cNvPr id="13" name="modelo-2"/>
          <p:cNvSpPr/>
          <p:nvPr/>
        </p:nvSpPr>
        <p:spPr>
          <a:xfrm>
            <a:off x="8158277" y="1691640"/>
            <a:ext cx="3484778" cy="3749040"/>
          </a:xfrm>
          <a:prstGeom prst="rect">
            <a:avLst/>
          </a:prstGeom>
          <a:solidFill>
            <a:srgbClr val="E6E6E1"/>
          </a:solidFill>
          <a:ln w="12700">
            <a:solidFill>
              <a:srgbClr val="E6E6E1"/>
            </a:solidFill>
            <a:prstDash val="solid"/>
          </a:ln>
        </p:spPr>
      </p:sp>
      <p:sp>
        <p:nvSpPr>
          <p:cNvPr id="14" name="modelo-marca-2"/>
          <p:cNvSpPr/>
          <p:nvPr/>
        </p:nvSpPr>
        <p:spPr>
          <a:xfrm>
            <a:off x="8478317" y="2011680"/>
            <a:ext cx="384048" cy="384048"/>
          </a:xfrm>
          <a:prstGeom prst="rect">
            <a:avLst/>
          </a:prstGeom>
          <a:solidFill>
            <a:srgbClr val="F1C232"/>
          </a:solidFill>
          <a:ln w="12700">
            <a:solidFill>
              <a:srgbClr val="F1C232"/>
            </a:solidFill>
            <a:prstDash val="solid"/>
          </a:ln>
        </p:spPr>
      </p:sp>
      <p:sp>
        <p:nvSpPr>
          <p:cNvPr id="15" name="modelo-nome-2"/>
          <p:cNvSpPr txBox="1"/>
          <p:nvPr/>
        </p:nvSpPr>
        <p:spPr>
          <a:xfrm>
            <a:off x="8478317" y="2606040"/>
            <a:ext cx="2844698" cy="1005840"/>
          </a:xfrm>
          <a:prstGeom prst="rect">
            <a:avLst/>
          </a:prstGeom>
          <a:noFill/>
          <a:ln/>
        </p:spPr>
        <p:txBody>
          <a:bodyPr wrap="square" lIns="0" tIns="0" rIns="0" bIns="0" rtlCol="0" anchor="t"/>
          <a:lstStyle/>
          <a:p>
            <a:pPr indent="0" marL="0">
              <a:buNone/>
            </a:pPr>
            <a:r>
              <a:rPr lang="en-US" sz="4800" b="1" dirty="0">
                <a:solidFill>
                  <a:srgbClr val="121614"/>
                </a:solidFill>
                <a:latin typeface="Bricolage Grotesque" pitchFamily="34" charset="0"/>
                <a:ea typeface="Bricolage Grotesque" pitchFamily="34" charset="-122"/>
                <a:cs typeface="Bricolage Grotesque" pitchFamily="34" charset="-120"/>
              </a:rPr>
              <a:t>Haiku</a:t>
            </a:r>
            <a:endParaRPr lang="en-US" sz="4800" dirty="0"/>
          </a:p>
        </p:txBody>
      </p:sp>
      <p:sp>
        <p:nvSpPr>
          <p:cNvPr id="16" name="modelo-papel-2"/>
          <p:cNvSpPr txBox="1"/>
          <p:nvPr/>
        </p:nvSpPr>
        <p:spPr>
          <a:xfrm>
            <a:off x="8478317" y="3703320"/>
            <a:ext cx="2844698" cy="822960"/>
          </a:xfrm>
          <a:prstGeom prst="rect">
            <a:avLst/>
          </a:prstGeom>
          <a:noFill/>
          <a:ln/>
        </p:spPr>
        <p:txBody>
          <a:bodyPr wrap="square" lIns="0" tIns="0" rIns="0" bIns="0" rtlCol="0" anchor="t"/>
          <a:lstStyle/>
          <a:p>
            <a:pPr indent="0" marL="0">
              <a:buNone/>
            </a:pPr>
            <a:r>
              <a:rPr lang="en-US" sz="2000" dirty="0">
                <a:solidFill>
                  <a:srgbClr val="121614"/>
                </a:solidFill>
                <a:latin typeface="Arial" pitchFamily="34" charset="0"/>
                <a:ea typeface="Arial" pitchFamily="34" charset="-122"/>
                <a:cs typeface="Arial" pitchFamily="34" charset="-120"/>
              </a:rPr>
              <a:t>the bulk of the swarm</a:t>
            </a:r>
            <a:endParaRPr lang="en-US" sz="2000" dirty="0"/>
          </a:p>
        </p:txBody>
      </p:sp>
      <p:sp>
        <p:nvSpPr>
          <p:cNvPr id="17" name="modelo-preco-2"/>
          <p:cNvSpPr txBox="1"/>
          <p:nvPr/>
        </p:nvSpPr>
        <p:spPr>
          <a:xfrm>
            <a:off x="8478317" y="4663440"/>
            <a:ext cx="2844698" cy="457200"/>
          </a:xfrm>
          <a:prstGeom prst="rect">
            <a:avLst/>
          </a:prstGeom>
          <a:noFill/>
          <a:ln/>
        </p:spPr>
        <p:txBody>
          <a:bodyPr wrap="square" lIns="0" tIns="0" rIns="0" bIns="0" rtlCol="0" anchor="t"/>
          <a:lstStyle/>
          <a:p>
            <a:pPr indent="0" marL="0">
              <a:buNone/>
            </a:pPr>
            <a:r>
              <a:rPr lang="en-US" sz="1800" b="1" dirty="0">
                <a:solidFill>
                  <a:srgbClr val="545C57"/>
                </a:solidFill>
                <a:latin typeface="Arial" pitchFamily="34" charset="0"/>
                <a:ea typeface="Arial" pitchFamily="34" charset="-122"/>
                <a:cs typeface="Arial" pitchFamily="34" charset="-120"/>
              </a:rPr>
              <a:t>US$ 0.10 / 0.50</a:t>
            </a:r>
            <a:endParaRPr lang="en-US" sz="1800" dirty="0"/>
          </a:p>
        </p:txBody>
      </p:sp>
      <p:sp>
        <p:nvSpPr>
          <p:cNvPr id="18" name="rodape"/>
          <p:cNvSpPr txBox="1"/>
          <p:nvPr/>
        </p:nvSpPr>
        <p:spPr>
          <a:xfrm>
            <a:off x="548640" y="5669280"/>
            <a:ext cx="11094415" cy="457200"/>
          </a:xfrm>
          <a:prstGeom prst="rect">
            <a:avLst/>
          </a:prstGeom>
          <a:noFill/>
          <a:ln/>
        </p:spPr>
        <p:txBody>
          <a:bodyPr wrap="square" lIns="0" tIns="0" rIns="0" bIns="0" rtlCol="0" anchor="t"/>
          <a:lstStyle/>
          <a:p>
            <a:pPr indent="0" marL="0">
              <a:buNone/>
            </a:pPr>
            <a:r>
              <a:rPr lang="en-US" sz="1400" dirty="0">
                <a:solidFill>
                  <a:srgbClr val="545C57"/>
                </a:solidFill>
                <a:latin typeface="Arial" pitchFamily="34" charset="0"/>
                <a:ea typeface="Arial" pitchFamily="34" charset="-122"/>
                <a:cs typeface="Arial" pitchFamily="34" charset="-120"/>
              </a:rPr>
              <a:t>Price per million tokens: input / output. Source: pricing.json (2026-10-16).</a:t>
            </a:r>
            <a:endParaRPr lang="en-US" sz="1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45C57"/>
                </a:solidFill>
                <a:latin typeface="Arial"/>
                <a:ea typeface="Arial"/>
                <a:cs typeface="Aria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914400"/>
          </a:xfrm>
          <a:prstGeom prst="rect">
            <a:avLst/>
          </a:prstGeom>
          <a:noFill/>
          <a:ln/>
        </p:spPr>
        <p:txBody>
          <a:bodyPr wrap="square" lIns="0" tIns="0" rIns="0" bIns="0" rtlCol="0" anchor="t"/>
          <a:lstStyle/>
          <a:p>
            <a:pPr algn="l" indent="0" marL="0">
              <a:buNone/>
            </a:pPr>
            <a:r>
              <a:rPr lang="en-US" sz="3600" b="1" dirty="0">
                <a:solidFill>
                  <a:srgbClr val="121614"/>
                </a:solidFill>
                <a:latin typeface="Bricolage Grotesque" pitchFamily="34" charset="0"/>
                <a:ea typeface="Bricolage Grotesque" pitchFamily="34" charset="-122"/>
                <a:cs typeface="Bricolage Grotesque" pitchFamily="34" charset="-120"/>
              </a:rPr>
              <a:t>The economic rule</a:t>
            </a:r>
            <a:endParaRPr lang="en-US" sz="3600" dirty="0"/>
          </a:p>
        </p:txBody>
      </p:sp>
      <p:sp>
        <p:nvSpPr>
          <p:cNvPr id="3" name="stat-0"/>
          <p:cNvSpPr/>
          <p:nvPr/>
        </p:nvSpPr>
        <p:spPr>
          <a:xfrm>
            <a:off x="548640" y="1737360"/>
            <a:ext cx="3484778" cy="3291840"/>
          </a:xfrm>
          <a:prstGeom prst="rect">
            <a:avLst/>
          </a:prstGeom>
          <a:solidFill>
            <a:srgbClr val="121614"/>
          </a:solidFill>
          <a:ln w="12700">
            <a:solidFill>
              <a:srgbClr val="121614"/>
            </a:solidFill>
            <a:prstDash val="solid"/>
          </a:ln>
        </p:spPr>
      </p:sp>
      <p:sp>
        <p:nvSpPr>
          <p:cNvPr id="4" name="stat-valor-0"/>
          <p:cNvSpPr txBox="1"/>
          <p:nvPr/>
        </p:nvSpPr>
        <p:spPr>
          <a:xfrm>
            <a:off x="868680" y="2057400"/>
            <a:ext cx="2844698" cy="1280160"/>
          </a:xfrm>
          <a:prstGeom prst="rect">
            <a:avLst/>
          </a:prstGeom>
          <a:noFill/>
          <a:ln/>
        </p:spPr>
        <p:txBody>
          <a:bodyPr wrap="square" lIns="0" tIns="0" rIns="0" bIns="0" rtlCol="0" anchor="t">
            <a:normAutofit/>
          </a:bodyPr>
          <a:lstStyle/>
          <a:p>
            <a:pPr indent="0" marL="0">
              <a:buNone/>
            </a:pPr>
            <a:r>
              <a:rPr lang="en-US" sz="6000" b="1" dirty="0">
                <a:solidFill>
                  <a:srgbClr val="E8EDE9"/>
                </a:solidFill>
                <a:latin typeface="Bricolage Grotesque" pitchFamily="34" charset="0"/>
                <a:ea typeface="Bricolage Grotesque" pitchFamily="34" charset="-122"/>
                <a:cs typeface="Bricolage Grotesque" pitchFamily="34" charset="-120"/>
              </a:rPr>
              <a:t>20×</a:t>
            </a:r>
            <a:endParaRPr lang="en-US" sz="6000" dirty="0"/>
          </a:p>
        </p:txBody>
      </p:sp>
      <p:sp>
        <p:nvSpPr>
          <p:cNvPr id="5" name="stat-rotulo-0"/>
          <p:cNvSpPr txBox="1"/>
          <p:nvPr/>
        </p:nvSpPr>
        <p:spPr>
          <a:xfrm>
            <a:off x="868680" y="3474720"/>
            <a:ext cx="2844698" cy="1371600"/>
          </a:xfrm>
          <a:prstGeom prst="rect">
            <a:avLst/>
          </a:prstGeom>
          <a:noFill/>
          <a:ln/>
        </p:spPr>
        <p:txBody>
          <a:bodyPr wrap="square" lIns="0" tIns="0" rIns="0" bIns="0" rtlCol="0" anchor="t"/>
          <a:lstStyle/>
          <a:p>
            <a:pPr indent="0" marL="0">
              <a:buNone/>
            </a:pPr>
            <a:r>
              <a:rPr lang="en-US" sz="1800" dirty="0">
                <a:solidFill>
                  <a:srgbClr val="9BA59F"/>
                </a:solidFill>
                <a:latin typeface="Arial" pitchFamily="34" charset="0"/>
                <a:ea typeface="Arial" pitchFamily="34" charset="-122"/>
                <a:cs typeface="Arial" pitchFamily="34" charset="-120"/>
              </a:rPr>
              <a:t>Haiku is 20 times cheaper than Sonnet</a:t>
            </a:r>
            <a:endParaRPr lang="en-US" sz="1800" dirty="0"/>
          </a:p>
        </p:txBody>
      </p:sp>
      <p:sp>
        <p:nvSpPr>
          <p:cNvPr id="6" name="stat-1"/>
          <p:cNvSpPr/>
          <p:nvPr/>
        </p:nvSpPr>
        <p:spPr>
          <a:xfrm>
            <a:off x="4353458" y="1737360"/>
            <a:ext cx="3484778" cy="3291840"/>
          </a:xfrm>
          <a:prstGeom prst="rect">
            <a:avLst/>
          </a:prstGeom>
          <a:solidFill>
            <a:srgbClr val="E6E6E1"/>
          </a:solidFill>
          <a:ln w="12700">
            <a:solidFill>
              <a:srgbClr val="E6E6E1"/>
            </a:solidFill>
            <a:prstDash val="solid"/>
          </a:ln>
        </p:spPr>
      </p:sp>
      <p:sp>
        <p:nvSpPr>
          <p:cNvPr id="7" name="stat-valor-1"/>
          <p:cNvSpPr txBox="1"/>
          <p:nvPr/>
        </p:nvSpPr>
        <p:spPr>
          <a:xfrm>
            <a:off x="4673498" y="2057400"/>
            <a:ext cx="2844698" cy="1280160"/>
          </a:xfrm>
          <a:prstGeom prst="rect">
            <a:avLst/>
          </a:prstGeom>
          <a:noFill/>
          <a:ln/>
        </p:spPr>
        <p:txBody>
          <a:bodyPr wrap="square" lIns="0" tIns="0" rIns="0" bIns="0" rtlCol="0" anchor="t">
            <a:normAutofit/>
          </a:bodyPr>
          <a:lstStyle/>
          <a:p>
            <a:pPr indent="0" marL="0">
              <a:buNone/>
            </a:pPr>
            <a:r>
              <a:rPr lang="en-US" sz="4400" b="1" dirty="0">
                <a:solidFill>
                  <a:srgbClr val="121614"/>
                </a:solidFill>
                <a:latin typeface="Bricolage Grotesque" pitchFamily="34" charset="0"/>
                <a:ea typeface="Bricolage Grotesque" pitchFamily="34" charset="-122"/>
                <a:cs typeface="Bricolage Grotesque" pitchFamily="34" charset="-120"/>
              </a:rPr>
              <a:t>US$ 0.0017</a:t>
            </a:r>
            <a:endParaRPr lang="en-US" sz="4400" dirty="0"/>
          </a:p>
        </p:txBody>
      </p:sp>
      <p:sp>
        <p:nvSpPr>
          <p:cNvPr id="8" name="stat-rotulo-1"/>
          <p:cNvSpPr txBox="1"/>
          <p:nvPr/>
        </p:nvSpPr>
        <p:spPr>
          <a:xfrm>
            <a:off x="4673498" y="3474720"/>
            <a:ext cx="2844698" cy="1371600"/>
          </a:xfrm>
          <a:prstGeom prst="rect">
            <a:avLst/>
          </a:prstGeom>
          <a:noFill/>
          <a:ln/>
        </p:spPr>
        <p:txBody>
          <a:bodyPr wrap="square" lIns="0" tIns="0" rIns="0" bIns="0" rtlCol="0" anchor="t"/>
          <a:lstStyle/>
          <a:p>
            <a:pPr indent="0" marL="0">
              <a:buNone/>
            </a:pPr>
            <a:r>
              <a:rPr lang="en-US" sz="1800" dirty="0">
                <a:solidFill>
                  <a:srgbClr val="545C57"/>
                </a:solidFill>
                <a:latin typeface="Arial" pitchFamily="34" charset="0"/>
                <a:ea typeface="Arial" pitchFamily="34" charset="-122"/>
                <a:cs typeface="Arial" pitchFamily="34" charset="-120"/>
              </a:rPr>
              <a:t>average cost of one card built by a Haiku agent</a:t>
            </a:r>
            <a:endParaRPr lang="en-US" sz="1800" dirty="0"/>
          </a:p>
        </p:txBody>
      </p:sp>
      <p:sp>
        <p:nvSpPr>
          <p:cNvPr id="9" name="stat-2"/>
          <p:cNvSpPr/>
          <p:nvPr/>
        </p:nvSpPr>
        <p:spPr>
          <a:xfrm>
            <a:off x="8158277" y="1737360"/>
            <a:ext cx="3484778" cy="3291840"/>
          </a:xfrm>
          <a:prstGeom prst="rect">
            <a:avLst/>
          </a:prstGeom>
          <a:solidFill>
            <a:srgbClr val="E6E6E1"/>
          </a:solidFill>
          <a:ln w="12700">
            <a:solidFill>
              <a:srgbClr val="E6E6E1"/>
            </a:solidFill>
            <a:prstDash val="solid"/>
          </a:ln>
        </p:spPr>
      </p:sp>
      <p:sp>
        <p:nvSpPr>
          <p:cNvPr id="10" name="stat-valor-2"/>
          <p:cNvSpPr txBox="1"/>
          <p:nvPr/>
        </p:nvSpPr>
        <p:spPr>
          <a:xfrm>
            <a:off x="8478317" y="2057400"/>
            <a:ext cx="2844698" cy="1280160"/>
          </a:xfrm>
          <a:prstGeom prst="rect">
            <a:avLst/>
          </a:prstGeom>
          <a:noFill/>
          <a:ln/>
        </p:spPr>
        <p:txBody>
          <a:bodyPr wrap="square" lIns="0" tIns="0" rIns="0" bIns="0" rtlCol="0" anchor="t">
            <a:normAutofit/>
          </a:bodyPr>
          <a:lstStyle/>
          <a:p>
            <a:pPr indent="0" marL="0">
              <a:buNone/>
            </a:pPr>
            <a:r>
              <a:rPr lang="en-US" sz="6000" b="1" dirty="0">
                <a:solidFill>
                  <a:srgbClr val="121614"/>
                </a:solidFill>
                <a:latin typeface="Bricolage Grotesque" pitchFamily="34" charset="0"/>
                <a:ea typeface="Bricolage Grotesque" pitchFamily="34" charset="-122"/>
                <a:cs typeface="Bricolage Grotesque" pitchFamily="34" charset="-120"/>
              </a:rPr>
              <a:t>50%</a:t>
            </a:r>
            <a:endParaRPr lang="en-US" sz="6000" dirty="0"/>
          </a:p>
        </p:txBody>
      </p:sp>
      <p:sp>
        <p:nvSpPr>
          <p:cNvPr id="11" name="stat-rotulo-2"/>
          <p:cNvSpPr txBox="1"/>
          <p:nvPr/>
        </p:nvSpPr>
        <p:spPr>
          <a:xfrm>
            <a:off x="8478317" y="3474720"/>
            <a:ext cx="2844698" cy="1371600"/>
          </a:xfrm>
          <a:prstGeom prst="rect">
            <a:avLst/>
          </a:prstGeom>
          <a:noFill/>
          <a:ln/>
        </p:spPr>
        <p:txBody>
          <a:bodyPr wrap="square" lIns="0" tIns="0" rIns="0" bIns="0" rtlCol="0" anchor="t"/>
          <a:lstStyle/>
          <a:p>
            <a:pPr indent="0" marL="0">
              <a:buNone/>
            </a:pPr>
            <a:r>
              <a:rPr lang="en-US" sz="1800" dirty="0">
                <a:solidFill>
                  <a:srgbClr val="545C57"/>
                </a:solidFill>
                <a:latin typeface="Arial" pitchFamily="34" charset="0"/>
                <a:ea typeface="Arial" pitchFamily="34" charset="-122"/>
                <a:cs typeface="Arial" pitchFamily="34" charset="-120"/>
              </a:rPr>
              <a:t>of the cost goes to the main session, not to the swarm</a:t>
            </a:r>
            <a:endParaRPr lang="en-US" sz="1800" dirty="0"/>
          </a:p>
        </p:txBody>
      </p:sp>
      <p:sp>
        <p:nvSpPr>
          <p:cNvPr id="12" name="rodape"/>
          <p:cNvSpPr txBox="1"/>
          <p:nvPr/>
        </p:nvSpPr>
        <p:spPr>
          <a:xfrm>
            <a:off x="548640" y="5349240"/>
            <a:ext cx="11094415" cy="640080"/>
          </a:xfrm>
          <a:prstGeom prst="rect">
            <a:avLst/>
          </a:prstGeom>
          <a:noFill/>
          <a:ln/>
        </p:spPr>
        <p:txBody>
          <a:bodyPr wrap="square" lIns="0" tIns="0" rIns="0" bIns="0" rtlCol="0" anchor="t"/>
          <a:lstStyle/>
          <a:p>
            <a:pPr indent="0" marL="0">
              <a:buNone/>
            </a:pPr>
            <a:r>
              <a:rPr lang="en-US" sz="1600" dirty="0">
                <a:solidFill>
                  <a:srgbClr val="121614"/>
                </a:solidFill>
                <a:latin typeface="Arial" pitchFamily="34" charset="0"/>
                <a:ea typeface="Arial" pitchFamily="34" charset="-122"/>
                <a:cs typeface="Arial" pitchFamily="34" charset="-120"/>
              </a:rPr>
              <a:t>As much as possible on Haiku. Sonnet only where Haiku fails. Opus only to think and review.</a:t>
            </a:r>
            <a:endParaRPr lang="en-US" sz="16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45C57"/>
                </a:solidFill>
                <a:latin typeface="Arial"/>
                <a:ea typeface="Arial"/>
                <a:cs typeface="Aria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914400"/>
          </a:xfrm>
          <a:prstGeom prst="rect">
            <a:avLst/>
          </a:prstGeom>
          <a:noFill/>
          <a:ln/>
        </p:spPr>
        <p:txBody>
          <a:bodyPr wrap="square" lIns="0" tIns="0" rIns="0" bIns="0" rtlCol="0" anchor="t"/>
          <a:lstStyle/>
          <a:p>
            <a:pPr algn="l" indent="0" marL="0">
              <a:buNone/>
            </a:pPr>
            <a:r>
              <a:rPr lang="en-US" sz="3600" b="1" dirty="0">
                <a:solidFill>
                  <a:srgbClr val="121614"/>
                </a:solidFill>
                <a:latin typeface="Bricolage Grotesque" pitchFamily="34" charset="0"/>
                <a:ea typeface="Bricolage Grotesque" pitchFamily="34" charset="-122"/>
                <a:cs typeface="Bricolage Grotesque" pitchFamily="34" charset="-120"/>
              </a:rPr>
              <a:t>Task → graph → waves</a:t>
            </a:r>
            <a:endParaRPr lang="en-US" sz="3600" dirty="0"/>
          </a:p>
        </p:txBody>
      </p:sp>
      <p:sp>
        <p:nvSpPr>
          <p:cNvPr id="3" name="onda-0"/>
          <p:cNvSpPr/>
          <p:nvPr/>
        </p:nvSpPr>
        <p:spPr>
          <a:xfrm>
            <a:off x="548640" y="1691640"/>
            <a:ext cx="4114800" cy="4023360"/>
          </a:xfrm>
          <a:prstGeom prst="rect">
            <a:avLst/>
          </a:prstGeom>
          <a:solidFill>
            <a:srgbClr val="E6E6E1"/>
          </a:solidFill>
          <a:ln w="12700">
            <a:solidFill>
              <a:srgbClr val="E6E6E1"/>
            </a:solidFill>
            <a:prstDash val="solid"/>
          </a:ln>
        </p:spPr>
      </p:sp>
      <p:sp>
        <p:nvSpPr>
          <p:cNvPr id="4" name="onda-nome-0"/>
          <p:cNvSpPr txBox="1"/>
          <p:nvPr/>
        </p:nvSpPr>
        <p:spPr>
          <a:xfrm>
            <a:off x="822960" y="1920240"/>
            <a:ext cx="3566160" cy="457200"/>
          </a:xfrm>
          <a:prstGeom prst="rect">
            <a:avLst/>
          </a:prstGeom>
          <a:noFill/>
          <a:ln/>
        </p:spPr>
        <p:txBody>
          <a:bodyPr wrap="square" lIns="0" tIns="0" rIns="0" bIns="0" rtlCol="0" anchor="t"/>
          <a:lstStyle/>
          <a:p>
            <a:pPr indent="0" marL="0">
              <a:buNone/>
            </a:pPr>
            <a:r>
              <a:rPr lang="en-US" sz="2400" b="1" dirty="0">
                <a:solidFill>
                  <a:srgbClr val="121614"/>
                </a:solidFill>
                <a:latin typeface="Bricolage Grotesque" pitchFamily="34" charset="0"/>
                <a:ea typeface="Bricolage Grotesque" pitchFamily="34" charset="-122"/>
                <a:cs typeface="Bricolage Grotesque" pitchFamily="34" charset="-120"/>
              </a:rPr>
              <a:t>Wave 1</a:t>
            </a:r>
            <a:endParaRPr lang="en-US" sz="2400" dirty="0"/>
          </a:p>
        </p:txBody>
      </p:sp>
      <p:sp>
        <p:nvSpPr>
          <p:cNvPr id="5" name="onda-cor-0"/>
          <p:cNvSpPr/>
          <p:nvPr/>
        </p:nvSpPr>
        <p:spPr>
          <a:xfrm>
            <a:off x="822960" y="2487168"/>
            <a:ext cx="201168" cy="201168"/>
          </a:xfrm>
          <a:prstGeom prst="rect">
            <a:avLst/>
          </a:prstGeom>
          <a:solidFill>
            <a:srgbClr val="F1C232"/>
          </a:solidFill>
          <a:ln w="12700">
            <a:solidFill>
              <a:srgbClr val="F1C232"/>
            </a:solidFill>
            <a:prstDash val="solid"/>
          </a:ln>
        </p:spPr>
      </p:sp>
      <p:sp>
        <p:nvSpPr>
          <p:cNvPr id="6" name="onda-modelo-0"/>
          <p:cNvSpPr txBox="1"/>
          <p:nvPr/>
        </p:nvSpPr>
        <p:spPr>
          <a:xfrm>
            <a:off x="1115568" y="2432304"/>
            <a:ext cx="3291840" cy="320040"/>
          </a:xfrm>
          <a:prstGeom prst="rect">
            <a:avLst/>
          </a:prstGeom>
          <a:noFill/>
          <a:ln/>
        </p:spPr>
        <p:txBody>
          <a:bodyPr wrap="square" lIns="0" tIns="0" rIns="0" bIns="0" rtlCol="0" anchor="t"/>
          <a:lstStyle/>
          <a:p>
            <a:pPr indent="0" marL="0">
              <a:buNone/>
            </a:pPr>
            <a:r>
              <a:rPr lang="en-US" sz="1600" b="1" dirty="0">
                <a:solidFill>
                  <a:srgbClr val="121614"/>
                </a:solidFill>
                <a:latin typeface="Arial" pitchFamily="34" charset="0"/>
                <a:ea typeface="Arial" pitchFamily="34" charset="-122"/>
                <a:cs typeface="Arial" pitchFamily="34" charset="-120"/>
              </a:rPr>
              <a:t>Haiku</a:t>
            </a:r>
            <a:endParaRPr lang="en-US" sz="1600" dirty="0"/>
          </a:p>
        </p:txBody>
      </p:sp>
      <p:sp>
        <p:nvSpPr>
          <p:cNvPr id="7" name="onda-sub-0"/>
          <p:cNvSpPr txBox="1"/>
          <p:nvPr/>
        </p:nvSpPr>
        <p:spPr>
          <a:xfrm>
            <a:off x="822960" y="2834640"/>
            <a:ext cx="3566160" cy="548640"/>
          </a:xfrm>
          <a:prstGeom prst="rect">
            <a:avLst/>
          </a:prstGeom>
          <a:noFill/>
          <a:ln/>
        </p:spPr>
        <p:txBody>
          <a:bodyPr wrap="square" lIns="0" tIns="0" rIns="0" bIns="0" rtlCol="0" anchor="t"/>
          <a:lstStyle/>
          <a:p>
            <a:pPr indent="0" marL="0">
              <a:buNone/>
            </a:pPr>
            <a:r>
              <a:rPr lang="en-US" sz="1500" dirty="0">
                <a:solidFill>
                  <a:srgbClr val="545C57"/>
                </a:solidFill>
                <a:latin typeface="Arial" pitchFamily="34" charset="0"/>
                <a:ea typeface="Arial" pitchFamily="34" charset="-122"/>
                <a:cs typeface="Arial" pitchFamily="34" charset="-120"/>
              </a:rPr>
              <a:t>lib-hash and 15 cards</a:t>
            </a:r>
            <a:endParaRPr lang="en-US" sz="1500" dirty="0"/>
          </a:p>
        </p:txBody>
      </p:sp>
      <p:sp>
        <p:nvSpPr>
          <p:cNvPr id="8" name="hash"/>
          <p:cNvSpPr/>
          <p:nvPr/>
        </p:nvSpPr>
        <p:spPr>
          <a:xfrm>
            <a:off x="822960" y="3474720"/>
            <a:ext cx="411480" cy="411480"/>
          </a:xfrm>
          <a:prstGeom prst="rect">
            <a:avLst/>
          </a:prstGeom>
          <a:solidFill>
            <a:srgbClr val="1A4BE0"/>
          </a:solidFill>
          <a:ln w="12700">
            <a:solidFill>
              <a:srgbClr val="1A4BE0"/>
            </a:solidFill>
            <a:prstDash val="solid"/>
          </a:ln>
        </p:spPr>
      </p:sp>
      <p:sp>
        <p:nvSpPr>
          <p:cNvPr id="9" name="hash-rotulo"/>
          <p:cNvSpPr txBox="1"/>
          <p:nvPr/>
        </p:nvSpPr>
        <p:spPr>
          <a:xfrm>
            <a:off x="1325880" y="3547872"/>
            <a:ext cx="1463040" cy="320040"/>
          </a:xfrm>
          <a:prstGeom prst="rect">
            <a:avLst/>
          </a:prstGeom>
          <a:noFill/>
          <a:ln/>
        </p:spPr>
        <p:txBody>
          <a:bodyPr wrap="square" lIns="0" tIns="0" rIns="0" bIns="0" rtlCol="0" anchor="t"/>
          <a:lstStyle/>
          <a:p>
            <a:pPr indent="0" marL="0">
              <a:buNone/>
            </a:pPr>
            <a:r>
              <a:rPr lang="en-US" sz="1400" b="1" dirty="0">
                <a:solidFill>
                  <a:srgbClr val="121614"/>
                </a:solidFill>
                <a:latin typeface="Arial" pitchFamily="34" charset="0"/>
                <a:ea typeface="Arial" pitchFamily="34" charset="-122"/>
                <a:cs typeface="Arial" pitchFamily="34" charset="-120"/>
              </a:rPr>
              <a:t>lib-hash</a:t>
            </a:r>
            <a:endParaRPr lang="en-US" sz="1400" dirty="0"/>
          </a:p>
        </p:txBody>
      </p:sp>
      <p:sp>
        <p:nvSpPr>
          <p:cNvPr id="10" name="cartao-0"/>
          <p:cNvSpPr/>
          <p:nvPr/>
        </p:nvSpPr>
        <p:spPr>
          <a:xfrm>
            <a:off x="822960" y="4069080"/>
            <a:ext cx="384048" cy="384048"/>
          </a:xfrm>
          <a:prstGeom prst="rect">
            <a:avLst/>
          </a:prstGeom>
          <a:solidFill>
            <a:srgbClr val="1E9E57"/>
          </a:solidFill>
          <a:ln w="12700">
            <a:solidFill>
              <a:srgbClr val="1E9E57"/>
            </a:solidFill>
            <a:prstDash val="solid"/>
          </a:ln>
        </p:spPr>
      </p:sp>
      <p:sp>
        <p:nvSpPr>
          <p:cNvPr id="11" name="cartao-1"/>
          <p:cNvSpPr/>
          <p:nvPr/>
        </p:nvSpPr>
        <p:spPr>
          <a:xfrm>
            <a:off x="1426464" y="4069080"/>
            <a:ext cx="384048" cy="384048"/>
          </a:xfrm>
          <a:prstGeom prst="rect">
            <a:avLst/>
          </a:prstGeom>
          <a:solidFill>
            <a:srgbClr val="F1C232"/>
          </a:solidFill>
          <a:ln w="12700">
            <a:solidFill>
              <a:srgbClr val="F1C232"/>
            </a:solidFill>
            <a:prstDash val="solid"/>
          </a:ln>
        </p:spPr>
      </p:sp>
      <p:sp>
        <p:nvSpPr>
          <p:cNvPr id="12" name="cartao-2"/>
          <p:cNvSpPr/>
          <p:nvPr/>
        </p:nvSpPr>
        <p:spPr>
          <a:xfrm>
            <a:off x="2029968" y="4069080"/>
            <a:ext cx="384048" cy="384048"/>
          </a:xfrm>
          <a:prstGeom prst="rect">
            <a:avLst/>
          </a:prstGeom>
          <a:solidFill>
            <a:srgbClr val="1E9E57"/>
          </a:solidFill>
          <a:ln w="12700">
            <a:solidFill>
              <a:srgbClr val="1E9E57"/>
            </a:solidFill>
            <a:prstDash val="solid"/>
          </a:ln>
        </p:spPr>
      </p:sp>
      <p:sp>
        <p:nvSpPr>
          <p:cNvPr id="13" name="cartao-3"/>
          <p:cNvSpPr/>
          <p:nvPr/>
        </p:nvSpPr>
        <p:spPr>
          <a:xfrm>
            <a:off x="2633472" y="4069080"/>
            <a:ext cx="384048" cy="384048"/>
          </a:xfrm>
          <a:prstGeom prst="rect">
            <a:avLst/>
          </a:prstGeom>
          <a:solidFill>
            <a:srgbClr val="1E9E57"/>
          </a:solidFill>
          <a:ln w="12700">
            <a:solidFill>
              <a:srgbClr val="1E9E57"/>
            </a:solidFill>
            <a:prstDash val="solid"/>
          </a:ln>
        </p:spPr>
      </p:sp>
      <p:sp>
        <p:nvSpPr>
          <p:cNvPr id="14" name="cartao-4"/>
          <p:cNvSpPr/>
          <p:nvPr/>
        </p:nvSpPr>
        <p:spPr>
          <a:xfrm>
            <a:off x="3236976" y="4069080"/>
            <a:ext cx="384048" cy="384048"/>
          </a:xfrm>
          <a:prstGeom prst="rect">
            <a:avLst/>
          </a:prstGeom>
          <a:solidFill>
            <a:srgbClr val="1E9E57"/>
          </a:solidFill>
          <a:ln w="12700">
            <a:solidFill>
              <a:srgbClr val="1E9E57"/>
            </a:solidFill>
            <a:prstDash val="solid"/>
          </a:ln>
        </p:spPr>
      </p:sp>
      <p:sp>
        <p:nvSpPr>
          <p:cNvPr id="15" name="cartao-5"/>
          <p:cNvSpPr/>
          <p:nvPr/>
        </p:nvSpPr>
        <p:spPr>
          <a:xfrm>
            <a:off x="822960" y="4526280"/>
            <a:ext cx="384048" cy="384048"/>
          </a:xfrm>
          <a:prstGeom prst="rect">
            <a:avLst/>
          </a:prstGeom>
          <a:solidFill>
            <a:srgbClr val="1E9E57"/>
          </a:solidFill>
          <a:ln w="12700">
            <a:solidFill>
              <a:srgbClr val="1E9E57"/>
            </a:solidFill>
            <a:prstDash val="solid"/>
          </a:ln>
        </p:spPr>
      </p:sp>
      <p:sp>
        <p:nvSpPr>
          <p:cNvPr id="16" name="cartao-6"/>
          <p:cNvSpPr/>
          <p:nvPr/>
        </p:nvSpPr>
        <p:spPr>
          <a:xfrm>
            <a:off x="1426464" y="4526280"/>
            <a:ext cx="384048" cy="384048"/>
          </a:xfrm>
          <a:prstGeom prst="rect">
            <a:avLst/>
          </a:prstGeom>
          <a:solidFill>
            <a:srgbClr val="F1C232"/>
          </a:solidFill>
          <a:ln w="12700">
            <a:solidFill>
              <a:srgbClr val="F1C232"/>
            </a:solidFill>
            <a:prstDash val="solid"/>
          </a:ln>
        </p:spPr>
      </p:sp>
      <p:sp>
        <p:nvSpPr>
          <p:cNvPr id="17" name="cartao-7"/>
          <p:cNvSpPr/>
          <p:nvPr/>
        </p:nvSpPr>
        <p:spPr>
          <a:xfrm>
            <a:off x="2029968" y="4526280"/>
            <a:ext cx="384048" cy="384048"/>
          </a:xfrm>
          <a:prstGeom prst="rect">
            <a:avLst/>
          </a:prstGeom>
          <a:solidFill>
            <a:srgbClr val="1E9E57"/>
          </a:solidFill>
          <a:ln w="12700">
            <a:solidFill>
              <a:srgbClr val="1E9E57"/>
            </a:solidFill>
            <a:prstDash val="solid"/>
          </a:ln>
        </p:spPr>
      </p:sp>
      <p:sp>
        <p:nvSpPr>
          <p:cNvPr id="18" name="cartao-8"/>
          <p:cNvSpPr/>
          <p:nvPr/>
        </p:nvSpPr>
        <p:spPr>
          <a:xfrm>
            <a:off x="2633472" y="4526280"/>
            <a:ext cx="384048" cy="384048"/>
          </a:xfrm>
          <a:prstGeom prst="rect">
            <a:avLst/>
          </a:prstGeom>
          <a:solidFill>
            <a:srgbClr val="1E9E57"/>
          </a:solidFill>
          <a:ln w="12700">
            <a:solidFill>
              <a:srgbClr val="1E9E57"/>
            </a:solidFill>
            <a:prstDash val="solid"/>
          </a:ln>
        </p:spPr>
      </p:sp>
      <p:sp>
        <p:nvSpPr>
          <p:cNvPr id="19" name="cartao-9"/>
          <p:cNvSpPr/>
          <p:nvPr/>
        </p:nvSpPr>
        <p:spPr>
          <a:xfrm>
            <a:off x="3236976" y="4526280"/>
            <a:ext cx="384048" cy="384048"/>
          </a:xfrm>
          <a:prstGeom prst="rect">
            <a:avLst/>
          </a:prstGeom>
          <a:solidFill>
            <a:srgbClr val="1E9E57"/>
          </a:solidFill>
          <a:ln w="12700">
            <a:solidFill>
              <a:srgbClr val="1E9E57"/>
            </a:solidFill>
            <a:prstDash val="solid"/>
          </a:ln>
        </p:spPr>
      </p:sp>
      <p:sp>
        <p:nvSpPr>
          <p:cNvPr id="20" name="cartao-10"/>
          <p:cNvSpPr/>
          <p:nvPr/>
        </p:nvSpPr>
        <p:spPr>
          <a:xfrm>
            <a:off x="822960" y="4983480"/>
            <a:ext cx="384048" cy="384048"/>
          </a:xfrm>
          <a:prstGeom prst="rect">
            <a:avLst/>
          </a:prstGeom>
          <a:solidFill>
            <a:srgbClr val="1E9E57"/>
          </a:solidFill>
          <a:ln w="12700">
            <a:solidFill>
              <a:srgbClr val="1E9E57"/>
            </a:solidFill>
            <a:prstDash val="solid"/>
          </a:ln>
        </p:spPr>
      </p:sp>
      <p:sp>
        <p:nvSpPr>
          <p:cNvPr id="21" name="cartao-11"/>
          <p:cNvSpPr/>
          <p:nvPr/>
        </p:nvSpPr>
        <p:spPr>
          <a:xfrm>
            <a:off x="1426464" y="4983480"/>
            <a:ext cx="384048" cy="384048"/>
          </a:xfrm>
          <a:prstGeom prst="rect">
            <a:avLst/>
          </a:prstGeom>
          <a:solidFill>
            <a:srgbClr val="F1C232"/>
          </a:solidFill>
          <a:ln w="12700">
            <a:solidFill>
              <a:srgbClr val="F1C232"/>
            </a:solidFill>
            <a:prstDash val="solid"/>
          </a:ln>
        </p:spPr>
      </p:sp>
      <p:sp>
        <p:nvSpPr>
          <p:cNvPr id="22" name="cartao-12"/>
          <p:cNvSpPr/>
          <p:nvPr/>
        </p:nvSpPr>
        <p:spPr>
          <a:xfrm>
            <a:off x="2029968" y="4983480"/>
            <a:ext cx="384048" cy="384048"/>
          </a:xfrm>
          <a:prstGeom prst="rect">
            <a:avLst/>
          </a:prstGeom>
          <a:solidFill>
            <a:srgbClr val="C4C7C1"/>
          </a:solidFill>
          <a:ln w="12700">
            <a:solidFill>
              <a:srgbClr val="C4C7C1"/>
            </a:solidFill>
            <a:prstDash val="solid"/>
          </a:ln>
        </p:spPr>
      </p:sp>
      <p:sp>
        <p:nvSpPr>
          <p:cNvPr id="23" name="cartao-13"/>
          <p:cNvSpPr/>
          <p:nvPr/>
        </p:nvSpPr>
        <p:spPr>
          <a:xfrm>
            <a:off x="2633472" y="4983480"/>
            <a:ext cx="384048" cy="384048"/>
          </a:xfrm>
          <a:prstGeom prst="rect">
            <a:avLst/>
          </a:prstGeom>
          <a:solidFill>
            <a:srgbClr val="C4C7C1"/>
          </a:solidFill>
          <a:ln w="12700">
            <a:solidFill>
              <a:srgbClr val="C4C7C1"/>
            </a:solidFill>
            <a:prstDash val="solid"/>
          </a:ln>
        </p:spPr>
      </p:sp>
      <p:sp>
        <p:nvSpPr>
          <p:cNvPr id="24" name="cartao-14"/>
          <p:cNvSpPr/>
          <p:nvPr/>
        </p:nvSpPr>
        <p:spPr>
          <a:xfrm>
            <a:off x="3236976" y="4983480"/>
            <a:ext cx="384048" cy="384048"/>
          </a:xfrm>
          <a:prstGeom prst="rect">
            <a:avLst/>
          </a:prstGeom>
          <a:solidFill>
            <a:srgbClr val="C4C7C1"/>
          </a:solidFill>
          <a:ln w="12700">
            <a:solidFill>
              <a:srgbClr val="C4C7C1"/>
            </a:solidFill>
            <a:prstDash val="solid"/>
          </a:ln>
        </p:spPr>
      </p:sp>
      <p:sp>
        <p:nvSpPr>
          <p:cNvPr id="25" name="seta-0"/>
          <p:cNvSpPr/>
          <p:nvPr/>
        </p:nvSpPr>
        <p:spPr>
          <a:xfrm>
            <a:off x="4718304" y="3703320"/>
            <a:ext cx="22250" cy="0"/>
          </a:xfrm>
          <a:prstGeom prst="line">
            <a:avLst/>
          </a:prstGeom>
          <a:noFill/>
          <a:ln w="31750">
            <a:solidFill>
              <a:srgbClr val="121614"/>
            </a:solidFill>
            <a:prstDash val="solid"/>
            <a:tailEnd type="triangle"/>
          </a:ln>
        </p:spPr>
      </p:sp>
      <p:sp>
        <p:nvSpPr>
          <p:cNvPr id="26" name="onda-1"/>
          <p:cNvSpPr/>
          <p:nvPr/>
        </p:nvSpPr>
        <p:spPr>
          <a:xfrm>
            <a:off x="4795418" y="1691640"/>
            <a:ext cx="2194560" cy="4023360"/>
          </a:xfrm>
          <a:prstGeom prst="rect">
            <a:avLst/>
          </a:prstGeom>
          <a:solidFill>
            <a:srgbClr val="E6E6E1"/>
          </a:solidFill>
          <a:ln w="12700">
            <a:solidFill>
              <a:srgbClr val="E6E6E1"/>
            </a:solidFill>
            <a:prstDash val="solid"/>
          </a:ln>
        </p:spPr>
      </p:sp>
      <p:sp>
        <p:nvSpPr>
          <p:cNvPr id="27" name="onda-nome-1"/>
          <p:cNvSpPr txBox="1"/>
          <p:nvPr/>
        </p:nvSpPr>
        <p:spPr>
          <a:xfrm>
            <a:off x="5069738" y="1920240"/>
            <a:ext cx="1645920" cy="457200"/>
          </a:xfrm>
          <a:prstGeom prst="rect">
            <a:avLst/>
          </a:prstGeom>
          <a:noFill/>
          <a:ln/>
        </p:spPr>
        <p:txBody>
          <a:bodyPr wrap="square" lIns="0" tIns="0" rIns="0" bIns="0" rtlCol="0" anchor="t"/>
          <a:lstStyle/>
          <a:p>
            <a:pPr indent="0" marL="0">
              <a:buNone/>
            </a:pPr>
            <a:r>
              <a:rPr lang="en-US" sz="2400" b="1" dirty="0">
                <a:solidFill>
                  <a:srgbClr val="121614"/>
                </a:solidFill>
                <a:latin typeface="Bricolage Grotesque" pitchFamily="34" charset="0"/>
                <a:ea typeface="Bricolage Grotesque" pitchFamily="34" charset="-122"/>
                <a:cs typeface="Bricolage Grotesque" pitchFamily="34" charset="-120"/>
              </a:rPr>
              <a:t>Wave 2</a:t>
            </a:r>
            <a:endParaRPr lang="en-US" sz="2400" dirty="0"/>
          </a:p>
        </p:txBody>
      </p:sp>
      <p:sp>
        <p:nvSpPr>
          <p:cNvPr id="28" name="onda-cor-1"/>
          <p:cNvSpPr/>
          <p:nvPr/>
        </p:nvSpPr>
        <p:spPr>
          <a:xfrm>
            <a:off x="5069738" y="2487168"/>
            <a:ext cx="201168" cy="201168"/>
          </a:xfrm>
          <a:prstGeom prst="rect">
            <a:avLst/>
          </a:prstGeom>
          <a:solidFill>
            <a:srgbClr val="1E9E57"/>
          </a:solidFill>
          <a:ln w="12700">
            <a:solidFill>
              <a:srgbClr val="1E9E57"/>
            </a:solidFill>
            <a:prstDash val="solid"/>
          </a:ln>
        </p:spPr>
      </p:sp>
      <p:sp>
        <p:nvSpPr>
          <p:cNvPr id="29" name="onda-modelo-1"/>
          <p:cNvSpPr txBox="1"/>
          <p:nvPr/>
        </p:nvSpPr>
        <p:spPr>
          <a:xfrm>
            <a:off x="5362346" y="2432304"/>
            <a:ext cx="1371600" cy="320040"/>
          </a:xfrm>
          <a:prstGeom prst="rect">
            <a:avLst/>
          </a:prstGeom>
          <a:noFill/>
          <a:ln/>
        </p:spPr>
        <p:txBody>
          <a:bodyPr wrap="square" lIns="0" tIns="0" rIns="0" bIns="0" rtlCol="0" anchor="t"/>
          <a:lstStyle/>
          <a:p>
            <a:pPr indent="0" marL="0">
              <a:buNone/>
            </a:pPr>
            <a:r>
              <a:rPr lang="en-US" sz="1600" b="1" dirty="0">
                <a:solidFill>
                  <a:srgbClr val="121614"/>
                </a:solidFill>
                <a:latin typeface="Arial" pitchFamily="34" charset="0"/>
                <a:ea typeface="Arial" pitchFamily="34" charset="-122"/>
                <a:cs typeface="Arial" pitchFamily="34" charset="-120"/>
              </a:rPr>
              <a:t>Sonnet</a:t>
            </a:r>
            <a:endParaRPr lang="en-US" sz="1600" dirty="0"/>
          </a:p>
        </p:txBody>
      </p:sp>
      <p:sp>
        <p:nvSpPr>
          <p:cNvPr id="30" name="onda-sub-1"/>
          <p:cNvSpPr txBox="1"/>
          <p:nvPr/>
        </p:nvSpPr>
        <p:spPr>
          <a:xfrm>
            <a:off x="5069738" y="2834640"/>
            <a:ext cx="1645920" cy="548640"/>
          </a:xfrm>
          <a:prstGeom prst="rect">
            <a:avLst/>
          </a:prstGeom>
          <a:noFill/>
          <a:ln/>
        </p:spPr>
        <p:txBody>
          <a:bodyPr wrap="square" lIns="0" tIns="0" rIns="0" bIns="0" rtlCol="0" anchor="t"/>
          <a:lstStyle/>
          <a:p>
            <a:pPr indent="0" marL="0">
              <a:buNone/>
            </a:pPr>
            <a:r>
              <a:rPr lang="en-US" sz="1500" dirty="0">
                <a:solidFill>
                  <a:srgbClr val="545C57"/>
                </a:solidFill>
                <a:latin typeface="Arial" pitchFamily="34" charset="0"/>
                <a:ea typeface="Arial" pitchFamily="34" charset="-122"/>
                <a:cs typeface="Arial" pitchFamily="34" charset="-120"/>
              </a:rPr>
              <a:t>categories and scoring</a:t>
            </a:r>
            <a:endParaRPr lang="en-US" sz="1500" dirty="0"/>
          </a:p>
        </p:txBody>
      </p:sp>
      <p:sp>
        <p:nvSpPr>
          <p:cNvPr id="31" name="onda1-0"/>
          <p:cNvSpPr/>
          <p:nvPr/>
        </p:nvSpPr>
        <p:spPr>
          <a:xfrm>
            <a:off x="5069738" y="3474720"/>
            <a:ext cx="502920" cy="502920"/>
          </a:xfrm>
          <a:prstGeom prst="rect">
            <a:avLst/>
          </a:prstGeom>
          <a:solidFill>
            <a:srgbClr val="C4C7C1"/>
          </a:solidFill>
          <a:ln w="12700">
            <a:solidFill>
              <a:srgbClr val="C4C7C1"/>
            </a:solidFill>
            <a:prstDash val="solid"/>
          </a:ln>
        </p:spPr>
      </p:sp>
      <p:sp>
        <p:nvSpPr>
          <p:cNvPr id="32" name="onda1-1"/>
          <p:cNvSpPr/>
          <p:nvPr/>
        </p:nvSpPr>
        <p:spPr>
          <a:xfrm>
            <a:off x="5709818" y="3474720"/>
            <a:ext cx="502920" cy="502920"/>
          </a:xfrm>
          <a:prstGeom prst="rect">
            <a:avLst/>
          </a:prstGeom>
          <a:solidFill>
            <a:srgbClr val="C4C7C1"/>
          </a:solidFill>
          <a:ln w="12700">
            <a:solidFill>
              <a:srgbClr val="C4C7C1"/>
            </a:solidFill>
            <a:prstDash val="solid"/>
          </a:ln>
        </p:spPr>
      </p:sp>
      <p:sp>
        <p:nvSpPr>
          <p:cNvPr id="33" name="seta-1"/>
          <p:cNvSpPr/>
          <p:nvPr/>
        </p:nvSpPr>
        <p:spPr>
          <a:xfrm>
            <a:off x="7044842" y="3703320"/>
            <a:ext cx="22250" cy="0"/>
          </a:xfrm>
          <a:prstGeom prst="line">
            <a:avLst/>
          </a:prstGeom>
          <a:noFill/>
          <a:ln w="31750">
            <a:solidFill>
              <a:srgbClr val="121614"/>
            </a:solidFill>
            <a:prstDash val="solid"/>
            <a:tailEnd type="triangle"/>
          </a:ln>
        </p:spPr>
      </p:sp>
      <p:sp>
        <p:nvSpPr>
          <p:cNvPr id="34" name="onda-2"/>
          <p:cNvSpPr/>
          <p:nvPr/>
        </p:nvSpPr>
        <p:spPr>
          <a:xfrm>
            <a:off x="7121957" y="1691640"/>
            <a:ext cx="2194560" cy="4023360"/>
          </a:xfrm>
          <a:prstGeom prst="rect">
            <a:avLst/>
          </a:prstGeom>
          <a:solidFill>
            <a:srgbClr val="E6E6E1"/>
          </a:solidFill>
          <a:ln w="12700">
            <a:solidFill>
              <a:srgbClr val="E6E6E1"/>
            </a:solidFill>
            <a:prstDash val="solid"/>
          </a:ln>
        </p:spPr>
      </p:sp>
      <p:sp>
        <p:nvSpPr>
          <p:cNvPr id="35" name="onda-nome-2"/>
          <p:cNvSpPr txBox="1"/>
          <p:nvPr/>
        </p:nvSpPr>
        <p:spPr>
          <a:xfrm>
            <a:off x="7396277" y="1920240"/>
            <a:ext cx="1645920" cy="457200"/>
          </a:xfrm>
          <a:prstGeom prst="rect">
            <a:avLst/>
          </a:prstGeom>
          <a:noFill/>
          <a:ln/>
        </p:spPr>
        <p:txBody>
          <a:bodyPr wrap="square" lIns="0" tIns="0" rIns="0" bIns="0" rtlCol="0" anchor="t"/>
          <a:lstStyle/>
          <a:p>
            <a:pPr indent="0" marL="0">
              <a:buNone/>
            </a:pPr>
            <a:r>
              <a:rPr lang="en-US" sz="2400" b="1" dirty="0">
                <a:solidFill>
                  <a:srgbClr val="121614"/>
                </a:solidFill>
                <a:latin typeface="Bricolage Grotesque" pitchFamily="34" charset="0"/>
                <a:ea typeface="Bricolage Grotesque" pitchFamily="34" charset="-122"/>
                <a:cs typeface="Bricolage Grotesque" pitchFamily="34" charset="-120"/>
              </a:rPr>
              <a:t>Wave 3</a:t>
            </a:r>
            <a:endParaRPr lang="en-US" sz="2400" dirty="0"/>
          </a:p>
        </p:txBody>
      </p:sp>
      <p:sp>
        <p:nvSpPr>
          <p:cNvPr id="36" name="onda-cor-2"/>
          <p:cNvSpPr/>
          <p:nvPr/>
        </p:nvSpPr>
        <p:spPr>
          <a:xfrm>
            <a:off x="7396277" y="2487168"/>
            <a:ext cx="201168" cy="201168"/>
          </a:xfrm>
          <a:prstGeom prst="rect">
            <a:avLst/>
          </a:prstGeom>
          <a:solidFill>
            <a:srgbClr val="1E9E57"/>
          </a:solidFill>
          <a:ln w="12700">
            <a:solidFill>
              <a:srgbClr val="1E9E57"/>
            </a:solidFill>
            <a:prstDash val="solid"/>
          </a:ln>
        </p:spPr>
      </p:sp>
      <p:sp>
        <p:nvSpPr>
          <p:cNvPr id="37" name="onda-modelo-2"/>
          <p:cNvSpPr txBox="1"/>
          <p:nvPr/>
        </p:nvSpPr>
        <p:spPr>
          <a:xfrm>
            <a:off x="7688885" y="2432304"/>
            <a:ext cx="1371600" cy="320040"/>
          </a:xfrm>
          <a:prstGeom prst="rect">
            <a:avLst/>
          </a:prstGeom>
          <a:noFill/>
          <a:ln/>
        </p:spPr>
        <p:txBody>
          <a:bodyPr wrap="square" lIns="0" tIns="0" rIns="0" bIns="0" rtlCol="0" anchor="t"/>
          <a:lstStyle/>
          <a:p>
            <a:pPr indent="0" marL="0">
              <a:buNone/>
            </a:pPr>
            <a:r>
              <a:rPr lang="en-US" sz="1600" b="1" dirty="0">
                <a:solidFill>
                  <a:srgbClr val="121614"/>
                </a:solidFill>
                <a:latin typeface="Arial" pitchFamily="34" charset="0"/>
                <a:ea typeface="Arial" pitchFamily="34" charset="-122"/>
                <a:cs typeface="Arial" pitchFamily="34" charset="-120"/>
              </a:rPr>
              <a:t>Sonnet</a:t>
            </a:r>
            <a:endParaRPr lang="en-US" sz="1600" dirty="0"/>
          </a:p>
        </p:txBody>
      </p:sp>
      <p:sp>
        <p:nvSpPr>
          <p:cNvPr id="38" name="onda-sub-2"/>
          <p:cNvSpPr txBox="1"/>
          <p:nvPr/>
        </p:nvSpPr>
        <p:spPr>
          <a:xfrm>
            <a:off x="7396277" y="2834640"/>
            <a:ext cx="1645920" cy="548640"/>
          </a:xfrm>
          <a:prstGeom prst="rect">
            <a:avLst/>
          </a:prstGeom>
          <a:noFill/>
          <a:ln/>
        </p:spPr>
        <p:txBody>
          <a:bodyPr wrap="square" lIns="0" tIns="0" rIns="0" bIns="0" rtlCol="0" anchor="t"/>
          <a:lstStyle/>
          <a:p>
            <a:pPr indent="0" marL="0">
              <a:buNone/>
            </a:pPr>
            <a:r>
              <a:rPr lang="en-US" sz="1500" dirty="0">
                <a:solidFill>
                  <a:srgbClr val="545C57"/>
                </a:solidFill>
                <a:latin typeface="Arial" pitchFamily="34" charset="0"/>
                <a:ea typeface="Arial" pitchFamily="34" charset="-122"/>
                <a:cs typeface="Arial" pitchFamily="34" charset="-120"/>
              </a:rPr>
              <a:t>integration and suite</a:t>
            </a:r>
            <a:endParaRPr lang="en-US" sz="1500" dirty="0"/>
          </a:p>
        </p:txBody>
      </p:sp>
      <p:sp>
        <p:nvSpPr>
          <p:cNvPr id="39" name="onda2-0"/>
          <p:cNvSpPr/>
          <p:nvPr/>
        </p:nvSpPr>
        <p:spPr>
          <a:xfrm>
            <a:off x="7396277" y="3474720"/>
            <a:ext cx="502920" cy="502920"/>
          </a:xfrm>
          <a:prstGeom prst="rect">
            <a:avLst/>
          </a:prstGeom>
          <a:solidFill>
            <a:srgbClr val="C4C7C1"/>
          </a:solidFill>
          <a:ln w="12700">
            <a:solidFill>
              <a:srgbClr val="C4C7C1"/>
            </a:solidFill>
            <a:prstDash val="solid"/>
          </a:ln>
        </p:spPr>
      </p:sp>
      <p:sp>
        <p:nvSpPr>
          <p:cNvPr id="40" name="seta-2"/>
          <p:cNvSpPr/>
          <p:nvPr/>
        </p:nvSpPr>
        <p:spPr>
          <a:xfrm>
            <a:off x="9371381" y="3703320"/>
            <a:ext cx="22250" cy="0"/>
          </a:xfrm>
          <a:prstGeom prst="line">
            <a:avLst/>
          </a:prstGeom>
          <a:noFill/>
          <a:ln w="31750">
            <a:solidFill>
              <a:srgbClr val="121614"/>
            </a:solidFill>
            <a:prstDash val="solid"/>
            <a:tailEnd type="triangle"/>
          </a:ln>
        </p:spPr>
      </p:sp>
      <p:sp>
        <p:nvSpPr>
          <p:cNvPr id="41" name="onda-3"/>
          <p:cNvSpPr/>
          <p:nvPr/>
        </p:nvSpPr>
        <p:spPr>
          <a:xfrm>
            <a:off x="9448495" y="1691640"/>
            <a:ext cx="2194560" cy="4023360"/>
          </a:xfrm>
          <a:prstGeom prst="rect">
            <a:avLst/>
          </a:prstGeom>
          <a:solidFill>
            <a:srgbClr val="E6E6E1"/>
          </a:solidFill>
          <a:ln w="12700">
            <a:solidFill>
              <a:srgbClr val="E6E6E1"/>
            </a:solidFill>
            <a:prstDash val="solid"/>
          </a:ln>
        </p:spPr>
      </p:sp>
      <p:sp>
        <p:nvSpPr>
          <p:cNvPr id="42" name="onda-nome-3"/>
          <p:cNvSpPr txBox="1"/>
          <p:nvPr/>
        </p:nvSpPr>
        <p:spPr>
          <a:xfrm>
            <a:off x="9722815" y="1920240"/>
            <a:ext cx="1645920" cy="457200"/>
          </a:xfrm>
          <a:prstGeom prst="rect">
            <a:avLst/>
          </a:prstGeom>
          <a:noFill/>
          <a:ln/>
        </p:spPr>
        <p:txBody>
          <a:bodyPr wrap="square" lIns="0" tIns="0" rIns="0" bIns="0" rtlCol="0" anchor="t"/>
          <a:lstStyle/>
          <a:p>
            <a:pPr indent="0" marL="0">
              <a:buNone/>
            </a:pPr>
            <a:r>
              <a:rPr lang="en-US" sz="2400" b="1" dirty="0">
                <a:solidFill>
                  <a:srgbClr val="121614"/>
                </a:solidFill>
                <a:latin typeface="Bricolage Grotesque" pitchFamily="34" charset="0"/>
                <a:ea typeface="Bricolage Grotesque" pitchFamily="34" charset="-122"/>
                <a:cs typeface="Bricolage Grotesque" pitchFamily="34" charset="-120"/>
              </a:rPr>
              <a:t>Wave 4</a:t>
            </a:r>
            <a:endParaRPr lang="en-US" sz="2400" dirty="0"/>
          </a:p>
        </p:txBody>
      </p:sp>
      <p:sp>
        <p:nvSpPr>
          <p:cNvPr id="43" name="onda-cor-3"/>
          <p:cNvSpPr/>
          <p:nvPr/>
        </p:nvSpPr>
        <p:spPr>
          <a:xfrm>
            <a:off x="9722815" y="2487168"/>
            <a:ext cx="201168" cy="201168"/>
          </a:xfrm>
          <a:prstGeom prst="rect">
            <a:avLst/>
          </a:prstGeom>
          <a:solidFill>
            <a:srgbClr val="1A4BE0"/>
          </a:solidFill>
          <a:ln w="12700">
            <a:solidFill>
              <a:srgbClr val="1A4BE0"/>
            </a:solidFill>
            <a:prstDash val="solid"/>
          </a:ln>
        </p:spPr>
      </p:sp>
      <p:sp>
        <p:nvSpPr>
          <p:cNvPr id="44" name="onda-modelo-3"/>
          <p:cNvSpPr txBox="1"/>
          <p:nvPr/>
        </p:nvSpPr>
        <p:spPr>
          <a:xfrm>
            <a:off x="10015423" y="2432304"/>
            <a:ext cx="1371600" cy="320040"/>
          </a:xfrm>
          <a:prstGeom prst="rect">
            <a:avLst/>
          </a:prstGeom>
          <a:noFill/>
          <a:ln/>
        </p:spPr>
        <p:txBody>
          <a:bodyPr wrap="square" lIns="0" tIns="0" rIns="0" bIns="0" rtlCol="0" anchor="t"/>
          <a:lstStyle/>
          <a:p>
            <a:pPr indent="0" marL="0">
              <a:buNone/>
            </a:pPr>
            <a:r>
              <a:rPr lang="en-US" sz="1600" b="1" dirty="0">
                <a:solidFill>
                  <a:srgbClr val="121614"/>
                </a:solidFill>
                <a:latin typeface="Arial" pitchFamily="34" charset="0"/>
                <a:ea typeface="Arial" pitchFamily="34" charset="-122"/>
                <a:cs typeface="Arial" pitchFamily="34" charset="-120"/>
              </a:rPr>
              <a:t>Opus</a:t>
            </a:r>
            <a:endParaRPr lang="en-US" sz="1600" dirty="0"/>
          </a:p>
        </p:txBody>
      </p:sp>
      <p:sp>
        <p:nvSpPr>
          <p:cNvPr id="45" name="onda-sub-3"/>
          <p:cNvSpPr txBox="1"/>
          <p:nvPr/>
        </p:nvSpPr>
        <p:spPr>
          <a:xfrm>
            <a:off x="9722815" y="2834640"/>
            <a:ext cx="1645920" cy="548640"/>
          </a:xfrm>
          <a:prstGeom prst="rect">
            <a:avLst/>
          </a:prstGeom>
          <a:noFill/>
          <a:ln/>
        </p:spPr>
        <p:txBody>
          <a:bodyPr wrap="square" lIns="0" tIns="0" rIns="0" bIns="0" rtlCol="0" anchor="t"/>
          <a:lstStyle/>
          <a:p>
            <a:pPr indent="0" marL="0">
              <a:buNone/>
            </a:pPr>
            <a:r>
              <a:rPr lang="en-US" sz="1500" dirty="0">
                <a:solidFill>
                  <a:srgbClr val="545C57"/>
                </a:solidFill>
                <a:latin typeface="Arial" pitchFamily="34" charset="0"/>
                <a:ea typeface="Arial" pitchFamily="34" charset="-122"/>
                <a:cs typeface="Arial" pitchFamily="34" charset="-120"/>
              </a:rPr>
              <a:t>review and verdict</a:t>
            </a:r>
            <a:endParaRPr lang="en-US" sz="1500" dirty="0"/>
          </a:p>
        </p:txBody>
      </p:sp>
      <p:sp>
        <p:nvSpPr>
          <p:cNvPr id="46" name="onda3-0"/>
          <p:cNvSpPr/>
          <p:nvPr/>
        </p:nvSpPr>
        <p:spPr>
          <a:xfrm>
            <a:off x="9722815" y="3474720"/>
            <a:ext cx="502920" cy="502920"/>
          </a:xfrm>
          <a:prstGeom prst="rect">
            <a:avLst/>
          </a:prstGeom>
          <a:solidFill>
            <a:srgbClr val="C4C7C1"/>
          </a:solidFill>
          <a:ln w="12700">
            <a:solidFill>
              <a:srgbClr val="C4C7C1"/>
            </a:solidFill>
            <a:prstDash val="solid"/>
          </a:ln>
        </p:spPr>
      </p:sp>
      <p:sp>
        <p:nvSpPr>
          <p:cNvPr id="47" name="legenda-dag"/>
          <p:cNvSpPr txBox="1"/>
          <p:nvPr/>
        </p:nvSpPr>
        <p:spPr>
          <a:xfrm>
            <a:off x="548640" y="5852160"/>
            <a:ext cx="11094415" cy="365760"/>
          </a:xfrm>
          <a:prstGeom prst="rect">
            <a:avLst/>
          </a:prstGeom>
          <a:noFill/>
          <a:ln/>
        </p:spPr>
        <p:txBody>
          <a:bodyPr wrap="square" lIns="0" tIns="0" rIns="0" bIns="0" rtlCol="0" anchor="t"/>
          <a:lstStyle/>
          <a:p>
            <a:pPr indent="0" marL="0">
              <a:buNone/>
            </a:pPr>
            <a:r>
              <a:rPr lang="en-US" sz="1500" dirty="0">
                <a:solidFill>
                  <a:srgbClr val="545C57"/>
                </a:solidFill>
                <a:latin typeface="Arial" pitchFamily="34" charset="0"/>
                <a:ea typeface="Arial" pitchFamily="34" charset="-122"/>
                <a:cs typeface="Arial" pitchFamily="34" charset="-120"/>
              </a:rPr>
              <a:t>Grey: waiting. The 3 cryptography cards start when lib-hash turns green.</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45C57"/>
                </a:solidFill>
                <a:latin typeface="Arial"/>
                <a:ea typeface="Arial"/>
                <a:cs typeface="Aria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914400"/>
          </a:xfrm>
          <a:prstGeom prst="rect">
            <a:avLst/>
          </a:prstGeom>
          <a:noFill/>
          <a:ln/>
        </p:spPr>
        <p:txBody>
          <a:bodyPr wrap="square" lIns="0" tIns="0" rIns="0" bIns="0" rtlCol="0" anchor="t"/>
          <a:lstStyle/>
          <a:p>
            <a:pPr algn="l" indent="0" marL="0">
              <a:buNone/>
            </a:pPr>
            <a:r>
              <a:rPr lang="en-US" sz="3600" b="1" dirty="0">
                <a:solidFill>
                  <a:srgbClr val="121614"/>
                </a:solidFill>
                <a:latin typeface="Bricolage Grotesque" pitchFamily="34" charset="0"/>
                <a:ea typeface="Bricolage Grotesque" pitchFamily="34" charset="-122"/>
                <a:cs typeface="Bricolage Grotesque" pitchFamily="34" charset="-120"/>
              </a:rPr>
              <a:t>A script decides the graph</a:t>
            </a:r>
            <a:endParaRPr lang="en-US" sz="3600" dirty="0"/>
          </a:p>
        </p:txBody>
      </p:sp>
      <p:sp>
        <p:nvSpPr>
          <p:cNvPr id="3" name="coluna-0"/>
          <p:cNvSpPr/>
          <p:nvPr/>
        </p:nvSpPr>
        <p:spPr>
          <a:xfrm>
            <a:off x="548640" y="1691640"/>
            <a:ext cx="3484778" cy="3566160"/>
          </a:xfrm>
          <a:prstGeom prst="rect">
            <a:avLst/>
          </a:prstGeom>
          <a:solidFill>
            <a:srgbClr val="E6E6E1"/>
          </a:solidFill>
          <a:ln w="12700">
            <a:solidFill>
              <a:srgbClr val="E6E6E1"/>
            </a:solidFill>
            <a:prstDash val="solid"/>
          </a:ln>
        </p:spPr>
      </p:sp>
      <p:sp>
        <p:nvSpPr>
          <p:cNvPr id="4" name="marca-0"/>
          <p:cNvSpPr/>
          <p:nvPr/>
        </p:nvSpPr>
        <p:spPr>
          <a:xfrm>
            <a:off x="868680" y="2011680"/>
            <a:ext cx="384048" cy="384048"/>
          </a:xfrm>
          <a:prstGeom prst="rect">
            <a:avLst/>
          </a:prstGeom>
          <a:solidFill>
            <a:srgbClr val="1E9E57"/>
          </a:solidFill>
          <a:ln w="12700">
            <a:solidFill>
              <a:srgbClr val="1E9E57"/>
            </a:solidFill>
            <a:prstDash val="solid"/>
          </a:ln>
        </p:spPr>
      </p:sp>
      <p:sp>
        <p:nvSpPr>
          <p:cNvPr id="5" name="coluna-titulo-0"/>
          <p:cNvSpPr txBox="1"/>
          <p:nvPr/>
        </p:nvSpPr>
        <p:spPr>
          <a:xfrm>
            <a:off x="868680" y="2697480"/>
            <a:ext cx="2844698" cy="914400"/>
          </a:xfrm>
          <a:prstGeom prst="rect">
            <a:avLst/>
          </a:prstGeom>
          <a:noFill/>
          <a:ln/>
        </p:spPr>
        <p:txBody>
          <a:bodyPr wrap="square" lIns="0" tIns="0" rIns="0" bIns="0" rtlCol="0" anchor="t"/>
          <a:lstStyle/>
          <a:p>
            <a:pPr indent="0" marL="0">
              <a:buNone/>
            </a:pPr>
            <a:r>
              <a:rPr lang="en-US" sz="2600" b="1" dirty="0">
                <a:solidFill>
                  <a:srgbClr val="121614"/>
                </a:solidFill>
                <a:latin typeface="Bricolage Grotesque" pitchFamily="34" charset="0"/>
                <a:ea typeface="Bricolage Grotesque" pitchFamily="34" charset="-122"/>
                <a:cs typeface="Bricolage Grotesque" pitchFamily="34" charset="-120"/>
              </a:rPr>
              <a:t>next-wave.mjs</a:t>
            </a:r>
            <a:endParaRPr lang="en-US" sz="2600" dirty="0"/>
          </a:p>
        </p:txBody>
      </p:sp>
      <p:sp>
        <p:nvSpPr>
          <p:cNvPr id="6" name="coluna-texto-0"/>
          <p:cNvSpPr txBox="1"/>
          <p:nvPr/>
        </p:nvSpPr>
        <p:spPr>
          <a:xfrm>
            <a:off x="868680" y="3657600"/>
            <a:ext cx="2844698" cy="1463040"/>
          </a:xfrm>
          <a:prstGeom prst="rect">
            <a:avLst/>
          </a:prstGeom>
          <a:noFill/>
          <a:ln/>
        </p:spPr>
        <p:txBody>
          <a:bodyPr wrap="square" lIns="0" tIns="0" rIns="0" bIns="0" rtlCol="0" anchor="t"/>
          <a:lstStyle/>
          <a:p>
            <a:pPr indent="0" marL="0">
              <a:buNone/>
            </a:pPr>
            <a:r>
              <a:rPr lang="en-US" sz="2000" dirty="0">
                <a:solidFill>
                  <a:srgbClr val="121614"/>
                </a:solidFill>
                <a:latin typeface="Arial" pitchFamily="34" charset="0"/>
                <a:ea typeface="Arial" pitchFamily="34" charset="-122"/>
                <a:cs typeface="Arial" pitchFamily="34" charset="-120"/>
              </a:rPr>
              <a:t>reads the plan and the state and returns the next batch of calls</a:t>
            </a:r>
            <a:endParaRPr lang="en-US" sz="2000" dirty="0"/>
          </a:p>
        </p:txBody>
      </p:sp>
      <p:sp>
        <p:nvSpPr>
          <p:cNvPr id="7" name="coluna-1"/>
          <p:cNvSpPr/>
          <p:nvPr/>
        </p:nvSpPr>
        <p:spPr>
          <a:xfrm>
            <a:off x="4353458" y="1691640"/>
            <a:ext cx="3484778" cy="3566160"/>
          </a:xfrm>
          <a:prstGeom prst="rect">
            <a:avLst/>
          </a:prstGeom>
          <a:solidFill>
            <a:srgbClr val="E6E6E1"/>
          </a:solidFill>
          <a:ln w="12700">
            <a:solidFill>
              <a:srgbClr val="E6E6E1"/>
            </a:solidFill>
            <a:prstDash val="solid"/>
          </a:ln>
        </p:spPr>
      </p:sp>
      <p:sp>
        <p:nvSpPr>
          <p:cNvPr id="8" name="marca-1"/>
          <p:cNvSpPr/>
          <p:nvPr/>
        </p:nvSpPr>
        <p:spPr>
          <a:xfrm>
            <a:off x="4673498" y="2011680"/>
            <a:ext cx="384048" cy="384048"/>
          </a:xfrm>
          <a:prstGeom prst="rect">
            <a:avLst/>
          </a:prstGeom>
          <a:solidFill>
            <a:srgbClr val="1A4BE0"/>
          </a:solidFill>
          <a:ln w="12700">
            <a:solidFill>
              <a:srgbClr val="1A4BE0"/>
            </a:solidFill>
            <a:prstDash val="solid"/>
          </a:ln>
        </p:spPr>
      </p:sp>
      <p:sp>
        <p:nvSpPr>
          <p:cNvPr id="9" name="coluna-titulo-1"/>
          <p:cNvSpPr txBox="1"/>
          <p:nvPr/>
        </p:nvSpPr>
        <p:spPr>
          <a:xfrm>
            <a:off x="4673498" y="2697480"/>
            <a:ext cx="2844698" cy="914400"/>
          </a:xfrm>
          <a:prstGeom prst="rect">
            <a:avLst/>
          </a:prstGeom>
          <a:noFill/>
          <a:ln/>
        </p:spPr>
        <p:txBody>
          <a:bodyPr wrap="square" lIns="0" tIns="0" rIns="0" bIns="0" rtlCol="0" anchor="t"/>
          <a:lstStyle/>
          <a:p>
            <a:pPr indent="0" marL="0">
              <a:buNone/>
            </a:pPr>
            <a:r>
              <a:rPr lang="en-US" sz="2600" b="1" dirty="0">
                <a:solidFill>
                  <a:srgbClr val="121614"/>
                </a:solidFill>
                <a:latin typeface="Bricolage Grotesque" pitchFamily="34" charset="0"/>
                <a:ea typeface="Bricolage Grotesque" pitchFamily="34" charset="-122"/>
                <a:cs typeface="Bricolage Grotesque" pitchFamily="34" charset="-120"/>
              </a:rPr>
              <a:t>the model</a:t>
            </a:r>
            <a:endParaRPr lang="en-US" sz="2600" dirty="0"/>
          </a:p>
        </p:txBody>
      </p:sp>
      <p:sp>
        <p:nvSpPr>
          <p:cNvPr id="10" name="coluna-texto-1"/>
          <p:cNvSpPr txBox="1"/>
          <p:nvPr/>
        </p:nvSpPr>
        <p:spPr>
          <a:xfrm>
            <a:off x="4673498" y="3657600"/>
            <a:ext cx="2844698" cy="1463040"/>
          </a:xfrm>
          <a:prstGeom prst="rect">
            <a:avLst/>
          </a:prstGeom>
          <a:noFill/>
          <a:ln/>
        </p:spPr>
        <p:txBody>
          <a:bodyPr wrap="square" lIns="0" tIns="0" rIns="0" bIns="0" rtlCol="0" anchor="t"/>
          <a:lstStyle/>
          <a:p>
            <a:pPr indent="0" marL="0">
              <a:buNone/>
            </a:pPr>
            <a:r>
              <a:rPr lang="en-US" sz="2000" dirty="0">
                <a:solidFill>
                  <a:srgbClr val="121614"/>
                </a:solidFill>
                <a:latin typeface="Arial" pitchFamily="34" charset="0"/>
                <a:ea typeface="Arial" pitchFamily="34" charset="-122"/>
                <a:cs typeface="Arial" pitchFamily="34" charset="-120"/>
              </a:rPr>
              <a:t>launches exactly those calls, all in the same message</a:t>
            </a:r>
            <a:endParaRPr lang="en-US" sz="2000" dirty="0"/>
          </a:p>
        </p:txBody>
      </p:sp>
      <p:sp>
        <p:nvSpPr>
          <p:cNvPr id="11" name="coluna-2"/>
          <p:cNvSpPr/>
          <p:nvPr/>
        </p:nvSpPr>
        <p:spPr>
          <a:xfrm>
            <a:off x="8158277" y="1691640"/>
            <a:ext cx="3484778" cy="3566160"/>
          </a:xfrm>
          <a:prstGeom prst="rect">
            <a:avLst/>
          </a:prstGeom>
          <a:solidFill>
            <a:srgbClr val="E6E6E1"/>
          </a:solidFill>
          <a:ln w="12700">
            <a:solidFill>
              <a:srgbClr val="E6E6E1"/>
            </a:solidFill>
            <a:prstDash val="solid"/>
          </a:ln>
        </p:spPr>
      </p:sp>
      <p:sp>
        <p:nvSpPr>
          <p:cNvPr id="12" name="marca-2"/>
          <p:cNvSpPr/>
          <p:nvPr/>
        </p:nvSpPr>
        <p:spPr>
          <a:xfrm>
            <a:off x="8478317" y="2011680"/>
            <a:ext cx="384048" cy="384048"/>
          </a:xfrm>
          <a:prstGeom prst="rect">
            <a:avLst/>
          </a:prstGeom>
          <a:solidFill>
            <a:srgbClr val="F1C232"/>
          </a:solidFill>
          <a:ln w="12700">
            <a:solidFill>
              <a:srgbClr val="F1C232"/>
            </a:solidFill>
            <a:prstDash val="solid"/>
          </a:ln>
        </p:spPr>
      </p:sp>
      <p:sp>
        <p:nvSpPr>
          <p:cNvPr id="13" name="coluna-titulo-2"/>
          <p:cNvSpPr txBox="1"/>
          <p:nvPr/>
        </p:nvSpPr>
        <p:spPr>
          <a:xfrm>
            <a:off x="8478317" y="2697480"/>
            <a:ext cx="2844698" cy="914400"/>
          </a:xfrm>
          <a:prstGeom prst="rect">
            <a:avLst/>
          </a:prstGeom>
          <a:noFill/>
          <a:ln/>
        </p:spPr>
        <p:txBody>
          <a:bodyPr wrap="square" lIns="0" tIns="0" rIns="0" bIns="0" rtlCol="0" anchor="t"/>
          <a:lstStyle/>
          <a:p>
            <a:pPr indent="0" marL="0">
              <a:buNone/>
            </a:pPr>
            <a:r>
              <a:rPr lang="en-US" sz="2600" b="1" dirty="0">
                <a:solidFill>
                  <a:srgbClr val="121614"/>
                </a:solidFill>
                <a:latin typeface="Bricolage Grotesque" pitchFamily="34" charset="0"/>
                <a:ea typeface="Bricolage Grotesque" pitchFamily="34" charset="-122"/>
                <a:cs typeface="Bricolage Grotesque" pitchFamily="34" charset="-120"/>
              </a:rPr>
              <a:t>grade.mjs</a:t>
            </a:r>
            <a:endParaRPr lang="en-US" sz="2600" dirty="0"/>
          </a:p>
        </p:txBody>
      </p:sp>
      <p:sp>
        <p:nvSpPr>
          <p:cNvPr id="14" name="coluna-texto-2"/>
          <p:cNvSpPr txBox="1"/>
          <p:nvPr/>
        </p:nvSpPr>
        <p:spPr>
          <a:xfrm>
            <a:off x="8478317" y="3657600"/>
            <a:ext cx="2844698" cy="1463040"/>
          </a:xfrm>
          <a:prstGeom prst="rect">
            <a:avLst/>
          </a:prstGeom>
          <a:noFill/>
          <a:ln/>
        </p:spPr>
        <p:txBody>
          <a:bodyPr wrap="square" lIns="0" tIns="0" rIns="0" bIns="0" rtlCol="0" anchor="t"/>
          <a:lstStyle/>
          <a:p>
            <a:pPr indent="0" marL="0">
              <a:buNone/>
            </a:pPr>
            <a:r>
              <a:rPr lang="en-US" sz="2000" dirty="0">
                <a:solidFill>
                  <a:srgbClr val="121614"/>
                </a:solidFill>
                <a:latin typeface="Arial" pitchFamily="34" charset="0"/>
                <a:ea typeface="Arial" pitchFamily="34" charset="-122"/>
                <a:cs typeface="Arial" pitchFamily="34" charset="-120"/>
              </a:rPr>
              <a:t>runs the test of each task and decides: green or red</a:t>
            </a:r>
            <a:endParaRPr lang="en-US" sz="2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45C57"/>
                </a:solidFill>
                <a:latin typeface="Arial"/>
                <a:ea typeface="Arial"/>
                <a:cs typeface="Aria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914400"/>
          </a:xfrm>
          <a:prstGeom prst="rect">
            <a:avLst/>
          </a:prstGeom>
          <a:noFill/>
          <a:ln/>
        </p:spPr>
        <p:txBody>
          <a:bodyPr wrap="square" lIns="0" tIns="0" rIns="0" bIns="0" rtlCol="0" anchor="t"/>
          <a:lstStyle/>
          <a:p>
            <a:pPr algn="l" indent="0" marL="0">
              <a:buNone/>
            </a:pPr>
            <a:r>
              <a:rPr lang="en-US" sz="3600" b="1" dirty="0">
                <a:solidFill>
                  <a:srgbClr val="121614"/>
                </a:solidFill>
                <a:latin typeface="Bricolage Grotesque" pitchFamily="34" charset="0"/>
                <a:ea typeface="Bricolage Grotesque" pitchFamily="34" charset="-122"/>
                <a:cs typeface="Bricolage Grotesque" pitchFamily="34" charset="-120"/>
              </a:rPr>
              <a:t>Measure, don't guess</a:t>
            </a:r>
            <a:endParaRPr lang="en-US" sz="3600" dirty="0"/>
          </a:p>
        </p:txBody>
      </p:sp>
      <p:sp>
        <p:nvSpPr>
          <p:cNvPr id="3" name="passo-0"/>
          <p:cNvSpPr/>
          <p:nvPr/>
        </p:nvSpPr>
        <p:spPr>
          <a:xfrm>
            <a:off x="548640" y="2377440"/>
            <a:ext cx="1889699" cy="1828800"/>
          </a:xfrm>
          <a:prstGeom prst="rect">
            <a:avLst/>
          </a:prstGeom>
          <a:solidFill>
            <a:srgbClr val="E6E6E1"/>
          </a:solidFill>
          <a:ln w="12700">
            <a:solidFill>
              <a:srgbClr val="E6E6E1"/>
            </a:solidFill>
            <a:prstDash val="solid"/>
          </a:ln>
        </p:spPr>
      </p:sp>
      <p:sp>
        <p:nvSpPr>
          <p:cNvPr id="4" name="passo-marca-0"/>
          <p:cNvSpPr/>
          <p:nvPr/>
        </p:nvSpPr>
        <p:spPr>
          <a:xfrm>
            <a:off x="777240" y="2606040"/>
            <a:ext cx="274320" cy="274320"/>
          </a:xfrm>
          <a:prstGeom prst="rect">
            <a:avLst/>
          </a:prstGeom>
          <a:solidFill>
            <a:srgbClr val="C4C7C1"/>
          </a:solidFill>
          <a:ln w="12700">
            <a:solidFill>
              <a:srgbClr val="C4C7C1"/>
            </a:solidFill>
            <a:prstDash val="solid"/>
          </a:ln>
        </p:spPr>
      </p:sp>
      <p:sp>
        <p:nvSpPr>
          <p:cNvPr id="5" name="passo-texto-0"/>
          <p:cNvSpPr txBox="1"/>
          <p:nvPr/>
        </p:nvSpPr>
        <p:spPr>
          <a:xfrm>
            <a:off x="777240" y="3063240"/>
            <a:ext cx="1432499" cy="1005840"/>
          </a:xfrm>
          <a:prstGeom prst="rect">
            <a:avLst/>
          </a:prstGeom>
          <a:noFill/>
          <a:ln/>
        </p:spPr>
        <p:txBody>
          <a:bodyPr wrap="square" lIns="0" tIns="0" rIns="0" bIns="0" rtlCol="0" anchor="t"/>
          <a:lstStyle/>
          <a:p>
            <a:pPr indent="0" marL="0">
              <a:buNone/>
            </a:pPr>
            <a:r>
              <a:rPr lang="en-US" sz="1600" b="1" dirty="0">
                <a:solidFill>
                  <a:srgbClr val="121614"/>
                </a:solidFill>
                <a:latin typeface="Bricolage Grotesque" pitchFamily="34" charset="0"/>
                <a:ea typeface="Bricolage Grotesque" pitchFamily="34" charset="-122"/>
                <a:cs typeface="Bricolage Grotesque" pitchFamily="34" charset="-120"/>
              </a:rPr>
              <a:t>The subagent finishes</a:t>
            </a:r>
            <a:endParaRPr lang="en-US" sz="1600" dirty="0"/>
          </a:p>
        </p:txBody>
      </p:sp>
      <p:sp>
        <p:nvSpPr>
          <p:cNvPr id="6" name="fluxo-seta-0"/>
          <p:cNvSpPr/>
          <p:nvPr/>
        </p:nvSpPr>
        <p:spPr>
          <a:xfrm>
            <a:off x="2484059" y="3291840"/>
            <a:ext cx="320040" cy="0"/>
          </a:xfrm>
          <a:prstGeom prst="line">
            <a:avLst/>
          </a:prstGeom>
          <a:noFill/>
          <a:ln w="31750">
            <a:solidFill>
              <a:srgbClr val="121614"/>
            </a:solidFill>
            <a:prstDash val="solid"/>
            <a:tailEnd type="triangle"/>
          </a:ln>
        </p:spPr>
      </p:sp>
      <p:sp>
        <p:nvSpPr>
          <p:cNvPr id="7" name="passo-1"/>
          <p:cNvSpPr/>
          <p:nvPr/>
        </p:nvSpPr>
        <p:spPr>
          <a:xfrm>
            <a:off x="2849819" y="2377440"/>
            <a:ext cx="1889699" cy="1828800"/>
          </a:xfrm>
          <a:prstGeom prst="rect">
            <a:avLst/>
          </a:prstGeom>
          <a:solidFill>
            <a:srgbClr val="E6E6E1"/>
          </a:solidFill>
          <a:ln w="12700">
            <a:solidFill>
              <a:srgbClr val="E6E6E1"/>
            </a:solidFill>
            <a:prstDash val="solid"/>
          </a:ln>
        </p:spPr>
      </p:sp>
      <p:sp>
        <p:nvSpPr>
          <p:cNvPr id="8" name="passo-marca-1"/>
          <p:cNvSpPr/>
          <p:nvPr/>
        </p:nvSpPr>
        <p:spPr>
          <a:xfrm>
            <a:off x="3078419" y="2606040"/>
            <a:ext cx="274320" cy="274320"/>
          </a:xfrm>
          <a:prstGeom prst="rect">
            <a:avLst/>
          </a:prstGeom>
          <a:solidFill>
            <a:srgbClr val="F1C232"/>
          </a:solidFill>
          <a:ln w="12700">
            <a:solidFill>
              <a:srgbClr val="F1C232"/>
            </a:solidFill>
            <a:prstDash val="solid"/>
          </a:ln>
        </p:spPr>
      </p:sp>
      <p:sp>
        <p:nvSpPr>
          <p:cNvPr id="9" name="passo-texto-1"/>
          <p:cNvSpPr txBox="1"/>
          <p:nvPr/>
        </p:nvSpPr>
        <p:spPr>
          <a:xfrm>
            <a:off x="3078419" y="3063240"/>
            <a:ext cx="1432499" cy="1005840"/>
          </a:xfrm>
          <a:prstGeom prst="rect">
            <a:avLst/>
          </a:prstGeom>
          <a:noFill/>
          <a:ln/>
        </p:spPr>
        <p:txBody>
          <a:bodyPr wrap="square" lIns="0" tIns="0" rIns="0" bIns="0" rtlCol="0" anchor="t"/>
          <a:lstStyle/>
          <a:p>
            <a:pPr indent="0" marL="0">
              <a:buNone/>
            </a:pPr>
            <a:r>
              <a:rPr lang="en-US" sz="1600" b="1" dirty="0">
                <a:solidFill>
                  <a:srgbClr val="121614"/>
                </a:solidFill>
                <a:latin typeface="Bricolage Grotesque" pitchFamily="34" charset="0"/>
                <a:ea typeface="Bricolage Grotesque" pitchFamily="34" charset="-122"/>
                <a:cs typeface="Bricolage Grotesque" pitchFamily="34" charset="-120"/>
              </a:rPr>
              <a:t>The SubagentStop hook runs</a:t>
            </a:r>
            <a:endParaRPr lang="en-US" sz="1600" dirty="0"/>
          </a:p>
        </p:txBody>
      </p:sp>
      <p:sp>
        <p:nvSpPr>
          <p:cNvPr id="10" name="fluxo-seta-1"/>
          <p:cNvSpPr/>
          <p:nvPr/>
        </p:nvSpPr>
        <p:spPr>
          <a:xfrm>
            <a:off x="4785238" y="3291840"/>
            <a:ext cx="320040" cy="0"/>
          </a:xfrm>
          <a:prstGeom prst="line">
            <a:avLst/>
          </a:prstGeom>
          <a:noFill/>
          <a:ln w="31750">
            <a:solidFill>
              <a:srgbClr val="121614"/>
            </a:solidFill>
            <a:prstDash val="solid"/>
            <a:tailEnd type="triangle"/>
          </a:ln>
        </p:spPr>
      </p:sp>
      <p:sp>
        <p:nvSpPr>
          <p:cNvPr id="11" name="passo-2"/>
          <p:cNvSpPr/>
          <p:nvPr/>
        </p:nvSpPr>
        <p:spPr>
          <a:xfrm>
            <a:off x="5150998" y="2377440"/>
            <a:ext cx="1889699" cy="1828800"/>
          </a:xfrm>
          <a:prstGeom prst="rect">
            <a:avLst/>
          </a:prstGeom>
          <a:solidFill>
            <a:srgbClr val="E6E6E1"/>
          </a:solidFill>
          <a:ln w="12700">
            <a:solidFill>
              <a:srgbClr val="E6E6E1"/>
            </a:solidFill>
            <a:prstDash val="solid"/>
          </a:ln>
        </p:spPr>
      </p:sp>
      <p:sp>
        <p:nvSpPr>
          <p:cNvPr id="12" name="passo-marca-2"/>
          <p:cNvSpPr/>
          <p:nvPr/>
        </p:nvSpPr>
        <p:spPr>
          <a:xfrm>
            <a:off x="5379598" y="2606040"/>
            <a:ext cx="274320" cy="274320"/>
          </a:xfrm>
          <a:prstGeom prst="rect">
            <a:avLst/>
          </a:prstGeom>
          <a:solidFill>
            <a:srgbClr val="1E9E57"/>
          </a:solidFill>
          <a:ln w="12700">
            <a:solidFill>
              <a:srgbClr val="1E9E57"/>
            </a:solidFill>
            <a:prstDash val="solid"/>
          </a:ln>
        </p:spPr>
      </p:sp>
      <p:sp>
        <p:nvSpPr>
          <p:cNvPr id="13" name="passo-texto-2"/>
          <p:cNvSpPr txBox="1"/>
          <p:nvPr/>
        </p:nvSpPr>
        <p:spPr>
          <a:xfrm>
            <a:off x="5379598" y="3063240"/>
            <a:ext cx="1432499" cy="1005840"/>
          </a:xfrm>
          <a:prstGeom prst="rect">
            <a:avLst/>
          </a:prstGeom>
          <a:noFill/>
          <a:ln/>
        </p:spPr>
        <p:txBody>
          <a:bodyPr wrap="square" lIns="0" tIns="0" rIns="0" bIns="0" rtlCol="0" anchor="t"/>
          <a:lstStyle/>
          <a:p>
            <a:pPr indent="0" marL="0">
              <a:buNone/>
            </a:pPr>
            <a:r>
              <a:rPr lang="en-US" sz="1600" b="1" dirty="0">
                <a:solidFill>
                  <a:srgbClr val="121614"/>
                </a:solidFill>
                <a:latin typeface="Bricolage Grotesque" pitchFamily="34" charset="0"/>
                <a:ea typeface="Bricolage Grotesque" pitchFamily="34" charset="-122"/>
                <a:cs typeface="Bricolage Grotesque" pitchFamily="34" charset="-120"/>
              </a:rPr>
              <a:t>Transcript tokens × price</a:t>
            </a:r>
            <a:endParaRPr lang="en-US" sz="1600" dirty="0"/>
          </a:p>
        </p:txBody>
      </p:sp>
      <p:sp>
        <p:nvSpPr>
          <p:cNvPr id="14" name="fluxo-seta-2"/>
          <p:cNvSpPr/>
          <p:nvPr/>
        </p:nvSpPr>
        <p:spPr>
          <a:xfrm>
            <a:off x="7086417" y="3291840"/>
            <a:ext cx="320040" cy="0"/>
          </a:xfrm>
          <a:prstGeom prst="line">
            <a:avLst/>
          </a:prstGeom>
          <a:noFill/>
          <a:ln w="31750">
            <a:solidFill>
              <a:srgbClr val="121614"/>
            </a:solidFill>
            <a:prstDash val="solid"/>
            <a:tailEnd type="triangle"/>
          </a:ln>
        </p:spPr>
      </p:sp>
      <p:sp>
        <p:nvSpPr>
          <p:cNvPr id="15" name="passo-3"/>
          <p:cNvSpPr/>
          <p:nvPr/>
        </p:nvSpPr>
        <p:spPr>
          <a:xfrm>
            <a:off x="7452177" y="2377440"/>
            <a:ext cx="1889699" cy="1828800"/>
          </a:xfrm>
          <a:prstGeom prst="rect">
            <a:avLst/>
          </a:prstGeom>
          <a:solidFill>
            <a:srgbClr val="E6E6E1"/>
          </a:solidFill>
          <a:ln w="12700">
            <a:solidFill>
              <a:srgbClr val="E6E6E1"/>
            </a:solidFill>
            <a:prstDash val="solid"/>
          </a:ln>
        </p:spPr>
      </p:sp>
      <p:sp>
        <p:nvSpPr>
          <p:cNvPr id="16" name="passo-marca-3"/>
          <p:cNvSpPr/>
          <p:nvPr/>
        </p:nvSpPr>
        <p:spPr>
          <a:xfrm>
            <a:off x="7680777" y="2606040"/>
            <a:ext cx="274320" cy="274320"/>
          </a:xfrm>
          <a:prstGeom prst="rect">
            <a:avLst/>
          </a:prstGeom>
          <a:solidFill>
            <a:srgbClr val="1E9E57"/>
          </a:solidFill>
          <a:ln w="12700">
            <a:solidFill>
              <a:srgbClr val="1E9E57"/>
            </a:solidFill>
            <a:prstDash val="solid"/>
          </a:ln>
        </p:spPr>
      </p:sp>
      <p:sp>
        <p:nvSpPr>
          <p:cNvPr id="17" name="passo-texto-3"/>
          <p:cNvSpPr txBox="1"/>
          <p:nvPr/>
        </p:nvSpPr>
        <p:spPr>
          <a:xfrm>
            <a:off x="7680777" y="3063240"/>
            <a:ext cx="1432499" cy="1005840"/>
          </a:xfrm>
          <a:prstGeom prst="rect">
            <a:avLst/>
          </a:prstGeom>
          <a:noFill/>
          <a:ln/>
        </p:spPr>
        <p:txBody>
          <a:bodyPr wrap="square" lIns="0" tIns="0" rIns="0" bIns="0" rtlCol="0" anchor="t"/>
          <a:lstStyle/>
          <a:p>
            <a:pPr indent="0" marL="0">
              <a:buNone/>
            </a:pPr>
            <a:r>
              <a:rPr lang="en-US" sz="1600" b="1" dirty="0">
                <a:solidFill>
                  <a:srgbClr val="121614"/>
                </a:solidFill>
                <a:latin typeface="Bricolage Grotesque" pitchFamily="34" charset="0"/>
                <a:ea typeface="Bricolage Grotesque" pitchFamily="34" charset="-122"/>
                <a:cs typeface="Bricolage Grotesque" pitchFamily="34" charset="-120"/>
              </a:rPr>
              <a:t>One line in usage.jsonl</a:t>
            </a:r>
            <a:endParaRPr lang="en-US" sz="1600" dirty="0"/>
          </a:p>
        </p:txBody>
      </p:sp>
      <p:sp>
        <p:nvSpPr>
          <p:cNvPr id="18" name="fluxo-seta-3"/>
          <p:cNvSpPr/>
          <p:nvPr/>
        </p:nvSpPr>
        <p:spPr>
          <a:xfrm>
            <a:off x="9387596" y="3291840"/>
            <a:ext cx="320040" cy="0"/>
          </a:xfrm>
          <a:prstGeom prst="line">
            <a:avLst/>
          </a:prstGeom>
          <a:noFill/>
          <a:ln w="31750">
            <a:solidFill>
              <a:srgbClr val="121614"/>
            </a:solidFill>
            <a:prstDash val="solid"/>
            <a:tailEnd type="triangle"/>
          </a:ln>
        </p:spPr>
      </p:sp>
      <p:sp>
        <p:nvSpPr>
          <p:cNvPr id="19" name="passo-4"/>
          <p:cNvSpPr/>
          <p:nvPr/>
        </p:nvSpPr>
        <p:spPr>
          <a:xfrm>
            <a:off x="9753356" y="2377440"/>
            <a:ext cx="1889699" cy="1828800"/>
          </a:xfrm>
          <a:prstGeom prst="rect">
            <a:avLst/>
          </a:prstGeom>
          <a:solidFill>
            <a:srgbClr val="121614"/>
          </a:solidFill>
          <a:ln w="12700">
            <a:solidFill>
              <a:srgbClr val="121614"/>
            </a:solidFill>
            <a:prstDash val="solid"/>
          </a:ln>
        </p:spPr>
      </p:sp>
      <p:sp>
        <p:nvSpPr>
          <p:cNvPr id="20" name="passo-marca-4"/>
          <p:cNvSpPr/>
          <p:nvPr/>
        </p:nvSpPr>
        <p:spPr>
          <a:xfrm>
            <a:off x="9981956" y="2606040"/>
            <a:ext cx="274320" cy="274320"/>
          </a:xfrm>
          <a:prstGeom prst="rect">
            <a:avLst/>
          </a:prstGeom>
          <a:solidFill>
            <a:srgbClr val="1A4BE0"/>
          </a:solidFill>
          <a:ln w="12700">
            <a:solidFill>
              <a:srgbClr val="1A4BE0"/>
            </a:solidFill>
            <a:prstDash val="solid"/>
          </a:ln>
        </p:spPr>
      </p:sp>
      <p:sp>
        <p:nvSpPr>
          <p:cNvPr id="21" name="passo-texto-4"/>
          <p:cNvSpPr txBox="1"/>
          <p:nvPr/>
        </p:nvSpPr>
        <p:spPr>
          <a:xfrm>
            <a:off x="9981956" y="3063240"/>
            <a:ext cx="1432499" cy="1005840"/>
          </a:xfrm>
          <a:prstGeom prst="rect">
            <a:avLst/>
          </a:prstGeom>
          <a:noFill/>
          <a:ln/>
        </p:spPr>
        <p:txBody>
          <a:bodyPr wrap="square" lIns="0" tIns="0" rIns="0" bIns="0" rtlCol="0" anchor="t"/>
          <a:lstStyle/>
          <a:p>
            <a:pPr indent="0" marL="0">
              <a:buNone/>
            </a:pPr>
            <a:r>
              <a:rPr lang="en-US" sz="1600" b="1" dirty="0">
                <a:solidFill>
                  <a:srgbClr val="E8EDE9"/>
                </a:solidFill>
                <a:latin typeface="Bricolage Grotesque" pitchFamily="34" charset="0"/>
                <a:ea typeface="Bricolage Grotesque" pitchFamily="34" charset="-122"/>
                <a:cs typeface="Bricolage Grotesque" pitchFamily="34" charset="-120"/>
              </a:rPr>
              <a:t>Statusline and /demo-cost</a:t>
            </a:r>
            <a:endParaRPr lang="en-US" sz="16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45C57"/>
                </a:solidFill>
                <a:latin typeface="Arial"/>
                <a:ea typeface="Arial"/>
                <a:cs typeface="Aria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914400"/>
          </a:xfrm>
          <a:prstGeom prst="rect">
            <a:avLst/>
          </a:prstGeom>
          <a:noFill/>
          <a:ln/>
        </p:spPr>
        <p:txBody>
          <a:bodyPr wrap="square" lIns="0" tIns="0" rIns="0" bIns="0" rtlCol="0" anchor="t"/>
          <a:lstStyle/>
          <a:p>
            <a:pPr algn="l" indent="0" marL="0">
              <a:buNone/>
            </a:pPr>
            <a:r>
              <a:rPr lang="en-US" sz="3600" b="1" dirty="0">
                <a:solidFill>
                  <a:srgbClr val="121614"/>
                </a:solidFill>
                <a:latin typeface="Bricolage Grotesque" pitchFamily="34" charset="0"/>
                <a:ea typeface="Bricolage Grotesque" pitchFamily="34" charset="-122"/>
                <a:cs typeface="Bricolage Grotesque" pitchFamily="34" charset="-120"/>
              </a:rPr>
              <a:t>The cycle of every task</a:t>
            </a:r>
            <a:endParaRPr lang="en-US" sz="3600" dirty="0"/>
          </a:p>
        </p:txBody>
      </p:sp>
      <p:sp>
        <p:nvSpPr>
          <p:cNvPr id="3" name="passo-0"/>
          <p:cNvSpPr/>
          <p:nvPr/>
        </p:nvSpPr>
        <p:spPr>
          <a:xfrm>
            <a:off x="548640" y="2377440"/>
            <a:ext cx="1889699" cy="1828800"/>
          </a:xfrm>
          <a:prstGeom prst="rect">
            <a:avLst/>
          </a:prstGeom>
          <a:solidFill>
            <a:srgbClr val="E6E6E1"/>
          </a:solidFill>
          <a:ln w="12700">
            <a:solidFill>
              <a:srgbClr val="E6E6E1"/>
            </a:solidFill>
            <a:prstDash val="solid"/>
          </a:ln>
        </p:spPr>
      </p:sp>
      <p:sp>
        <p:nvSpPr>
          <p:cNvPr id="4" name="passo-marca-0"/>
          <p:cNvSpPr/>
          <p:nvPr/>
        </p:nvSpPr>
        <p:spPr>
          <a:xfrm>
            <a:off x="777240" y="2606040"/>
            <a:ext cx="274320" cy="274320"/>
          </a:xfrm>
          <a:prstGeom prst="rect">
            <a:avLst/>
          </a:prstGeom>
          <a:solidFill>
            <a:srgbClr val="C4C7C1"/>
          </a:solidFill>
          <a:ln w="12700">
            <a:solidFill>
              <a:srgbClr val="C4C7C1"/>
            </a:solidFill>
            <a:prstDash val="solid"/>
          </a:ln>
        </p:spPr>
      </p:sp>
      <p:sp>
        <p:nvSpPr>
          <p:cNvPr id="5" name="passo-texto-0"/>
          <p:cNvSpPr txBox="1"/>
          <p:nvPr/>
        </p:nvSpPr>
        <p:spPr>
          <a:xfrm>
            <a:off x="777240" y="3063240"/>
            <a:ext cx="1432499" cy="1005840"/>
          </a:xfrm>
          <a:prstGeom prst="rect">
            <a:avLst/>
          </a:prstGeom>
          <a:noFill/>
          <a:ln/>
        </p:spPr>
        <p:txBody>
          <a:bodyPr wrap="square" lIns="0" tIns="0" rIns="0" bIns="0" rtlCol="0" anchor="t"/>
          <a:lstStyle/>
          <a:p>
            <a:pPr indent="0" marL="0">
              <a:buNone/>
            </a:pPr>
            <a:r>
              <a:rPr lang="en-US" sz="1600" b="1" dirty="0">
                <a:solidFill>
                  <a:srgbClr val="121614"/>
                </a:solidFill>
                <a:latin typeface="Bricolage Grotesque" pitchFamily="34" charset="0"/>
                <a:ea typeface="Bricolage Grotesque" pitchFamily="34" charset="-122"/>
                <a:cs typeface="Bricolage Grotesque" pitchFamily="34" charset="-120"/>
              </a:rPr>
              <a:t>plan</a:t>
            </a:r>
            <a:endParaRPr lang="en-US" sz="1600" dirty="0"/>
          </a:p>
        </p:txBody>
      </p:sp>
      <p:sp>
        <p:nvSpPr>
          <p:cNvPr id="6" name="fluxo-seta-0"/>
          <p:cNvSpPr/>
          <p:nvPr/>
        </p:nvSpPr>
        <p:spPr>
          <a:xfrm>
            <a:off x="2484059" y="3291840"/>
            <a:ext cx="320040" cy="0"/>
          </a:xfrm>
          <a:prstGeom prst="line">
            <a:avLst/>
          </a:prstGeom>
          <a:noFill/>
          <a:ln w="31750">
            <a:solidFill>
              <a:srgbClr val="121614"/>
            </a:solidFill>
            <a:prstDash val="solid"/>
            <a:tailEnd type="triangle"/>
          </a:ln>
        </p:spPr>
      </p:sp>
      <p:sp>
        <p:nvSpPr>
          <p:cNvPr id="7" name="passo-1"/>
          <p:cNvSpPr/>
          <p:nvPr/>
        </p:nvSpPr>
        <p:spPr>
          <a:xfrm>
            <a:off x="2849819" y="2377440"/>
            <a:ext cx="1889699" cy="1828800"/>
          </a:xfrm>
          <a:prstGeom prst="rect">
            <a:avLst/>
          </a:prstGeom>
          <a:solidFill>
            <a:srgbClr val="E6E6E1"/>
          </a:solidFill>
          <a:ln w="12700">
            <a:solidFill>
              <a:srgbClr val="E6E6E1"/>
            </a:solidFill>
            <a:prstDash val="solid"/>
          </a:ln>
        </p:spPr>
      </p:sp>
      <p:sp>
        <p:nvSpPr>
          <p:cNvPr id="8" name="passo-marca-1"/>
          <p:cNvSpPr/>
          <p:nvPr/>
        </p:nvSpPr>
        <p:spPr>
          <a:xfrm>
            <a:off x="3078419" y="2606040"/>
            <a:ext cx="274320" cy="274320"/>
          </a:xfrm>
          <a:prstGeom prst="rect">
            <a:avLst/>
          </a:prstGeom>
          <a:solidFill>
            <a:srgbClr val="F1C232"/>
          </a:solidFill>
          <a:ln w="12700">
            <a:solidFill>
              <a:srgbClr val="F1C232"/>
            </a:solidFill>
            <a:prstDash val="solid"/>
          </a:ln>
        </p:spPr>
      </p:sp>
      <p:sp>
        <p:nvSpPr>
          <p:cNvPr id="9" name="passo-texto-1"/>
          <p:cNvSpPr txBox="1"/>
          <p:nvPr/>
        </p:nvSpPr>
        <p:spPr>
          <a:xfrm>
            <a:off x="3078419" y="3063240"/>
            <a:ext cx="1432499" cy="1005840"/>
          </a:xfrm>
          <a:prstGeom prst="rect">
            <a:avLst/>
          </a:prstGeom>
          <a:noFill/>
          <a:ln/>
        </p:spPr>
        <p:txBody>
          <a:bodyPr wrap="square" lIns="0" tIns="0" rIns="0" bIns="0" rtlCol="0" anchor="t"/>
          <a:lstStyle/>
          <a:p>
            <a:pPr indent="0" marL="0">
              <a:buNone/>
            </a:pPr>
            <a:r>
              <a:rPr lang="en-US" sz="1600" b="1" dirty="0">
                <a:solidFill>
                  <a:srgbClr val="121614"/>
                </a:solidFill>
                <a:latin typeface="Bricolage Grotesque" pitchFamily="34" charset="0"/>
                <a:ea typeface="Bricolage Grotesque" pitchFamily="34" charset="-122"/>
                <a:cs typeface="Bricolage Grotesque" pitchFamily="34" charset="-120"/>
              </a:rPr>
              <a:t>swarm</a:t>
            </a:r>
            <a:endParaRPr lang="en-US" sz="1600" dirty="0"/>
          </a:p>
        </p:txBody>
      </p:sp>
      <p:sp>
        <p:nvSpPr>
          <p:cNvPr id="10" name="fluxo-seta-1"/>
          <p:cNvSpPr/>
          <p:nvPr/>
        </p:nvSpPr>
        <p:spPr>
          <a:xfrm>
            <a:off x="4785238" y="3291840"/>
            <a:ext cx="320040" cy="0"/>
          </a:xfrm>
          <a:prstGeom prst="line">
            <a:avLst/>
          </a:prstGeom>
          <a:noFill/>
          <a:ln w="31750">
            <a:solidFill>
              <a:srgbClr val="121614"/>
            </a:solidFill>
            <a:prstDash val="solid"/>
            <a:tailEnd type="triangle"/>
          </a:ln>
        </p:spPr>
      </p:sp>
      <p:sp>
        <p:nvSpPr>
          <p:cNvPr id="11" name="passo-2"/>
          <p:cNvSpPr/>
          <p:nvPr/>
        </p:nvSpPr>
        <p:spPr>
          <a:xfrm>
            <a:off x="5150998" y="2377440"/>
            <a:ext cx="1889699" cy="1828800"/>
          </a:xfrm>
          <a:prstGeom prst="rect">
            <a:avLst/>
          </a:prstGeom>
          <a:solidFill>
            <a:srgbClr val="E6E6E1"/>
          </a:solidFill>
          <a:ln w="12700">
            <a:solidFill>
              <a:srgbClr val="E6E6E1"/>
            </a:solidFill>
            <a:prstDash val="solid"/>
          </a:ln>
        </p:spPr>
      </p:sp>
      <p:sp>
        <p:nvSpPr>
          <p:cNvPr id="12" name="passo-marca-2"/>
          <p:cNvSpPr/>
          <p:nvPr/>
        </p:nvSpPr>
        <p:spPr>
          <a:xfrm>
            <a:off x="5379598" y="2606040"/>
            <a:ext cx="274320" cy="274320"/>
          </a:xfrm>
          <a:prstGeom prst="rect">
            <a:avLst/>
          </a:prstGeom>
          <a:solidFill>
            <a:srgbClr val="1E9E57"/>
          </a:solidFill>
          <a:ln w="12700">
            <a:solidFill>
              <a:srgbClr val="1E9E57"/>
            </a:solidFill>
            <a:prstDash val="solid"/>
          </a:ln>
        </p:spPr>
      </p:sp>
      <p:sp>
        <p:nvSpPr>
          <p:cNvPr id="13" name="passo-texto-2"/>
          <p:cNvSpPr txBox="1"/>
          <p:nvPr/>
        </p:nvSpPr>
        <p:spPr>
          <a:xfrm>
            <a:off x="5379598" y="3063240"/>
            <a:ext cx="1432499" cy="1005840"/>
          </a:xfrm>
          <a:prstGeom prst="rect">
            <a:avLst/>
          </a:prstGeom>
          <a:noFill/>
          <a:ln/>
        </p:spPr>
        <p:txBody>
          <a:bodyPr wrap="square" lIns="0" tIns="0" rIns="0" bIns="0" rtlCol="0" anchor="t"/>
          <a:lstStyle/>
          <a:p>
            <a:pPr indent="0" marL="0">
              <a:buNone/>
            </a:pPr>
            <a:r>
              <a:rPr lang="en-US" sz="1600" b="1" dirty="0">
                <a:solidFill>
                  <a:srgbClr val="121614"/>
                </a:solidFill>
                <a:latin typeface="Bricolage Grotesque" pitchFamily="34" charset="0"/>
                <a:ea typeface="Bricolage Grotesque" pitchFamily="34" charset="-122"/>
                <a:cs typeface="Bricolage Grotesque" pitchFamily="34" charset="-120"/>
              </a:rPr>
              <a:t>review</a:t>
            </a:r>
            <a:endParaRPr lang="en-US" sz="1600" dirty="0"/>
          </a:p>
        </p:txBody>
      </p:sp>
      <p:sp>
        <p:nvSpPr>
          <p:cNvPr id="14" name="fluxo-seta-2"/>
          <p:cNvSpPr/>
          <p:nvPr/>
        </p:nvSpPr>
        <p:spPr>
          <a:xfrm>
            <a:off x="7086417" y="3291840"/>
            <a:ext cx="320040" cy="0"/>
          </a:xfrm>
          <a:prstGeom prst="line">
            <a:avLst/>
          </a:prstGeom>
          <a:noFill/>
          <a:ln w="31750">
            <a:solidFill>
              <a:srgbClr val="121614"/>
            </a:solidFill>
            <a:prstDash val="solid"/>
            <a:tailEnd type="triangle"/>
          </a:ln>
        </p:spPr>
      </p:sp>
      <p:sp>
        <p:nvSpPr>
          <p:cNvPr id="15" name="passo-3"/>
          <p:cNvSpPr/>
          <p:nvPr/>
        </p:nvSpPr>
        <p:spPr>
          <a:xfrm>
            <a:off x="7452177" y="2377440"/>
            <a:ext cx="1889699" cy="1828800"/>
          </a:xfrm>
          <a:prstGeom prst="rect">
            <a:avLst/>
          </a:prstGeom>
          <a:solidFill>
            <a:srgbClr val="E6E6E1"/>
          </a:solidFill>
          <a:ln w="12700">
            <a:solidFill>
              <a:srgbClr val="E6E6E1"/>
            </a:solidFill>
            <a:prstDash val="solid"/>
          </a:ln>
        </p:spPr>
      </p:sp>
      <p:sp>
        <p:nvSpPr>
          <p:cNvPr id="16" name="passo-marca-3"/>
          <p:cNvSpPr/>
          <p:nvPr/>
        </p:nvSpPr>
        <p:spPr>
          <a:xfrm>
            <a:off x="7680777" y="2606040"/>
            <a:ext cx="274320" cy="274320"/>
          </a:xfrm>
          <a:prstGeom prst="rect">
            <a:avLst/>
          </a:prstGeom>
          <a:solidFill>
            <a:srgbClr val="1E9E57"/>
          </a:solidFill>
          <a:ln w="12700">
            <a:solidFill>
              <a:srgbClr val="1E9E57"/>
            </a:solidFill>
            <a:prstDash val="solid"/>
          </a:ln>
        </p:spPr>
      </p:sp>
      <p:sp>
        <p:nvSpPr>
          <p:cNvPr id="17" name="passo-texto-3"/>
          <p:cNvSpPr txBox="1"/>
          <p:nvPr/>
        </p:nvSpPr>
        <p:spPr>
          <a:xfrm>
            <a:off x="7680777" y="3063240"/>
            <a:ext cx="1432499" cy="1005840"/>
          </a:xfrm>
          <a:prstGeom prst="rect">
            <a:avLst/>
          </a:prstGeom>
          <a:noFill/>
          <a:ln/>
        </p:spPr>
        <p:txBody>
          <a:bodyPr wrap="square" lIns="0" tIns="0" rIns="0" bIns="0" rtlCol="0" anchor="t"/>
          <a:lstStyle/>
          <a:p>
            <a:pPr indent="0" marL="0">
              <a:buNone/>
            </a:pPr>
            <a:r>
              <a:rPr lang="en-US" sz="1600" b="1" dirty="0">
                <a:solidFill>
                  <a:srgbClr val="121614"/>
                </a:solidFill>
                <a:latin typeface="Bricolage Grotesque" pitchFamily="34" charset="0"/>
                <a:ea typeface="Bricolage Grotesque" pitchFamily="34" charset="-122"/>
                <a:cs typeface="Bricolage Grotesque" pitchFamily="34" charset="-120"/>
              </a:rPr>
              <a:t>cost</a:t>
            </a:r>
            <a:endParaRPr lang="en-US" sz="1600" dirty="0"/>
          </a:p>
        </p:txBody>
      </p:sp>
      <p:sp>
        <p:nvSpPr>
          <p:cNvPr id="18" name="fluxo-seta-3"/>
          <p:cNvSpPr/>
          <p:nvPr/>
        </p:nvSpPr>
        <p:spPr>
          <a:xfrm>
            <a:off x="9387596" y="3291840"/>
            <a:ext cx="320040" cy="0"/>
          </a:xfrm>
          <a:prstGeom prst="line">
            <a:avLst/>
          </a:prstGeom>
          <a:noFill/>
          <a:ln w="31750">
            <a:solidFill>
              <a:srgbClr val="121614"/>
            </a:solidFill>
            <a:prstDash val="solid"/>
            <a:tailEnd type="triangle"/>
          </a:ln>
        </p:spPr>
      </p:sp>
      <p:sp>
        <p:nvSpPr>
          <p:cNvPr id="19" name="passo-4"/>
          <p:cNvSpPr/>
          <p:nvPr/>
        </p:nvSpPr>
        <p:spPr>
          <a:xfrm>
            <a:off x="9753356" y="2377440"/>
            <a:ext cx="1889699" cy="1828800"/>
          </a:xfrm>
          <a:prstGeom prst="rect">
            <a:avLst/>
          </a:prstGeom>
          <a:solidFill>
            <a:srgbClr val="121614"/>
          </a:solidFill>
          <a:ln w="12700">
            <a:solidFill>
              <a:srgbClr val="121614"/>
            </a:solidFill>
            <a:prstDash val="solid"/>
          </a:ln>
        </p:spPr>
      </p:sp>
      <p:sp>
        <p:nvSpPr>
          <p:cNvPr id="20" name="passo-marca-4"/>
          <p:cNvSpPr/>
          <p:nvPr/>
        </p:nvSpPr>
        <p:spPr>
          <a:xfrm>
            <a:off x="9981956" y="2606040"/>
            <a:ext cx="274320" cy="274320"/>
          </a:xfrm>
          <a:prstGeom prst="rect">
            <a:avLst/>
          </a:prstGeom>
          <a:solidFill>
            <a:srgbClr val="1A4BE0"/>
          </a:solidFill>
          <a:ln w="12700">
            <a:solidFill>
              <a:srgbClr val="1A4BE0"/>
            </a:solidFill>
            <a:prstDash val="solid"/>
          </a:ln>
        </p:spPr>
      </p:sp>
      <p:sp>
        <p:nvSpPr>
          <p:cNvPr id="21" name="passo-texto-4"/>
          <p:cNvSpPr txBox="1"/>
          <p:nvPr/>
        </p:nvSpPr>
        <p:spPr>
          <a:xfrm>
            <a:off x="9981956" y="3063240"/>
            <a:ext cx="1432499" cy="1005840"/>
          </a:xfrm>
          <a:prstGeom prst="rect">
            <a:avLst/>
          </a:prstGeom>
          <a:noFill/>
          <a:ln/>
        </p:spPr>
        <p:txBody>
          <a:bodyPr wrap="square" lIns="0" tIns="0" rIns="0" bIns="0" rtlCol="0" anchor="t"/>
          <a:lstStyle/>
          <a:p>
            <a:pPr indent="0" marL="0">
              <a:buNone/>
            </a:pPr>
            <a:r>
              <a:rPr lang="en-US" sz="1600" b="1" dirty="0">
                <a:solidFill>
                  <a:srgbClr val="E8EDE9"/>
                </a:solidFill>
                <a:latin typeface="Bricolage Grotesque" pitchFamily="34" charset="0"/>
                <a:ea typeface="Bricolage Grotesque" pitchFamily="34" charset="-122"/>
                <a:cs typeface="Bricolage Grotesque" pitchFamily="34" charset="-120"/>
              </a:rPr>
              <a:t>memory</a:t>
            </a:r>
            <a:endParaRPr lang="en-US" sz="16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45C57"/>
                </a:solidFill>
                <a:latin typeface="Arial"/>
                <a:ea typeface="Arial"/>
                <a:cs typeface="Aria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914400"/>
          </a:xfrm>
          <a:prstGeom prst="rect">
            <a:avLst/>
          </a:prstGeom>
          <a:noFill/>
          <a:ln/>
        </p:spPr>
        <p:txBody>
          <a:bodyPr wrap="square" lIns="0" tIns="0" rIns="0" bIns="0" rtlCol="0" anchor="t"/>
          <a:lstStyle/>
          <a:p>
            <a:pPr algn="l" indent="0" marL="0">
              <a:buNone/>
            </a:pPr>
            <a:r>
              <a:rPr lang="en-US" sz="3600" b="1" dirty="0">
                <a:solidFill>
                  <a:srgbClr val="121614"/>
                </a:solidFill>
                <a:latin typeface="Bricolage Grotesque" pitchFamily="34" charset="0"/>
                <a:ea typeface="Bricolage Grotesque" pitchFamily="34" charset="-122"/>
                <a:cs typeface="Bricolage Grotesque" pitchFamily="34" charset="-120"/>
              </a:rPr>
              <a:t>Limits we respect</a:t>
            </a:r>
            <a:endParaRPr lang="en-US" sz="3600" dirty="0"/>
          </a:p>
        </p:txBody>
      </p:sp>
      <p:sp>
        <p:nvSpPr>
          <p:cNvPr id="3" name="stat-0"/>
          <p:cNvSpPr/>
          <p:nvPr/>
        </p:nvSpPr>
        <p:spPr>
          <a:xfrm>
            <a:off x="548640" y="1737360"/>
            <a:ext cx="3484778" cy="3291840"/>
          </a:xfrm>
          <a:prstGeom prst="rect">
            <a:avLst/>
          </a:prstGeom>
          <a:solidFill>
            <a:srgbClr val="121614"/>
          </a:solidFill>
          <a:ln w="12700">
            <a:solidFill>
              <a:srgbClr val="121614"/>
            </a:solidFill>
            <a:prstDash val="solid"/>
          </a:ln>
        </p:spPr>
      </p:sp>
      <p:sp>
        <p:nvSpPr>
          <p:cNvPr id="4" name="stat-valor-0"/>
          <p:cNvSpPr txBox="1"/>
          <p:nvPr/>
        </p:nvSpPr>
        <p:spPr>
          <a:xfrm>
            <a:off x="868680" y="2057400"/>
            <a:ext cx="2844698" cy="1280160"/>
          </a:xfrm>
          <a:prstGeom prst="rect">
            <a:avLst/>
          </a:prstGeom>
          <a:noFill/>
          <a:ln/>
        </p:spPr>
        <p:txBody>
          <a:bodyPr wrap="square" lIns="0" tIns="0" rIns="0" bIns="0" rtlCol="0" anchor="t">
            <a:normAutofit/>
          </a:bodyPr>
          <a:lstStyle/>
          <a:p>
            <a:pPr indent="0" marL="0">
              <a:buNone/>
            </a:pPr>
            <a:r>
              <a:rPr lang="en-US" sz="6000" b="1" dirty="0">
                <a:solidFill>
                  <a:srgbClr val="E8EDE9"/>
                </a:solidFill>
                <a:latin typeface="Bricolage Grotesque" pitchFamily="34" charset="0"/>
                <a:ea typeface="Bricolage Grotesque" pitchFamily="34" charset="-122"/>
                <a:cs typeface="Bricolage Grotesque" pitchFamily="34" charset="-120"/>
              </a:rPr>
              <a:t>20</a:t>
            </a:r>
            <a:endParaRPr lang="en-US" sz="6000" dirty="0"/>
          </a:p>
        </p:txBody>
      </p:sp>
      <p:sp>
        <p:nvSpPr>
          <p:cNvPr id="5" name="stat-rotulo-0"/>
          <p:cNvSpPr txBox="1"/>
          <p:nvPr/>
        </p:nvSpPr>
        <p:spPr>
          <a:xfrm>
            <a:off x="868680" y="3474720"/>
            <a:ext cx="2844698" cy="1371600"/>
          </a:xfrm>
          <a:prstGeom prst="rect">
            <a:avLst/>
          </a:prstGeom>
          <a:noFill/>
          <a:ln/>
        </p:spPr>
        <p:txBody>
          <a:bodyPr wrap="square" lIns="0" tIns="0" rIns="0" bIns="0" rtlCol="0" anchor="t"/>
          <a:lstStyle/>
          <a:p>
            <a:pPr indent="0" marL="0">
              <a:buNone/>
            </a:pPr>
            <a:r>
              <a:rPr lang="en-US" sz="1800" dirty="0">
                <a:solidFill>
                  <a:srgbClr val="9BA59F"/>
                </a:solidFill>
                <a:latin typeface="Arial" pitchFamily="34" charset="0"/>
                <a:ea typeface="Arial" pitchFamily="34" charset="-122"/>
                <a:cs typeface="Arial" pitchFamily="34" charset="-120"/>
              </a:rPr>
              <a:t>subagents at the same time, at most, per session</a:t>
            </a:r>
            <a:endParaRPr lang="en-US" sz="1800" dirty="0"/>
          </a:p>
        </p:txBody>
      </p:sp>
      <p:sp>
        <p:nvSpPr>
          <p:cNvPr id="6" name="stat-1"/>
          <p:cNvSpPr/>
          <p:nvPr/>
        </p:nvSpPr>
        <p:spPr>
          <a:xfrm>
            <a:off x="4353458" y="1737360"/>
            <a:ext cx="3484778" cy="3291840"/>
          </a:xfrm>
          <a:prstGeom prst="rect">
            <a:avLst/>
          </a:prstGeom>
          <a:solidFill>
            <a:srgbClr val="E6E6E1"/>
          </a:solidFill>
          <a:ln w="12700">
            <a:solidFill>
              <a:srgbClr val="E6E6E1"/>
            </a:solidFill>
            <a:prstDash val="solid"/>
          </a:ln>
        </p:spPr>
      </p:sp>
      <p:sp>
        <p:nvSpPr>
          <p:cNvPr id="7" name="stat-valor-1"/>
          <p:cNvSpPr txBox="1"/>
          <p:nvPr/>
        </p:nvSpPr>
        <p:spPr>
          <a:xfrm>
            <a:off x="4673498" y="2057400"/>
            <a:ext cx="2844698" cy="1280160"/>
          </a:xfrm>
          <a:prstGeom prst="rect">
            <a:avLst/>
          </a:prstGeom>
          <a:noFill/>
          <a:ln/>
        </p:spPr>
        <p:txBody>
          <a:bodyPr wrap="square" lIns="0" tIns="0" rIns="0" bIns="0" rtlCol="0" anchor="t">
            <a:normAutofit/>
          </a:bodyPr>
          <a:lstStyle/>
          <a:p>
            <a:pPr indent="0" marL="0">
              <a:buNone/>
            </a:pPr>
            <a:r>
              <a:rPr lang="en-US" sz="6000" b="1" dirty="0">
                <a:solidFill>
                  <a:srgbClr val="121614"/>
                </a:solidFill>
                <a:latin typeface="Bricolage Grotesque" pitchFamily="34" charset="0"/>
                <a:ea typeface="Bricolage Grotesque" pitchFamily="34" charset="-122"/>
                <a:cs typeface="Bricolage Grotesque" pitchFamily="34" charset="-120"/>
              </a:rPr>
              <a:t>8</a:t>
            </a:r>
            <a:endParaRPr lang="en-US" sz="6000" dirty="0"/>
          </a:p>
        </p:txBody>
      </p:sp>
      <p:sp>
        <p:nvSpPr>
          <p:cNvPr id="8" name="stat-rotulo-1"/>
          <p:cNvSpPr txBox="1"/>
          <p:nvPr/>
        </p:nvSpPr>
        <p:spPr>
          <a:xfrm>
            <a:off x="4673498" y="3474720"/>
            <a:ext cx="2844698" cy="1371600"/>
          </a:xfrm>
          <a:prstGeom prst="rect">
            <a:avLst/>
          </a:prstGeom>
          <a:noFill/>
          <a:ln/>
        </p:spPr>
        <p:txBody>
          <a:bodyPr wrap="square" lIns="0" tIns="0" rIns="0" bIns="0" rtlCol="0" anchor="t"/>
          <a:lstStyle/>
          <a:p>
            <a:pPr indent="0" marL="0">
              <a:buNone/>
            </a:pPr>
            <a:r>
              <a:rPr lang="en-US" sz="1800" dirty="0">
                <a:solidFill>
                  <a:srgbClr val="545C57"/>
                </a:solidFill>
                <a:latin typeface="Arial" pitchFamily="34" charset="0"/>
                <a:ea typeface="Arial" pitchFamily="34" charset="-122"/>
                <a:cs typeface="Arial" pitchFamily="34" charset="-120"/>
              </a:rPr>
              <a:t>in parallel by default today, for new accounts</a:t>
            </a:r>
            <a:endParaRPr lang="en-US" sz="1800" dirty="0"/>
          </a:p>
        </p:txBody>
      </p:sp>
      <p:sp>
        <p:nvSpPr>
          <p:cNvPr id="9" name="stat-2"/>
          <p:cNvSpPr/>
          <p:nvPr/>
        </p:nvSpPr>
        <p:spPr>
          <a:xfrm>
            <a:off x="8158277" y="1737360"/>
            <a:ext cx="3484778" cy="3291840"/>
          </a:xfrm>
          <a:prstGeom prst="rect">
            <a:avLst/>
          </a:prstGeom>
          <a:solidFill>
            <a:srgbClr val="E6E6E1"/>
          </a:solidFill>
          <a:ln w="12700">
            <a:solidFill>
              <a:srgbClr val="E6E6E1"/>
            </a:solidFill>
            <a:prstDash val="solid"/>
          </a:ln>
        </p:spPr>
      </p:sp>
      <p:sp>
        <p:nvSpPr>
          <p:cNvPr id="10" name="stat-valor-2"/>
          <p:cNvSpPr txBox="1"/>
          <p:nvPr/>
        </p:nvSpPr>
        <p:spPr>
          <a:xfrm>
            <a:off x="8478317" y="2057400"/>
            <a:ext cx="2844698" cy="1280160"/>
          </a:xfrm>
          <a:prstGeom prst="rect">
            <a:avLst/>
          </a:prstGeom>
          <a:noFill/>
          <a:ln/>
        </p:spPr>
        <p:txBody>
          <a:bodyPr wrap="square" lIns="0" tIns="0" rIns="0" bIns="0" rtlCol="0" anchor="t">
            <a:normAutofit/>
          </a:bodyPr>
          <a:lstStyle/>
          <a:p>
            <a:pPr indent="0" marL="0">
              <a:buNone/>
            </a:pPr>
            <a:r>
              <a:rPr lang="en-US" sz="6000" b="1" dirty="0">
                <a:solidFill>
                  <a:srgbClr val="121614"/>
                </a:solidFill>
                <a:latin typeface="Bricolage Grotesque" pitchFamily="34" charset="0"/>
                <a:ea typeface="Bricolage Grotesque" pitchFamily="34" charset="-122"/>
                <a:cs typeface="Bricolage Grotesque" pitchFamily="34" charset="-120"/>
              </a:rPr>
              <a:t>16</a:t>
            </a:r>
            <a:endParaRPr lang="en-US" sz="6000" dirty="0"/>
          </a:p>
        </p:txBody>
      </p:sp>
      <p:sp>
        <p:nvSpPr>
          <p:cNvPr id="11" name="stat-rotulo-2"/>
          <p:cNvSpPr txBox="1"/>
          <p:nvPr/>
        </p:nvSpPr>
        <p:spPr>
          <a:xfrm>
            <a:off x="8478317" y="3474720"/>
            <a:ext cx="2844698" cy="1371600"/>
          </a:xfrm>
          <a:prstGeom prst="rect">
            <a:avLst/>
          </a:prstGeom>
          <a:noFill/>
          <a:ln/>
        </p:spPr>
        <p:txBody>
          <a:bodyPr wrap="square" lIns="0" tIns="0" rIns="0" bIns="0" rtlCol="0" anchor="t"/>
          <a:lstStyle/>
          <a:p>
            <a:pPr indent="0" marL="0">
              <a:buNone/>
            </a:pPr>
            <a:r>
              <a:rPr lang="en-US" sz="1800" dirty="0">
                <a:solidFill>
                  <a:srgbClr val="545C57"/>
                </a:solidFill>
                <a:latin typeface="Arial" pitchFamily="34" charset="0"/>
                <a:ea typeface="Arial" pitchFamily="34" charset="-122"/>
                <a:cs typeface="Arial" pitchFamily="34" charset="-120"/>
              </a:rPr>
              <a:t>in presenter mode (100 agents in batches)</a:t>
            </a:r>
            <a:endParaRPr lang="en-US" sz="18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45C57"/>
                </a:solidFill>
                <a:latin typeface="Arial"/>
                <a:ea typeface="Arial"/>
                <a:cs typeface="Aria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914400"/>
          </a:xfrm>
          <a:prstGeom prst="rect">
            <a:avLst/>
          </a:prstGeom>
          <a:noFill/>
          <a:ln/>
        </p:spPr>
        <p:txBody>
          <a:bodyPr wrap="square" lIns="0" tIns="0" rIns="0" bIns="0" rtlCol="0" anchor="t"/>
          <a:lstStyle/>
          <a:p>
            <a:pPr algn="l" indent="0" marL="0">
              <a:buNone/>
            </a:pPr>
            <a:r>
              <a:rPr lang="en-US" sz="3600" b="1" dirty="0">
                <a:solidFill>
                  <a:srgbClr val="121614"/>
                </a:solidFill>
                <a:latin typeface="Bricolage Grotesque" pitchFamily="34" charset="0"/>
                <a:ea typeface="Bricolage Grotesque" pitchFamily="34" charset="-122"/>
                <a:cs typeface="Bricolage Grotesque" pitchFamily="34" charset="-120"/>
              </a:rPr>
              <a:t>100 agents building the Arena</a:t>
            </a:r>
            <a:endParaRPr lang="en-US" sz="3600" dirty="0"/>
          </a:p>
        </p:txBody>
      </p:sp>
      <p:pic>
        <p:nvPicPr>
          <p:cNvPr id="3" name="video-enxame">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548640" y="1463040"/>
            <a:ext cx="11094415" cy="4343400"/>
          </a:xfrm>
          <a:prstGeom prst="rect">
            <a:avLst/>
          </a:prstGeom>
        </p:spPr>
      </p:pic>
      <p:sp>
        <p:nvSpPr>
          <p:cNvPr id="4" name="legenda"/>
          <p:cNvSpPr txBox="1"/>
          <p:nvPr/>
        </p:nvSpPr>
        <p:spPr>
          <a:xfrm>
            <a:off x="548640" y="5943600"/>
            <a:ext cx="11094415" cy="365760"/>
          </a:xfrm>
          <a:prstGeom prst="rect">
            <a:avLst/>
          </a:prstGeom>
          <a:noFill/>
          <a:ln/>
        </p:spPr>
        <p:txBody>
          <a:bodyPr wrap="square" lIns="0" tIns="0" rIns="0" bIns="0" rtlCol="0" anchor="t"/>
          <a:lstStyle/>
          <a:p>
            <a:pPr indent="0" marL="0">
              <a:buNone/>
            </a:pPr>
            <a:r>
              <a:rPr lang="en-US" sz="1500" dirty="0">
                <a:solidFill>
                  <a:srgbClr val="545C57"/>
                </a:solidFill>
                <a:latin typeface="Arial" pitchFamily="34" charset="0"/>
                <a:ea typeface="Arial" pitchFamily="34" charset="-122"/>
                <a:cs typeface="Arial" pitchFamily="34" charset="-120"/>
              </a:rPr>
              <a:t>Real recorded run: 6.9 min · US$ 2.55 · 107 agents</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45C57"/>
                </a:solidFill>
                <a:latin typeface="Arial"/>
                <a:ea typeface="Arial"/>
                <a:cs typeface="Aria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914400"/>
          </a:xfrm>
          <a:prstGeom prst="rect">
            <a:avLst/>
          </a:prstGeom>
          <a:noFill/>
          <a:ln/>
        </p:spPr>
        <p:txBody>
          <a:bodyPr wrap="square" lIns="0" tIns="0" rIns="0" bIns="0" rtlCol="0" anchor="t"/>
          <a:lstStyle/>
          <a:p>
            <a:pPr algn="l" indent="0" marL="0">
              <a:buNone/>
            </a:pPr>
            <a:r>
              <a:rPr lang="en-US" sz="3600" b="1" dirty="0">
                <a:solidFill>
                  <a:srgbClr val="121614"/>
                </a:solidFill>
                <a:latin typeface="Bricolage Grotesque" pitchFamily="34" charset="0"/>
                <a:ea typeface="Bricolage Grotesque" pitchFamily="34" charset="-122"/>
                <a:cs typeface="Bricolage Grotesque" pitchFamily="34" charset="-120"/>
              </a:rPr>
              <a:t>The result: a game to play</a:t>
            </a:r>
            <a:endParaRPr lang="en-US" sz="3600" dirty="0"/>
          </a:p>
        </p:txBody>
      </p:sp>
      <p:pic>
        <p:nvPicPr>
          <p:cNvPr id="3" name="imagem" descr="Green: the test passed · red: it failed. What did not work is visible too.">    </p:cNvPr>
          <p:cNvPicPr>
            <a:picLocks noChangeAspect="1"/>
          </p:cNvPicPr>
          <p:nvPr/>
        </p:nvPicPr>
        <p:blipFill>
          <a:blip r:embed="rId1"/>
          <a:srcRect l="0" r="0" t="0" b="0"/>
          <a:stretch/>
        </p:blipFill>
        <p:spPr>
          <a:xfrm>
            <a:off x="548640" y="1463040"/>
            <a:ext cx="11094415" cy="4343400"/>
          </a:xfrm>
          <a:prstGeom prst="rect">
            <a:avLst/>
          </a:prstGeom>
        </p:spPr>
      </p:pic>
      <p:sp>
        <p:nvSpPr>
          <p:cNvPr id="4" name="legenda"/>
          <p:cNvSpPr txBox="1"/>
          <p:nvPr/>
        </p:nvSpPr>
        <p:spPr>
          <a:xfrm>
            <a:off x="548640" y="5943600"/>
            <a:ext cx="11094415" cy="365760"/>
          </a:xfrm>
          <a:prstGeom prst="rect">
            <a:avLst/>
          </a:prstGeom>
          <a:noFill/>
          <a:ln/>
        </p:spPr>
        <p:txBody>
          <a:bodyPr wrap="square" lIns="0" tIns="0" rIns="0" bIns="0" rtlCol="0" anchor="t"/>
          <a:lstStyle/>
          <a:p>
            <a:pPr indent="0" marL="0">
              <a:buNone/>
            </a:pPr>
            <a:r>
              <a:rPr lang="en-US" sz="1500" dirty="0">
                <a:solidFill>
                  <a:srgbClr val="545C57"/>
                </a:solidFill>
                <a:latin typeface="Arial" pitchFamily="34" charset="0"/>
                <a:ea typeface="Arial" pitchFamily="34" charset="-122"/>
                <a:cs typeface="Arial" pitchFamily="34" charset="-120"/>
              </a:rPr>
              <a:t>Green: the test passed · red: it failed. What did not work is visible too.</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45C57"/>
                </a:solidFill>
                <a:latin typeface="Arial"/>
                <a:ea typeface="Arial"/>
                <a:cs typeface="Aria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0"/>
            <a:ext cx="10972800" cy="1371600"/>
          </a:xfrm>
          <a:prstGeom prst="rect">
            <a:avLst/>
          </a:prstGeom>
          <a:noFill/>
          <a:ln/>
        </p:spPr>
        <p:txBody>
          <a:bodyPr wrap="square" lIns="0" tIns="0" rIns="0" bIns="0" rtlCol="0" anchor="b"/>
          <a:lstStyle/>
          <a:p>
            <a:pPr algn="l" indent="0" marL="0">
              <a:buNone/>
            </a:pPr>
            <a:r>
              <a:rPr lang="en-US" sz="6000" b="1" dirty="0">
                <a:solidFill>
                  <a:srgbClr val="E8EDE9"/>
                </a:solidFill>
                <a:latin typeface="Bricolage Grotesque" pitchFamily="34" charset="0"/>
                <a:ea typeface="Bricolage Grotesque" pitchFamily="34" charset="-122"/>
                <a:cs typeface="Bricolage Grotesque" pitchFamily="34" charset="-120"/>
              </a:rPr>
              <a:t>Project 1</a:t>
            </a:r>
            <a:endParaRPr lang="en-US" sz="6000" dirty="0"/>
          </a:p>
        </p:txBody>
      </p:sp>
      <p:sp>
        <p:nvSpPr>
          <p:cNvPr id="3" name="Text 0"/>
          <p:cNvSpPr/>
          <p:nvPr>
            <p:ph idx="101" type="body" hasCustomPrompt="1"/>
          </p:nvPr>
        </p:nvSpPr>
        <p:spPr>
          <a:xfrm>
            <a:off x="548640" y="3840480"/>
            <a:ext cx="10972800" cy="731520"/>
          </a:xfrm>
          <a:prstGeom prst="rect">
            <a:avLst/>
          </a:prstGeom>
          <a:noFill/>
          <a:ln/>
        </p:spPr>
        <p:txBody>
          <a:bodyPr wrap="square" lIns="0" tIns="0" rIns="0" bIns="0" rtlCol="0"/>
          <a:lstStyle/>
          <a:p>
            <a:pPr algn="l" indent="0" marL="0">
              <a:buNone/>
            </a:pPr>
            <a:r>
              <a:rPr lang="en-US" sz="2400" dirty="0">
                <a:solidFill>
                  <a:srgbClr val="9BA59F"/>
                </a:solidFill>
                <a:latin typeface="Arial" pitchFamily="34" charset="0"/>
                <a:ea typeface="Arial" pitchFamily="34" charset="-122"/>
                <a:cs typeface="Arial" pitchFamily="34" charset="-120"/>
              </a:rPr>
              <a:t>The Security Arena</a:t>
            </a:r>
            <a:endParaRPr lang="en-US" sz="2400" dirty="0"/>
          </a:p>
        </p:txBody>
      </p:sp>
      <p:sp>
        <p:nvSpPr>
          <p:cNvPr id="4" name="estado-0-0"/>
          <p:cNvSpPr/>
          <p:nvPr/>
        </p:nvSpPr>
        <p:spPr>
          <a:xfrm>
            <a:off x="548640" y="1280160"/>
            <a:ext cx="384048" cy="384048"/>
          </a:xfrm>
          <a:prstGeom prst="rect">
            <a:avLst/>
          </a:prstGeom>
          <a:solidFill>
            <a:srgbClr val="1E9E57"/>
          </a:solidFill>
          <a:ln w="12700">
            <a:solidFill>
              <a:srgbClr val="1E9E57"/>
            </a:solidFill>
            <a:prstDash val="solid"/>
          </a:ln>
        </p:spPr>
      </p:sp>
      <p:sp>
        <p:nvSpPr>
          <p:cNvPr id="5" name="estado-0-1"/>
          <p:cNvSpPr/>
          <p:nvPr/>
        </p:nvSpPr>
        <p:spPr>
          <a:xfrm>
            <a:off x="1042416" y="1280160"/>
            <a:ext cx="384048" cy="384048"/>
          </a:xfrm>
          <a:prstGeom prst="rect">
            <a:avLst/>
          </a:prstGeom>
          <a:solidFill>
            <a:srgbClr val="1E9E57"/>
          </a:solidFill>
          <a:ln w="12700">
            <a:solidFill>
              <a:srgbClr val="1E9E57"/>
            </a:solidFill>
            <a:prstDash val="solid"/>
          </a:ln>
        </p:spPr>
      </p:sp>
      <p:sp>
        <p:nvSpPr>
          <p:cNvPr id="6" name="estado-0-2"/>
          <p:cNvSpPr/>
          <p:nvPr/>
        </p:nvSpPr>
        <p:spPr>
          <a:xfrm>
            <a:off x="1536192" y="1280160"/>
            <a:ext cx="384048" cy="384048"/>
          </a:xfrm>
          <a:prstGeom prst="rect">
            <a:avLst/>
          </a:prstGeom>
          <a:solidFill>
            <a:srgbClr val="1E9E57"/>
          </a:solidFill>
          <a:ln w="12700">
            <a:solidFill>
              <a:srgbClr val="1E9E57"/>
            </a:solidFill>
            <a:prstDash val="solid"/>
          </a:ln>
        </p:spPr>
      </p:sp>
      <p:sp>
        <p:nvSpPr>
          <p:cNvPr id="7" name="estado-0-3"/>
          <p:cNvSpPr/>
          <p:nvPr/>
        </p:nvSpPr>
        <p:spPr>
          <a:xfrm>
            <a:off x="2029968" y="1280160"/>
            <a:ext cx="384048" cy="384048"/>
          </a:xfrm>
          <a:prstGeom prst="rect">
            <a:avLst/>
          </a:prstGeom>
          <a:solidFill>
            <a:srgbClr val="1E9E57"/>
          </a:solidFill>
          <a:ln w="12700">
            <a:solidFill>
              <a:srgbClr val="1E9E57"/>
            </a:solidFill>
            <a:prstDash val="solid"/>
          </a:ln>
        </p:spPr>
      </p:sp>
      <p:sp>
        <p:nvSpPr>
          <p:cNvPr id="8" name="estado-0-4"/>
          <p:cNvSpPr/>
          <p:nvPr/>
        </p:nvSpPr>
        <p:spPr>
          <a:xfrm>
            <a:off x="2523744" y="1280160"/>
            <a:ext cx="384048" cy="384048"/>
          </a:xfrm>
          <a:prstGeom prst="rect">
            <a:avLst/>
          </a:prstGeom>
          <a:solidFill>
            <a:srgbClr val="1E9E57"/>
          </a:solidFill>
          <a:ln w="12700">
            <a:solidFill>
              <a:srgbClr val="1E9E57"/>
            </a:solidFill>
            <a:prstDash val="solid"/>
          </a:ln>
        </p:spPr>
      </p:sp>
      <p:sp>
        <p:nvSpPr>
          <p:cNvPr id="9" name="estado-0-5"/>
          <p:cNvSpPr/>
          <p:nvPr/>
        </p:nvSpPr>
        <p:spPr>
          <a:xfrm>
            <a:off x="3017520" y="1280160"/>
            <a:ext cx="384048" cy="384048"/>
          </a:xfrm>
          <a:prstGeom prst="rect">
            <a:avLst/>
          </a:prstGeom>
          <a:solidFill>
            <a:srgbClr val="1E9E57"/>
          </a:solidFill>
          <a:ln w="12700">
            <a:solidFill>
              <a:srgbClr val="1E9E57"/>
            </a:solidFill>
            <a:prstDash val="solid"/>
          </a:ln>
        </p:spPr>
      </p:sp>
      <p:sp>
        <p:nvSpPr>
          <p:cNvPr id="10" name="estado-0-6"/>
          <p:cNvSpPr/>
          <p:nvPr/>
        </p:nvSpPr>
        <p:spPr>
          <a:xfrm>
            <a:off x="3511296" y="1280160"/>
            <a:ext cx="384048" cy="384048"/>
          </a:xfrm>
          <a:prstGeom prst="rect">
            <a:avLst/>
          </a:prstGeom>
          <a:solidFill>
            <a:srgbClr val="1E9E57"/>
          </a:solidFill>
          <a:ln w="12700">
            <a:solidFill>
              <a:srgbClr val="1E9E57"/>
            </a:solidFill>
            <a:prstDash val="solid"/>
          </a:ln>
        </p:spPr>
      </p:sp>
      <p:sp>
        <p:nvSpPr>
          <p:cNvPr id="11" name="estado-0-7"/>
          <p:cNvSpPr/>
          <p:nvPr/>
        </p:nvSpPr>
        <p:spPr>
          <a:xfrm>
            <a:off x="4005072" y="1280160"/>
            <a:ext cx="384048" cy="384048"/>
          </a:xfrm>
          <a:prstGeom prst="rect">
            <a:avLst/>
          </a:prstGeom>
          <a:solidFill>
            <a:srgbClr val="1E9E57"/>
          </a:solidFill>
          <a:ln w="12700">
            <a:solidFill>
              <a:srgbClr val="1E9E57"/>
            </a:solidFill>
            <a:prstDash val="solid"/>
          </a:ln>
        </p:spPr>
      </p:sp>
      <p:sp>
        <p:nvSpPr>
          <p:cNvPr id="12" name="estado-0-8"/>
          <p:cNvSpPr/>
          <p:nvPr/>
        </p:nvSpPr>
        <p:spPr>
          <a:xfrm>
            <a:off x="4498848" y="1280160"/>
            <a:ext cx="384048" cy="384048"/>
          </a:xfrm>
          <a:prstGeom prst="rect">
            <a:avLst/>
          </a:prstGeom>
          <a:solidFill>
            <a:srgbClr val="1E9E57"/>
          </a:solidFill>
          <a:ln w="12700">
            <a:solidFill>
              <a:srgbClr val="1E9E57"/>
            </a:solidFill>
            <a:prstDash val="solid"/>
          </a:ln>
        </p:spPr>
      </p:sp>
      <p:sp>
        <p:nvSpPr>
          <p:cNvPr id="13" name="estado-0-9"/>
          <p:cNvSpPr/>
          <p:nvPr/>
        </p:nvSpPr>
        <p:spPr>
          <a:xfrm>
            <a:off x="4992624" y="1280160"/>
            <a:ext cx="384048" cy="384048"/>
          </a:xfrm>
          <a:prstGeom prst="rect">
            <a:avLst/>
          </a:prstGeom>
          <a:solidFill>
            <a:srgbClr val="1E9E57"/>
          </a:solidFill>
          <a:ln w="12700">
            <a:solidFill>
              <a:srgbClr val="1E9E57"/>
            </a:solidFill>
            <a:prstDash val="solid"/>
          </a:ln>
        </p:spPr>
      </p:sp>
      <p:sp>
        <p:nvSpPr>
          <p:cNvPr id="14" name="estado-0-10"/>
          <p:cNvSpPr/>
          <p:nvPr/>
        </p:nvSpPr>
        <p:spPr>
          <a:xfrm>
            <a:off x="5486400" y="1280160"/>
            <a:ext cx="384048" cy="384048"/>
          </a:xfrm>
          <a:prstGeom prst="rect">
            <a:avLst/>
          </a:prstGeom>
          <a:solidFill>
            <a:srgbClr val="1E9E57"/>
          </a:solidFill>
          <a:ln w="12700">
            <a:solidFill>
              <a:srgbClr val="1E9E57"/>
            </a:solidFill>
            <a:prstDash val="solid"/>
          </a:ln>
        </p:spPr>
      </p:sp>
      <p:sp>
        <p:nvSpPr>
          <p:cNvPr id="15" name="estado-0-11"/>
          <p:cNvSpPr/>
          <p:nvPr/>
        </p:nvSpPr>
        <p:spPr>
          <a:xfrm>
            <a:off x="5980176" y="1280160"/>
            <a:ext cx="384048" cy="384048"/>
          </a:xfrm>
          <a:prstGeom prst="rect">
            <a:avLst/>
          </a:prstGeom>
          <a:solidFill>
            <a:srgbClr val="1E9E57"/>
          </a:solidFill>
          <a:ln w="12700">
            <a:solidFill>
              <a:srgbClr val="1E9E57"/>
            </a:solidFill>
            <a:prstDash val="solid"/>
          </a:ln>
        </p:spPr>
      </p:sp>
      <p:sp>
        <p:nvSpPr>
          <p:cNvPr id="16" name="estado-0-12"/>
          <p:cNvSpPr/>
          <p:nvPr/>
        </p:nvSpPr>
        <p:spPr>
          <a:xfrm>
            <a:off x="6473952" y="1280160"/>
            <a:ext cx="384048" cy="384048"/>
          </a:xfrm>
          <a:prstGeom prst="rect">
            <a:avLst/>
          </a:prstGeom>
          <a:solidFill>
            <a:srgbClr val="1E9E57"/>
          </a:solidFill>
          <a:ln w="12700">
            <a:solidFill>
              <a:srgbClr val="1E9E57"/>
            </a:solidFill>
            <a:prstDash val="solid"/>
          </a:ln>
        </p:spPr>
      </p:sp>
      <p:sp>
        <p:nvSpPr>
          <p:cNvPr id="17" name="estado-0-13"/>
          <p:cNvSpPr/>
          <p:nvPr/>
        </p:nvSpPr>
        <p:spPr>
          <a:xfrm>
            <a:off x="6967728" y="1280160"/>
            <a:ext cx="384048" cy="384048"/>
          </a:xfrm>
          <a:prstGeom prst="rect">
            <a:avLst/>
          </a:prstGeom>
          <a:solidFill>
            <a:srgbClr val="1E9E57"/>
          </a:solidFill>
          <a:ln w="12700">
            <a:solidFill>
              <a:srgbClr val="1E9E57"/>
            </a:solidFill>
            <a:prstDash val="solid"/>
          </a:ln>
        </p:spPr>
      </p:sp>
      <p:sp>
        <p:nvSpPr>
          <p:cNvPr id="18" name="estado-0-14"/>
          <p:cNvSpPr/>
          <p:nvPr/>
        </p:nvSpPr>
        <p:spPr>
          <a:xfrm>
            <a:off x="7461504" y="1280160"/>
            <a:ext cx="384048" cy="384048"/>
          </a:xfrm>
          <a:prstGeom prst="rect">
            <a:avLst/>
          </a:prstGeom>
          <a:solidFill>
            <a:srgbClr val="1E9E57"/>
          </a:solidFill>
          <a:ln w="12700">
            <a:solidFill>
              <a:srgbClr val="1E9E57"/>
            </a:solidFill>
            <a:prstDash val="solid"/>
          </a:ln>
        </p:spPr>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914400"/>
          </a:xfrm>
          <a:prstGeom prst="rect">
            <a:avLst/>
          </a:prstGeom>
          <a:noFill/>
          <a:ln/>
        </p:spPr>
        <p:txBody>
          <a:bodyPr wrap="square" lIns="0" tIns="0" rIns="0" bIns="0" rtlCol="0" anchor="t"/>
          <a:lstStyle/>
          <a:p>
            <a:pPr algn="l" indent="0" marL="0">
              <a:buNone/>
            </a:pPr>
            <a:r>
              <a:rPr lang="en-US" sz="3600" b="1" dirty="0">
                <a:solidFill>
                  <a:srgbClr val="121614"/>
                </a:solidFill>
                <a:latin typeface="Bricolage Grotesque" pitchFamily="34" charset="0"/>
                <a:ea typeface="Bricolage Grotesque" pitchFamily="34" charset="-122"/>
                <a:cs typeface="Bricolage Grotesque" pitchFamily="34" charset="-120"/>
              </a:rPr>
              <a:t>What is ready and what is missing</a:t>
            </a:r>
            <a:endParaRPr lang="en-US" sz="3600" dirty="0"/>
          </a:p>
        </p:txBody>
      </p:sp>
      <p:sp>
        <p:nvSpPr>
          <p:cNvPr id="3" name="coluna-0"/>
          <p:cNvSpPr/>
          <p:nvPr/>
        </p:nvSpPr>
        <p:spPr>
          <a:xfrm>
            <a:off x="548640" y="1691640"/>
            <a:ext cx="3484778" cy="3566160"/>
          </a:xfrm>
          <a:prstGeom prst="rect">
            <a:avLst/>
          </a:prstGeom>
          <a:solidFill>
            <a:srgbClr val="E6E6E1"/>
          </a:solidFill>
          <a:ln w="12700">
            <a:solidFill>
              <a:srgbClr val="E6E6E1"/>
            </a:solidFill>
            <a:prstDash val="solid"/>
          </a:ln>
        </p:spPr>
      </p:sp>
      <p:sp>
        <p:nvSpPr>
          <p:cNvPr id="4" name="marca-0"/>
          <p:cNvSpPr/>
          <p:nvPr/>
        </p:nvSpPr>
        <p:spPr>
          <a:xfrm>
            <a:off x="868680" y="2011680"/>
            <a:ext cx="384048" cy="384048"/>
          </a:xfrm>
          <a:prstGeom prst="rect">
            <a:avLst/>
          </a:prstGeom>
          <a:solidFill>
            <a:srgbClr val="1E9E57"/>
          </a:solidFill>
          <a:ln w="12700">
            <a:solidFill>
              <a:srgbClr val="1E9E57"/>
            </a:solidFill>
            <a:prstDash val="solid"/>
          </a:ln>
        </p:spPr>
      </p:sp>
      <p:sp>
        <p:nvSpPr>
          <p:cNvPr id="5" name="coluna-titulo-0"/>
          <p:cNvSpPr txBox="1"/>
          <p:nvPr/>
        </p:nvSpPr>
        <p:spPr>
          <a:xfrm>
            <a:off x="868680" y="2697480"/>
            <a:ext cx="2844698" cy="914400"/>
          </a:xfrm>
          <a:prstGeom prst="rect">
            <a:avLst/>
          </a:prstGeom>
          <a:noFill/>
          <a:ln/>
        </p:spPr>
        <p:txBody>
          <a:bodyPr wrap="square" lIns="0" tIns="0" rIns="0" bIns="0" rtlCol="0" anchor="t"/>
          <a:lstStyle/>
          <a:p>
            <a:pPr indent="0" marL="0">
              <a:buNone/>
            </a:pPr>
            <a:r>
              <a:rPr lang="en-US" sz="2600" b="1" dirty="0">
                <a:solidFill>
                  <a:srgbClr val="121614"/>
                </a:solidFill>
                <a:latin typeface="Bricolage Grotesque" pitchFamily="34" charset="0"/>
                <a:ea typeface="Bricolage Grotesque" pitchFamily="34" charset="-122"/>
                <a:cs typeface="Bricolage Grotesque" pitchFamily="34" charset="-120"/>
              </a:rPr>
              <a:t>Ready</a:t>
            </a:r>
            <a:endParaRPr lang="en-US" sz="2600" dirty="0"/>
          </a:p>
        </p:txBody>
      </p:sp>
      <p:sp>
        <p:nvSpPr>
          <p:cNvPr id="6" name="coluna-texto-0"/>
          <p:cNvSpPr txBox="1"/>
          <p:nvPr/>
        </p:nvSpPr>
        <p:spPr>
          <a:xfrm>
            <a:off x="868680" y="3657600"/>
            <a:ext cx="2844698" cy="1463040"/>
          </a:xfrm>
          <a:prstGeom prst="rect">
            <a:avLst/>
          </a:prstGeom>
          <a:noFill/>
          <a:ln/>
        </p:spPr>
        <p:txBody>
          <a:bodyPr wrap="square" lIns="0" tIns="0" rIns="0" bIns="0" rtlCol="0" anchor="t"/>
          <a:lstStyle/>
          <a:p>
            <a:pPr indent="0" marL="0">
              <a:buNone/>
            </a:pPr>
            <a:r>
              <a:rPr lang="en-US" sz="2000" dirty="0">
                <a:solidFill>
                  <a:srgbClr val="121614"/>
                </a:solidFill>
                <a:latin typeface="Arial" pitchFamily="34" charset="0"/>
                <a:ea typeface="Arial" pitchFamily="34" charset="-122"/>
                <a:cs typeface="Arial" pitchFamily="34" charset="-120"/>
              </a:rPr>
              <a:t>the app shell, 4 card templates and one test for each card</a:t>
            </a:r>
            <a:endParaRPr lang="en-US" sz="2000" dirty="0"/>
          </a:p>
        </p:txBody>
      </p:sp>
      <p:sp>
        <p:nvSpPr>
          <p:cNvPr id="7" name="coluna-1"/>
          <p:cNvSpPr/>
          <p:nvPr/>
        </p:nvSpPr>
        <p:spPr>
          <a:xfrm>
            <a:off x="4353458" y="1691640"/>
            <a:ext cx="3484778" cy="3566160"/>
          </a:xfrm>
          <a:prstGeom prst="rect">
            <a:avLst/>
          </a:prstGeom>
          <a:solidFill>
            <a:srgbClr val="E6E6E1"/>
          </a:solidFill>
          <a:ln w="12700">
            <a:solidFill>
              <a:srgbClr val="E6E6E1"/>
            </a:solidFill>
            <a:prstDash val="solid"/>
          </a:ln>
        </p:spPr>
      </p:sp>
      <p:sp>
        <p:nvSpPr>
          <p:cNvPr id="8" name="marca-1"/>
          <p:cNvSpPr/>
          <p:nvPr/>
        </p:nvSpPr>
        <p:spPr>
          <a:xfrm>
            <a:off x="4673498" y="2011680"/>
            <a:ext cx="384048" cy="384048"/>
          </a:xfrm>
          <a:prstGeom prst="rect">
            <a:avLst/>
          </a:prstGeom>
          <a:solidFill>
            <a:srgbClr val="C4C7C1"/>
          </a:solidFill>
          <a:ln w="12700">
            <a:solidFill>
              <a:srgbClr val="C4C7C1"/>
            </a:solidFill>
            <a:prstDash val="solid"/>
          </a:ln>
        </p:spPr>
      </p:sp>
      <p:sp>
        <p:nvSpPr>
          <p:cNvPr id="9" name="coluna-titulo-1"/>
          <p:cNvSpPr txBox="1"/>
          <p:nvPr/>
        </p:nvSpPr>
        <p:spPr>
          <a:xfrm>
            <a:off x="4673498" y="2697480"/>
            <a:ext cx="2844698" cy="914400"/>
          </a:xfrm>
          <a:prstGeom prst="rect">
            <a:avLst/>
          </a:prstGeom>
          <a:noFill/>
          <a:ln/>
        </p:spPr>
        <p:txBody>
          <a:bodyPr wrap="square" lIns="0" tIns="0" rIns="0" bIns="0" rtlCol="0" anchor="t"/>
          <a:lstStyle/>
          <a:p>
            <a:pPr indent="0" marL="0">
              <a:buNone/>
            </a:pPr>
            <a:r>
              <a:rPr lang="en-US" sz="2600" b="1" dirty="0">
                <a:solidFill>
                  <a:srgbClr val="121614"/>
                </a:solidFill>
                <a:latin typeface="Bricolage Grotesque" pitchFamily="34" charset="0"/>
                <a:ea typeface="Bricolage Grotesque" pitchFamily="34" charset="-122"/>
                <a:cs typeface="Bricolage Grotesque" pitchFamily="34" charset="-120"/>
              </a:rPr>
              <a:t>To do</a:t>
            </a:r>
            <a:endParaRPr lang="en-US" sz="2600" dirty="0"/>
          </a:p>
        </p:txBody>
      </p:sp>
      <p:sp>
        <p:nvSpPr>
          <p:cNvPr id="10" name="coluna-texto-1"/>
          <p:cNvSpPr txBox="1"/>
          <p:nvPr/>
        </p:nvSpPr>
        <p:spPr>
          <a:xfrm>
            <a:off x="4673498" y="3657600"/>
            <a:ext cx="2844698" cy="1463040"/>
          </a:xfrm>
          <a:prstGeom prst="rect">
            <a:avLst/>
          </a:prstGeom>
          <a:noFill/>
          <a:ln/>
        </p:spPr>
        <p:txBody>
          <a:bodyPr wrap="square" lIns="0" tIns="0" rIns="0" bIns="0" rtlCol="0" anchor="t"/>
          <a:lstStyle/>
          <a:p>
            <a:pPr indent="0" marL="0">
              <a:buNone/>
            </a:pPr>
            <a:r>
              <a:rPr lang="en-US" sz="2000" dirty="0">
                <a:solidFill>
                  <a:srgbClr val="121614"/>
                </a:solidFill>
                <a:latin typeface="Arial" pitchFamily="34" charset="0"/>
                <a:ea typeface="Arial" pitchFamily="34" charset="-122"/>
                <a:cs typeface="Arial" pitchFamily="34" charset="-120"/>
              </a:rPr>
              <a:t>15 cards, lib/hash and two pages</a:t>
            </a:r>
            <a:endParaRPr lang="en-US" sz="2000" dirty="0"/>
          </a:p>
        </p:txBody>
      </p:sp>
      <p:sp>
        <p:nvSpPr>
          <p:cNvPr id="11" name="coluna-2"/>
          <p:cNvSpPr/>
          <p:nvPr/>
        </p:nvSpPr>
        <p:spPr>
          <a:xfrm>
            <a:off x="8158277" y="1691640"/>
            <a:ext cx="3484778" cy="3566160"/>
          </a:xfrm>
          <a:prstGeom prst="rect">
            <a:avLst/>
          </a:prstGeom>
          <a:solidFill>
            <a:srgbClr val="E6E6E1"/>
          </a:solidFill>
          <a:ln w="12700">
            <a:solidFill>
              <a:srgbClr val="E6E6E1"/>
            </a:solidFill>
            <a:prstDash val="solid"/>
          </a:ln>
        </p:spPr>
      </p:sp>
      <p:sp>
        <p:nvSpPr>
          <p:cNvPr id="12" name="marca-2"/>
          <p:cNvSpPr/>
          <p:nvPr/>
        </p:nvSpPr>
        <p:spPr>
          <a:xfrm>
            <a:off x="8478317" y="2011680"/>
            <a:ext cx="384048" cy="384048"/>
          </a:xfrm>
          <a:prstGeom prst="rect">
            <a:avLst/>
          </a:prstGeom>
          <a:solidFill>
            <a:srgbClr val="F1C232"/>
          </a:solidFill>
          <a:ln w="12700">
            <a:solidFill>
              <a:srgbClr val="F1C232"/>
            </a:solidFill>
            <a:prstDash val="solid"/>
          </a:ln>
        </p:spPr>
      </p:sp>
      <p:sp>
        <p:nvSpPr>
          <p:cNvPr id="13" name="coluna-titulo-2"/>
          <p:cNvSpPr txBox="1"/>
          <p:nvPr/>
        </p:nvSpPr>
        <p:spPr>
          <a:xfrm>
            <a:off x="8478317" y="2697480"/>
            <a:ext cx="2844698" cy="914400"/>
          </a:xfrm>
          <a:prstGeom prst="rect">
            <a:avLst/>
          </a:prstGeom>
          <a:noFill/>
          <a:ln/>
        </p:spPr>
        <p:txBody>
          <a:bodyPr wrap="square" lIns="0" tIns="0" rIns="0" bIns="0" rtlCol="0" anchor="t"/>
          <a:lstStyle/>
          <a:p>
            <a:pPr indent="0" marL="0">
              <a:buNone/>
            </a:pPr>
            <a:r>
              <a:rPr lang="en-US" sz="2600" b="1" dirty="0">
                <a:solidFill>
                  <a:srgbClr val="121614"/>
                </a:solidFill>
                <a:latin typeface="Bricolage Grotesque" pitchFamily="34" charset="0"/>
                <a:ea typeface="Bricolage Grotesque" pitchFamily="34" charset="-122"/>
                <a:cs typeface="Bricolage Grotesque" pitchFamily="34" charset="-120"/>
              </a:rPr>
              <a:t>Who does it</a:t>
            </a:r>
            <a:endParaRPr lang="en-US" sz="2600" dirty="0"/>
          </a:p>
        </p:txBody>
      </p:sp>
      <p:sp>
        <p:nvSpPr>
          <p:cNvPr id="14" name="coluna-texto-2"/>
          <p:cNvSpPr txBox="1"/>
          <p:nvPr/>
        </p:nvSpPr>
        <p:spPr>
          <a:xfrm>
            <a:off x="8478317" y="3657600"/>
            <a:ext cx="2844698" cy="1463040"/>
          </a:xfrm>
          <a:prstGeom prst="rect">
            <a:avLst/>
          </a:prstGeom>
          <a:noFill/>
          <a:ln/>
        </p:spPr>
        <p:txBody>
          <a:bodyPr wrap="square" lIns="0" tIns="0" rIns="0" bIns="0" rtlCol="0" anchor="t"/>
          <a:lstStyle/>
          <a:p>
            <a:pPr indent="0" marL="0">
              <a:buNone/>
            </a:pPr>
            <a:r>
              <a:rPr lang="en-US" sz="2000" dirty="0">
                <a:solidFill>
                  <a:srgbClr val="121614"/>
                </a:solidFill>
                <a:latin typeface="Arial" pitchFamily="34" charset="0"/>
                <a:ea typeface="Arial" pitchFamily="34" charset="-122"/>
                <a:cs typeface="Arial" pitchFamily="34" charset="-120"/>
              </a:rPr>
              <a:t>your swarm: Haiku, Sonnet and Opus</a:t>
            </a:r>
            <a:endParaRPr lang="en-US" sz="2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45C57"/>
                </a:solidFill>
                <a:latin typeface="Arial"/>
                <a:ea typeface="Arial"/>
                <a:cs typeface="Aria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faca-rotulo"/>
          <p:cNvSpPr txBox="1"/>
          <p:nvPr/>
        </p:nvSpPr>
        <p:spPr>
          <a:xfrm>
            <a:off x="548640" y="411480"/>
            <a:ext cx="5486400" cy="411480"/>
          </a:xfrm>
          <a:prstGeom prst="rect">
            <a:avLst/>
          </a:prstGeom>
          <a:noFill/>
          <a:ln/>
        </p:spPr>
        <p:txBody>
          <a:bodyPr wrap="square" lIns="0" tIns="0" rIns="0" bIns="0" rtlCol="0" anchor="t"/>
          <a:lstStyle/>
          <a:p>
            <a:pPr indent="0" marL="0">
              <a:buNone/>
            </a:pPr>
            <a:r>
              <a:rPr lang="en-US" sz="2000" b="1" dirty="0">
                <a:solidFill>
                  <a:srgbClr val="121614"/>
                </a:solidFill>
                <a:latin typeface="Bricolage Grotesque" pitchFamily="34" charset="0"/>
                <a:ea typeface="Bricolage Grotesque" pitchFamily="34" charset="-122"/>
                <a:cs typeface="Bricolage Grotesque" pitchFamily="34" charset="-120"/>
              </a:rPr>
              <a:t>Do it now · 3 min</a:t>
            </a:r>
            <a:endParaRPr lang="en-US" sz="2000" dirty="0"/>
          </a:p>
        </p:txBody>
      </p:sp>
      <p:sp>
        <p:nvSpPr>
          <p:cNvPr id="3" name="Text 0"/>
          <p:cNvSpPr/>
          <p:nvPr>
            <p:ph idx="100" type="title" hasCustomPrompt="1"/>
          </p:nvPr>
        </p:nvSpPr>
        <p:spPr>
          <a:xfrm>
            <a:off x="548640" y="868680"/>
            <a:ext cx="11094415" cy="868680"/>
          </a:xfrm>
          <a:prstGeom prst="rect">
            <a:avLst/>
          </a:prstGeom>
          <a:noFill/>
          <a:ln/>
        </p:spPr>
        <p:txBody>
          <a:bodyPr wrap="square" lIns="0" tIns="0" rIns="0" bIns="0" rtlCol="0" anchor="t"/>
          <a:lstStyle/>
          <a:p>
            <a:pPr algn="l" indent="0" marL="0">
              <a:buNone/>
            </a:pPr>
            <a:r>
              <a:rPr lang="en-US" sz="3800" b="1" dirty="0">
                <a:solidFill>
                  <a:srgbClr val="121614"/>
                </a:solidFill>
                <a:latin typeface="Bricolage Grotesque" pitchFamily="34" charset="0"/>
                <a:ea typeface="Bricolage Grotesque" pitchFamily="34" charset="-122"/>
                <a:cs typeface="Bricolage Grotesque" pitchFamily="34" charset="-120"/>
              </a:rPr>
              <a:t>Plan the swarm</a:t>
            </a:r>
            <a:endParaRPr lang="en-US" sz="3800" dirty="0"/>
          </a:p>
        </p:txBody>
      </p:sp>
      <p:sp>
        <p:nvSpPr>
          <p:cNvPr id="4" name="faca-passos"/>
          <p:cNvSpPr txBox="1"/>
          <p:nvPr/>
        </p:nvSpPr>
        <p:spPr>
          <a:xfrm>
            <a:off x="548640" y="1920240"/>
            <a:ext cx="4023360" cy="329184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21614"/>
                </a:solidFill>
                <a:latin typeface="Arial" pitchFamily="34" charset="0"/>
                <a:ea typeface="Arial" pitchFamily="34" charset="-122"/>
                <a:cs typeface="Arial" pitchFamily="34" charset="-120"/>
              </a:rPr>
              <a:t>Go to the Arena folder</a:t>
            </a:r>
            <a:endParaRPr lang="en-US" sz="2000" dirty="0"/>
          </a:p>
          <a:p>
            <a:pPr marL="342900" indent="-342900">
              <a:spcAft>
                <a:spcPts val="1200"/>
              </a:spcAft>
              <a:buSzPct val="100000"/>
              <a:buFont typeface="+mj-lt"/>
              <a:buAutoNum type="arabicPeriod" startAt="1"/>
            </a:pPr>
            <a:r>
              <a:rPr lang="en-US" sz="2000" dirty="0">
                <a:solidFill>
                  <a:srgbClr val="121614"/>
                </a:solidFill>
                <a:latin typeface="Arial" pitchFamily="34" charset="0"/>
                <a:ea typeface="Arial" pitchFamily="34" charset="-122"/>
                <a:cs typeface="Arial" pitchFamily="34" charset="-120"/>
              </a:rPr>
              <a:t>Open Claude Code and trust the folder</a:t>
            </a:r>
            <a:endParaRPr lang="en-US" sz="2000" dirty="0"/>
          </a:p>
          <a:p>
            <a:pPr marL="342900" indent="-342900">
              <a:spcAft>
                <a:spcPts val="1200"/>
              </a:spcAft>
              <a:buSzPct val="100000"/>
              <a:buFont typeface="+mj-lt"/>
              <a:buAutoNum type="arabicPeriod" startAt="1"/>
            </a:pPr>
            <a:r>
              <a:rPr lang="en-US" sz="2000" dirty="0">
                <a:solidFill>
                  <a:srgbClr val="121614"/>
                </a:solidFill>
                <a:latin typeface="Arial" pitchFamily="34" charset="0"/>
                <a:ea typeface="Arial" pitchFamily="34" charset="-122"/>
                <a:cs typeface="Arial" pitchFamily="34" charset="-120"/>
              </a:rPr>
              <a:t>Run /demo-plan</a:t>
            </a:r>
            <a:endParaRPr lang="en-US" sz="2000" dirty="0"/>
          </a:p>
        </p:txBody>
      </p:sp>
      <p:sp>
        <p:nvSpPr>
          <p:cNvPr id="5" name="codigo-fundo"/>
          <p:cNvSpPr/>
          <p:nvPr/>
        </p:nvSpPr>
        <p:spPr>
          <a:xfrm>
            <a:off x="4937760" y="1920240"/>
            <a:ext cx="6705295" cy="1728216"/>
          </a:xfrm>
          <a:prstGeom prst="rect">
            <a:avLst/>
          </a:prstGeom>
          <a:solidFill>
            <a:srgbClr val="121614"/>
          </a:solidFill>
          <a:ln w="12700">
            <a:solidFill>
              <a:srgbClr val="121614"/>
            </a:solidFill>
            <a:prstDash val="solid"/>
          </a:ln>
        </p:spPr>
      </p:sp>
      <p:sp>
        <p:nvSpPr>
          <p:cNvPr id="6" name="codigo-rotulo"/>
          <p:cNvSpPr txBox="1"/>
          <p:nvPr/>
        </p:nvSpPr>
        <p:spPr>
          <a:xfrm>
            <a:off x="5166360" y="2103120"/>
            <a:ext cx="6248095" cy="274320"/>
          </a:xfrm>
          <a:prstGeom prst="rect">
            <a:avLst/>
          </a:prstGeom>
          <a:noFill/>
          <a:ln/>
        </p:spPr>
        <p:txBody>
          <a:bodyPr wrap="square" lIns="0" tIns="0" rIns="0" bIns="0" rtlCol="0" anchor="t"/>
          <a:lstStyle/>
          <a:p>
            <a:pPr indent="0" marL="0">
              <a:buNone/>
            </a:pPr>
            <a:r>
              <a:rPr lang="en-US" sz="1300" b="1" dirty="0">
                <a:solidFill>
                  <a:srgbClr val="F1C232"/>
                </a:solidFill>
                <a:latin typeface="Arial" pitchFamily="34" charset="0"/>
                <a:ea typeface="Arial" pitchFamily="34" charset="-122"/>
                <a:cs typeface="Arial" pitchFamily="34" charset="-120"/>
              </a:rPr>
              <a:t>Terminal 1</a:t>
            </a:r>
            <a:endParaRPr lang="en-US" sz="1300" dirty="0"/>
          </a:p>
        </p:txBody>
      </p:sp>
      <p:sp>
        <p:nvSpPr>
          <p:cNvPr id="7" name="codigo"/>
          <p:cNvSpPr txBox="1"/>
          <p:nvPr/>
        </p:nvSpPr>
        <p:spPr>
          <a:xfrm>
            <a:off x="5166360" y="2450592"/>
            <a:ext cx="6248095" cy="1060704"/>
          </a:xfrm>
          <a:prstGeom prst="rect">
            <a:avLst/>
          </a:prstGeom>
          <a:noFill/>
          <a:ln/>
        </p:spPr>
        <p:txBody>
          <a:bodyPr wrap="square" lIns="0" tIns="0" rIns="0" bIns="0" rtlCol="0" anchor="t"/>
          <a:lstStyle/>
          <a:p>
            <a:pPr indent="0" marL="0">
              <a:buNone/>
            </a:pPr>
            <a:r>
              <a:rPr lang="en-US" sz="2000" dirty="0">
                <a:solidFill>
                  <a:srgbClr val="E8EDE9"/>
                </a:solidFill>
                <a:latin typeface="Courier New" pitchFamily="34" charset="0"/>
                <a:ea typeface="Courier New" pitchFamily="34" charset="-122"/>
                <a:cs typeface="Courier New" pitchFamily="34" charset="-120"/>
              </a:rPr>
              <a:t>cd ~/workshop-claude/demo-project</a:t>
            </a:r>
            <a:endParaRPr lang="en-US" sz="2000" dirty="0"/>
          </a:p>
          <a:p>
            <a:pPr indent="0" marL="0">
              <a:buNone/>
            </a:pPr>
            <a:r>
              <a:rPr lang="en-US" sz="2000" dirty="0">
                <a:solidFill>
                  <a:srgbClr val="E8EDE9"/>
                </a:solidFill>
                <a:latin typeface="Courier New" pitchFamily="34" charset="0"/>
                <a:ea typeface="Courier New" pitchFamily="34" charset="-122"/>
                <a:cs typeface="Courier New" pitchFamily="34" charset="-120"/>
              </a:rPr>
              <a:t>claude</a:t>
            </a:r>
            <a:endParaRPr lang="en-US" sz="2000" dirty="0"/>
          </a:p>
          <a:p>
            <a:pPr indent="0" marL="0">
              <a:buNone/>
            </a:pPr>
            <a:r>
              <a:rPr lang="en-US" sz="2000" dirty="0">
                <a:solidFill>
                  <a:srgbClr val="E8EDE9"/>
                </a:solidFill>
                <a:latin typeface="Courier New" pitchFamily="34" charset="0"/>
                <a:ea typeface="Courier New" pitchFamily="34" charset="-122"/>
                <a:cs typeface="Courier New" pitchFamily="34" charset="-120"/>
              </a:rPr>
              <a:t>/demo-plan</a:t>
            </a:r>
            <a:endParaRPr lang="en-US" sz="2000" dirty="0"/>
          </a:p>
        </p:txBody>
      </p:sp>
      <p:sp>
        <p:nvSpPr>
          <p:cNvPr id="8" name="esperado-marca"/>
          <p:cNvSpPr/>
          <p:nvPr/>
        </p:nvSpPr>
        <p:spPr>
          <a:xfrm>
            <a:off x="548640" y="5650992"/>
            <a:ext cx="292608" cy="292608"/>
          </a:xfrm>
          <a:prstGeom prst="rect">
            <a:avLst/>
          </a:prstGeom>
          <a:solidFill>
            <a:srgbClr val="1E9E57"/>
          </a:solidFill>
          <a:ln w="12700">
            <a:solidFill>
              <a:srgbClr val="1E9E57"/>
            </a:solidFill>
            <a:prstDash val="solid"/>
          </a:ln>
        </p:spPr>
      </p:sp>
      <p:sp>
        <p:nvSpPr>
          <p:cNvPr id="9" name="faca-esperado"/>
          <p:cNvSpPr txBox="1"/>
          <p:nvPr/>
        </p:nvSpPr>
        <p:spPr>
          <a:xfrm>
            <a:off x="1005840" y="5596128"/>
            <a:ext cx="9814255" cy="548640"/>
          </a:xfrm>
          <a:prstGeom prst="rect">
            <a:avLst/>
          </a:prstGeom>
          <a:noFill/>
          <a:ln/>
        </p:spPr>
        <p:txBody>
          <a:bodyPr wrap="square" lIns="0" tIns="0" rIns="0" bIns="0" rtlCol="0" anchor="t"/>
          <a:lstStyle/>
          <a:p>
            <a:pPr indent="0" marL="0">
              <a:buNone/>
            </a:pPr>
            <a:r>
              <a:rPr lang="en-US" sz="1800" b="1" dirty="0">
                <a:solidFill>
                  <a:srgbClr val="121614"/>
                </a:solidFill>
                <a:latin typeface="Arial" pitchFamily="34" charset="0"/>
                <a:ea typeface="Arial" pitchFamily="34" charset="-122"/>
                <a:cs typeface="Arial" pitchFamily="34" charset="-120"/>
              </a:rPr>
              <a:t>Expected result: </a:t>
            </a:r>
            <a:pPr indent="0" marL="0">
              <a:buNone/>
            </a:pPr>
            <a:r>
              <a:rPr lang="en-US" sz="1800" dirty="0">
                <a:solidFill>
                  <a:srgbClr val="121614"/>
                </a:solidFill>
                <a:latin typeface="Arial" pitchFamily="34" charset="0"/>
                <a:ea typeface="Arial" pitchFamily="34" charset="-122"/>
                <a:cs typeface="Arial" pitchFamily="34" charset="-120"/>
              </a:rPr>
              <a:t>A Mermaid diagram, 4 waves and an estimate close to US$ 1.00</a:t>
            </a:r>
            <a:endParaRPr lang="en-US" sz="18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121614"/>
                </a:solidFill>
                <a:latin typeface="Arial"/>
                <a:ea typeface="Arial"/>
                <a:cs typeface="Aria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914400"/>
          </a:xfrm>
          <a:prstGeom prst="rect">
            <a:avLst/>
          </a:prstGeom>
          <a:noFill/>
          <a:ln/>
        </p:spPr>
        <p:txBody>
          <a:bodyPr wrap="square" lIns="0" tIns="0" rIns="0" bIns="0" rtlCol="0" anchor="t"/>
          <a:lstStyle/>
          <a:p>
            <a:pPr algn="l" indent="0" marL="0">
              <a:buNone/>
            </a:pPr>
            <a:r>
              <a:rPr lang="en-US" sz="3600" b="1" dirty="0">
                <a:solidFill>
                  <a:srgbClr val="121614"/>
                </a:solidFill>
                <a:latin typeface="Bricolage Grotesque" pitchFamily="34" charset="0"/>
                <a:ea typeface="Bricolage Grotesque" pitchFamily="34" charset="-122"/>
                <a:cs typeface="Bricolage Grotesque" pitchFamily="34" charset="-120"/>
              </a:rPr>
              <a:t>Your plan: 4 waves</a:t>
            </a:r>
            <a:endParaRPr lang="en-US" sz="3600" dirty="0"/>
          </a:p>
        </p:txBody>
      </p:sp>
      <p:sp>
        <p:nvSpPr>
          <p:cNvPr id="3" name="onda-0"/>
          <p:cNvSpPr/>
          <p:nvPr/>
        </p:nvSpPr>
        <p:spPr>
          <a:xfrm>
            <a:off x="548640" y="1691640"/>
            <a:ext cx="4114800" cy="4023360"/>
          </a:xfrm>
          <a:prstGeom prst="rect">
            <a:avLst/>
          </a:prstGeom>
          <a:solidFill>
            <a:srgbClr val="E6E6E1"/>
          </a:solidFill>
          <a:ln w="12700">
            <a:solidFill>
              <a:srgbClr val="E6E6E1"/>
            </a:solidFill>
            <a:prstDash val="solid"/>
          </a:ln>
        </p:spPr>
      </p:sp>
      <p:sp>
        <p:nvSpPr>
          <p:cNvPr id="4" name="onda-nome-0"/>
          <p:cNvSpPr txBox="1"/>
          <p:nvPr/>
        </p:nvSpPr>
        <p:spPr>
          <a:xfrm>
            <a:off x="822960" y="1920240"/>
            <a:ext cx="3566160" cy="457200"/>
          </a:xfrm>
          <a:prstGeom prst="rect">
            <a:avLst/>
          </a:prstGeom>
          <a:noFill/>
          <a:ln/>
        </p:spPr>
        <p:txBody>
          <a:bodyPr wrap="square" lIns="0" tIns="0" rIns="0" bIns="0" rtlCol="0" anchor="t"/>
          <a:lstStyle/>
          <a:p>
            <a:pPr indent="0" marL="0">
              <a:buNone/>
            </a:pPr>
            <a:r>
              <a:rPr lang="en-US" sz="2400" b="1" dirty="0">
                <a:solidFill>
                  <a:srgbClr val="121614"/>
                </a:solidFill>
                <a:latin typeface="Bricolage Grotesque" pitchFamily="34" charset="0"/>
                <a:ea typeface="Bricolage Grotesque" pitchFamily="34" charset="-122"/>
                <a:cs typeface="Bricolage Grotesque" pitchFamily="34" charset="-120"/>
              </a:rPr>
              <a:t>Wave 1</a:t>
            </a:r>
            <a:endParaRPr lang="en-US" sz="2400" dirty="0"/>
          </a:p>
        </p:txBody>
      </p:sp>
      <p:sp>
        <p:nvSpPr>
          <p:cNvPr id="5" name="onda-cor-0"/>
          <p:cNvSpPr/>
          <p:nvPr/>
        </p:nvSpPr>
        <p:spPr>
          <a:xfrm>
            <a:off x="822960" y="2487168"/>
            <a:ext cx="201168" cy="201168"/>
          </a:xfrm>
          <a:prstGeom prst="rect">
            <a:avLst/>
          </a:prstGeom>
          <a:solidFill>
            <a:srgbClr val="F1C232"/>
          </a:solidFill>
          <a:ln w="12700">
            <a:solidFill>
              <a:srgbClr val="F1C232"/>
            </a:solidFill>
            <a:prstDash val="solid"/>
          </a:ln>
        </p:spPr>
      </p:sp>
      <p:sp>
        <p:nvSpPr>
          <p:cNvPr id="6" name="onda-modelo-0"/>
          <p:cNvSpPr txBox="1"/>
          <p:nvPr/>
        </p:nvSpPr>
        <p:spPr>
          <a:xfrm>
            <a:off x="1115568" y="2432304"/>
            <a:ext cx="3291840" cy="320040"/>
          </a:xfrm>
          <a:prstGeom prst="rect">
            <a:avLst/>
          </a:prstGeom>
          <a:noFill/>
          <a:ln/>
        </p:spPr>
        <p:txBody>
          <a:bodyPr wrap="square" lIns="0" tIns="0" rIns="0" bIns="0" rtlCol="0" anchor="t"/>
          <a:lstStyle/>
          <a:p>
            <a:pPr indent="0" marL="0">
              <a:buNone/>
            </a:pPr>
            <a:r>
              <a:rPr lang="en-US" sz="1600" b="1" dirty="0">
                <a:solidFill>
                  <a:srgbClr val="121614"/>
                </a:solidFill>
                <a:latin typeface="Arial" pitchFamily="34" charset="0"/>
                <a:ea typeface="Arial" pitchFamily="34" charset="-122"/>
                <a:cs typeface="Arial" pitchFamily="34" charset="-120"/>
              </a:rPr>
              <a:t>Haiku</a:t>
            </a:r>
            <a:endParaRPr lang="en-US" sz="1600" dirty="0"/>
          </a:p>
        </p:txBody>
      </p:sp>
      <p:sp>
        <p:nvSpPr>
          <p:cNvPr id="7" name="onda-sub-0"/>
          <p:cNvSpPr txBox="1"/>
          <p:nvPr/>
        </p:nvSpPr>
        <p:spPr>
          <a:xfrm>
            <a:off x="822960" y="2834640"/>
            <a:ext cx="3566160" cy="548640"/>
          </a:xfrm>
          <a:prstGeom prst="rect">
            <a:avLst/>
          </a:prstGeom>
          <a:noFill/>
          <a:ln/>
        </p:spPr>
        <p:txBody>
          <a:bodyPr wrap="square" lIns="0" tIns="0" rIns="0" bIns="0" rtlCol="0" anchor="t"/>
          <a:lstStyle/>
          <a:p>
            <a:pPr indent="0" marL="0">
              <a:buNone/>
            </a:pPr>
            <a:r>
              <a:rPr lang="en-US" sz="1500" dirty="0">
                <a:solidFill>
                  <a:srgbClr val="545C57"/>
                </a:solidFill>
                <a:latin typeface="Arial" pitchFamily="34" charset="0"/>
                <a:ea typeface="Arial" pitchFamily="34" charset="-122"/>
                <a:cs typeface="Arial" pitchFamily="34" charset="-120"/>
              </a:rPr>
              <a:t>lib-hash and 15 cards</a:t>
            </a:r>
            <a:endParaRPr lang="en-US" sz="1500" dirty="0"/>
          </a:p>
        </p:txBody>
      </p:sp>
      <p:sp>
        <p:nvSpPr>
          <p:cNvPr id="8" name="hash"/>
          <p:cNvSpPr/>
          <p:nvPr/>
        </p:nvSpPr>
        <p:spPr>
          <a:xfrm>
            <a:off x="822960" y="3474720"/>
            <a:ext cx="411480" cy="411480"/>
          </a:xfrm>
          <a:prstGeom prst="rect">
            <a:avLst/>
          </a:prstGeom>
          <a:solidFill>
            <a:srgbClr val="1A4BE0"/>
          </a:solidFill>
          <a:ln w="12700">
            <a:solidFill>
              <a:srgbClr val="1A4BE0"/>
            </a:solidFill>
            <a:prstDash val="solid"/>
          </a:ln>
        </p:spPr>
      </p:sp>
      <p:sp>
        <p:nvSpPr>
          <p:cNvPr id="9" name="hash-rotulo"/>
          <p:cNvSpPr txBox="1"/>
          <p:nvPr/>
        </p:nvSpPr>
        <p:spPr>
          <a:xfrm>
            <a:off x="1325880" y="3547872"/>
            <a:ext cx="1463040" cy="320040"/>
          </a:xfrm>
          <a:prstGeom prst="rect">
            <a:avLst/>
          </a:prstGeom>
          <a:noFill/>
          <a:ln/>
        </p:spPr>
        <p:txBody>
          <a:bodyPr wrap="square" lIns="0" tIns="0" rIns="0" bIns="0" rtlCol="0" anchor="t"/>
          <a:lstStyle/>
          <a:p>
            <a:pPr indent="0" marL="0">
              <a:buNone/>
            </a:pPr>
            <a:r>
              <a:rPr lang="en-US" sz="1400" b="1" dirty="0">
                <a:solidFill>
                  <a:srgbClr val="121614"/>
                </a:solidFill>
                <a:latin typeface="Arial" pitchFamily="34" charset="0"/>
                <a:ea typeface="Arial" pitchFamily="34" charset="-122"/>
                <a:cs typeface="Arial" pitchFamily="34" charset="-120"/>
              </a:rPr>
              <a:t>lib-hash</a:t>
            </a:r>
            <a:endParaRPr lang="en-US" sz="1400" dirty="0"/>
          </a:p>
        </p:txBody>
      </p:sp>
      <p:sp>
        <p:nvSpPr>
          <p:cNvPr id="10" name="cartao-0"/>
          <p:cNvSpPr/>
          <p:nvPr/>
        </p:nvSpPr>
        <p:spPr>
          <a:xfrm>
            <a:off x="822960" y="4069080"/>
            <a:ext cx="384048" cy="384048"/>
          </a:xfrm>
          <a:prstGeom prst="rect">
            <a:avLst/>
          </a:prstGeom>
          <a:solidFill>
            <a:srgbClr val="1E9E57"/>
          </a:solidFill>
          <a:ln w="12700">
            <a:solidFill>
              <a:srgbClr val="1E9E57"/>
            </a:solidFill>
            <a:prstDash val="solid"/>
          </a:ln>
        </p:spPr>
      </p:sp>
      <p:sp>
        <p:nvSpPr>
          <p:cNvPr id="11" name="cartao-1"/>
          <p:cNvSpPr/>
          <p:nvPr/>
        </p:nvSpPr>
        <p:spPr>
          <a:xfrm>
            <a:off x="1426464" y="4069080"/>
            <a:ext cx="384048" cy="384048"/>
          </a:xfrm>
          <a:prstGeom prst="rect">
            <a:avLst/>
          </a:prstGeom>
          <a:solidFill>
            <a:srgbClr val="F1C232"/>
          </a:solidFill>
          <a:ln w="12700">
            <a:solidFill>
              <a:srgbClr val="F1C232"/>
            </a:solidFill>
            <a:prstDash val="solid"/>
          </a:ln>
        </p:spPr>
      </p:sp>
      <p:sp>
        <p:nvSpPr>
          <p:cNvPr id="12" name="cartao-2"/>
          <p:cNvSpPr/>
          <p:nvPr/>
        </p:nvSpPr>
        <p:spPr>
          <a:xfrm>
            <a:off x="2029968" y="4069080"/>
            <a:ext cx="384048" cy="384048"/>
          </a:xfrm>
          <a:prstGeom prst="rect">
            <a:avLst/>
          </a:prstGeom>
          <a:solidFill>
            <a:srgbClr val="1E9E57"/>
          </a:solidFill>
          <a:ln w="12700">
            <a:solidFill>
              <a:srgbClr val="1E9E57"/>
            </a:solidFill>
            <a:prstDash val="solid"/>
          </a:ln>
        </p:spPr>
      </p:sp>
      <p:sp>
        <p:nvSpPr>
          <p:cNvPr id="13" name="cartao-3"/>
          <p:cNvSpPr/>
          <p:nvPr/>
        </p:nvSpPr>
        <p:spPr>
          <a:xfrm>
            <a:off x="2633472" y="4069080"/>
            <a:ext cx="384048" cy="384048"/>
          </a:xfrm>
          <a:prstGeom prst="rect">
            <a:avLst/>
          </a:prstGeom>
          <a:solidFill>
            <a:srgbClr val="1E9E57"/>
          </a:solidFill>
          <a:ln w="12700">
            <a:solidFill>
              <a:srgbClr val="1E9E57"/>
            </a:solidFill>
            <a:prstDash val="solid"/>
          </a:ln>
        </p:spPr>
      </p:sp>
      <p:sp>
        <p:nvSpPr>
          <p:cNvPr id="14" name="cartao-4"/>
          <p:cNvSpPr/>
          <p:nvPr/>
        </p:nvSpPr>
        <p:spPr>
          <a:xfrm>
            <a:off x="3236976" y="4069080"/>
            <a:ext cx="384048" cy="384048"/>
          </a:xfrm>
          <a:prstGeom prst="rect">
            <a:avLst/>
          </a:prstGeom>
          <a:solidFill>
            <a:srgbClr val="1E9E57"/>
          </a:solidFill>
          <a:ln w="12700">
            <a:solidFill>
              <a:srgbClr val="1E9E57"/>
            </a:solidFill>
            <a:prstDash val="solid"/>
          </a:ln>
        </p:spPr>
      </p:sp>
      <p:sp>
        <p:nvSpPr>
          <p:cNvPr id="15" name="cartao-5"/>
          <p:cNvSpPr/>
          <p:nvPr/>
        </p:nvSpPr>
        <p:spPr>
          <a:xfrm>
            <a:off x="822960" y="4526280"/>
            <a:ext cx="384048" cy="384048"/>
          </a:xfrm>
          <a:prstGeom prst="rect">
            <a:avLst/>
          </a:prstGeom>
          <a:solidFill>
            <a:srgbClr val="1E9E57"/>
          </a:solidFill>
          <a:ln w="12700">
            <a:solidFill>
              <a:srgbClr val="1E9E57"/>
            </a:solidFill>
            <a:prstDash val="solid"/>
          </a:ln>
        </p:spPr>
      </p:sp>
      <p:sp>
        <p:nvSpPr>
          <p:cNvPr id="16" name="cartao-6"/>
          <p:cNvSpPr/>
          <p:nvPr/>
        </p:nvSpPr>
        <p:spPr>
          <a:xfrm>
            <a:off x="1426464" y="4526280"/>
            <a:ext cx="384048" cy="384048"/>
          </a:xfrm>
          <a:prstGeom prst="rect">
            <a:avLst/>
          </a:prstGeom>
          <a:solidFill>
            <a:srgbClr val="F1C232"/>
          </a:solidFill>
          <a:ln w="12700">
            <a:solidFill>
              <a:srgbClr val="F1C232"/>
            </a:solidFill>
            <a:prstDash val="solid"/>
          </a:ln>
        </p:spPr>
      </p:sp>
      <p:sp>
        <p:nvSpPr>
          <p:cNvPr id="17" name="cartao-7"/>
          <p:cNvSpPr/>
          <p:nvPr/>
        </p:nvSpPr>
        <p:spPr>
          <a:xfrm>
            <a:off x="2029968" y="4526280"/>
            <a:ext cx="384048" cy="384048"/>
          </a:xfrm>
          <a:prstGeom prst="rect">
            <a:avLst/>
          </a:prstGeom>
          <a:solidFill>
            <a:srgbClr val="1E9E57"/>
          </a:solidFill>
          <a:ln w="12700">
            <a:solidFill>
              <a:srgbClr val="1E9E57"/>
            </a:solidFill>
            <a:prstDash val="solid"/>
          </a:ln>
        </p:spPr>
      </p:sp>
      <p:sp>
        <p:nvSpPr>
          <p:cNvPr id="18" name="cartao-8"/>
          <p:cNvSpPr/>
          <p:nvPr/>
        </p:nvSpPr>
        <p:spPr>
          <a:xfrm>
            <a:off x="2633472" y="4526280"/>
            <a:ext cx="384048" cy="384048"/>
          </a:xfrm>
          <a:prstGeom prst="rect">
            <a:avLst/>
          </a:prstGeom>
          <a:solidFill>
            <a:srgbClr val="1E9E57"/>
          </a:solidFill>
          <a:ln w="12700">
            <a:solidFill>
              <a:srgbClr val="1E9E57"/>
            </a:solidFill>
            <a:prstDash val="solid"/>
          </a:ln>
        </p:spPr>
      </p:sp>
      <p:sp>
        <p:nvSpPr>
          <p:cNvPr id="19" name="cartao-9"/>
          <p:cNvSpPr/>
          <p:nvPr/>
        </p:nvSpPr>
        <p:spPr>
          <a:xfrm>
            <a:off x="3236976" y="4526280"/>
            <a:ext cx="384048" cy="384048"/>
          </a:xfrm>
          <a:prstGeom prst="rect">
            <a:avLst/>
          </a:prstGeom>
          <a:solidFill>
            <a:srgbClr val="1E9E57"/>
          </a:solidFill>
          <a:ln w="12700">
            <a:solidFill>
              <a:srgbClr val="1E9E57"/>
            </a:solidFill>
            <a:prstDash val="solid"/>
          </a:ln>
        </p:spPr>
      </p:sp>
      <p:sp>
        <p:nvSpPr>
          <p:cNvPr id="20" name="cartao-10"/>
          <p:cNvSpPr/>
          <p:nvPr/>
        </p:nvSpPr>
        <p:spPr>
          <a:xfrm>
            <a:off x="822960" y="4983480"/>
            <a:ext cx="384048" cy="384048"/>
          </a:xfrm>
          <a:prstGeom prst="rect">
            <a:avLst/>
          </a:prstGeom>
          <a:solidFill>
            <a:srgbClr val="1E9E57"/>
          </a:solidFill>
          <a:ln w="12700">
            <a:solidFill>
              <a:srgbClr val="1E9E57"/>
            </a:solidFill>
            <a:prstDash val="solid"/>
          </a:ln>
        </p:spPr>
      </p:sp>
      <p:sp>
        <p:nvSpPr>
          <p:cNvPr id="21" name="cartao-11"/>
          <p:cNvSpPr/>
          <p:nvPr/>
        </p:nvSpPr>
        <p:spPr>
          <a:xfrm>
            <a:off x="1426464" y="4983480"/>
            <a:ext cx="384048" cy="384048"/>
          </a:xfrm>
          <a:prstGeom prst="rect">
            <a:avLst/>
          </a:prstGeom>
          <a:solidFill>
            <a:srgbClr val="F1C232"/>
          </a:solidFill>
          <a:ln w="12700">
            <a:solidFill>
              <a:srgbClr val="F1C232"/>
            </a:solidFill>
            <a:prstDash val="solid"/>
          </a:ln>
        </p:spPr>
      </p:sp>
      <p:sp>
        <p:nvSpPr>
          <p:cNvPr id="22" name="cartao-12"/>
          <p:cNvSpPr/>
          <p:nvPr/>
        </p:nvSpPr>
        <p:spPr>
          <a:xfrm>
            <a:off x="2029968" y="4983480"/>
            <a:ext cx="384048" cy="384048"/>
          </a:xfrm>
          <a:prstGeom prst="rect">
            <a:avLst/>
          </a:prstGeom>
          <a:solidFill>
            <a:srgbClr val="C4C7C1"/>
          </a:solidFill>
          <a:ln w="12700">
            <a:solidFill>
              <a:srgbClr val="C4C7C1"/>
            </a:solidFill>
            <a:prstDash val="solid"/>
          </a:ln>
        </p:spPr>
      </p:sp>
      <p:sp>
        <p:nvSpPr>
          <p:cNvPr id="23" name="cartao-13"/>
          <p:cNvSpPr/>
          <p:nvPr/>
        </p:nvSpPr>
        <p:spPr>
          <a:xfrm>
            <a:off x="2633472" y="4983480"/>
            <a:ext cx="384048" cy="384048"/>
          </a:xfrm>
          <a:prstGeom prst="rect">
            <a:avLst/>
          </a:prstGeom>
          <a:solidFill>
            <a:srgbClr val="C4C7C1"/>
          </a:solidFill>
          <a:ln w="12700">
            <a:solidFill>
              <a:srgbClr val="C4C7C1"/>
            </a:solidFill>
            <a:prstDash val="solid"/>
          </a:ln>
        </p:spPr>
      </p:sp>
      <p:sp>
        <p:nvSpPr>
          <p:cNvPr id="24" name="cartao-14"/>
          <p:cNvSpPr/>
          <p:nvPr/>
        </p:nvSpPr>
        <p:spPr>
          <a:xfrm>
            <a:off x="3236976" y="4983480"/>
            <a:ext cx="384048" cy="384048"/>
          </a:xfrm>
          <a:prstGeom prst="rect">
            <a:avLst/>
          </a:prstGeom>
          <a:solidFill>
            <a:srgbClr val="C4C7C1"/>
          </a:solidFill>
          <a:ln w="12700">
            <a:solidFill>
              <a:srgbClr val="C4C7C1"/>
            </a:solidFill>
            <a:prstDash val="solid"/>
          </a:ln>
        </p:spPr>
      </p:sp>
      <p:sp>
        <p:nvSpPr>
          <p:cNvPr id="25" name="seta-0"/>
          <p:cNvSpPr/>
          <p:nvPr/>
        </p:nvSpPr>
        <p:spPr>
          <a:xfrm>
            <a:off x="4718304" y="3703320"/>
            <a:ext cx="22250" cy="0"/>
          </a:xfrm>
          <a:prstGeom prst="line">
            <a:avLst/>
          </a:prstGeom>
          <a:noFill/>
          <a:ln w="31750">
            <a:solidFill>
              <a:srgbClr val="121614"/>
            </a:solidFill>
            <a:prstDash val="solid"/>
            <a:tailEnd type="triangle"/>
          </a:ln>
        </p:spPr>
      </p:sp>
      <p:sp>
        <p:nvSpPr>
          <p:cNvPr id="26" name="onda-1"/>
          <p:cNvSpPr/>
          <p:nvPr/>
        </p:nvSpPr>
        <p:spPr>
          <a:xfrm>
            <a:off x="4795418" y="1691640"/>
            <a:ext cx="2194560" cy="4023360"/>
          </a:xfrm>
          <a:prstGeom prst="rect">
            <a:avLst/>
          </a:prstGeom>
          <a:solidFill>
            <a:srgbClr val="E6E6E1"/>
          </a:solidFill>
          <a:ln w="12700">
            <a:solidFill>
              <a:srgbClr val="E6E6E1"/>
            </a:solidFill>
            <a:prstDash val="solid"/>
          </a:ln>
        </p:spPr>
      </p:sp>
      <p:sp>
        <p:nvSpPr>
          <p:cNvPr id="27" name="onda-nome-1"/>
          <p:cNvSpPr txBox="1"/>
          <p:nvPr/>
        </p:nvSpPr>
        <p:spPr>
          <a:xfrm>
            <a:off x="5069738" y="1920240"/>
            <a:ext cx="1645920" cy="457200"/>
          </a:xfrm>
          <a:prstGeom prst="rect">
            <a:avLst/>
          </a:prstGeom>
          <a:noFill/>
          <a:ln/>
        </p:spPr>
        <p:txBody>
          <a:bodyPr wrap="square" lIns="0" tIns="0" rIns="0" bIns="0" rtlCol="0" anchor="t"/>
          <a:lstStyle/>
          <a:p>
            <a:pPr indent="0" marL="0">
              <a:buNone/>
            </a:pPr>
            <a:r>
              <a:rPr lang="en-US" sz="2400" b="1" dirty="0">
                <a:solidFill>
                  <a:srgbClr val="121614"/>
                </a:solidFill>
                <a:latin typeface="Bricolage Grotesque" pitchFamily="34" charset="0"/>
                <a:ea typeface="Bricolage Grotesque" pitchFamily="34" charset="-122"/>
                <a:cs typeface="Bricolage Grotesque" pitchFamily="34" charset="-120"/>
              </a:rPr>
              <a:t>Wave 2</a:t>
            </a:r>
            <a:endParaRPr lang="en-US" sz="2400" dirty="0"/>
          </a:p>
        </p:txBody>
      </p:sp>
      <p:sp>
        <p:nvSpPr>
          <p:cNvPr id="28" name="onda-cor-1"/>
          <p:cNvSpPr/>
          <p:nvPr/>
        </p:nvSpPr>
        <p:spPr>
          <a:xfrm>
            <a:off x="5069738" y="2487168"/>
            <a:ext cx="201168" cy="201168"/>
          </a:xfrm>
          <a:prstGeom prst="rect">
            <a:avLst/>
          </a:prstGeom>
          <a:solidFill>
            <a:srgbClr val="1E9E57"/>
          </a:solidFill>
          <a:ln w="12700">
            <a:solidFill>
              <a:srgbClr val="1E9E57"/>
            </a:solidFill>
            <a:prstDash val="solid"/>
          </a:ln>
        </p:spPr>
      </p:sp>
      <p:sp>
        <p:nvSpPr>
          <p:cNvPr id="29" name="onda-modelo-1"/>
          <p:cNvSpPr txBox="1"/>
          <p:nvPr/>
        </p:nvSpPr>
        <p:spPr>
          <a:xfrm>
            <a:off x="5362346" y="2432304"/>
            <a:ext cx="1371600" cy="320040"/>
          </a:xfrm>
          <a:prstGeom prst="rect">
            <a:avLst/>
          </a:prstGeom>
          <a:noFill/>
          <a:ln/>
        </p:spPr>
        <p:txBody>
          <a:bodyPr wrap="square" lIns="0" tIns="0" rIns="0" bIns="0" rtlCol="0" anchor="t"/>
          <a:lstStyle/>
          <a:p>
            <a:pPr indent="0" marL="0">
              <a:buNone/>
            </a:pPr>
            <a:r>
              <a:rPr lang="en-US" sz="1600" b="1" dirty="0">
                <a:solidFill>
                  <a:srgbClr val="121614"/>
                </a:solidFill>
                <a:latin typeface="Arial" pitchFamily="34" charset="0"/>
                <a:ea typeface="Arial" pitchFamily="34" charset="-122"/>
                <a:cs typeface="Arial" pitchFamily="34" charset="-120"/>
              </a:rPr>
              <a:t>Sonnet</a:t>
            </a:r>
            <a:endParaRPr lang="en-US" sz="1600" dirty="0"/>
          </a:p>
        </p:txBody>
      </p:sp>
      <p:sp>
        <p:nvSpPr>
          <p:cNvPr id="30" name="onda-sub-1"/>
          <p:cNvSpPr txBox="1"/>
          <p:nvPr/>
        </p:nvSpPr>
        <p:spPr>
          <a:xfrm>
            <a:off x="5069738" y="2834640"/>
            <a:ext cx="1645920" cy="548640"/>
          </a:xfrm>
          <a:prstGeom prst="rect">
            <a:avLst/>
          </a:prstGeom>
          <a:noFill/>
          <a:ln/>
        </p:spPr>
        <p:txBody>
          <a:bodyPr wrap="square" lIns="0" tIns="0" rIns="0" bIns="0" rtlCol="0" anchor="t"/>
          <a:lstStyle/>
          <a:p>
            <a:pPr indent="0" marL="0">
              <a:buNone/>
            </a:pPr>
            <a:r>
              <a:rPr lang="en-US" sz="1500" dirty="0">
                <a:solidFill>
                  <a:srgbClr val="545C57"/>
                </a:solidFill>
                <a:latin typeface="Arial" pitchFamily="34" charset="0"/>
                <a:ea typeface="Arial" pitchFamily="34" charset="-122"/>
                <a:cs typeface="Arial" pitchFamily="34" charset="-120"/>
              </a:rPr>
              <a:t>categories and scoring</a:t>
            </a:r>
            <a:endParaRPr lang="en-US" sz="1500" dirty="0"/>
          </a:p>
        </p:txBody>
      </p:sp>
      <p:sp>
        <p:nvSpPr>
          <p:cNvPr id="31" name="onda1-0"/>
          <p:cNvSpPr/>
          <p:nvPr/>
        </p:nvSpPr>
        <p:spPr>
          <a:xfrm>
            <a:off x="5069738" y="3474720"/>
            <a:ext cx="502920" cy="502920"/>
          </a:xfrm>
          <a:prstGeom prst="rect">
            <a:avLst/>
          </a:prstGeom>
          <a:solidFill>
            <a:srgbClr val="C4C7C1"/>
          </a:solidFill>
          <a:ln w="12700">
            <a:solidFill>
              <a:srgbClr val="C4C7C1"/>
            </a:solidFill>
            <a:prstDash val="solid"/>
          </a:ln>
        </p:spPr>
      </p:sp>
      <p:sp>
        <p:nvSpPr>
          <p:cNvPr id="32" name="onda1-1"/>
          <p:cNvSpPr/>
          <p:nvPr/>
        </p:nvSpPr>
        <p:spPr>
          <a:xfrm>
            <a:off x="5709818" y="3474720"/>
            <a:ext cx="502920" cy="502920"/>
          </a:xfrm>
          <a:prstGeom prst="rect">
            <a:avLst/>
          </a:prstGeom>
          <a:solidFill>
            <a:srgbClr val="C4C7C1"/>
          </a:solidFill>
          <a:ln w="12700">
            <a:solidFill>
              <a:srgbClr val="C4C7C1"/>
            </a:solidFill>
            <a:prstDash val="solid"/>
          </a:ln>
        </p:spPr>
      </p:sp>
      <p:sp>
        <p:nvSpPr>
          <p:cNvPr id="33" name="seta-1"/>
          <p:cNvSpPr/>
          <p:nvPr/>
        </p:nvSpPr>
        <p:spPr>
          <a:xfrm>
            <a:off x="7044842" y="3703320"/>
            <a:ext cx="22250" cy="0"/>
          </a:xfrm>
          <a:prstGeom prst="line">
            <a:avLst/>
          </a:prstGeom>
          <a:noFill/>
          <a:ln w="31750">
            <a:solidFill>
              <a:srgbClr val="121614"/>
            </a:solidFill>
            <a:prstDash val="solid"/>
            <a:tailEnd type="triangle"/>
          </a:ln>
        </p:spPr>
      </p:sp>
      <p:sp>
        <p:nvSpPr>
          <p:cNvPr id="34" name="onda-2"/>
          <p:cNvSpPr/>
          <p:nvPr/>
        </p:nvSpPr>
        <p:spPr>
          <a:xfrm>
            <a:off x="7121957" y="1691640"/>
            <a:ext cx="2194560" cy="4023360"/>
          </a:xfrm>
          <a:prstGeom prst="rect">
            <a:avLst/>
          </a:prstGeom>
          <a:solidFill>
            <a:srgbClr val="E6E6E1"/>
          </a:solidFill>
          <a:ln w="12700">
            <a:solidFill>
              <a:srgbClr val="E6E6E1"/>
            </a:solidFill>
            <a:prstDash val="solid"/>
          </a:ln>
        </p:spPr>
      </p:sp>
      <p:sp>
        <p:nvSpPr>
          <p:cNvPr id="35" name="onda-nome-2"/>
          <p:cNvSpPr txBox="1"/>
          <p:nvPr/>
        </p:nvSpPr>
        <p:spPr>
          <a:xfrm>
            <a:off x="7396277" y="1920240"/>
            <a:ext cx="1645920" cy="457200"/>
          </a:xfrm>
          <a:prstGeom prst="rect">
            <a:avLst/>
          </a:prstGeom>
          <a:noFill/>
          <a:ln/>
        </p:spPr>
        <p:txBody>
          <a:bodyPr wrap="square" lIns="0" tIns="0" rIns="0" bIns="0" rtlCol="0" anchor="t"/>
          <a:lstStyle/>
          <a:p>
            <a:pPr indent="0" marL="0">
              <a:buNone/>
            </a:pPr>
            <a:r>
              <a:rPr lang="en-US" sz="2400" b="1" dirty="0">
                <a:solidFill>
                  <a:srgbClr val="121614"/>
                </a:solidFill>
                <a:latin typeface="Bricolage Grotesque" pitchFamily="34" charset="0"/>
                <a:ea typeface="Bricolage Grotesque" pitchFamily="34" charset="-122"/>
                <a:cs typeface="Bricolage Grotesque" pitchFamily="34" charset="-120"/>
              </a:rPr>
              <a:t>Wave 3</a:t>
            </a:r>
            <a:endParaRPr lang="en-US" sz="2400" dirty="0"/>
          </a:p>
        </p:txBody>
      </p:sp>
      <p:sp>
        <p:nvSpPr>
          <p:cNvPr id="36" name="onda-cor-2"/>
          <p:cNvSpPr/>
          <p:nvPr/>
        </p:nvSpPr>
        <p:spPr>
          <a:xfrm>
            <a:off x="7396277" y="2487168"/>
            <a:ext cx="201168" cy="201168"/>
          </a:xfrm>
          <a:prstGeom prst="rect">
            <a:avLst/>
          </a:prstGeom>
          <a:solidFill>
            <a:srgbClr val="1E9E57"/>
          </a:solidFill>
          <a:ln w="12700">
            <a:solidFill>
              <a:srgbClr val="1E9E57"/>
            </a:solidFill>
            <a:prstDash val="solid"/>
          </a:ln>
        </p:spPr>
      </p:sp>
      <p:sp>
        <p:nvSpPr>
          <p:cNvPr id="37" name="onda-modelo-2"/>
          <p:cNvSpPr txBox="1"/>
          <p:nvPr/>
        </p:nvSpPr>
        <p:spPr>
          <a:xfrm>
            <a:off x="7688885" y="2432304"/>
            <a:ext cx="1371600" cy="320040"/>
          </a:xfrm>
          <a:prstGeom prst="rect">
            <a:avLst/>
          </a:prstGeom>
          <a:noFill/>
          <a:ln/>
        </p:spPr>
        <p:txBody>
          <a:bodyPr wrap="square" lIns="0" tIns="0" rIns="0" bIns="0" rtlCol="0" anchor="t"/>
          <a:lstStyle/>
          <a:p>
            <a:pPr indent="0" marL="0">
              <a:buNone/>
            </a:pPr>
            <a:r>
              <a:rPr lang="en-US" sz="1600" b="1" dirty="0">
                <a:solidFill>
                  <a:srgbClr val="121614"/>
                </a:solidFill>
                <a:latin typeface="Arial" pitchFamily="34" charset="0"/>
                <a:ea typeface="Arial" pitchFamily="34" charset="-122"/>
                <a:cs typeface="Arial" pitchFamily="34" charset="-120"/>
              </a:rPr>
              <a:t>Sonnet</a:t>
            </a:r>
            <a:endParaRPr lang="en-US" sz="1600" dirty="0"/>
          </a:p>
        </p:txBody>
      </p:sp>
      <p:sp>
        <p:nvSpPr>
          <p:cNvPr id="38" name="onda-sub-2"/>
          <p:cNvSpPr txBox="1"/>
          <p:nvPr/>
        </p:nvSpPr>
        <p:spPr>
          <a:xfrm>
            <a:off x="7396277" y="2834640"/>
            <a:ext cx="1645920" cy="548640"/>
          </a:xfrm>
          <a:prstGeom prst="rect">
            <a:avLst/>
          </a:prstGeom>
          <a:noFill/>
          <a:ln/>
        </p:spPr>
        <p:txBody>
          <a:bodyPr wrap="square" lIns="0" tIns="0" rIns="0" bIns="0" rtlCol="0" anchor="t"/>
          <a:lstStyle/>
          <a:p>
            <a:pPr indent="0" marL="0">
              <a:buNone/>
            </a:pPr>
            <a:r>
              <a:rPr lang="en-US" sz="1500" dirty="0">
                <a:solidFill>
                  <a:srgbClr val="545C57"/>
                </a:solidFill>
                <a:latin typeface="Arial" pitchFamily="34" charset="0"/>
                <a:ea typeface="Arial" pitchFamily="34" charset="-122"/>
                <a:cs typeface="Arial" pitchFamily="34" charset="-120"/>
              </a:rPr>
              <a:t>integration and suite</a:t>
            </a:r>
            <a:endParaRPr lang="en-US" sz="1500" dirty="0"/>
          </a:p>
        </p:txBody>
      </p:sp>
      <p:sp>
        <p:nvSpPr>
          <p:cNvPr id="39" name="onda2-0"/>
          <p:cNvSpPr/>
          <p:nvPr/>
        </p:nvSpPr>
        <p:spPr>
          <a:xfrm>
            <a:off x="7396277" y="3474720"/>
            <a:ext cx="502920" cy="502920"/>
          </a:xfrm>
          <a:prstGeom prst="rect">
            <a:avLst/>
          </a:prstGeom>
          <a:solidFill>
            <a:srgbClr val="C4C7C1"/>
          </a:solidFill>
          <a:ln w="12700">
            <a:solidFill>
              <a:srgbClr val="C4C7C1"/>
            </a:solidFill>
            <a:prstDash val="solid"/>
          </a:ln>
        </p:spPr>
      </p:sp>
      <p:sp>
        <p:nvSpPr>
          <p:cNvPr id="40" name="seta-2"/>
          <p:cNvSpPr/>
          <p:nvPr/>
        </p:nvSpPr>
        <p:spPr>
          <a:xfrm>
            <a:off x="9371381" y="3703320"/>
            <a:ext cx="22250" cy="0"/>
          </a:xfrm>
          <a:prstGeom prst="line">
            <a:avLst/>
          </a:prstGeom>
          <a:noFill/>
          <a:ln w="31750">
            <a:solidFill>
              <a:srgbClr val="121614"/>
            </a:solidFill>
            <a:prstDash val="solid"/>
            <a:tailEnd type="triangle"/>
          </a:ln>
        </p:spPr>
      </p:sp>
      <p:sp>
        <p:nvSpPr>
          <p:cNvPr id="41" name="onda-3"/>
          <p:cNvSpPr/>
          <p:nvPr/>
        </p:nvSpPr>
        <p:spPr>
          <a:xfrm>
            <a:off x="9448495" y="1691640"/>
            <a:ext cx="2194560" cy="4023360"/>
          </a:xfrm>
          <a:prstGeom prst="rect">
            <a:avLst/>
          </a:prstGeom>
          <a:solidFill>
            <a:srgbClr val="E6E6E1"/>
          </a:solidFill>
          <a:ln w="12700">
            <a:solidFill>
              <a:srgbClr val="E6E6E1"/>
            </a:solidFill>
            <a:prstDash val="solid"/>
          </a:ln>
        </p:spPr>
      </p:sp>
      <p:sp>
        <p:nvSpPr>
          <p:cNvPr id="42" name="onda-nome-3"/>
          <p:cNvSpPr txBox="1"/>
          <p:nvPr/>
        </p:nvSpPr>
        <p:spPr>
          <a:xfrm>
            <a:off x="9722815" y="1920240"/>
            <a:ext cx="1645920" cy="457200"/>
          </a:xfrm>
          <a:prstGeom prst="rect">
            <a:avLst/>
          </a:prstGeom>
          <a:noFill/>
          <a:ln/>
        </p:spPr>
        <p:txBody>
          <a:bodyPr wrap="square" lIns="0" tIns="0" rIns="0" bIns="0" rtlCol="0" anchor="t"/>
          <a:lstStyle/>
          <a:p>
            <a:pPr indent="0" marL="0">
              <a:buNone/>
            </a:pPr>
            <a:r>
              <a:rPr lang="en-US" sz="2400" b="1" dirty="0">
                <a:solidFill>
                  <a:srgbClr val="121614"/>
                </a:solidFill>
                <a:latin typeface="Bricolage Grotesque" pitchFamily="34" charset="0"/>
                <a:ea typeface="Bricolage Grotesque" pitchFamily="34" charset="-122"/>
                <a:cs typeface="Bricolage Grotesque" pitchFamily="34" charset="-120"/>
              </a:rPr>
              <a:t>Wave 4</a:t>
            </a:r>
            <a:endParaRPr lang="en-US" sz="2400" dirty="0"/>
          </a:p>
        </p:txBody>
      </p:sp>
      <p:sp>
        <p:nvSpPr>
          <p:cNvPr id="43" name="onda-cor-3"/>
          <p:cNvSpPr/>
          <p:nvPr/>
        </p:nvSpPr>
        <p:spPr>
          <a:xfrm>
            <a:off x="9722815" y="2487168"/>
            <a:ext cx="201168" cy="201168"/>
          </a:xfrm>
          <a:prstGeom prst="rect">
            <a:avLst/>
          </a:prstGeom>
          <a:solidFill>
            <a:srgbClr val="1A4BE0"/>
          </a:solidFill>
          <a:ln w="12700">
            <a:solidFill>
              <a:srgbClr val="1A4BE0"/>
            </a:solidFill>
            <a:prstDash val="solid"/>
          </a:ln>
        </p:spPr>
      </p:sp>
      <p:sp>
        <p:nvSpPr>
          <p:cNvPr id="44" name="onda-modelo-3"/>
          <p:cNvSpPr txBox="1"/>
          <p:nvPr/>
        </p:nvSpPr>
        <p:spPr>
          <a:xfrm>
            <a:off x="10015423" y="2432304"/>
            <a:ext cx="1371600" cy="320040"/>
          </a:xfrm>
          <a:prstGeom prst="rect">
            <a:avLst/>
          </a:prstGeom>
          <a:noFill/>
          <a:ln/>
        </p:spPr>
        <p:txBody>
          <a:bodyPr wrap="square" lIns="0" tIns="0" rIns="0" bIns="0" rtlCol="0" anchor="t"/>
          <a:lstStyle/>
          <a:p>
            <a:pPr indent="0" marL="0">
              <a:buNone/>
            </a:pPr>
            <a:r>
              <a:rPr lang="en-US" sz="1600" b="1" dirty="0">
                <a:solidFill>
                  <a:srgbClr val="121614"/>
                </a:solidFill>
                <a:latin typeface="Arial" pitchFamily="34" charset="0"/>
                <a:ea typeface="Arial" pitchFamily="34" charset="-122"/>
                <a:cs typeface="Arial" pitchFamily="34" charset="-120"/>
              </a:rPr>
              <a:t>Opus</a:t>
            </a:r>
            <a:endParaRPr lang="en-US" sz="1600" dirty="0"/>
          </a:p>
        </p:txBody>
      </p:sp>
      <p:sp>
        <p:nvSpPr>
          <p:cNvPr id="45" name="onda-sub-3"/>
          <p:cNvSpPr txBox="1"/>
          <p:nvPr/>
        </p:nvSpPr>
        <p:spPr>
          <a:xfrm>
            <a:off x="9722815" y="2834640"/>
            <a:ext cx="1645920" cy="548640"/>
          </a:xfrm>
          <a:prstGeom prst="rect">
            <a:avLst/>
          </a:prstGeom>
          <a:noFill/>
          <a:ln/>
        </p:spPr>
        <p:txBody>
          <a:bodyPr wrap="square" lIns="0" tIns="0" rIns="0" bIns="0" rtlCol="0" anchor="t"/>
          <a:lstStyle/>
          <a:p>
            <a:pPr indent="0" marL="0">
              <a:buNone/>
            </a:pPr>
            <a:r>
              <a:rPr lang="en-US" sz="1500" dirty="0">
                <a:solidFill>
                  <a:srgbClr val="545C57"/>
                </a:solidFill>
                <a:latin typeface="Arial" pitchFamily="34" charset="0"/>
                <a:ea typeface="Arial" pitchFamily="34" charset="-122"/>
                <a:cs typeface="Arial" pitchFamily="34" charset="-120"/>
              </a:rPr>
              <a:t>review and verdict</a:t>
            </a:r>
            <a:endParaRPr lang="en-US" sz="1500" dirty="0"/>
          </a:p>
        </p:txBody>
      </p:sp>
      <p:sp>
        <p:nvSpPr>
          <p:cNvPr id="46" name="onda3-0"/>
          <p:cNvSpPr/>
          <p:nvPr/>
        </p:nvSpPr>
        <p:spPr>
          <a:xfrm>
            <a:off x="9722815" y="3474720"/>
            <a:ext cx="502920" cy="502920"/>
          </a:xfrm>
          <a:prstGeom prst="rect">
            <a:avLst/>
          </a:prstGeom>
          <a:solidFill>
            <a:srgbClr val="C4C7C1"/>
          </a:solidFill>
          <a:ln w="12700">
            <a:solidFill>
              <a:srgbClr val="C4C7C1"/>
            </a:solidFill>
            <a:prstDash val="solid"/>
          </a:ln>
        </p:spPr>
      </p:sp>
      <p:sp>
        <p:nvSpPr>
          <p:cNvPr id="47" name="legenda-dag"/>
          <p:cNvSpPr txBox="1"/>
          <p:nvPr/>
        </p:nvSpPr>
        <p:spPr>
          <a:xfrm>
            <a:off x="548640" y="5852160"/>
            <a:ext cx="11094415" cy="365760"/>
          </a:xfrm>
          <a:prstGeom prst="rect">
            <a:avLst/>
          </a:prstGeom>
          <a:noFill/>
          <a:ln/>
        </p:spPr>
        <p:txBody>
          <a:bodyPr wrap="square" lIns="0" tIns="0" rIns="0" bIns="0" rtlCol="0" anchor="t"/>
          <a:lstStyle/>
          <a:p>
            <a:pPr indent="0" marL="0">
              <a:buNone/>
            </a:pPr>
            <a:r>
              <a:rPr lang="en-US" sz="1500" dirty="0">
                <a:solidFill>
                  <a:srgbClr val="545C57"/>
                </a:solidFill>
                <a:latin typeface="Arial" pitchFamily="34" charset="0"/>
                <a:ea typeface="Arial" pitchFamily="34" charset="-122"/>
                <a:cs typeface="Arial" pitchFamily="34" charset="-120"/>
              </a:rPr>
              <a:t>Grey: waiting. The 3 cryptography cards start when lib-hash turns green.</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45C57"/>
                </a:solidFill>
                <a:latin typeface="Arial"/>
                <a:ea typeface="Arial"/>
                <a:cs typeface="Aria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faca-rotulo"/>
          <p:cNvSpPr txBox="1"/>
          <p:nvPr/>
        </p:nvSpPr>
        <p:spPr>
          <a:xfrm>
            <a:off x="548640" y="411480"/>
            <a:ext cx="5486400" cy="411480"/>
          </a:xfrm>
          <a:prstGeom prst="rect">
            <a:avLst/>
          </a:prstGeom>
          <a:noFill/>
          <a:ln/>
        </p:spPr>
        <p:txBody>
          <a:bodyPr wrap="square" lIns="0" tIns="0" rIns="0" bIns="0" rtlCol="0" anchor="t"/>
          <a:lstStyle/>
          <a:p>
            <a:pPr indent="0" marL="0">
              <a:buNone/>
            </a:pPr>
            <a:r>
              <a:rPr lang="en-US" sz="2000" b="1" dirty="0">
                <a:solidFill>
                  <a:srgbClr val="121614"/>
                </a:solidFill>
                <a:latin typeface="Bricolage Grotesque" pitchFamily="34" charset="0"/>
                <a:ea typeface="Bricolage Grotesque" pitchFamily="34" charset="-122"/>
                <a:cs typeface="Bricolage Grotesque" pitchFamily="34" charset="-120"/>
              </a:rPr>
              <a:t>Do it now · 2 min</a:t>
            </a:r>
            <a:endParaRPr lang="en-US" sz="2000" dirty="0"/>
          </a:p>
        </p:txBody>
      </p:sp>
      <p:sp>
        <p:nvSpPr>
          <p:cNvPr id="3" name="Text 0"/>
          <p:cNvSpPr/>
          <p:nvPr>
            <p:ph idx="100" type="title" hasCustomPrompt="1"/>
          </p:nvPr>
        </p:nvSpPr>
        <p:spPr>
          <a:xfrm>
            <a:off x="548640" y="868680"/>
            <a:ext cx="11094415" cy="868680"/>
          </a:xfrm>
          <a:prstGeom prst="rect">
            <a:avLst/>
          </a:prstGeom>
          <a:noFill/>
          <a:ln/>
        </p:spPr>
        <p:txBody>
          <a:bodyPr wrap="square" lIns="0" tIns="0" rIns="0" bIns="0" rtlCol="0" anchor="t"/>
          <a:lstStyle/>
          <a:p>
            <a:pPr algn="l" indent="0" marL="0">
              <a:buNone/>
            </a:pPr>
            <a:r>
              <a:rPr lang="en-US" sz="3800" b="1" dirty="0">
                <a:solidFill>
                  <a:srgbClr val="121614"/>
                </a:solidFill>
                <a:latin typeface="Bricolage Grotesque" pitchFamily="34" charset="0"/>
                <a:ea typeface="Bricolage Grotesque" pitchFamily="34" charset="-122"/>
                <a:cs typeface="Bricolage Grotesque" pitchFamily="34" charset="-120"/>
              </a:rPr>
              <a:t>Release the swarm</a:t>
            </a:r>
            <a:endParaRPr lang="en-US" sz="3800" dirty="0"/>
          </a:p>
        </p:txBody>
      </p:sp>
      <p:sp>
        <p:nvSpPr>
          <p:cNvPr id="4" name="faca-passos"/>
          <p:cNvSpPr txBox="1"/>
          <p:nvPr/>
        </p:nvSpPr>
        <p:spPr>
          <a:xfrm>
            <a:off x="548640" y="1920240"/>
            <a:ext cx="4023360" cy="329184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21614"/>
                </a:solidFill>
                <a:latin typeface="Arial" pitchFamily="34" charset="0"/>
                <a:ea typeface="Arial" pitchFamily="34" charset="-122"/>
                <a:cs typeface="Arial" pitchFamily="34" charset="-120"/>
              </a:rPr>
              <a:t>Run /demo-swarm</a:t>
            </a:r>
            <a:endParaRPr lang="en-US" sz="2000" dirty="0"/>
          </a:p>
          <a:p>
            <a:pPr marL="342900" indent="-342900">
              <a:spcAft>
                <a:spcPts val="1200"/>
              </a:spcAft>
              <a:buSzPct val="100000"/>
              <a:buFont typeface="+mj-lt"/>
              <a:buAutoNum type="arabicPeriod" startAt="1"/>
            </a:pPr>
            <a:r>
              <a:rPr lang="en-US" sz="2000" dirty="0">
                <a:solidFill>
                  <a:srgbClr val="121614"/>
                </a:solidFill>
                <a:latin typeface="Arial" pitchFamily="34" charset="0"/>
                <a:ea typeface="Arial" pitchFamily="34" charset="-122"/>
                <a:cs typeface="Arial" pitchFamily="34" charset="-120"/>
              </a:rPr>
              <a:t>Open a second terminal</a:t>
            </a:r>
            <a:endParaRPr lang="en-US" sz="2000" dirty="0"/>
          </a:p>
          <a:p>
            <a:pPr marL="342900" indent="-342900">
              <a:spcAft>
                <a:spcPts val="1200"/>
              </a:spcAft>
              <a:buSzPct val="100000"/>
              <a:buFont typeface="+mj-lt"/>
              <a:buAutoNum type="arabicPeriod" startAt="1"/>
            </a:pPr>
            <a:r>
              <a:rPr lang="en-US" sz="2000" dirty="0">
                <a:solidFill>
                  <a:srgbClr val="121614"/>
                </a:solidFill>
                <a:latin typeface="Arial" pitchFamily="34" charset="0"/>
                <a:ea typeface="Arial" pitchFamily="34" charset="-122"/>
                <a:cs typeface="Arial" pitchFamily="34" charset="-120"/>
              </a:rPr>
              <a:t>Start the server and open /estado</a:t>
            </a:r>
            <a:endParaRPr lang="en-US" sz="2000" dirty="0"/>
          </a:p>
        </p:txBody>
      </p:sp>
      <p:sp>
        <p:nvSpPr>
          <p:cNvPr id="5" name="codigo-fundo"/>
          <p:cNvSpPr/>
          <p:nvPr/>
        </p:nvSpPr>
        <p:spPr>
          <a:xfrm>
            <a:off x="4937760" y="1920240"/>
            <a:ext cx="6705295" cy="1051560"/>
          </a:xfrm>
          <a:prstGeom prst="rect">
            <a:avLst/>
          </a:prstGeom>
          <a:solidFill>
            <a:srgbClr val="121614"/>
          </a:solidFill>
          <a:ln w="12700">
            <a:solidFill>
              <a:srgbClr val="121614"/>
            </a:solidFill>
            <a:prstDash val="solid"/>
          </a:ln>
        </p:spPr>
      </p:sp>
      <p:sp>
        <p:nvSpPr>
          <p:cNvPr id="6" name="codigo-rotulo"/>
          <p:cNvSpPr txBox="1"/>
          <p:nvPr/>
        </p:nvSpPr>
        <p:spPr>
          <a:xfrm>
            <a:off x="5166360" y="2103120"/>
            <a:ext cx="6248095" cy="274320"/>
          </a:xfrm>
          <a:prstGeom prst="rect">
            <a:avLst/>
          </a:prstGeom>
          <a:noFill/>
          <a:ln/>
        </p:spPr>
        <p:txBody>
          <a:bodyPr wrap="square" lIns="0" tIns="0" rIns="0" bIns="0" rtlCol="0" anchor="t"/>
          <a:lstStyle/>
          <a:p>
            <a:pPr indent="0" marL="0">
              <a:buNone/>
            </a:pPr>
            <a:r>
              <a:rPr lang="en-US" sz="1300" b="1" dirty="0">
                <a:solidFill>
                  <a:srgbClr val="F1C232"/>
                </a:solidFill>
                <a:latin typeface="Arial" pitchFamily="34" charset="0"/>
                <a:ea typeface="Arial" pitchFamily="34" charset="-122"/>
                <a:cs typeface="Arial" pitchFamily="34" charset="-120"/>
              </a:rPr>
              <a:t>Terminal 1</a:t>
            </a:r>
            <a:endParaRPr lang="en-US" sz="1300" dirty="0"/>
          </a:p>
        </p:txBody>
      </p:sp>
      <p:sp>
        <p:nvSpPr>
          <p:cNvPr id="7" name="codigo"/>
          <p:cNvSpPr txBox="1"/>
          <p:nvPr/>
        </p:nvSpPr>
        <p:spPr>
          <a:xfrm>
            <a:off x="5166360" y="2450592"/>
            <a:ext cx="6248095" cy="384048"/>
          </a:xfrm>
          <a:prstGeom prst="rect">
            <a:avLst/>
          </a:prstGeom>
          <a:noFill/>
          <a:ln/>
        </p:spPr>
        <p:txBody>
          <a:bodyPr wrap="square" lIns="0" tIns="0" rIns="0" bIns="0" rtlCol="0" anchor="t"/>
          <a:lstStyle/>
          <a:p>
            <a:pPr indent="0" marL="0">
              <a:buNone/>
            </a:pPr>
            <a:r>
              <a:rPr lang="en-US" sz="2000" dirty="0">
                <a:solidFill>
                  <a:srgbClr val="E8EDE9"/>
                </a:solidFill>
                <a:latin typeface="Courier New" pitchFamily="34" charset="0"/>
                <a:ea typeface="Courier New" pitchFamily="34" charset="-122"/>
                <a:cs typeface="Courier New" pitchFamily="34" charset="-120"/>
              </a:rPr>
              <a:t>/demo-swarm</a:t>
            </a:r>
            <a:endParaRPr lang="en-US" sz="2000" dirty="0"/>
          </a:p>
        </p:txBody>
      </p:sp>
      <p:sp>
        <p:nvSpPr>
          <p:cNvPr id="8" name="codigo-fundo"/>
          <p:cNvSpPr/>
          <p:nvPr/>
        </p:nvSpPr>
        <p:spPr>
          <a:xfrm>
            <a:off x="4937760" y="3200400"/>
            <a:ext cx="6705295" cy="1389888"/>
          </a:xfrm>
          <a:prstGeom prst="rect">
            <a:avLst/>
          </a:prstGeom>
          <a:solidFill>
            <a:srgbClr val="121614"/>
          </a:solidFill>
          <a:ln w="12700">
            <a:solidFill>
              <a:srgbClr val="121614"/>
            </a:solidFill>
            <a:prstDash val="solid"/>
          </a:ln>
        </p:spPr>
      </p:sp>
      <p:sp>
        <p:nvSpPr>
          <p:cNvPr id="9" name="codigo-rotulo"/>
          <p:cNvSpPr txBox="1"/>
          <p:nvPr/>
        </p:nvSpPr>
        <p:spPr>
          <a:xfrm>
            <a:off x="5166360" y="3383280"/>
            <a:ext cx="6248095" cy="274320"/>
          </a:xfrm>
          <a:prstGeom prst="rect">
            <a:avLst/>
          </a:prstGeom>
          <a:noFill/>
          <a:ln/>
        </p:spPr>
        <p:txBody>
          <a:bodyPr wrap="square" lIns="0" tIns="0" rIns="0" bIns="0" rtlCol="0" anchor="t"/>
          <a:lstStyle/>
          <a:p>
            <a:pPr indent="0" marL="0">
              <a:buNone/>
            </a:pPr>
            <a:r>
              <a:rPr lang="en-US" sz="1300" b="1" dirty="0">
                <a:solidFill>
                  <a:srgbClr val="F1C232"/>
                </a:solidFill>
                <a:latin typeface="Arial" pitchFamily="34" charset="0"/>
                <a:ea typeface="Arial" pitchFamily="34" charset="-122"/>
                <a:cs typeface="Arial" pitchFamily="34" charset="-120"/>
              </a:rPr>
              <a:t>Terminal 2</a:t>
            </a:r>
            <a:endParaRPr lang="en-US" sz="1300" dirty="0"/>
          </a:p>
        </p:txBody>
      </p:sp>
      <p:sp>
        <p:nvSpPr>
          <p:cNvPr id="10" name="codigo"/>
          <p:cNvSpPr txBox="1"/>
          <p:nvPr/>
        </p:nvSpPr>
        <p:spPr>
          <a:xfrm>
            <a:off x="5166360" y="3730752"/>
            <a:ext cx="6248095" cy="722376"/>
          </a:xfrm>
          <a:prstGeom prst="rect">
            <a:avLst/>
          </a:prstGeom>
          <a:noFill/>
          <a:ln/>
        </p:spPr>
        <p:txBody>
          <a:bodyPr wrap="square" lIns="0" tIns="0" rIns="0" bIns="0" rtlCol="0" anchor="t"/>
          <a:lstStyle/>
          <a:p>
            <a:pPr indent="0" marL="0">
              <a:buNone/>
            </a:pPr>
            <a:r>
              <a:rPr lang="en-US" sz="2000" dirty="0">
                <a:solidFill>
                  <a:srgbClr val="E8EDE9"/>
                </a:solidFill>
                <a:latin typeface="Courier New" pitchFamily="34" charset="0"/>
                <a:ea typeface="Courier New" pitchFamily="34" charset="-122"/>
                <a:cs typeface="Courier New" pitchFamily="34" charset="-120"/>
              </a:rPr>
              <a:t>cd ~/workshop-claude/demo-project</a:t>
            </a:r>
            <a:endParaRPr lang="en-US" sz="2000" dirty="0"/>
          </a:p>
          <a:p>
            <a:pPr indent="0" marL="0">
              <a:buNone/>
            </a:pPr>
            <a:r>
              <a:rPr lang="en-US" sz="2000" dirty="0">
                <a:solidFill>
                  <a:srgbClr val="E8EDE9"/>
                </a:solidFill>
                <a:latin typeface="Courier New" pitchFamily="34" charset="0"/>
                <a:ea typeface="Courier New" pitchFamily="34" charset="-122"/>
                <a:cs typeface="Courier New" pitchFamily="34" charset="-120"/>
              </a:rPr>
              <a:t>node server.js</a:t>
            </a:r>
            <a:endParaRPr lang="en-US" sz="2000" dirty="0"/>
          </a:p>
        </p:txBody>
      </p:sp>
      <p:sp>
        <p:nvSpPr>
          <p:cNvPr id="11" name="esperado-marca"/>
          <p:cNvSpPr/>
          <p:nvPr/>
        </p:nvSpPr>
        <p:spPr>
          <a:xfrm>
            <a:off x="548640" y="5650992"/>
            <a:ext cx="292608" cy="292608"/>
          </a:xfrm>
          <a:prstGeom prst="rect">
            <a:avLst/>
          </a:prstGeom>
          <a:solidFill>
            <a:srgbClr val="1E9E57"/>
          </a:solidFill>
          <a:ln w="12700">
            <a:solidFill>
              <a:srgbClr val="1E9E57"/>
            </a:solidFill>
            <a:prstDash val="solid"/>
          </a:ln>
        </p:spPr>
      </p:sp>
      <p:sp>
        <p:nvSpPr>
          <p:cNvPr id="12" name="faca-esperado"/>
          <p:cNvSpPr txBox="1"/>
          <p:nvPr/>
        </p:nvSpPr>
        <p:spPr>
          <a:xfrm>
            <a:off x="1005840" y="5596128"/>
            <a:ext cx="9814255" cy="548640"/>
          </a:xfrm>
          <a:prstGeom prst="rect">
            <a:avLst/>
          </a:prstGeom>
          <a:noFill/>
          <a:ln/>
        </p:spPr>
        <p:txBody>
          <a:bodyPr wrap="square" lIns="0" tIns="0" rIns="0" bIns="0" rtlCol="0" anchor="t"/>
          <a:lstStyle/>
          <a:p>
            <a:pPr indent="0" marL="0">
              <a:buNone/>
            </a:pPr>
            <a:r>
              <a:rPr lang="en-US" sz="1800" b="1" dirty="0">
                <a:solidFill>
                  <a:srgbClr val="121614"/>
                </a:solidFill>
                <a:latin typeface="Arial" pitchFamily="34" charset="0"/>
                <a:ea typeface="Arial" pitchFamily="34" charset="-122"/>
                <a:cs typeface="Arial" pitchFamily="34" charset="-120"/>
              </a:rPr>
              <a:t>Expected result: </a:t>
            </a:r>
            <a:pPr indent="0" marL="0">
              <a:buNone/>
            </a:pPr>
            <a:r>
              <a:rPr lang="en-US" sz="1800" dirty="0">
                <a:solidFill>
                  <a:srgbClr val="121614"/>
                </a:solidFill>
                <a:latin typeface="Arial" pitchFamily="34" charset="0"/>
                <a:ea typeface="Arial" pitchFamily="34" charset="-122"/>
                <a:cs typeface="Arial" pitchFamily="34" charset="-120"/>
              </a:rPr>
              <a:t>http://localhost:3000/estado: the squares turn yellow and then green</a:t>
            </a:r>
            <a:endParaRPr lang="en-US" sz="18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121614"/>
                </a:solidFill>
                <a:latin typeface="Arial"/>
                <a:ea typeface="Arial"/>
                <a:cs typeface="Aria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faca-rotulo"/>
          <p:cNvSpPr txBox="1"/>
          <p:nvPr/>
        </p:nvSpPr>
        <p:spPr>
          <a:xfrm>
            <a:off x="548640" y="411480"/>
            <a:ext cx="5486400" cy="411480"/>
          </a:xfrm>
          <a:prstGeom prst="rect">
            <a:avLst/>
          </a:prstGeom>
          <a:noFill/>
          <a:ln/>
        </p:spPr>
        <p:txBody>
          <a:bodyPr wrap="square" lIns="0" tIns="0" rIns="0" bIns="0" rtlCol="0" anchor="t"/>
          <a:lstStyle/>
          <a:p>
            <a:pPr indent="0" marL="0">
              <a:buNone/>
            </a:pPr>
            <a:r>
              <a:rPr lang="en-US" sz="2000" b="1" dirty="0">
                <a:solidFill>
                  <a:srgbClr val="121614"/>
                </a:solidFill>
                <a:latin typeface="Bricolage Grotesque" pitchFamily="34" charset="0"/>
                <a:ea typeface="Bricolage Grotesque" pitchFamily="34" charset="-122"/>
                <a:cs typeface="Bricolage Grotesque" pitchFamily="34" charset="-120"/>
              </a:rPr>
              <a:t>Do it now · 2 min</a:t>
            </a:r>
            <a:endParaRPr lang="en-US" sz="2000" dirty="0"/>
          </a:p>
        </p:txBody>
      </p:sp>
      <p:sp>
        <p:nvSpPr>
          <p:cNvPr id="3" name="Text 0"/>
          <p:cNvSpPr/>
          <p:nvPr>
            <p:ph idx="100" type="title" hasCustomPrompt="1"/>
          </p:nvPr>
        </p:nvSpPr>
        <p:spPr>
          <a:xfrm>
            <a:off x="548640" y="868680"/>
            <a:ext cx="11094415" cy="868680"/>
          </a:xfrm>
          <a:prstGeom prst="rect">
            <a:avLst/>
          </a:prstGeom>
          <a:noFill/>
          <a:ln/>
        </p:spPr>
        <p:txBody>
          <a:bodyPr wrap="square" lIns="0" tIns="0" rIns="0" bIns="0" rtlCol="0" anchor="t"/>
          <a:lstStyle/>
          <a:p>
            <a:pPr algn="l" indent="0" marL="0">
              <a:buNone/>
            </a:pPr>
            <a:r>
              <a:rPr lang="en-US" sz="3800" b="1" dirty="0">
                <a:solidFill>
                  <a:srgbClr val="121614"/>
                </a:solidFill>
                <a:latin typeface="Bricolage Grotesque" pitchFamily="34" charset="0"/>
                <a:ea typeface="Bricolage Grotesque" pitchFamily="34" charset="-122"/>
                <a:cs typeface="Bricolage Grotesque" pitchFamily="34" charset="-120"/>
              </a:rPr>
              <a:t>Ask without interrupting</a:t>
            </a:r>
            <a:endParaRPr lang="en-US" sz="3800" dirty="0"/>
          </a:p>
        </p:txBody>
      </p:sp>
      <p:sp>
        <p:nvSpPr>
          <p:cNvPr id="4" name="faca-passos"/>
          <p:cNvSpPr txBox="1"/>
          <p:nvPr/>
        </p:nvSpPr>
        <p:spPr>
          <a:xfrm>
            <a:off x="548640" y="1920240"/>
            <a:ext cx="4023360" cy="329184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21614"/>
                </a:solidFill>
                <a:latin typeface="Arial" pitchFamily="34" charset="0"/>
                <a:ea typeface="Arial" pitchFamily="34" charset="-122"/>
                <a:cs typeface="Arial" pitchFamily="34" charset="-120"/>
              </a:rPr>
              <a:t>While the swarm works, in Terminal 1</a:t>
            </a:r>
            <a:endParaRPr lang="en-US" sz="2000" dirty="0"/>
          </a:p>
          <a:p>
            <a:pPr marL="342900" indent="-342900">
              <a:spcAft>
                <a:spcPts val="1200"/>
              </a:spcAft>
              <a:buSzPct val="100000"/>
              <a:buFont typeface="+mj-lt"/>
              <a:buAutoNum type="arabicPeriod" startAt="1"/>
            </a:pPr>
            <a:r>
              <a:rPr lang="en-US" sz="2000" dirty="0">
                <a:solidFill>
                  <a:srgbClr val="121614"/>
                </a:solidFill>
                <a:latin typeface="Arial" pitchFamily="34" charset="0"/>
                <a:ea typeface="Arial" pitchFamily="34" charset="-122"/>
                <a:cs typeface="Arial" pitchFamily="34" charset="-120"/>
              </a:rPr>
              <a:t>Use /btw for a side question</a:t>
            </a:r>
            <a:endParaRPr lang="en-US" sz="2000" dirty="0"/>
          </a:p>
        </p:txBody>
      </p:sp>
      <p:sp>
        <p:nvSpPr>
          <p:cNvPr id="5" name="codigo-fundo"/>
          <p:cNvSpPr/>
          <p:nvPr/>
        </p:nvSpPr>
        <p:spPr>
          <a:xfrm>
            <a:off x="4937760" y="1920240"/>
            <a:ext cx="6705295" cy="1051560"/>
          </a:xfrm>
          <a:prstGeom prst="rect">
            <a:avLst/>
          </a:prstGeom>
          <a:solidFill>
            <a:srgbClr val="121614"/>
          </a:solidFill>
          <a:ln w="12700">
            <a:solidFill>
              <a:srgbClr val="121614"/>
            </a:solidFill>
            <a:prstDash val="solid"/>
          </a:ln>
        </p:spPr>
      </p:sp>
      <p:sp>
        <p:nvSpPr>
          <p:cNvPr id="6" name="codigo-rotulo"/>
          <p:cNvSpPr txBox="1"/>
          <p:nvPr/>
        </p:nvSpPr>
        <p:spPr>
          <a:xfrm>
            <a:off x="5166360" y="2103120"/>
            <a:ext cx="6248095" cy="274320"/>
          </a:xfrm>
          <a:prstGeom prst="rect">
            <a:avLst/>
          </a:prstGeom>
          <a:noFill/>
          <a:ln/>
        </p:spPr>
        <p:txBody>
          <a:bodyPr wrap="square" lIns="0" tIns="0" rIns="0" bIns="0" rtlCol="0" anchor="t"/>
          <a:lstStyle/>
          <a:p>
            <a:pPr indent="0" marL="0">
              <a:buNone/>
            </a:pPr>
            <a:r>
              <a:rPr lang="en-US" sz="1300" b="1" dirty="0">
                <a:solidFill>
                  <a:srgbClr val="F1C232"/>
                </a:solidFill>
                <a:latin typeface="Arial" pitchFamily="34" charset="0"/>
                <a:ea typeface="Arial" pitchFamily="34" charset="-122"/>
                <a:cs typeface="Arial" pitchFamily="34" charset="-120"/>
              </a:rPr>
              <a:t>Terminal 1</a:t>
            </a:r>
            <a:endParaRPr lang="en-US" sz="1300" dirty="0"/>
          </a:p>
        </p:txBody>
      </p:sp>
      <p:sp>
        <p:nvSpPr>
          <p:cNvPr id="7" name="codigo"/>
          <p:cNvSpPr txBox="1"/>
          <p:nvPr/>
        </p:nvSpPr>
        <p:spPr>
          <a:xfrm>
            <a:off x="5166360" y="2450592"/>
            <a:ext cx="6248095" cy="384048"/>
          </a:xfrm>
          <a:prstGeom prst="rect">
            <a:avLst/>
          </a:prstGeom>
          <a:noFill/>
          <a:ln/>
        </p:spPr>
        <p:txBody>
          <a:bodyPr wrap="square" lIns="0" tIns="0" rIns="0" bIns="0" rtlCol="0" anchor="t"/>
          <a:lstStyle/>
          <a:p>
            <a:pPr indent="0" marL="0">
              <a:buNone/>
            </a:pPr>
            <a:r>
              <a:rPr lang="en-US" sz="2000" dirty="0">
                <a:solidFill>
                  <a:srgbClr val="E8EDE9"/>
                </a:solidFill>
                <a:latin typeface="Courier New" pitchFamily="34" charset="0"/>
                <a:ea typeface="Courier New" pitchFamily="34" charset="-122"/>
                <a:cs typeface="Courier New" pitchFamily="34" charset="-120"/>
              </a:rPr>
              <a:t>/btw why does cr-01 wait for lib-hash?</a:t>
            </a:r>
            <a:endParaRPr lang="en-US" sz="2000" dirty="0"/>
          </a:p>
        </p:txBody>
      </p:sp>
      <p:sp>
        <p:nvSpPr>
          <p:cNvPr id="8" name="esperado-marca"/>
          <p:cNvSpPr/>
          <p:nvPr/>
        </p:nvSpPr>
        <p:spPr>
          <a:xfrm>
            <a:off x="548640" y="5650992"/>
            <a:ext cx="292608" cy="292608"/>
          </a:xfrm>
          <a:prstGeom prst="rect">
            <a:avLst/>
          </a:prstGeom>
          <a:solidFill>
            <a:srgbClr val="1E9E57"/>
          </a:solidFill>
          <a:ln w="12700">
            <a:solidFill>
              <a:srgbClr val="1E9E57"/>
            </a:solidFill>
            <a:prstDash val="solid"/>
          </a:ln>
        </p:spPr>
      </p:sp>
      <p:sp>
        <p:nvSpPr>
          <p:cNvPr id="9" name="faca-esperado"/>
          <p:cNvSpPr txBox="1"/>
          <p:nvPr/>
        </p:nvSpPr>
        <p:spPr>
          <a:xfrm>
            <a:off x="1005840" y="5596128"/>
            <a:ext cx="9814255" cy="548640"/>
          </a:xfrm>
          <a:prstGeom prst="rect">
            <a:avLst/>
          </a:prstGeom>
          <a:noFill/>
          <a:ln/>
        </p:spPr>
        <p:txBody>
          <a:bodyPr wrap="square" lIns="0" tIns="0" rIns="0" bIns="0" rtlCol="0" anchor="t"/>
          <a:lstStyle/>
          <a:p>
            <a:pPr indent="0" marL="0">
              <a:buNone/>
            </a:pPr>
            <a:r>
              <a:rPr lang="en-US" sz="1800" b="1" dirty="0">
                <a:solidFill>
                  <a:srgbClr val="121614"/>
                </a:solidFill>
                <a:latin typeface="Arial" pitchFamily="34" charset="0"/>
                <a:ea typeface="Arial" pitchFamily="34" charset="-122"/>
                <a:cs typeface="Arial" pitchFamily="34" charset="-120"/>
              </a:rPr>
              <a:t>Expected result: </a:t>
            </a:r>
            <a:pPr indent="0" marL="0">
              <a:buNone/>
            </a:pPr>
            <a:r>
              <a:rPr lang="en-US" sz="1800" dirty="0">
                <a:solidFill>
                  <a:srgbClr val="121614"/>
                </a:solidFill>
                <a:latin typeface="Arial" pitchFamily="34" charset="0"/>
                <a:ea typeface="Arial" pitchFamily="34" charset="-122"/>
                <a:cs typeface="Arial" pitchFamily="34" charset="-120"/>
              </a:rPr>
              <a:t>An answer that does not enter the conversation or stop the swarm</a:t>
            </a:r>
            <a:endParaRPr lang="en-US" sz="18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121614"/>
                </a:solidFill>
                <a:latin typeface="Arial"/>
                <a:ea typeface="Arial"/>
                <a:cs typeface="Aria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914400"/>
          </a:xfrm>
          <a:prstGeom prst="rect">
            <a:avLst/>
          </a:prstGeom>
          <a:noFill/>
          <a:ln/>
        </p:spPr>
        <p:txBody>
          <a:bodyPr wrap="square" lIns="0" tIns="0" rIns="0" bIns="0" rtlCol="0" anchor="t"/>
          <a:lstStyle/>
          <a:p>
            <a:pPr algn="l" indent="0" marL="0">
              <a:buNone/>
            </a:pPr>
            <a:r>
              <a:rPr lang="en-US" sz="3600" b="1" dirty="0">
                <a:solidFill>
                  <a:srgbClr val="121614"/>
                </a:solidFill>
                <a:latin typeface="Bricolage Grotesque" pitchFamily="34" charset="0"/>
                <a:ea typeface="Bricolage Grotesque" pitchFamily="34" charset="-122"/>
                <a:cs typeface="Bricolage Grotesque" pitchFamily="34" charset="-120"/>
              </a:rPr>
              <a:t>The statusline and the hook that feeds it</a:t>
            </a:r>
            <a:endParaRPr lang="en-US" sz="3600" dirty="0"/>
          </a:p>
        </p:txBody>
      </p:sp>
      <p:sp>
        <p:nvSpPr>
          <p:cNvPr id="3" name="intro"/>
          <p:cNvSpPr txBox="1"/>
          <p:nvPr/>
        </p:nvSpPr>
        <p:spPr>
          <a:xfrm>
            <a:off x="548640" y="1463040"/>
            <a:ext cx="11094415" cy="548640"/>
          </a:xfrm>
          <a:prstGeom prst="rect">
            <a:avLst/>
          </a:prstGeom>
          <a:noFill/>
          <a:ln/>
        </p:spPr>
        <p:txBody>
          <a:bodyPr wrap="square" lIns="0" tIns="0" rIns="0" bIns="0" rtlCol="0" anchor="t"/>
          <a:lstStyle/>
          <a:p>
            <a:pPr indent="0" marL="0">
              <a:buNone/>
            </a:pPr>
            <a:r>
              <a:rPr lang="en-US" sz="2000" dirty="0">
                <a:solidFill>
                  <a:srgbClr val="121614"/>
                </a:solidFill>
                <a:latin typeface="Arial" pitchFamily="34" charset="0"/>
                <a:ea typeface="Arial" pitchFamily="34" charset="-122"/>
                <a:cs typeface="Arial" pitchFamily="34" charset="-120"/>
              </a:rPr>
              <a:t>At the bottom: model · session · project against the target · time · swarm.</a:t>
            </a:r>
            <a:endParaRPr lang="en-US" sz="2000" dirty="0"/>
          </a:p>
        </p:txBody>
      </p:sp>
      <p:sp>
        <p:nvSpPr>
          <p:cNvPr id="4" name="codigo-fundo"/>
          <p:cNvSpPr/>
          <p:nvPr/>
        </p:nvSpPr>
        <p:spPr>
          <a:xfrm>
            <a:off x="548640" y="2148840"/>
            <a:ext cx="11094415" cy="3429000"/>
          </a:xfrm>
          <a:prstGeom prst="rect">
            <a:avLst/>
          </a:prstGeom>
          <a:solidFill>
            <a:srgbClr val="121614"/>
          </a:solidFill>
          <a:ln w="12700">
            <a:solidFill>
              <a:srgbClr val="121614"/>
            </a:solidFill>
            <a:prstDash val="solid"/>
          </a:ln>
        </p:spPr>
      </p:sp>
      <p:sp>
        <p:nvSpPr>
          <p:cNvPr id="5" name="codigo"/>
          <p:cNvSpPr txBox="1"/>
          <p:nvPr/>
        </p:nvSpPr>
        <p:spPr>
          <a:xfrm>
            <a:off x="777240" y="2331720"/>
            <a:ext cx="10637215" cy="3108960"/>
          </a:xfrm>
          <a:prstGeom prst="rect">
            <a:avLst/>
          </a:prstGeom>
          <a:noFill/>
          <a:ln/>
        </p:spPr>
        <p:txBody>
          <a:bodyPr wrap="square" lIns="0" tIns="0" rIns="0" bIns="0" rtlCol="0" anchor="t"/>
          <a:lstStyle/>
          <a:p>
            <a:pPr indent="0" marL="0">
              <a:buNone/>
            </a:pPr>
            <a:r>
              <a:rPr lang="en-US" sz="1800" dirty="0">
                <a:solidFill>
                  <a:srgbClr val="E8EDE9"/>
                </a:solidFill>
                <a:latin typeface="Courier New" pitchFamily="34" charset="0"/>
                <a:ea typeface="Courier New" pitchFamily="34" charset="-122"/>
                <a:cs typeface="Courier New" pitchFamily="34" charset="-120"/>
              </a:rPr>
              <a:t>"hooks": {</a:t>
            </a:r>
            <a:endParaRPr lang="en-US" sz="1800" dirty="0"/>
          </a:p>
          <a:p>
            <a:pPr indent="0" marL="0">
              <a:buNone/>
            </a:pPr>
            <a:r>
              <a:rPr lang="en-US" sz="1800" dirty="0">
                <a:solidFill>
                  <a:srgbClr val="E8EDE9"/>
                </a:solidFill>
                <a:latin typeface="Courier New" pitchFamily="34" charset="0"/>
                <a:ea typeface="Courier New" pitchFamily="34" charset="-122"/>
                <a:cs typeface="Courier New" pitchFamily="34" charset="-120"/>
              </a:rPr>
              <a:t>  "SubagentStop": [{ "hooks": [{</a:t>
            </a:r>
            <a:endParaRPr lang="en-US" sz="1800" dirty="0"/>
          </a:p>
          <a:p>
            <a:pPr indent="0" marL="0">
              <a:buNone/>
            </a:pPr>
            <a:r>
              <a:rPr lang="en-US" sz="1800" dirty="0">
                <a:solidFill>
                  <a:srgbClr val="E8EDE9"/>
                </a:solidFill>
                <a:latin typeface="Courier New" pitchFamily="34" charset="0"/>
                <a:ea typeface="Courier New" pitchFamily="34" charset="-122"/>
                <a:cs typeface="Courier New" pitchFamily="34" charset="-120"/>
              </a:rPr>
              <a:t>    "type": "command",</a:t>
            </a:r>
            <a:endParaRPr lang="en-US" sz="1800" dirty="0"/>
          </a:p>
          <a:p>
            <a:pPr indent="0" marL="0">
              <a:buNone/>
            </a:pPr>
            <a:r>
              <a:rPr lang="en-US" sz="1800" dirty="0">
                <a:solidFill>
                  <a:srgbClr val="E8EDE9"/>
                </a:solidFill>
                <a:latin typeface="Courier New" pitchFamily="34" charset="0"/>
                <a:ea typeface="Courier New" pitchFamily="34" charset="-122"/>
                <a:cs typeface="Courier New" pitchFamily="34" charset="-120"/>
              </a:rPr>
              <a:t>    "command": "node tools/workshop/hooks/subagent-stop.mjs"</a:t>
            </a:r>
            <a:endParaRPr lang="en-US" sz="1800" dirty="0"/>
          </a:p>
          <a:p>
            <a:pPr indent="0" marL="0">
              <a:buNone/>
            </a:pPr>
            <a:r>
              <a:rPr lang="en-US" sz="1800" dirty="0">
                <a:solidFill>
                  <a:srgbClr val="E8EDE9"/>
                </a:solidFill>
                <a:latin typeface="Courier New" pitchFamily="34" charset="0"/>
                <a:ea typeface="Courier New" pitchFamily="34" charset="-122"/>
                <a:cs typeface="Courier New" pitchFamily="34" charset="-120"/>
              </a:rPr>
              <a:t>  }]}]</a:t>
            </a:r>
            <a:endParaRPr lang="en-US" sz="1800" dirty="0"/>
          </a:p>
          <a:p>
            <a:pPr indent="0" marL="0">
              <a:buNone/>
            </a:pPr>
            <a:r>
              <a:rPr lang="en-US" sz="1800" dirty="0">
                <a:solidFill>
                  <a:srgbClr val="E8EDE9"/>
                </a:solidFill>
                <a:latin typeface="Courier New" pitchFamily="34" charset="0"/>
                <a:ea typeface="Courier New" pitchFamily="34" charset="-122"/>
                <a:cs typeface="Courier New" pitchFamily="34" charset="-120"/>
              </a:rPr>
              <a:t>},</a:t>
            </a:r>
            <a:endParaRPr lang="en-US" sz="1800" dirty="0"/>
          </a:p>
          <a:p>
            <a:pPr indent="0" marL="0">
              <a:buNone/>
            </a:pPr>
            <a:r>
              <a:rPr lang="en-US" sz="1800" dirty="0">
                <a:solidFill>
                  <a:srgbClr val="E8EDE9"/>
                </a:solidFill>
                <a:latin typeface="Courier New" pitchFamily="34" charset="0"/>
                <a:ea typeface="Courier New" pitchFamily="34" charset="-122"/>
                <a:cs typeface="Courier New" pitchFamily="34" charset="-120"/>
              </a:rPr>
              <a:t>"statusLine": {</a:t>
            </a:r>
            <a:endParaRPr lang="en-US" sz="1800" dirty="0"/>
          </a:p>
          <a:p>
            <a:pPr indent="0" marL="0">
              <a:buNone/>
            </a:pPr>
            <a:r>
              <a:rPr lang="en-US" sz="1800" dirty="0">
                <a:solidFill>
                  <a:srgbClr val="E8EDE9"/>
                </a:solidFill>
                <a:latin typeface="Courier New" pitchFamily="34" charset="0"/>
                <a:ea typeface="Courier New" pitchFamily="34" charset="-122"/>
                <a:cs typeface="Courier New" pitchFamily="34" charset="-120"/>
              </a:rPr>
              <a:t>  "type": "command",</a:t>
            </a:r>
            <a:endParaRPr lang="en-US" sz="1800" dirty="0"/>
          </a:p>
          <a:p>
            <a:pPr indent="0" marL="0">
              <a:buNone/>
            </a:pPr>
            <a:r>
              <a:rPr lang="en-US" sz="1800" dirty="0">
                <a:solidFill>
                  <a:srgbClr val="E8EDE9"/>
                </a:solidFill>
                <a:latin typeface="Courier New" pitchFamily="34" charset="0"/>
                <a:ea typeface="Courier New" pitchFamily="34" charset="-122"/>
                <a:cs typeface="Courier New" pitchFamily="34" charset="-120"/>
              </a:rPr>
              <a:t>  "command": "node tools/workshop/statusline/statusline.mjs"</a:t>
            </a:r>
            <a:endParaRPr lang="en-US" sz="1800" dirty="0"/>
          </a:p>
          <a:p>
            <a:pPr indent="0" marL="0">
              <a:buNone/>
            </a:pPr>
            <a:r>
              <a:rPr lang="en-US" sz="1800" dirty="0">
                <a:solidFill>
                  <a:srgbClr val="E8EDE9"/>
                </a:solidFill>
                <a:latin typeface="Courier New" pitchFamily="34" charset="0"/>
                <a:ea typeface="Courier New" pitchFamily="34" charset="-122"/>
                <a:cs typeface="Courier New" pitchFamily="34" charset="-120"/>
              </a:rPr>
              <a:t>}</a:t>
            </a:r>
            <a:endParaRPr lang="en-US" sz="1800" dirty="0"/>
          </a:p>
        </p:txBody>
      </p:sp>
      <p:sp>
        <p:nvSpPr>
          <p:cNvPr id="6" name="depois"/>
          <p:cNvSpPr txBox="1"/>
          <p:nvPr/>
        </p:nvSpPr>
        <p:spPr>
          <a:xfrm>
            <a:off x="548640" y="5760720"/>
            <a:ext cx="11094415" cy="502920"/>
          </a:xfrm>
          <a:prstGeom prst="rect">
            <a:avLst/>
          </a:prstGeom>
          <a:noFill/>
          <a:ln/>
        </p:spPr>
        <p:txBody>
          <a:bodyPr wrap="square" lIns="0" tIns="0" rIns="0" bIns="0" rtlCol="0" anchor="t"/>
          <a:lstStyle/>
          <a:p>
            <a:pPr indent="0" marL="0">
              <a:buNone/>
            </a:pPr>
            <a:r>
              <a:rPr lang="en-US" sz="1500" dirty="0">
                <a:solidFill>
                  <a:srgbClr val="545C57"/>
                </a:solidFill>
                <a:latin typeface="Arial" pitchFamily="34" charset="0"/>
                <a:ea typeface="Arial" pitchFamily="34" charset="-122"/>
                <a:cs typeface="Arial" pitchFamily="34" charset="-120"/>
              </a:rPr>
              <a:t>The Arena .claude/settings.json. The Claude Code /usage gives another estimate; /demo-cost uses the published prices.</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45C57"/>
                </a:solidFill>
                <a:latin typeface="Arial"/>
                <a:ea typeface="Arial"/>
                <a:cs typeface="Aria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faca-rotulo"/>
          <p:cNvSpPr txBox="1"/>
          <p:nvPr/>
        </p:nvSpPr>
        <p:spPr>
          <a:xfrm>
            <a:off x="548640" y="411480"/>
            <a:ext cx="5486400" cy="411480"/>
          </a:xfrm>
          <a:prstGeom prst="rect">
            <a:avLst/>
          </a:prstGeom>
          <a:noFill/>
          <a:ln/>
        </p:spPr>
        <p:txBody>
          <a:bodyPr wrap="square" lIns="0" tIns="0" rIns="0" bIns="0" rtlCol="0" anchor="t"/>
          <a:lstStyle/>
          <a:p>
            <a:pPr indent="0" marL="0">
              <a:buNone/>
            </a:pPr>
            <a:r>
              <a:rPr lang="en-US" sz="2000" b="1" dirty="0">
                <a:solidFill>
                  <a:srgbClr val="121614"/>
                </a:solidFill>
                <a:latin typeface="Bricolage Grotesque" pitchFamily="34" charset="0"/>
                <a:ea typeface="Bricolage Grotesque" pitchFamily="34" charset="-122"/>
                <a:cs typeface="Bricolage Grotesque" pitchFamily="34" charset="-120"/>
              </a:rPr>
              <a:t>Do it now · 3 min</a:t>
            </a:r>
            <a:endParaRPr lang="en-US" sz="2000" dirty="0"/>
          </a:p>
        </p:txBody>
      </p:sp>
      <p:sp>
        <p:nvSpPr>
          <p:cNvPr id="3" name="Text 0"/>
          <p:cNvSpPr/>
          <p:nvPr>
            <p:ph idx="100" type="title" hasCustomPrompt="1"/>
          </p:nvPr>
        </p:nvSpPr>
        <p:spPr>
          <a:xfrm>
            <a:off x="548640" y="868680"/>
            <a:ext cx="11094415" cy="868680"/>
          </a:xfrm>
          <a:prstGeom prst="rect">
            <a:avLst/>
          </a:prstGeom>
          <a:noFill/>
          <a:ln/>
        </p:spPr>
        <p:txBody>
          <a:bodyPr wrap="square" lIns="0" tIns="0" rIns="0" bIns="0" rtlCol="0" anchor="t"/>
          <a:lstStyle/>
          <a:p>
            <a:pPr algn="l" indent="0" marL="0">
              <a:buNone/>
            </a:pPr>
            <a:r>
              <a:rPr lang="en-US" sz="3800" b="1" dirty="0">
                <a:solidFill>
                  <a:srgbClr val="121614"/>
                </a:solidFill>
                <a:latin typeface="Bricolage Grotesque" pitchFamily="34" charset="0"/>
                <a:ea typeface="Bricolage Grotesque" pitchFamily="34" charset="-122"/>
                <a:cs typeface="Bricolage Grotesque" pitchFamily="34" charset="-120"/>
              </a:rPr>
              <a:t>In Terminal 2: three features</a:t>
            </a:r>
            <a:endParaRPr lang="en-US" sz="3800" dirty="0"/>
          </a:p>
        </p:txBody>
      </p:sp>
      <p:sp>
        <p:nvSpPr>
          <p:cNvPr id="4" name="faca-passos"/>
          <p:cNvSpPr txBox="1"/>
          <p:nvPr/>
        </p:nvSpPr>
        <p:spPr>
          <a:xfrm>
            <a:off x="548640" y="1920240"/>
            <a:ext cx="4023360" cy="329184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21614"/>
                </a:solidFill>
                <a:latin typeface="Arial" pitchFamily="34" charset="0"/>
                <a:ea typeface="Arial" pitchFamily="34" charset="-122"/>
                <a:cs typeface="Arial" pitchFamily="34" charset="-120"/>
              </a:rPr>
              <a:t>Plan mode: Shift+Tab until "plan mode"</a:t>
            </a:r>
            <a:endParaRPr lang="en-US" sz="2000" dirty="0"/>
          </a:p>
          <a:p>
            <a:pPr marL="342900" indent="-342900">
              <a:spcAft>
                <a:spcPts val="1200"/>
              </a:spcAft>
              <a:buSzPct val="100000"/>
              <a:buFont typeface="+mj-lt"/>
              <a:buAutoNum type="arabicPeriod" startAt="1"/>
            </a:pPr>
            <a:r>
              <a:rPr lang="en-US" sz="2000" dirty="0">
                <a:solidFill>
                  <a:srgbClr val="121614"/>
                </a:solidFill>
                <a:latin typeface="Arial" pitchFamily="34" charset="0"/>
                <a:ea typeface="Arial" pitchFamily="34" charset="-122"/>
                <a:cs typeface="Arial" pitchFamily="34" charset="-120"/>
              </a:rPr>
              <a:t>Headless: a question without opening a session</a:t>
            </a:r>
            <a:endParaRPr lang="en-US" sz="2000" dirty="0"/>
          </a:p>
          <a:p>
            <a:pPr marL="342900" indent="-342900">
              <a:spcAft>
                <a:spcPts val="1200"/>
              </a:spcAft>
              <a:buSzPct val="100000"/>
              <a:buFont typeface="+mj-lt"/>
              <a:buAutoNum type="arabicPeriod" startAt="1"/>
            </a:pPr>
            <a:r>
              <a:rPr lang="en-US" sz="2000" dirty="0">
                <a:solidFill>
                  <a:srgbClr val="121614"/>
                </a:solidFill>
                <a:latin typeface="Arial" pitchFamily="34" charset="0"/>
                <a:ea typeface="Arial" pitchFamily="34" charset="-122"/>
                <a:cs typeface="Arial" pitchFamily="34" charset="-120"/>
              </a:rPr>
              <a:t>Rewind: Esc Esc to go back</a:t>
            </a:r>
            <a:endParaRPr lang="en-US" sz="2000" dirty="0"/>
          </a:p>
        </p:txBody>
      </p:sp>
      <p:sp>
        <p:nvSpPr>
          <p:cNvPr id="5" name="codigo-fundo"/>
          <p:cNvSpPr/>
          <p:nvPr/>
        </p:nvSpPr>
        <p:spPr>
          <a:xfrm>
            <a:off x="4937760" y="1920240"/>
            <a:ext cx="6705295" cy="1288390"/>
          </a:xfrm>
          <a:prstGeom prst="rect">
            <a:avLst/>
          </a:prstGeom>
          <a:solidFill>
            <a:srgbClr val="121614"/>
          </a:solidFill>
          <a:ln w="12700">
            <a:solidFill>
              <a:srgbClr val="121614"/>
            </a:solidFill>
            <a:prstDash val="solid"/>
          </a:ln>
        </p:spPr>
      </p:sp>
      <p:sp>
        <p:nvSpPr>
          <p:cNvPr id="6" name="codigo-rotulo"/>
          <p:cNvSpPr txBox="1"/>
          <p:nvPr/>
        </p:nvSpPr>
        <p:spPr>
          <a:xfrm>
            <a:off x="5166360" y="2103120"/>
            <a:ext cx="6248095" cy="274320"/>
          </a:xfrm>
          <a:prstGeom prst="rect">
            <a:avLst/>
          </a:prstGeom>
          <a:noFill/>
          <a:ln/>
        </p:spPr>
        <p:txBody>
          <a:bodyPr wrap="square" lIns="0" tIns="0" rIns="0" bIns="0" rtlCol="0" anchor="t"/>
          <a:lstStyle/>
          <a:p>
            <a:pPr indent="0" marL="0">
              <a:buNone/>
            </a:pPr>
            <a:r>
              <a:rPr lang="en-US" sz="1300" b="1" dirty="0">
                <a:solidFill>
                  <a:srgbClr val="F1C232"/>
                </a:solidFill>
                <a:latin typeface="Arial" pitchFamily="34" charset="0"/>
                <a:ea typeface="Arial" pitchFamily="34" charset="-122"/>
                <a:cs typeface="Arial" pitchFamily="34" charset="-120"/>
              </a:rPr>
              <a:t>Plan mode</a:t>
            </a:r>
            <a:endParaRPr lang="en-US" sz="1300" dirty="0"/>
          </a:p>
        </p:txBody>
      </p:sp>
      <p:sp>
        <p:nvSpPr>
          <p:cNvPr id="7" name="codigo"/>
          <p:cNvSpPr txBox="1"/>
          <p:nvPr/>
        </p:nvSpPr>
        <p:spPr>
          <a:xfrm>
            <a:off x="5166360" y="2450592"/>
            <a:ext cx="6248095" cy="620878"/>
          </a:xfrm>
          <a:prstGeom prst="rect">
            <a:avLst/>
          </a:prstGeom>
          <a:noFill/>
          <a:ln/>
        </p:spPr>
        <p:txBody>
          <a:bodyPr wrap="square" lIns="0" tIns="0" rIns="0" bIns="0" rtlCol="0" anchor="t"/>
          <a:lstStyle/>
          <a:p>
            <a:pPr indent="0" marL="0">
              <a:buNone/>
            </a:pPr>
            <a:r>
              <a:rPr lang="en-US" sz="1700" dirty="0">
                <a:solidFill>
                  <a:srgbClr val="E8EDE9"/>
                </a:solidFill>
                <a:latin typeface="Courier New" pitchFamily="34" charset="0"/>
                <a:ea typeface="Courier New" pitchFamily="34" charset="-122"/>
                <a:cs typeface="Courier New" pitchFamily="34" charset="-120"/>
              </a:rPr>
              <a:t>claude</a:t>
            </a:r>
            <a:endParaRPr lang="en-US" sz="1700" dirty="0"/>
          </a:p>
          <a:p>
            <a:pPr indent="0" marL="0">
              <a:buNone/>
            </a:pPr>
            <a:r>
              <a:rPr lang="en-US" sz="1700" dirty="0">
                <a:solidFill>
                  <a:srgbClr val="E8EDE9"/>
                </a:solidFill>
                <a:latin typeface="Courier New" pitchFamily="34" charset="0"/>
                <a:ea typeface="Courier New" pitchFamily="34" charset="-122"/>
                <a:cs typeface="Courier New" pitchFamily="34" charset="-120"/>
              </a:rPr>
              <a:t>(Shift+Tab) How would you add an 11th category?</a:t>
            </a:r>
            <a:endParaRPr lang="en-US" sz="1700" dirty="0"/>
          </a:p>
        </p:txBody>
      </p:sp>
      <p:sp>
        <p:nvSpPr>
          <p:cNvPr id="8" name="codigo-fundo"/>
          <p:cNvSpPr/>
          <p:nvPr/>
        </p:nvSpPr>
        <p:spPr>
          <a:xfrm>
            <a:off x="4937760" y="3437230"/>
            <a:ext cx="6705295" cy="1186891"/>
          </a:xfrm>
          <a:prstGeom prst="rect">
            <a:avLst/>
          </a:prstGeom>
          <a:solidFill>
            <a:srgbClr val="121614"/>
          </a:solidFill>
          <a:ln w="12700">
            <a:solidFill>
              <a:srgbClr val="121614"/>
            </a:solidFill>
            <a:prstDash val="solid"/>
          </a:ln>
        </p:spPr>
      </p:sp>
      <p:sp>
        <p:nvSpPr>
          <p:cNvPr id="9" name="codigo-rotulo"/>
          <p:cNvSpPr txBox="1"/>
          <p:nvPr/>
        </p:nvSpPr>
        <p:spPr>
          <a:xfrm>
            <a:off x="5166360" y="3620110"/>
            <a:ext cx="6248095" cy="274320"/>
          </a:xfrm>
          <a:prstGeom prst="rect">
            <a:avLst/>
          </a:prstGeom>
          <a:noFill/>
          <a:ln/>
        </p:spPr>
        <p:txBody>
          <a:bodyPr wrap="square" lIns="0" tIns="0" rIns="0" bIns="0" rtlCol="0" anchor="t"/>
          <a:lstStyle/>
          <a:p>
            <a:pPr indent="0" marL="0">
              <a:buNone/>
            </a:pPr>
            <a:r>
              <a:rPr lang="en-US" sz="1300" b="1" dirty="0">
                <a:solidFill>
                  <a:srgbClr val="F1C232"/>
                </a:solidFill>
                <a:latin typeface="Arial" pitchFamily="34" charset="0"/>
                <a:ea typeface="Arial" pitchFamily="34" charset="-122"/>
                <a:cs typeface="Arial" pitchFamily="34" charset="-120"/>
              </a:rPr>
              <a:t>Headless</a:t>
            </a:r>
            <a:endParaRPr lang="en-US" sz="1300" dirty="0"/>
          </a:p>
        </p:txBody>
      </p:sp>
      <p:sp>
        <p:nvSpPr>
          <p:cNvPr id="10" name="codigo"/>
          <p:cNvSpPr txBox="1"/>
          <p:nvPr/>
        </p:nvSpPr>
        <p:spPr>
          <a:xfrm>
            <a:off x="5166360" y="3967582"/>
            <a:ext cx="6248095" cy="519379"/>
          </a:xfrm>
          <a:prstGeom prst="rect">
            <a:avLst/>
          </a:prstGeom>
          <a:noFill/>
          <a:ln/>
        </p:spPr>
        <p:txBody>
          <a:bodyPr wrap="square" lIns="0" tIns="0" rIns="0" bIns="0" rtlCol="0" anchor="t"/>
          <a:lstStyle/>
          <a:p>
            <a:pPr indent="0" marL="0">
              <a:buNone/>
            </a:pPr>
            <a:r>
              <a:rPr lang="en-US" sz="1400" dirty="0">
                <a:solidFill>
                  <a:srgbClr val="E8EDE9"/>
                </a:solidFill>
                <a:latin typeface="Courier New" pitchFamily="34" charset="0"/>
                <a:ea typeface="Courier New" pitchFamily="34" charset="-122"/>
                <a:cs typeface="Courier New" pitchFamily="34" charset="-120"/>
              </a:rPr>
              <a:t>claude -p "Summarise PLANO.md in one sentence" --model claude-haiku-5-5</a:t>
            </a:r>
            <a:endParaRPr lang="en-US" sz="1400" dirty="0"/>
          </a:p>
        </p:txBody>
      </p:sp>
      <p:sp>
        <p:nvSpPr>
          <p:cNvPr id="11" name="esperado-marca"/>
          <p:cNvSpPr/>
          <p:nvPr/>
        </p:nvSpPr>
        <p:spPr>
          <a:xfrm>
            <a:off x="548640" y="5650992"/>
            <a:ext cx="292608" cy="292608"/>
          </a:xfrm>
          <a:prstGeom prst="rect">
            <a:avLst/>
          </a:prstGeom>
          <a:solidFill>
            <a:srgbClr val="1E9E57"/>
          </a:solidFill>
          <a:ln w="12700">
            <a:solidFill>
              <a:srgbClr val="1E9E57"/>
            </a:solidFill>
            <a:prstDash val="solid"/>
          </a:ln>
        </p:spPr>
      </p:sp>
      <p:sp>
        <p:nvSpPr>
          <p:cNvPr id="12" name="faca-esperado"/>
          <p:cNvSpPr txBox="1"/>
          <p:nvPr/>
        </p:nvSpPr>
        <p:spPr>
          <a:xfrm>
            <a:off x="1005840" y="5596128"/>
            <a:ext cx="9814255" cy="548640"/>
          </a:xfrm>
          <a:prstGeom prst="rect">
            <a:avLst/>
          </a:prstGeom>
          <a:noFill/>
          <a:ln/>
        </p:spPr>
        <p:txBody>
          <a:bodyPr wrap="square" lIns="0" tIns="0" rIns="0" bIns="0" rtlCol="0" anchor="t"/>
          <a:lstStyle/>
          <a:p>
            <a:pPr indent="0" marL="0">
              <a:buNone/>
            </a:pPr>
            <a:r>
              <a:rPr lang="en-US" sz="1800" b="1" dirty="0">
                <a:solidFill>
                  <a:srgbClr val="121614"/>
                </a:solidFill>
                <a:latin typeface="Arial" pitchFamily="34" charset="0"/>
                <a:ea typeface="Arial" pitchFamily="34" charset="-122"/>
                <a:cs typeface="Arial" pitchFamily="34" charset="-120"/>
              </a:rPr>
              <a:t>Expected result: </a:t>
            </a:r>
            <a:pPr indent="0" marL="0">
              <a:buNone/>
            </a:pPr>
            <a:r>
              <a:rPr lang="en-US" sz="1800" dirty="0">
                <a:solidFill>
                  <a:srgbClr val="121614"/>
                </a:solidFill>
                <a:latin typeface="Arial" pitchFamily="34" charset="0"/>
                <a:ea typeface="Arial" pitchFamily="34" charset="-122"/>
                <a:cs typeface="Arial" pitchFamily="34" charset="-120"/>
              </a:rPr>
              <a:t>No changes made, one sentence in the terminal and a checkpoint to rewind to</a:t>
            </a:r>
            <a:endParaRPr lang="en-US" sz="18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121614"/>
                </a:solidFill>
                <a:latin typeface="Arial"/>
                <a:ea typeface="Arial"/>
                <a:cs typeface="Aria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914400"/>
          </a:xfrm>
          <a:prstGeom prst="rect">
            <a:avLst/>
          </a:prstGeom>
          <a:noFill/>
          <a:ln/>
        </p:spPr>
        <p:txBody>
          <a:bodyPr wrap="square" lIns="0" tIns="0" rIns="0" bIns="0" rtlCol="0" anchor="t"/>
          <a:lstStyle/>
          <a:p>
            <a:pPr algn="l" indent="0" marL="0">
              <a:buNone/>
            </a:pPr>
            <a:r>
              <a:rPr lang="en-US" sz="3600" b="1" dirty="0">
                <a:solidFill>
                  <a:srgbClr val="121614"/>
                </a:solidFill>
                <a:latin typeface="Bricolage Grotesque" pitchFamily="34" charset="0"/>
                <a:ea typeface="Bricolage Grotesque" pitchFamily="34" charset="-122"/>
                <a:cs typeface="Bricolage Grotesque" pitchFamily="34" charset="-120"/>
              </a:rPr>
              <a:t>Worktrees and routines</a:t>
            </a:r>
            <a:endParaRPr lang="en-US" sz="3600" dirty="0"/>
          </a:p>
        </p:txBody>
      </p:sp>
      <p:sp>
        <p:nvSpPr>
          <p:cNvPr id="3" name="coluna-0"/>
          <p:cNvSpPr/>
          <p:nvPr/>
        </p:nvSpPr>
        <p:spPr>
          <a:xfrm>
            <a:off x="548640" y="1691640"/>
            <a:ext cx="3484778" cy="3566160"/>
          </a:xfrm>
          <a:prstGeom prst="rect">
            <a:avLst/>
          </a:prstGeom>
          <a:solidFill>
            <a:srgbClr val="E6E6E1"/>
          </a:solidFill>
          <a:ln w="12700">
            <a:solidFill>
              <a:srgbClr val="E6E6E1"/>
            </a:solidFill>
            <a:prstDash val="solid"/>
          </a:ln>
        </p:spPr>
      </p:sp>
      <p:sp>
        <p:nvSpPr>
          <p:cNvPr id="4" name="marca-0"/>
          <p:cNvSpPr/>
          <p:nvPr/>
        </p:nvSpPr>
        <p:spPr>
          <a:xfrm>
            <a:off x="868680" y="2011680"/>
            <a:ext cx="384048" cy="384048"/>
          </a:xfrm>
          <a:prstGeom prst="rect">
            <a:avLst/>
          </a:prstGeom>
          <a:solidFill>
            <a:srgbClr val="1E9E57"/>
          </a:solidFill>
          <a:ln w="12700">
            <a:solidFill>
              <a:srgbClr val="1E9E57"/>
            </a:solidFill>
            <a:prstDash val="solid"/>
          </a:ln>
        </p:spPr>
      </p:sp>
      <p:sp>
        <p:nvSpPr>
          <p:cNvPr id="5" name="coluna-titulo-0"/>
          <p:cNvSpPr txBox="1"/>
          <p:nvPr/>
        </p:nvSpPr>
        <p:spPr>
          <a:xfrm>
            <a:off x="868680" y="2697480"/>
            <a:ext cx="2844698" cy="914400"/>
          </a:xfrm>
          <a:prstGeom prst="rect">
            <a:avLst/>
          </a:prstGeom>
          <a:noFill/>
          <a:ln/>
        </p:spPr>
        <p:txBody>
          <a:bodyPr wrap="square" lIns="0" tIns="0" rIns="0" bIns="0" rtlCol="0" anchor="t"/>
          <a:lstStyle/>
          <a:p>
            <a:pPr indent="0" marL="0">
              <a:buNone/>
            </a:pPr>
            <a:r>
              <a:rPr lang="en-US" sz="2600" b="1" dirty="0">
                <a:solidFill>
                  <a:srgbClr val="121614"/>
                </a:solidFill>
                <a:latin typeface="Bricolage Grotesque" pitchFamily="34" charset="0"/>
                <a:ea typeface="Bricolage Grotesque" pitchFamily="34" charset="-122"/>
                <a:cs typeface="Bricolage Grotesque" pitchFamily="34" charset="-120"/>
              </a:rPr>
              <a:t>claude -w experiment</a:t>
            </a:r>
            <a:endParaRPr lang="en-US" sz="2600" dirty="0"/>
          </a:p>
        </p:txBody>
      </p:sp>
      <p:sp>
        <p:nvSpPr>
          <p:cNvPr id="6" name="coluna-texto-0"/>
          <p:cNvSpPr txBox="1"/>
          <p:nvPr/>
        </p:nvSpPr>
        <p:spPr>
          <a:xfrm>
            <a:off x="868680" y="3657600"/>
            <a:ext cx="2844698" cy="1463040"/>
          </a:xfrm>
          <a:prstGeom prst="rect">
            <a:avLst/>
          </a:prstGeom>
          <a:noFill/>
          <a:ln/>
        </p:spPr>
        <p:txBody>
          <a:bodyPr wrap="square" lIns="0" tIns="0" rIns="0" bIns="0" rtlCol="0" anchor="t"/>
          <a:lstStyle/>
          <a:p>
            <a:pPr indent="0" marL="0">
              <a:buNone/>
            </a:pPr>
            <a:r>
              <a:rPr lang="en-US" sz="2000" dirty="0">
                <a:solidFill>
                  <a:srgbClr val="121614"/>
                </a:solidFill>
                <a:latin typeface="Arial" pitchFamily="34" charset="0"/>
                <a:ea typeface="Arial" pitchFamily="34" charset="-122"/>
                <a:cs typeface="Arial" pitchFamily="34" charset="-120"/>
              </a:rPr>
              <a:t>an isolated copy of the repository, on its own branch, to work in parallel</a:t>
            </a:r>
            <a:endParaRPr lang="en-US" sz="2000" dirty="0"/>
          </a:p>
        </p:txBody>
      </p:sp>
      <p:sp>
        <p:nvSpPr>
          <p:cNvPr id="7" name="coluna-1"/>
          <p:cNvSpPr/>
          <p:nvPr/>
        </p:nvSpPr>
        <p:spPr>
          <a:xfrm>
            <a:off x="4353458" y="1691640"/>
            <a:ext cx="3484778" cy="3566160"/>
          </a:xfrm>
          <a:prstGeom prst="rect">
            <a:avLst/>
          </a:prstGeom>
          <a:solidFill>
            <a:srgbClr val="E6E6E1"/>
          </a:solidFill>
          <a:ln w="12700">
            <a:solidFill>
              <a:srgbClr val="E6E6E1"/>
            </a:solidFill>
            <a:prstDash val="solid"/>
          </a:ln>
        </p:spPr>
      </p:sp>
      <p:sp>
        <p:nvSpPr>
          <p:cNvPr id="8" name="marca-1"/>
          <p:cNvSpPr/>
          <p:nvPr/>
        </p:nvSpPr>
        <p:spPr>
          <a:xfrm>
            <a:off x="4673498" y="2011680"/>
            <a:ext cx="384048" cy="384048"/>
          </a:xfrm>
          <a:prstGeom prst="rect">
            <a:avLst/>
          </a:prstGeom>
          <a:solidFill>
            <a:srgbClr val="1A4BE0"/>
          </a:solidFill>
          <a:ln w="12700">
            <a:solidFill>
              <a:srgbClr val="1A4BE0"/>
            </a:solidFill>
            <a:prstDash val="solid"/>
          </a:ln>
        </p:spPr>
      </p:sp>
      <p:sp>
        <p:nvSpPr>
          <p:cNvPr id="9" name="coluna-titulo-1"/>
          <p:cNvSpPr txBox="1"/>
          <p:nvPr/>
        </p:nvSpPr>
        <p:spPr>
          <a:xfrm>
            <a:off x="4673498" y="2697480"/>
            <a:ext cx="2844698" cy="914400"/>
          </a:xfrm>
          <a:prstGeom prst="rect">
            <a:avLst/>
          </a:prstGeom>
          <a:noFill/>
          <a:ln/>
        </p:spPr>
        <p:txBody>
          <a:bodyPr wrap="square" lIns="0" tIns="0" rIns="0" bIns="0" rtlCol="0" anchor="t"/>
          <a:lstStyle/>
          <a:p>
            <a:pPr indent="0" marL="0">
              <a:buNone/>
            </a:pPr>
            <a:r>
              <a:rPr lang="en-US" sz="2600" b="1" dirty="0">
                <a:solidFill>
                  <a:srgbClr val="121614"/>
                </a:solidFill>
                <a:latin typeface="Bricolage Grotesque" pitchFamily="34" charset="0"/>
                <a:ea typeface="Bricolage Grotesque" pitchFamily="34" charset="-122"/>
                <a:cs typeface="Bricolage Grotesque" pitchFamily="34" charset="-120"/>
              </a:rPr>
              <a:t>isolation: worktree</a:t>
            </a:r>
            <a:endParaRPr lang="en-US" sz="2600" dirty="0"/>
          </a:p>
        </p:txBody>
      </p:sp>
      <p:sp>
        <p:nvSpPr>
          <p:cNvPr id="10" name="coluna-texto-1"/>
          <p:cNvSpPr txBox="1"/>
          <p:nvPr/>
        </p:nvSpPr>
        <p:spPr>
          <a:xfrm>
            <a:off x="4673498" y="3657600"/>
            <a:ext cx="2844698" cy="1463040"/>
          </a:xfrm>
          <a:prstGeom prst="rect">
            <a:avLst/>
          </a:prstGeom>
          <a:noFill/>
          <a:ln/>
        </p:spPr>
        <p:txBody>
          <a:bodyPr wrap="square" lIns="0" tIns="0" rIns="0" bIns="0" rtlCol="0" anchor="t"/>
          <a:lstStyle/>
          <a:p>
            <a:pPr indent="0" marL="0">
              <a:buNone/>
            </a:pPr>
            <a:r>
              <a:rPr lang="en-US" sz="2000" dirty="0">
                <a:solidFill>
                  <a:srgbClr val="121614"/>
                </a:solidFill>
                <a:latin typeface="Arial" pitchFamily="34" charset="0"/>
                <a:ea typeface="Arial" pitchFamily="34" charset="-122"/>
                <a:cs typeface="Arial" pitchFamily="34" charset="-120"/>
              </a:rPr>
              <a:t>a subagent in its own worktree, when the tasks touch the same files</a:t>
            </a:r>
            <a:endParaRPr lang="en-US" sz="2000" dirty="0"/>
          </a:p>
        </p:txBody>
      </p:sp>
      <p:sp>
        <p:nvSpPr>
          <p:cNvPr id="11" name="coluna-2"/>
          <p:cNvSpPr/>
          <p:nvPr/>
        </p:nvSpPr>
        <p:spPr>
          <a:xfrm>
            <a:off x="8158277" y="1691640"/>
            <a:ext cx="3484778" cy="3566160"/>
          </a:xfrm>
          <a:prstGeom prst="rect">
            <a:avLst/>
          </a:prstGeom>
          <a:solidFill>
            <a:srgbClr val="E6E6E1"/>
          </a:solidFill>
          <a:ln w="12700">
            <a:solidFill>
              <a:srgbClr val="E6E6E1"/>
            </a:solidFill>
            <a:prstDash val="solid"/>
          </a:ln>
        </p:spPr>
      </p:sp>
      <p:sp>
        <p:nvSpPr>
          <p:cNvPr id="12" name="marca-2"/>
          <p:cNvSpPr/>
          <p:nvPr/>
        </p:nvSpPr>
        <p:spPr>
          <a:xfrm>
            <a:off x="8478317" y="2011680"/>
            <a:ext cx="384048" cy="384048"/>
          </a:xfrm>
          <a:prstGeom prst="rect">
            <a:avLst/>
          </a:prstGeom>
          <a:solidFill>
            <a:srgbClr val="F1C232"/>
          </a:solidFill>
          <a:ln w="12700">
            <a:solidFill>
              <a:srgbClr val="F1C232"/>
            </a:solidFill>
            <a:prstDash val="solid"/>
          </a:ln>
        </p:spPr>
      </p:sp>
      <p:sp>
        <p:nvSpPr>
          <p:cNvPr id="13" name="coluna-titulo-2"/>
          <p:cNvSpPr txBox="1"/>
          <p:nvPr/>
        </p:nvSpPr>
        <p:spPr>
          <a:xfrm>
            <a:off x="8478317" y="2697480"/>
            <a:ext cx="2844698" cy="914400"/>
          </a:xfrm>
          <a:prstGeom prst="rect">
            <a:avLst/>
          </a:prstGeom>
          <a:noFill/>
          <a:ln/>
        </p:spPr>
        <p:txBody>
          <a:bodyPr wrap="square" lIns="0" tIns="0" rIns="0" bIns="0" rtlCol="0" anchor="t"/>
          <a:lstStyle/>
          <a:p>
            <a:pPr indent="0" marL="0">
              <a:buNone/>
            </a:pPr>
            <a:r>
              <a:rPr lang="en-US" sz="2600" b="1" dirty="0">
                <a:solidFill>
                  <a:srgbClr val="121614"/>
                </a:solidFill>
                <a:latin typeface="Bricolage Grotesque" pitchFamily="34" charset="0"/>
                <a:ea typeface="Bricolage Grotesque" pitchFamily="34" charset="-122"/>
                <a:cs typeface="Bricolage Grotesque" pitchFamily="34" charset="-120"/>
              </a:rPr>
              <a:t>Local routine</a:t>
            </a:r>
            <a:endParaRPr lang="en-US" sz="2600" dirty="0"/>
          </a:p>
        </p:txBody>
      </p:sp>
      <p:sp>
        <p:nvSpPr>
          <p:cNvPr id="14" name="coluna-texto-2"/>
          <p:cNvSpPr txBox="1"/>
          <p:nvPr/>
        </p:nvSpPr>
        <p:spPr>
          <a:xfrm>
            <a:off x="8478317" y="3657600"/>
            <a:ext cx="2844698" cy="1463040"/>
          </a:xfrm>
          <a:prstGeom prst="rect">
            <a:avLst/>
          </a:prstGeom>
          <a:noFill/>
          <a:ln/>
        </p:spPr>
        <p:txBody>
          <a:bodyPr wrap="square" lIns="0" tIns="0" rIns="0" bIns="0" rtlCol="0" anchor="t"/>
          <a:lstStyle/>
          <a:p>
            <a:pPr indent="0" marL="0">
              <a:buNone/>
            </a:pPr>
            <a:r>
              <a:rPr lang="en-US" sz="2000" dirty="0">
                <a:solidFill>
                  <a:srgbClr val="121614"/>
                </a:solidFill>
                <a:latin typeface="Arial" pitchFamily="34" charset="0"/>
                <a:ea typeface="Arial" pitchFamily="34" charset="-122"/>
                <a:cs typeface="Arial" pitchFamily="34" charset="-120"/>
              </a:rPr>
              <a:t>the system scheduler runs claude -p every day. The cloud /schedule needs a subscription</a:t>
            </a:r>
            <a:endParaRPr lang="en-US" sz="2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45C57"/>
                </a:solidFill>
                <a:latin typeface="Arial"/>
                <a:ea typeface="Arial"/>
                <a:cs typeface="Aria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faca-rotulo"/>
          <p:cNvSpPr txBox="1"/>
          <p:nvPr/>
        </p:nvSpPr>
        <p:spPr>
          <a:xfrm>
            <a:off x="548640" y="411480"/>
            <a:ext cx="5486400" cy="411480"/>
          </a:xfrm>
          <a:prstGeom prst="rect">
            <a:avLst/>
          </a:prstGeom>
          <a:noFill/>
          <a:ln/>
        </p:spPr>
        <p:txBody>
          <a:bodyPr wrap="square" lIns="0" tIns="0" rIns="0" bIns="0" rtlCol="0" anchor="t"/>
          <a:lstStyle/>
          <a:p>
            <a:pPr indent="0" marL="0">
              <a:buNone/>
            </a:pPr>
            <a:r>
              <a:rPr lang="en-US" sz="2000" b="1" dirty="0">
                <a:solidFill>
                  <a:srgbClr val="121614"/>
                </a:solidFill>
                <a:latin typeface="Bricolage Grotesque" pitchFamily="34" charset="0"/>
                <a:ea typeface="Bricolage Grotesque" pitchFamily="34" charset="-122"/>
                <a:cs typeface="Bricolage Grotesque" pitchFamily="34" charset="-120"/>
              </a:rPr>
              <a:t>Do it now · 2 min</a:t>
            </a:r>
            <a:endParaRPr lang="en-US" sz="2000" dirty="0"/>
          </a:p>
        </p:txBody>
      </p:sp>
      <p:sp>
        <p:nvSpPr>
          <p:cNvPr id="3" name="Text 0"/>
          <p:cNvSpPr/>
          <p:nvPr>
            <p:ph idx="100" type="title" hasCustomPrompt="1"/>
          </p:nvPr>
        </p:nvSpPr>
        <p:spPr>
          <a:xfrm>
            <a:off x="548640" y="868680"/>
            <a:ext cx="11094415" cy="868680"/>
          </a:xfrm>
          <a:prstGeom prst="rect">
            <a:avLst/>
          </a:prstGeom>
          <a:noFill/>
          <a:ln/>
        </p:spPr>
        <p:txBody>
          <a:bodyPr wrap="square" lIns="0" tIns="0" rIns="0" bIns="0" rtlCol="0" anchor="t"/>
          <a:lstStyle/>
          <a:p>
            <a:pPr algn="l" indent="0" marL="0">
              <a:buNone/>
            </a:pPr>
            <a:r>
              <a:rPr lang="en-US" sz="3800" b="1" dirty="0">
                <a:solidFill>
                  <a:srgbClr val="121614"/>
                </a:solidFill>
                <a:latin typeface="Bricolage Grotesque" pitchFamily="34" charset="0"/>
                <a:ea typeface="Bricolage Grotesque" pitchFamily="34" charset="-122"/>
                <a:cs typeface="Bricolage Grotesque" pitchFamily="34" charset="-120"/>
              </a:rPr>
              <a:t>Until everything is green</a:t>
            </a:r>
            <a:endParaRPr lang="en-US" sz="3800" dirty="0"/>
          </a:p>
        </p:txBody>
      </p:sp>
      <p:sp>
        <p:nvSpPr>
          <p:cNvPr id="4" name="faca-passos"/>
          <p:cNvSpPr txBox="1"/>
          <p:nvPr/>
        </p:nvSpPr>
        <p:spPr>
          <a:xfrm>
            <a:off x="548640" y="1920240"/>
            <a:ext cx="4023360" cy="329184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21614"/>
                </a:solidFill>
                <a:latin typeface="Arial" pitchFamily="34" charset="0"/>
                <a:ea typeface="Arial" pitchFamily="34" charset="-122"/>
                <a:cs typeface="Arial" pitchFamily="34" charset="-120"/>
              </a:rPr>
              <a:t>If there are red squares at the end</a:t>
            </a:r>
            <a:endParaRPr lang="en-US" sz="2000" dirty="0"/>
          </a:p>
          <a:p>
            <a:pPr marL="342900" indent="-342900">
              <a:spcAft>
                <a:spcPts val="1200"/>
              </a:spcAft>
              <a:buSzPct val="100000"/>
              <a:buFont typeface="+mj-lt"/>
              <a:buAutoNum type="arabicPeriod" startAt="1"/>
            </a:pPr>
            <a:r>
              <a:rPr lang="en-US" sz="2000" dirty="0">
                <a:solidFill>
                  <a:srgbClr val="121614"/>
                </a:solidFill>
                <a:latin typeface="Arial" pitchFamily="34" charset="0"/>
                <a:ea typeface="Arial" pitchFamily="34" charset="-122"/>
                <a:cs typeface="Arial" pitchFamily="34" charset="-120"/>
              </a:rPr>
              <a:t>Let a /loop work for you</a:t>
            </a:r>
            <a:endParaRPr lang="en-US" sz="2000" dirty="0"/>
          </a:p>
        </p:txBody>
      </p:sp>
      <p:sp>
        <p:nvSpPr>
          <p:cNvPr id="5" name="codigo-fundo"/>
          <p:cNvSpPr/>
          <p:nvPr/>
        </p:nvSpPr>
        <p:spPr>
          <a:xfrm>
            <a:off x="4937760" y="1920240"/>
            <a:ext cx="6705295" cy="1423721"/>
          </a:xfrm>
          <a:prstGeom prst="rect">
            <a:avLst/>
          </a:prstGeom>
          <a:solidFill>
            <a:srgbClr val="121614"/>
          </a:solidFill>
          <a:ln w="12700">
            <a:solidFill>
              <a:srgbClr val="121614"/>
            </a:solidFill>
            <a:prstDash val="solid"/>
          </a:ln>
        </p:spPr>
      </p:sp>
      <p:sp>
        <p:nvSpPr>
          <p:cNvPr id="6" name="codigo-rotulo"/>
          <p:cNvSpPr txBox="1"/>
          <p:nvPr/>
        </p:nvSpPr>
        <p:spPr>
          <a:xfrm>
            <a:off x="5166360" y="2103120"/>
            <a:ext cx="6248095" cy="274320"/>
          </a:xfrm>
          <a:prstGeom prst="rect">
            <a:avLst/>
          </a:prstGeom>
          <a:noFill/>
          <a:ln/>
        </p:spPr>
        <p:txBody>
          <a:bodyPr wrap="square" lIns="0" tIns="0" rIns="0" bIns="0" rtlCol="0" anchor="t"/>
          <a:lstStyle/>
          <a:p>
            <a:pPr indent="0" marL="0">
              <a:buNone/>
            </a:pPr>
            <a:r>
              <a:rPr lang="en-US" sz="1300" b="1" dirty="0">
                <a:solidFill>
                  <a:srgbClr val="F1C232"/>
                </a:solidFill>
                <a:latin typeface="Arial" pitchFamily="34" charset="0"/>
                <a:ea typeface="Arial" pitchFamily="34" charset="-122"/>
                <a:cs typeface="Arial" pitchFamily="34" charset="-120"/>
              </a:rPr>
              <a:t>Terminal 1</a:t>
            </a:r>
            <a:endParaRPr lang="en-US" sz="1300" dirty="0"/>
          </a:p>
        </p:txBody>
      </p:sp>
      <p:sp>
        <p:nvSpPr>
          <p:cNvPr id="7" name="codigo"/>
          <p:cNvSpPr txBox="1"/>
          <p:nvPr/>
        </p:nvSpPr>
        <p:spPr>
          <a:xfrm>
            <a:off x="5166360" y="2450592"/>
            <a:ext cx="6248095" cy="756209"/>
          </a:xfrm>
          <a:prstGeom prst="rect">
            <a:avLst/>
          </a:prstGeom>
          <a:noFill/>
          <a:ln/>
        </p:spPr>
        <p:txBody>
          <a:bodyPr wrap="square" lIns="0" tIns="0" rIns="0" bIns="0" rtlCol="0" anchor="t"/>
          <a:lstStyle/>
          <a:p>
            <a:pPr indent="0" marL="0">
              <a:buNone/>
            </a:pPr>
            <a:r>
              <a:rPr lang="en-US" sz="1400" dirty="0">
                <a:solidFill>
                  <a:srgbClr val="E8EDE9"/>
                </a:solidFill>
                <a:latin typeface="Courier New" pitchFamily="34" charset="0"/>
                <a:ea typeface="Courier New" pitchFamily="34" charset="-122"/>
                <a:cs typeface="Courier New" pitchFamily="34" charset="-120"/>
              </a:rPr>
              <a:t>/loop 2m run node tools/check-integracao.mjs and fix the first red test with the implementer; stop when everything is green</a:t>
            </a:r>
            <a:endParaRPr lang="en-US" sz="1400" dirty="0"/>
          </a:p>
        </p:txBody>
      </p:sp>
      <p:sp>
        <p:nvSpPr>
          <p:cNvPr id="8" name="esperado-marca"/>
          <p:cNvSpPr/>
          <p:nvPr/>
        </p:nvSpPr>
        <p:spPr>
          <a:xfrm>
            <a:off x="548640" y="5650992"/>
            <a:ext cx="292608" cy="292608"/>
          </a:xfrm>
          <a:prstGeom prst="rect">
            <a:avLst/>
          </a:prstGeom>
          <a:solidFill>
            <a:srgbClr val="1E9E57"/>
          </a:solidFill>
          <a:ln w="12700">
            <a:solidFill>
              <a:srgbClr val="1E9E57"/>
            </a:solidFill>
            <a:prstDash val="solid"/>
          </a:ln>
        </p:spPr>
      </p:sp>
      <p:sp>
        <p:nvSpPr>
          <p:cNvPr id="9" name="faca-esperado"/>
          <p:cNvSpPr txBox="1"/>
          <p:nvPr/>
        </p:nvSpPr>
        <p:spPr>
          <a:xfrm>
            <a:off x="1005840" y="5596128"/>
            <a:ext cx="9814255" cy="548640"/>
          </a:xfrm>
          <a:prstGeom prst="rect">
            <a:avLst/>
          </a:prstGeom>
          <a:noFill/>
          <a:ln/>
        </p:spPr>
        <p:txBody>
          <a:bodyPr wrap="square" lIns="0" tIns="0" rIns="0" bIns="0" rtlCol="0" anchor="t"/>
          <a:lstStyle/>
          <a:p>
            <a:pPr indent="0" marL="0">
              <a:buNone/>
            </a:pPr>
            <a:r>
              <a:rPr lang="en-US" sz="1800" b="1" dirty="0">
                <a:solidFill>
                  <a:srgbClr val="121614"/>
                </a:solidFill>
                <a:latin typeface="Arial" pitchFamily="34" charset="0"/>
                <a:ea typeface="Arial" pitchFamily="34" charset="-122"/>
                <a:cs typeface="Arial" pitchFamily="34" charset="-120"/>
              </a:rPr>
              <a:t>Expected result: </a:t>
            </a:r>
            <a:pPr indent="0" marL="0">
              <a:buNone/>
            </a:pPr>
            <a:r>
              <a:rPr lang="en-US" sz="1800" dirty="0">
                <a:solidFill>
                  <a:srgbClr val="121614"/>
                </a:solidFill>
                <a:latin typeface="Arial" pitchFamily="34" charset="0"/>
                <a:ea typeface="Arial" pitchFamily="34" charset="-122"/>
                <a:cs typeface="Arial" pitchFamily="34" charset="-120"/>
              </a:rPr>
              <a:t>The loop stops by itself when the suite is green</a:t>
            </a:r>
            <a:endParaRPr lang="en-US" sz="18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121614"/>
                </a:solidFill>
                <a:latin typeface="Arial"/>
                <a:ea typeface="Arial"/>
                <a:cs typeface="Aria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faca-rotulo"/>
          <p:cNvSpPr txBox="1"/>
          <p:nvPr/>
        </p:nvSpPr>
        <p:spPr>
          <a:xfrm>
            <a:off x="548640" y="411480"/>
            <a:ext cx="5486400" cy="411480"/>
          </a:xfrm>
          <a:prstGeom prst="rect">
            <a:avLst/>
          </a:prstGeom>
          <a:noFill/>
          <a:ln/>
        </p:spPr>
        <p:txBody>
          <a:bodyPr wrap="square" lIns="0" tIns="0" rIns="0" bIns="0" rtlCol="0" anchor="t"/>
          <a:lstStyle/>
          <a:p>
            <a:pPr indent="0" marL="0">
              <a:buNone/>
            </a:pPr>
            <a:r>
              <a:rPr lang="en-US" sz="2000" b="1" dirty="0">
                <a:solidFill>
                  <a:srgbClr val="121614"/>
                </a:solidFill>
                <a:latin typeface="Bricolage Grotesque" pitchFamily="34" charset="0"/>
                <a:ea typeface="Bricolage Grotesque" pitchFamily="34" charset="-122"/>
                <a:cs typeface="Bricolage Grotesque" pitchFamily="34" charset="-120"/>
              </a:rPr>
              <a:t>Do it now · 2 min</a:t>
            </a:r>
            <a:endParaRPr lang="en-US" sz="2000" dirty="0"/>
          </a:p>
        </p:txBody>
      </p:sp>
      <p:sp>
        <p:nvSpPr>
          <p:cNvPr id="3" name="Text 0"/>
          <p:cNvSpPr/>
          <p:nvPr>
            <p:ph idx="100" type="title" hasCustomPrompt="1"/>
          </p:nvPr>
        </p:nvSpPr>
        <p:spPr>
          <a:xfrm>
            <a:off x="548640" y="868680"/>
            <a:ext cx="11094415" cy="868680"/>
          </a:xfrm>
          <a:prstGeom prst="rect">
            <a:avLst/>
          </a:prstGeom>
          <a:noFill/>
          <a:ln/>
        </p:spPr>
        <p:txBody>
          <a:bodyPr wrap="square" lIns="0" tIns="0" rIns="0" bIns="0" rtlCol="0" anchor="t"/>
          <a:lstStyle/>
          <a:p>
            <a:pPr algn="l" indent="0" marL="0">
              <a:buNone/>
            </a:pPr>
            <a:r>
              <a:rPr lang="en-US" sz="3800" b="1" dirty="0">
                <a:solidFill>
                  <a:srgbClr val="121614"/>
                </a:solidFill>
                <a:latin typeface="Bricolage Grotesque" pitchFamily="34" charset="0"/>
                <a:ea typeface="Bricolage Grotesque" pitchFamily="34" charset="-122"/>
                <a:cs typeface="Bricolage Grotesque" pitchFamily="34" charset="-120"/>
              </a:rPr>
              <a:t>The security gate</a:t>
            </a:r>
            <a:endParaRPr lang="en-US" sz="3800" dirty="0"/>
          </a:p>
        </p:txBody>
      </p:sp>
      <p:sp>
        <p:nvSpPr>
          <p:cNvPr id="4" name="faca-passos"/>
          <p:cNvSpPr txBox="1"/>
          <p:nvPr/>
        </p:nvSpPr>
        <p:spPr>
          <a:xfrm>
            <a:off x="548640" y="1920240"/>
            <a:ext cx="4023360" cy="329184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21614"/>
                </a:solidFill>
                <a:latin typeface="Arial" pitchFamily="34" charset="0"/>
                <a:ea typeface="Arial" pitchFamily="34" charset="-122"/>
                <a:cs typeface="Arial" pitchFamily="34" charset="-120"/>
              </a:rPr>
              <a:t>Run /demo-review</a:t>
            </a:r>
            <a:endParaRPr lang="en-US" sz="2000" dirty="0"/>
          </a:p>
          <a:p>
            <a:pPr marL="342900" indent="-342900">
              <a:spcAft>
                <a:spcPts val="1200"/>
              </a:spcAft>
              <a:buSzPct val="100000"/>
              <a:buFont typeface="+mj-lt"/>
              <a:buAutoNum type="arabicPeriod" startAt="1"/>
            </a:pPr>
            <a:r>
              <a:rPr lang="en-US" sz="2000" dirty="0">
                <a:solidFill>
                  <a:srgbClr val="121614"/>
                </a:solidFill>
                <a:latin typeface="Arial" pitchFamily="34" charset="0"/>
                <a:ea typeface="Arial" pitchFamily="34" charset="-122"/>
                <a:cs typeface="Arial" pitchFamily="34" charset="-120"/>
              </a:rPr>
              <a:t>Read the verdict of the reviewer (Opus)</a:t>
            </a:r>
            <a:endParaRPr lang="en-US" sz="2000" dirty="0"/>
          </a:p>
        </p:txBody>
      </p:sp>
      <p:sp>
        <p:nvSpPr>
          <p:cNvPr id="5" name="codigo-fundo"/>
          <p:cNvSpPr/>
          <p:nvPr/>
        </p:nvSpPr>
        <p:spPr>
          <a:xfrm>
            <a:off x="4937760" y="1920240"/>
            <a:ext cx="6705295" cy="1051560"/>
          </a:xfrm>
          <a:prstGeom prst="rect">
            <a:avLst/>
          </a:prstGeom>
          <a:solidFill>
            <a:srgbClr val="121614"/>
          </a:solidFill>
          <a:ln w="12700">
            <a:solidFill>
              <a:srgbClr val="121614"/>
            </a:solidFill>
            <a:prstDash val="solid"/>
          </a:ln>
        </p:spPr>
      </p:sp>
      <p:sp>
        <p:nvSpPr>
          <p:cNvPr id="6" name="codigo-rotulo"/>
          <p:cNvSpPr txBox="1"/>
          <p:nvPr/>
        </p:nvSpPr>
        <p:spPr>
          <a:xfrm>
            <a:off x="5166360" y="2103120"/>
            <a:ext cx="6248095" cy="274320"/>
          </a:xfrm>
          <a:prstGeom prst="rect">
            <a:avLst/>
          </a:prstGeom>
          <a:noFill/>
          <a:ln/>
        </p:spPr>
        <p:txBody>
          <a:bodyPr wrap="square" lIns="0" tIns="0" rIns="0" bIns="0" rtlCol="0" anchor="t"/>
          <a:lstStyle/>
          <a:p>
            <a:pPr indent="0" marL="0">
              <a:buNone/>
            </a:pPr>
            <a:r>
              <a:rPr lang="en-US" sz="1300" b="1" dirty="0">
                <a:solidFill>
                  <a:srgbClr val="F1C232"/>
                </a:solidFill>
                <a:latin typeface="Arial" pitchFamily="34" charset="0"/>
                <a:ea typeface="Arial" pitchFamily="34" charset="-122"/>
                <a:cs typeface="Arial" pitchFamily="34" charset="-120"/>
              </a:rPr>
              <a:t>Terminal 1</a:t>
            </a:r>
            <a:endParaRPr lang="en-US" sz="1300" dirty="0"/>
          </a:p>
        </p:txBody>
      </p:sp>
      <p:sp>
        <p:nvSpPr>
          <p:cNvPr id="7" name="codigo"/>
          <p:cNvSpPr txBox="1"/>
          <p:nvPr/>
        </p:nvSpPr>
        <p:spPr>
          <a:xfrm>
            <a:off x="5166360" y="2450592"/>
            <a:ext cx="6248095" cy="384048"/>
          </a:xfrm>
          <a:prstGeom prst="rect">
            <a:avLst/>
          </a:prstGeom>
          <a:noFill/>
          <a:ln/>
        </p:spPr>
        <p:txBody>
          <a:bodyPr wrap="square" lIns="0" tIns="0" rIns="0" bIns="0" rtlCol="0" anchor="t"/>
          <a:lstStyle/>
          <a:p>
            <a:pPr indent="0" marL="0">
              <a:buNone/>
            </a:pPr>
            <a:r>
              <a:rPr lang="en-US" sz="2000" dirty="0">
                <a:solidFill>
                  <a:srgbClr val="E8EDE9"/>
                </a:solidFill>
                <a:latin typeface="Courier New" pitchFamily="34" charset="0"/>
                <a:ea typeface="Courier New" pitchFamily="34" charset="-122"/>
                <a:cs typeface="Courier New" pitchFamily="34" charset="-120"/>
              </a:rPr>
              <a:t>/demo-review</a:t>
            </a:r>
            <a:endParaRPr lang="en-US" sz="2000" dirty="0"/>
          </a:p>
        </p:txBody>
      </p:sp>
      <p:sp>
        <p:nvSpPr>
          <p:cNvPr id="8" name="esperado-marca"/>
          <p:cNvSpPr/>
          <p:nvPr/>
        </p:nvSpPr>
        <p:spPr>
          <a:xfrm>
            <a:off x="548640" y="5650992"/>
            <a:ext cx="292608" cy="292608"/>
          </a:xfrm>
          <a:prstGeom prst="rect">
            <a:avLst/>
          </a:prstGeom>
          <a:solidFill>
            <a:srgbClr val="1E9E57"/>
          </a:solidFill>
          <a:ln w="12700">
            <a:solidFill>
              <a:srgbClr val="1E9E57"/>
            </a:solidFill>
            <a:prstDash val="solid"/>
          </a:ln>
        </p:spPr>
      </p:sp>
      <p:sp>
        <p:nvSpPr>
          <p:cNvPr id="9" name="faca-esperado"/>
          <p:cNvSpPr txBox="1"/>
          <p:nvPr/>
        </p:nvSpPr>
        <p:spPr>
          <a:xfrm>
            <a:off x="1005840" y="5596128"/>
            <a:ext cx="9814255" cy="548640"/>
          </a:xfrm>
          <a:prstGeom prst="rect">
            <a:avLst/>
          </a:prstGeom>
          <a:noFill/>
          <a:ln/>
        </p:spPr>
        <p:txBody>
          <a:bodyPr wrap="square" lIns="0" tIns="0" rIns="0" bIns="0" rtlCol="0" anchor="t"/>
          <a:lstStyle/>
          <a:p>
            <a:pPr indent="0" marL="0">
              <a:buNone/>
            </a:pPr>
            <a:r>
              <a:rPr lang="en-US" sz="1800" b="1" dirty="0">
                <a:solidFill>
                  <a:srgbClr val="121614"/>
                </a:solidFill>
                <a:latin typeface="Arial" pitchFamily="34" charset="0"/>
                <a:ea typeface="Arial" pitchFamily="34" charset="-122"/>
                <a:cs typeface="Arial" pitchFamily="34" charset="-120"/>
              </a:rPr>
              <a:t>Expected result: </a:t>
            </a:r>
            <a:pPr indent="0" marL="0">
              <a:buNone/>
            </a:pPr>
            <a:r>
              <a:rPr lang="en-US" sz="1800" dirty="0">
                <a:solidFill>
                  <a:srgbClr val="121614"/>
                </a:solidFill>
                <a:latin typeface="Arial" pitchFamily="34" charset="0"/>
                <a:ea typeface="Arial" pitchFamily="34" charset="-122"/>
                <a:cs typeface="Arial" pitchFamily="34" charset="-120"/>
              </a:rPr>
              <a:t>GATE: APROVADO, with tests, CSP, no eval or innerHTML, no secrets</a:t>
            </a:r>
            <a:endParaRPr lang="en-US" sz="18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121614"/>
                </a:solidFill>
                <a:latin typeface="Arial"/>
                <a:ea typeface="Arial"/>
                <a:cs typeface="Aria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faca-rotulo"/>
          <p:cNvSpPr txBox="1"/>
          <p:nvPr/>
        </p:nvSpPr>
        <p:spPr>
          <a:xfrm>
            <a:off x="548640" y="411480"/>
            <a:ext cx="5486400" cy="411480"/>
          </a:xfrm>
          <a:prstGeom prst="rect">
            <a:avLst/>
          </a:prstGeom>
          <a:noFill/>
          <a:ln/>
        </p:spPr>
        <p:txBody>
          <a:bodyPr wrap="square" lIns="0" tIns="0" rIns="0" bIns="0" rtlCol="0" anchor="t"/>
          <a:lstStyle/>
          <a:p>
            <a:pPr indent="0" marL="0">
              <a:buNone/>
            </a:pPr>
            <a:r>
              <a:rPr lang="en-US" sz="2000" b="1" dirty="0">
                <a:solidFill>
                  <a:srgbClr val="121614"/>
                </a:solidFill>
                <a:latin typeface="Bricolage Grotesque" pitchFamily="34" charset="0"/>
                <a:ea typeface="Bricolage Grotesque" pitchFamily="34" charset="-122"/>
                <a:cs typeface="Bricolage Grotesque" pitchFamily="34" charset="-120"/>
              </a:rPr>
              <a:t>Do it now · 2 min</a:t>
            </a:r>
            <a:endParaRPr lang="en-US" sz="2000" dirty="0"/>
          </a:p>
        </p:txBody>
      </p:sp>
      <p:sp>
        <p:nvSpPr>
          <p:cNvPr id="3" name="Text 0"/>
          <p:cNvSpPr/>
          <p:nvPr>
            <p:ph idx="100" type="title" hasCustomPrompt="1"/>
          </p:nvPr>
        </p:nvSpPr>
        <p:spPr>
          <a:xfrm>
            <a:off x="548640" y="868680"/>
            <a:ext cx="11094415" cy="868680"/>
          </a:xfrm>
          <a:prstGeom prst="rect">
            <a:avLst/>
          </a:prstGeom>
          <a:noFill/>
          <a:ln/>
        </p:spPr>
        <p:txBody>
          <a:bodyPr wrap="square" lIns="0" tIns="0" rIns="0" bIns="0" rtlCol="0" anchor="t"/>
          <a:lstStyle/>
          <a:p>
            <a:pPr algn="l" indent="0" marL="0">
              <a:buNone/>
            </a:pPr>
            <a:r>
              <a:rPr lang="en-US" sz="3800" b="1" dirty="0">
                <a:solidFill>
                  <a:srgbClr val="121614"/>
                </a:solidFill>
                <a:latin typeface="Bricolage Grotesque" pitchFamily="34" charset="0"/>
                <a:ea typeface="Bricolage Grotesque" pitchFamily="34" charset="-122"/>
                <a:cs typeface="Bricolage Grotesque" pitchFamily="34" charset="-120"/>
              </a:rPr>
              <a:t>How much did it cost?</a:t>
            </a:r>
            <a:endParaRPr lang="en-US" sz="3800" dirty="0"/>
          </a:p>
        </p:txBody>
      </p:sp>
      <p:sp>
        <p:nvSpPr>
          <p:cNvPr id="4" name="faca-passos"/>
          <p:cNvSpPr txBox="1"/>
          <p:nvPr/>
        </p:nvSpPr>
        <p:spPr>
          <a:xfrm>
            <a:off x="548640" y="1920240"/>
            <a:ext cx="4023360" cy="329184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21614"/>
                </a:solidFill>
                <a:latin typeface="Arial" pitchFamily="34" charset="0"/>
                <a:ea typeface="Arial" pitchFamily="34" charset="-122"/>
                <a:cs typeface="Arial" pitchFamily="34" charset="-120"/>
              </a:rPr>
              <a:t>Run /demo-cost</a:t>
            </a:r>
            <a:endParaRPr lang="en-US" sz="2000" dirty="0"/>
          </a:p>
          <a:p>
            <a:pPr marL="342900" indent="-342900">
              <a:spcAft>
                <a:spcPts val="1200"/>
              </a:spcAft>
              <a:buSzPct val="100000"/>
              <a:buFont typeface="+mj-lt"/>
              <a:buAutoNum type="arabicPeriod" startAt="1"/>
            </a:pPr>
            <a:r>
              <a:rPr lang="en-US" sz="2000" dirty="0">
                <a:solidFill>
                  <a:srgbClr val="121614"/>
                </a:solidFill>
                <a:latin typeface="Arial" pitchFamily="34" charset="0"/>
                <a:ea typeface="Arial" pitchFamily="34" charset="-122"/>
                <a:cs typeface="Arial" pitchFamily="34" charset="-120"/>
              </a:rPr>
              <a:t>Compare Haiku with the orchestrator</a:t>
            </a:r>
            <a:endParaRPr lang="en-US" sz="2000" dirty="0"/>
          </a:p>
        </p:txBody>
      </p:sp>
      <p:sp>
        <p:nvSpPr>
          <p:cNvPr id="5" name="codigo-fundo"/>
          <p:cNvSpPr/>
          <p:nvPr/>
        </p:nvSpPr>
        <p:spPr>
          <a:xfrm>
            <a:off x="4937760" y="1920240"/>
            <a:ext cx="6705295" cy="1051560"/>
          </a:xfrm>
          <a:prstGeom prst="rect">
            <a:avLst/>
          </a:prstGeom>
          <a:solidFill>
            <a:srgbClr val="121614"/>
          </a:solidFill>
          <a:ln w="12700">
            <a:solidFill>
              <a:srgbClr val="121614"/>
            </a:solidFill>
            <a:prstDash val="solid"/>
          </a:ln>
        </p:spPr>
      </p:sp>
      <p:sp>
        <p:nvSpPr>
          <p:cNvPr id="6" name="codigo-rotulo"/>
          <p:cNvSpPr txBox="1"/>
          <p:nvPr/>
        </p:nvSpPr>
        <p:spPr>
          <a:xfrm>
            <a:off x="5166360" y="2103120"/>
            <a:ext cx="6248095" cy="274320"/>
          </a:xfrm>
          <a:prstGeom prst="rect">
            <a:avLst/>
          </a:prstGeom>
          <a:noFill/>
          <a:ln/>
        </p:spPr>
        <p:txBody>
          <a:bodyPr wrap="square" lIns="0" tIns="0" rIns="0" bIns="0" rtlCol="0" anchor="t"/>
          <a:lstStyle/>
          <a:p>
            <a:pPr indent="0" marL="0">
              <a:buNone/>
            </a:pPr>
            <a:r>
              <a:rPr lang="en-US" sz="1300" b="1" dirty="0">
                <a:solidFill>
                  <a:srgbClr val="F1C232"/>
                </a:solidFill>
                <a:latin typeface="Arial" pitchFamily="34" charset="0"/>
                <a:ea typeface="Arial" pitchFamily="34" charset="-122"/>
                <a:cs typeface="Arial" pitchFamily="34" charset="-120"/>
              </a:rPr>
              <a:t>Terminal 1</a:t>
            </a:r>
            <a:endParaRPr lang="en-US" sz="1300" dirty="0"/>
          </a:p>
        </p:txBody>
      </p:sp>
      <p:sp>
        <p:nvSpPr>
          <p:cNvPr id="7" name="codigo"/>
          <p:cNvSpPr txBox="1"/>
          <p:nvPr/>
        </p:nvSpPr>
        <p:spPr>
          <a:xfrm>
            <a:off x="5166360" y="2450592"/>
            <a:ext cx="6248095" cy="384048"/>
          </a:xfrm>
          <a:prstGeom prst="rect">
            <a:avLst/>
          </a:prstGeom>
          <a:noFill/>
          <a:ln/>
        </p:spPr>
        <p:txBody>
          <a:bodyPr wrap="square" lIns="0" tIns="0" rIns="0" bIns="0" rtlCol="0" anchor="t"/>
          <a:lstStyle/>
          <a:p>
            <a:pPr indent="0" marL="0">
              <a:buNone/>
            </a:pPr>
            <a:r>
              <a:rPr lang="en-US" sz="2000" dirty="0">
                <a:solidFill>
                  <a:srgbClr val="E8EDE9"/>
                </a:solidFill>
                <a:latin typeface="Courier New" pitchFamily="34" charset="0"/>
                <a:ea typeface="Courier New" pitchFamily="34" charset="-122"/>
                <a:cs typeface="Courier New" pitchFamily="34" charset="-120"/>
              </a:rPr>
              <a:t>/demo-cost</a:t>
            </a:r>
            <a:endParaRPr lang="en-US" sz="2000" dirty="0"/>
          </a:p>
        </p:txBody>
      </p:sp>
      <p:sp>
        <p:nvSpPr>
          <p:cNvPr id="8" name="esperado-marca"/>
          <p:cNvSpPr/>
          <p:nvPr/>
        </p:nvSpPr>
        <p:spPr>
          <a:xfrm>
            <a:off x="548640" y="5650992"/>
            <a:ext cx="292608" cy="292608"/>
          </a:xfrm>
          <a:prstGeom prst="rect">
            <a:avLst/>
          </a:prstGeom>
          <a:solidFill>
            <a:srgbClr val="1E9E57"/>
          </a:solidFill>
          <a:ln w="12700">
            <a:solidFill>
              <a:srgbClr val="1E9E57"/>
            </a:solidFill>
            <a:prstDash val="solid"/>
          </a:ln>
        </p:spPr>
      </p:sp>
      <p:sp>
        <p:nvSpPr>
          <p:cNvPr id="9" name="faca-esperado"/>
          <p:cNvSpPr txBox="1"/>
          <p:nvPr/>
        </p:nvSpPr>
        <p:spPr>
          <a:xfrm>
            <a:off x="1005840" y="5596128"/>
            <a:ext cx="9814255" cy="548640"/>
          </a:xfrm>
          <a:prstGeom prst="rect">
            <a:avLst/>
          </a:prstGeom>
          <a:noFill/>
          <a:ln/>
        </p:spPr>
        <p:txBody>
          <a:bodyPr wrap="square" lIns="0" tIns="0" rIns="0" bIns="0" rtlCol="0" anchor="t"/>
          <a:lstStyle/>
          <a:p>
            <a:pPr indent="0" marL="0">
              <a:buNone/>
            </a:pPr>
            <a:r>
              <a:rPr lang="en-US" sz="1800" b="1" dirty="0">
                <a:solidFill>
                  <a:srgbClr val="121614"/>
                </a:solidFill>
                <a:latin typeface="Arial" pitchFamily="34" charset="0"/>
                <a:ea typeface="Arial" pitchFamily="34" charset="-122"/>
                <a:cs typeface="Arial" pitchFamily="34" charset="-120"/>
              </a:rPr>
              <a:t>Expected result: </a:t>
            </a:r>
            <a:pPr indent="0" marL="0">
              <a:buNone/>
            </a:pPr>
            <a:r>
              <a:rPr lang="en-US" sz="1800" dirty="0">
                <a:solidFill>
                  <a:srgbClr val="121614"/>
                </a:solidFill>
                <a:latin typeface="Arial" pitchFamily="34" charset="0"/>
                <a:ea typeface="Arial" pitchFamily="34" charset="-122"/>
                <a:cs typeface="Arial" pitchFamily="34" charset="-120"/>
              </a:rPr>
              <a:t>Cost per agent, model and wave, close to US$ 1.03</a:t>
            </a:r>
            <a:endParaRPr lang="en-US" sz="18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121614"/>
                </a:solidFill>
                <a:latin typeface="Arial"/>
                <a:ea typeface="Arial"/>
                <a:cs typeface="Aria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faca-rotulo"/>
          <p:cNvSpPr txBox="1"/>
          <p:nvPr/>
        </p:nvSpPr>
        <p:spPr>
          <a:xfrm>
            <a:off x="548640" y="411480"/>
            <a:ext cx="5486400" cy="411480"/>
          </a:xfrm>
          <a:prstGeom prst="rect">
            <a:avLst/>
          </a:prstGeom>
          <a:noFill/>
          <a:ln/>
        </p:spPr>
        <p:txBody>
          <a:bodyPr wrap="square" lIns="0" tIns="0" rIns="0" bIns="0" rtlCol="0" anchor="t"/>
          <a:lstStyle/>
          <a:p>
            <a:pPr indent="0" marL="0">
              <a:buNone/>
            </a:pPr>
            <a:r>
              <a:rPr lang="en-US" sz="2000" b="1" dirty="0">
                <a:solidFill>
                  <a:srgbClr val="121614"/>
                </a:solidFill>
                <a:latin typeface="Bricolage Grotesque" pitchFamily="34" charset="0"/>
                <a:ea typeface="Bricolage Grotesque" pitchFamily="34" charset="-122"/>
                <a:cs typeface="Bricolage Grotesque" pitchFamily="34" charset="-120"/>
              </a:rPr>
              <a:t>Do it now · 2 min</a:t>
            </a:r>
            <a:endParaRPr lang="en-US" sz="2000" dirty="0"/>
          </a:p>
        </p:txBody>
      </p:sp>
      <p:sp>
        <p:nvSpPr>
          <p:cNvPr id="3" name="Text 0"/>
          <p:cNvSpPr/>
          <p:nvPr>
            <p:ph idx="100" type="title" hasCustomPrompt="1"/>
          </p:nvPr>
        </p:nvSpPr>
        <p:spPr>
          <a:xfrm>
            <a:off x="548640" y="868680"/>
            <a:ext cx="11094415" cy="868680"/>
          </a:xfrm>
          <a:prstGeom prst="rect">
            <a:avLst/>
          </a:prstGeom>
          <a:noFill/>
          <a:ln/>
        </p:spPr>
        <p:txBody>
          <a:bodyPr wrap="square" lIns="0" tIns="0" rIns="0" bIns="0" rtlCol="0" anchor="t"/>
          <a:lstStyle/>
          <a:p>
            <a:pPr algn="l" indent="0" marL="0">
              <a:buNone/>
            </a:pPr>
            <a:r>
              <a:rPr lang="en-US" sz="3800" b="1" dirty="0">
                <a:solidFill>
                  <a:srgbClr val="121614"/>
                </a:solidFill>
                <a:latin typeface="Bricolage Grotesque" pitchFamily="34" charset="0"/>
                <a:ea typeface="Bricolage Grotesque" pitchFamily="34" charset="-122"/>
                <a:cs typeface="Bricolage Grotesque" pitchFamily="34" charset="-120"/>
              </a:rPr>
              <a:t>Play what the swarm built</a:t>
            </a:r>
            <a:endParaRPr lang="en-US" sz="3800" dirty="0"/>
          </a:p>
        </p:txBody>
      </p:sp>
      <p:sp>
        <p:nvSpPr>
          <p:cNvPr id="4" name="faca-passos"/>
          <p:cNvSpPr txBox="1"/>
          <p:nvPr/>
        </p:nvSpPr>
        <p:spPr>
          <a:xfrm>
            <a:off x="548640" y="1920240"/>
            <a:ext cx="4023360" cy="329184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21614"/>
                </a:solidFill>
                <a:latin typeface="Arial" pitchFamily="34" charset="0"/>
                <a:ea typeface="Arial" pitchFamily="34" charset="-122"/>
                <a:cs typeface="Arial" pitchFamily="34" charset="-120"/>
              </a:rPr>
              <a:t>Open the gallery</a:t>
            </a:r>
            <a:endParaRPr lang="en-US" sz="2000" dirty="0"/>
          </a:p>
          <a:p>
            <a:pPr marL="342900" indent="-342900">
              <a:spcAft>
                <a:spcPts val="1200"/>
              </a:spcAft>
              <a:buSzPct val="100000"/>
              <a:buFont typeface="+mj-lt"/>
              <a:buAutoNum type="arabicPeriod" startAt="1"/>
            </a:pPr>
            <a:r>
              <a:rPr lang="en-US" sz="2000" dirty="0">
                <a:solidFill>
                  <a:srgbClr val="121614"/>
                </a:solidFill>
                <a:latin typeface="Arial" pitchFamily="34" charset="0"/>
                <a:ea typeface="Arial" pitchFamily="34" charset="-122"/>
                <a:cs typeface="Arial" pitchFamily="34" charset="-120"/>
              </a:rPr>
              <a:t>Pick a card and play</a:t>
            </a:r>
            <a:endParaRPr lang="en-US" sz="2000" dirty="0"/>
          </a:p>
          <a:p>
            <a:pPr marL="342900" indent="-342900">
              <a:spcAft>
                <a:spcPts val="1200"/>
              </a:spcAft>
              <a:buSzPct val="100000"/>
              <a:buFont typeface="+mj-lt"/>
              <a:buAutoNum type="arabicPeriod" startAt="1"/>
            </a:pPr>
            <a:r>
              <a:rPr lang="en-US" sz="2000" dirty="0">
                <a:solidFill>
                  <a:srgbClr val="121614"/>
                </a:solidFill>
                <a:latin typeface="Arial" pitchFamily="34" charset="0"/>
                <a:ea typeface="Arial" pitchFamily="34" charset="-122"/>
                <a:cs typeface="Arial" pitchFamily="34" charset="-120"/>
              </a:rPr>
              <a:t>Click "Run tests"</a:t>
            </a:r>
            <a:endParaRPr lang="en-US" sz="2000" dirty="0"/>
          </a:p>
        </p:txBody>
      </p:sp>
      <p:sp>
        <p:nvSpPr>
          <p:cNvPr id="5" name="codigo-fundo"/>
          <p:cNvSpPr/>
          <p:nvPr/>
        </p:nvSpPr>
        <p:spPr>
          <a:xfrm>
            <a:off x="4937760" y="1920240"/>
            <a:ext cx="6705295" cy="1051560"/>
          </a:xfrm>
          <a:prstGeom prst="rect">
            <a:avLst/>
          </a:prstGeom>
          <a:solidFill>
            <a:srgbClr val="121614"/>
          </a:solidFill>
          <a:ln w="12700">
            <a:solidFill>
              <a:srgbClr val="121614"/>
            </a:solidFill>
            <a:prstDash val="solid"/>
          </a:ln>
        </p:spPr>
      </p:sp>
      <p:sp>
        <p:nvSpPr>
          <p:cNvPr id="6" name="codigo-rotulo"/>
          <p:cNvSpPr txBox="1"/>
          <p:nvPr/>
        </p:nvSpPr>
        <p:spPr>
          <a:xfrm>
            <a:off x="5166360" y="2103120"/>
            <a:ext cx="6248095" cy="274320"/>
          </a:xfrm>
          <a:prstGeom prst="rect">
            <a:avLst/>
          </a:prstGeom>
          <a:noFill/>
          <a:ln/>
        </p:spPr>
        <p:txBody>
          <a:bodyPr wrap="square" lIns="0" tIns="0" rIns="0" bIns="0" rtlCol="0" anchor="t"/>
          <a:lstStyle/>
          <a:p>
            <a:pPr indent="0" marL="0">
              <a:buNone/>
            </a:pPr>
            <a:r>
              <a:rPr lang="en-US" sz="1300" b="1" dirty="0">
                <a:solidFill>
                  <a:srgbClr val="F1C232"/>
                </a:solidFill>
                <a:latin typeface="Arial" pitchFamily="34" charset="0"/>
                <a:ea typeface="Arial" pitchFamily="34" charset="-122"/>
                <a:cs typeface="Arial" pitchFamily="34" charset="-120"/>
              </a:rPr>
              <a:t>Browser</a:t>
            </a:r>
            <a:endParaRPr lang="en-US" sz="1300" dirty="0"/>
          </a:p>
        </p:txBody>
      </p:sp>
      <p:sp>
        <p:nvSpPr>
          <p:cNvPr id="7" name="codigo"/>
          <p:cNvSpPr txBox="1"/>
          <p:nvPr/>
        </p:nvSpPr>
        <p:spPr>
          <a:xfrm>
            <a:off x="5166360" y="2450592"/>
            <a:ext cx="6248095" cy="384048"/>
          </a:xfrm>
          <a:prstGeom prst="rect">
            <a:avLst/>
          </a:prstGeom>
          <a:noFill/>
          <a:ln/>
        </p:spPr>
        <p:txBody>
          <a:bodyPr wrap="square" lIns="0" tIns="0" rIns="0" bIns="0" rtlCol="0" anchor="t"/>
          <a:lstStyle/>
          <a:p>
            <a:pPr indent="0" marL="0">
              <a:buNone/>
            </a:pPr>
            <a:r>
              <a:rPr lang="en-US" sz="2000" dirty="0">
                <a:solidFill>
                  <a:srgbClr val="E8EDE9"/>
                </a:solidFill>
                <a:latin typeface="Courier New" pitchFamily="34" charset="0"/>
                <a:ea typeface="Courier New" pitchFamily="34" charset="-122"/>
                <a:cs typeface="Courier New" pitchFamily="34" charset="-120"/>
              </a:rPr>
              <a:t>http://localhost:3000</a:t>
            </a:r>
            <a:endParaRPr lang="en-US" sz="2000" dirty="0"/>
          </a:p>
        </p:txBody>
      </p:sp>
      <p:sp>
        <p:nvSpPr>
          <p:cNvPr id="8" name="esperado-marca"/>
          <p:cNvSpPr/>
          <p:nvPr/>
        </p:nvSpPr>
        <p:spPr>
          <a:xfrm>
            <a:off x="548640" y="5650992"/>
            <a:ext cx="292608" cy="292608"/>
          </a:xfrm>
          <a:prstGeom prst="rect">
            <a:avLst/>
          </a:prstGeom>
          <a:solidFill>
            <a:srgbClr val="1E9E57"/>
          </a:solidFill>
          <a:ln w="12700">
            <a:solidFill>
              <a:srgbClr val="1E9E57"/>
            </a:solidFill>
            <a:prstDash val="solid"/>
          </a:ln>
        </p:spPr>
      </p:sp>
      <p:sp>
        <p:nvSpPr>
          <p:cNvPr id="9" name="faca-esperado"/>
          <p:cNvSpPr txBox="1"/>
          <p:nvPr/>
        </p:nvSpPr>
        <p:spPr>
          <a:xfrm>
            <a:off x="1005840" y="5596128"/>
            <a:ext cx="9814255" cy="548640"/>
          </a:xfrm>
          <a:prstGeom prst="rect">
            <a:avLst/>
          </a:prstGeom>
          <a:noFill/>
          <a:ln/>
        </p:spPr>
        <p:txBody>
          <a:bodyPr wrap="square" lIns="0" tIns="0" rIns="0" bIns="0" rtlCol="0" anchor="t"/>
          <a:lstStyle/>
          <a:p>
            <a:pPr indent="0" marL="0">
              <a:buNone/>
            </a:pPr>
            <a:r>
              <a:rPr lang="en-US" sz="1800" b="1" dirty="0">
                <a:solidFill>
                  <a:srgbClr val="121614"/>
                </a:solidFill>
                <a:latin typeface="Arial" pitchFamily="34" charset="0"/>
                <a:ea typeface="Arial" pitchFamily="34" charset="-122"/>
                <a:cs typeface="Arial" pitchFamily="34" charset="-120"/>
              </a:rPr>
              <a:t>Expected result: </a:t>
            </a:r>
            <a:pPr indent="0" marL="0">
              <a:buNone/>
            </a:pPr>
            <a:r>
              <a:rPr lang="en-US" sz="1800" dirty="0">
                <a:solidFill>
                  <a:srgbClr val="121614"/>
                </a:solidFill>
                <a:latin typeface="Arial" pitchFamily="34" charset="0"/>
                <a:ea typeface="Arial" pitchFamily="34" charset="-122"/>
                <a:cs typeface="Arial" pitchFamily="34" charset="-120"/>
              </a:rPr>
              <a:t>Green cards you can play; the red ones show why they failed</a:t>
            </a:r>
            <a:endParaRPr lang="en-US" sz="18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121614"/>
                </a:solidFill>
                <a:latin typeface="Arial"/>
                <a:ea typeface="Arial"/>
                <a:cs typeface="Aria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914400"/>
          </a:xfrm>
          <a:prstGeom prst="rect">
            <a:avLst/>
          </a:prstGeom>
          <a:noFill/>
          <a:ln/>
        </p:spPr>
        <p:txBody>
          <a:bodyPr wrap="square" lIns="0" tIns="0" rIns="0" bIns="0" rtlCol="0" anchor="t"/>
          <a:lstStyle/>
          <a:p>
            <a:pPr algn="l" indent="0" marL="0">
              <a:buNone/>
            </a:pPr>
            <a:r>
              <a:rPr lang="en-US" sz="3600" b="1" dirty="0">
                <a:solidFill>
                  <a:srgbClr val="121614"/>
                </a:solidFill>
                <a:latin typeface="Bricolage Grotesque" pitchFamily="34" charset="0"/>
                <a:ea typeface="Bricolage Grotesque" pitchFamily="34" charset="-122"/>
                <a:cs typeface="Bricolage Grotesque" pitchFamily="34" charset="-120"/>
              </a:rPr>
              <a:t>The memory of what you did</a:t>
            </a:r>
            <a:endParaRPr lang="en-US" sz="3600" dirty="0"/>
          </a:p>
        </p:txBody>
      </p:sp>
      <p:pic>
        <p:nvPicPr>
          <p:cNvPr id="3" name="imagem" descr="Search by ticket or epic (e.g. ARENA-1): lessons, do, don't and history linked to projects, epics, tasks and files">    </p:cNvPr>
          <p:cNvPicPr>
            <a:picLocks noChangeAspect="1"/>
          </p:cNvPicPr>
          <p:nvPr/>
        </p:nvPicPr>
        <p:blipFill>
          <a:blip r:embed="rId1"/>
          <a:srcRect l="0" r="0" t="0" b="0"/>
          <a:stretch/>
        </p:blipFill>
        <p:spPr>
          <a:xfrm>
            <a:off x="548640" y="1463040"/>
            <a:ext cx="11094415" cy="4343400"/>
          </a:xfrm>
          <a:prstGeom prst="rect">
            <a:avLst/>
          </a:prstGeom>
        </p:spPr>
      </p:pic>
      <p:sp>
        <p:nvSpPr>
          <p:cNvPr id="4" name="legenda"/>
          <p:cNvSpPr txBox="1"/>
          <p:nvPr/>
        </p:nvSpPr>
        <p:spPr>
          <a:xfrm>
            <a:off x="548640" y="5943600"/>
            <a:ext cx="11094415" cy="365760"/>
          </a:xfrm>
          <a:prstGeom prst="rect">
            <a:avLst/>
          </a:prstGeom>
          <a:noFill/>
          <a:ln/>
        </p:spPr>
        <p:txBody>
          <a:bodyPr wrap="square" lIns="0" tIns="0" rIns="0" bIns="0" rtlCol="0" anchor="t"/>
          <a:lstStyle/>
          <a:p>
            <a:pPr indent="0" marL="0">
              <a:buNone/>
            </a:pPr>
            <a:r>
              <a:rPr lang="en-US" sz="1500" dirty="0">
                <a:solidFill>
                  <a:srgbClr val="545C57"/>
                </a:solidFill>
                <a:latin typeface="Arial" pitchFamily="34" charset="0"/>
                <a:ea typeface="Arial" pitchFamily="34" charset="-122"/>
                <a:cs typeface="Arial" pitchFamily="34" charset="-120"/>
              </a:rPr>
              <a:t>Search by ticket or epic (e.g. ARENA-1): lessons, do, don't and history linked to projects, epics, tasks and files</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45C57"/>
                </a:solidFill>
                <a:latin typeface="Arial"/>
                <a:ea typeface="Arial"/>
                <a:cs typeface="Aria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faca-rotulo"/>
          <p:cNvSpPr txBox="1"/>
          <p:nvPr/>
        </p:nvSpPr>
        <p:spPr>
          <a:xfrm>
            <a:off x="548640" y="411480"/>
            <a:ext cx="5486400" cy="411480"/>
          </a:xfrm>
          <a:prstGeom prst="rect">
            <a:avLst/>
          </a:prstGeom>
          <a:noFill/>
          <a:ln/>
        </p:spPr>
        <p:txBody>
          <a:bodyPr wrap="square" lIns="0" tIns="0" rIns="0" bIns="0" rtlCol="0" anchor="t"/>
          <a:lstStyle/>
          <a:p>
            <a:pPr indent="0" marL="0">
              <a:buNone/>
            </a:pPr>
            <a:r>
              <a:rPr lang="en-US" sz="2000" b="1" dirty="0">
                <a:solidFill>
                  <a:srgbClr val="121614"/>
                </a:solidFill>
                <a:latin typeface="Bricolage Grotesque" pitchFamily="34" charset="0"/>
                <a:ea typeface="Bricolage Grotesque" pitchFamily="34" charset="-122"/>
                <a:cs typeface="Bricolage Grotesque" pitchFamily="34" charset="-120"/>
              </a:rPr>
              <a:t>Do it now · 3 min</a:t>
            </a:r>
            <a:endParaRPr lang="en-US" sz="2000" dirty="0"/>
          </a:p>
        </p:txBody>
      </p:sp>
      <p:sp>
        <p:nvSpPr>
          <p:cNvPr id="3" name="Text 0"/>
          <p:cNvSpPr/>
          <p:nvPr>
            <p:ph idx="100" type="title" hasCustomPrompt="1"/>
          </p:nvPr>
        </p:nvSpPr>
        <p:spPr>
          <a:xfrm>
            <a:off x="548640" y="868680"/>
            <a:ext cx="11094415" cy="868680"/>
          </a:xfrm>
          <a:prstGeom prst="rect">
            <a:avLst/>
          </a:prstGeom>
          <a:noFill/>
          <a:ln/>
        </p:spPr>
        <p:txBody>
          <a:bodyPr wrap="square" lIns="0" tIns="0" rIns="0" bIns="0" rtlCol="0" anchor="t"/>
          <a:lstStyle/>
          <a:p>
            <a:pPr algn="l" indent="0" marL="0">
              <a:buNone/>
            </a:pPr>
            <a:r>
              <a:rPr lang="en-US" sz="3800" b="1" dirty="0">
                <a:solidFill>
                  <a:srgbClr val="121614"/>
                </a:solidFill>
                <a:latin typeface="Bricolage Grotesque" pitchFamily="34" charset="0"/>
                <a:ea typeface="Bricolage Grotesque" pitchFamily="34" charset="-122"/>
                <a:cs typeface="Bricolage Grotesque" pitchFamily="34" charset="-120"/>
              </a:rPr>
              <a:t>Open your first graph</a:t>
            </a:r>
            <a:endParaRPr lang="en-US" sz="3800" dirty="0"/>
          </a:p>
        </p:txBody>
      </p:sp>
      <p:sp>
        <p:nvSpPr>
          <p:cNvPr id="4" name="faca-passos"/>
          <p:cNvSpPr txBox="1"/>
          <p:nvPr/>
        </p:nvSpPr>
        <p:spPr>
          <a:xfrm>
            <a:off x="548640" y="1920240"/>
            <a:ext cx="4023360" cy="329184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21614"/>
                </a:solidFill>
                <a:latin typeface="Arial" pitchFamily="34" charset="0"/>
                <a:ea typeface="Arial" pitchFamily="34" charset="-122"/>
                <a:cs typeface="Arial" pitchFamily="34" charset="-120"/>
              </a:rPr>
              <a:t>Open the Memória app</a:t>
            </a:r>
            <a:endParaRPr lang="en-US" sz="2000" dirty="0"/>
          </a:p>
          <a:p>
            <a:pPr marL="342900" indent="-342900">
              <a:spcAft>
                <a:spcPts val="1200"/>
              </a:spcAft>
              <a:buSzPct val="100000"/>
              <a:buFont typeface="+mj-lt"/>
              <a:buAutoNum type="arabicPeriod" startAt="1"/>
            </a:pPr>
            <a:r>
              <a:rPr lang="en-US" sz="2000" dirty="0">
                <a:solidFill>
                  <a:srgbClr val="121614"/>
                </a:solidFill>
                <a:latin typeface="Arial" pitchFamily="34" charset="0"/>
                <a:ea typeface="Arial" pitchFamily="34" charset="-122"/>
                <a:cs typeface="Arial" pitchFamily="34" charset="-120"/>
              </a:rPr>
              <a:t>Click a node to read the lesson</a:t>
            </a:r>
            <a:endParaRPr lang="en-US" sz="2000" dirty="0"/>
          </a:p>
          <a:p>
            <a:pPr marL="342900" indent="-342900">
              <a:spcAft>
                <a:spcPts val="1200"/>
              </a:spcAft>
              <a:buSzPct val="100000"/>
              <a:buFont typeface="+mj-lt"/>
              <a:buAutoNum type="arabicPeriod" startAt="1"/>
            </a:pPr>
            <a:r>
              <a:rPr lang="en-US" sz="2000" dirty="0">
                <a:solidFill>
                  <a:srgbClr val="121614"/>
                </a:solidFill>
                <a:latin typeface="Arial" pitchFamily="34" charset="0"/>
                <a:ea typeface="Arial" pitchFamily="34" charset="-122"/>
                <a:cs typeface="Arial" pitchFamily="34" charset="-120"/>
              </a:rPr>
              <a:t>Drag the time slider</a:t>
            </a:r>
            <a:endParaRPr lang="en-US" sz="2000" dirty="0"/>
          </a:p>
        </p:txBody>
      </p:sp>
      <p:sp>
        <p:nvSpPr>
          <p:cNvPr id="5" name="codigo-fundo"/>
          <p:cNvSpPr/>
          <p:nvPr/>
        </p:nvSpPr>
        <p:spPr>
          <a:xfrm>
            <a:off x="4937760" y="1920240"/>
            <a:ext cx="6705295" cy="1000811"/>
          </a:xfrm>
          <a:prstGeom prst="rect">
            <a:avLst/>
          </a:prstGeom>
          <a:solidFill>
            <a:srgbClr val="121614"/>
          </a:solidFill>
          <a:ln w="12700">
            <a:solidFill>
              <a:srgbClr val="121614"/>
            </a:solidFill>
            <a:prstDash val="solid"/>
          </a:ln>
        </p:spPr>
      </p:sp>
      <p:sp>
        <p:nvSpPr>
          <p:cNvPr id="6" name="codigo-rotulo"/>
          <p:cNvSpPr txBox="1"/>
          <p:nvPr/>
        </p:nvSpPr>
        <p:spPr>
          <a:xfrm>
            <a:off x="5166360" y="2103120"/>
            <a:ext cx="6248095" cy="274320"/>
          </a:xfrm>
          <a:prstGeom prst="rect">
            <a:avLst/>
          </a:prstGeom>
          <a:noFill/>
          <a:ln/>
        </p:spPr>
        <p:txBody>
          <a:bodyPr wrap="square" lIns="0" tIns="0" rIns="0" bIns="0" rtlCol="0" anchor="t"/>
          <a:lstStyle/>
          <a:p>
            <a:pPr indent="0" marL="0">
              <a:buNone/>
            </a:pPr>
            <a:r>
              <a:rPr lang="en-US" sz="1300" b="1" dirty="0">
                <a:solidFill>
                  <a:srgbClr val="F1C232"/>
                </a:solidFill>
                <a:latin typeface="Arial" pitchFamily="34" charset="0"/>
                <a:ea typeface="Arial" pitchFamily="34" charset="-122"/>
                <a:cs typeface="Arial" pitchFamily="34" charset="-120"/>
              </a:rPr>
              <a:t>Mac</a:t>
            </a:r>
            <a:endParaRPr lang="en-US" sz="1300" dirty="0"/>
          </a:p>
        </p:txBody>
      </p:sp>
      <p:sp>
        <p:nvSpPr>
          <p:cNvPr id="7" name="codigo"/>
          <p:cNvSpPr txBox="1"/>
          <p:nvPr/>
        </p:nvSpPr>
        <p:spPr>
          <a:xfrm>
            <a:off x="5166360" y="2450592"/>
            <a:ext cx="6248095" cy="333299"/>
          </a:xfrm>
          <a:prstGeom prst="rect">
            <a:avLst/>
          </a:prstGeom>
          <a:noFill/>
          <a:ln/>
        </p:spPr>
        <p:txBody>
          <a:bodyPr wrap="square" lIns="0" tIns="0" rIns="0" bIns="0" rtlCol="0" anchor="t"/>
          <a:lstStyle/>
          <a:p>
            <a:pPr indent="0" marL="0">
              <a:buNone/>
            </a:pPr>
            <a:r>
              <a:rPr lang="en-US" sz="1700" dirty="0">
                <a:solidFill>
                  <a:srgbClr val="E8EDE9"/>
                </a:solidFill>
                <a:latin typeface="Courier New" pitchFamily="34" charset="0"/>
                <a:ea typeface="Courier New" pitchFamily="34" charset="-122"/>
                <a:cs typeface="Courier New" pitchFamily="34" charset="-120"/>
              </a:rPr>
              <a:t>open ~/Applications/Memória.app   (or: memoria)</a:t>
            </a:r>
            <a:endParaRPr lang="en-US" sz="1700" dirty="0"/>
          </a:p>
        </p:txBody>
      </p:sp>
      <p:sp>
        <p:nvSpPr>
          <p:cNvPr id="8" name="codigo-fundo"/>
          <p:cNvSpPr/>
          <p:nvPr/>
        </p:nvSpPr>
        <p:spPr>
          <a:xfrm>
            <a:off x="4937760" y="3149651"/>
            <a:ext cx="6705295" cy="1051560"/>
          </a:xfrm>
          <a:prstGeom prst="rect">
            <a:avLst/>
          </a:prstGeom>
          <a:solidFill>
            <a:srgbClr val="121614"/>
          </a:solidFill>
          <a:ln w="12700">
            <a:solidFill>
              <a:srgbClr val="121614"/>
            </a:solidFill>
            <a:prstDash val="solid"/>
          </a:ln>
        </p:spPr>
      </p:sp>
      <p:sp>
        <p:nvSpPr>
          <p:cNvPr id="9" name="codigo-rotulo"/>
          <p:cNvSpPr txBox="1"/>
          <p:nvPr/>
        </p:nvSpPr>
        <p:spPr>
          <a:xfrm>
            <a:off x="5166360" y="3332531"/>
            <a:ext cx="6248095" cy="274320"/>
          </a:xfrm>
          <a:prstGeom prst="rect">
            <a:avLst/>
          </a:prstGeom>
          <a:noFill/>
          <a:ln/>
        </p:spPr>
        <p:txBody>
          <a:bodyPr wrap="square" lIns="0" tIns="0" rIns="0" bIns="0" rtlCol="0" anchor="t"/>
          <a:lstStyle/>
          <a:p>
            <a:pPr indent="0" marL="0">
              <a:buNone/>
            </a:pPr>
            <a:r>
              <a:rPr lang="en-US" sz="1300" b="1" dirty="0">
                <a:solidFill>
                  <a:srgbClr val="F1C232"/>
                </a:solidFill>
                <a:latin typeface="Arial" pitchFamily="34" charset="0"/>
                <a:ea typeface="Arial" pitchFamily="34" charset="-122"/>
                <a:cs typeface="Arial" pitchFamily="34" charset="-120"/>
              </a:rPr>
              <a:t>Windows</a:t>
            </a:r>
            <a:endParaRPr lang="en-US" sz="1300" dirty="0"/>
          </a:p>
        </p:txBody>
      </p:sp>
      <p:sp>
        <p:nvSpPr>
          <p:cNvPr id="10" name="codigo"/>
          <p:cNvSpPr txBox="1"/>
          <p:nvPr/>
        </p:nvSpPr>
        <p:spPr>
          <a:xfrm>
            <a:off x="5166360" y="3680003"/>
            <a:ext cx="6248095" cy="384048"/>
          </a:xfrm>
          <a:prstGeom prst="rect">
            <a:avLst/>
          </a:prstGeom>
          <a:noFill/>
          <a:ln/>
        </p:spPr>
        <p:txBody>
          <a:bodyPr wrap="square" lIns="0" tIns="0" rIns="0" bIns="0" rtlCol="0" anchor="t"/>
          <a:lstStyle/>
          <a:p>
            <a:pPr indent="0" marL="0">
              <a:buNone/>
            </a:pPr>
            <a:r>
              <a:rPr lang="en-US" sz="2000" dirty="0">
                <a:solidFill>
                  <a:srgbClr val="E8EDE9"/>
                </a:solidFill>
                <a:latin typeface="Courier New" pitchFamily="34" charset="0"/>
                <a:ea typeface="Courier New" pitchFamily="34" charset="-122"/>
                <a:cs typeface="Courier New" pitchFamily="34" charset="-120"/>
              </a:rPr>
              <a:t>Start menu → Memória   (or: memoria)</a:t>
            </a:r>
            <a:endParaRPr lang="en-US" sz="2000" dirty="0"/>
          </a:p>
        </p:txBody>
      </p:sp>
      <p:sp>
        <p:nvSpPr>
          <p:cNvPr id="11" name="esperado-marca"/>
          <p:cNvSpPr/>
          <p:nvPr/>
        </p:nvSpPr>
        <p:spPr>
          <a:xfrm>
            <a:off x="548640" y="5650992"/>
            <a:ext cx="292608" cy="292608"/>
          </a:xfrm>
          <a:prstGeom prst="rect">
            <a:avLst/>
          </a:prstGeom>
          <a:solidFill>
            <a:srgbClr val="1E9E57"/>
          </a:solidFill>
          <a:ln w="12700">
            <a:solidFill>
              <a:srgbClr val="1E9E57"/>
            </a:solidFill>
            <a:prstDash val="solid"/>
          </a:ln>
        </p:spPr>
      </p:sp>
      <p:sp>
        <p:nvSpPr>
          <p:cNvPr id="12" name="faca-esperado"/>
          <p:cNvSpPr txBox="1"/>
          <p:nvPr/>
        </p:nvSpPr>
        <p:spPr>
          <a:xfrm>
            <a:off x="1005840" y="5596128"/>
            <a:ext cx="9814255" cy="548640"/>
          </a:xfrm>
          <a:prstGeom prst="rect">
            <a:avLst/>
          </a:prstGeom>
          <a:noFill/>
          <a:ln/>
        </p:spPr>
        <p:txBody>
          <a:bodyPr wrap="square" lIns="0" tIns="0" rIns="0" bIns="0" rtlCol="0" anchor="t"/>
          <a:lstStyle/>
          <a:p>
            <a:pPr indent="0" marL="0">
              <a:buNone/>
            </a:pPr>
            <a:r>
              <a:rPr lang="en-US" sz="1800" b="1" dirty="0">
                <a:solidFill>
                  <a:srgbClr val="121614"/>
                </a:solidFill>
                <a:latin typeface="Arial" pitchFamily="34" charset="0"/>
                <a:ea typeface="Arial" pitchFamily="34" charset="-122"/>
                <a:cs typeface="Arial" pitchFamily="34" charset="-120"/>
              </a:rPr>
              <a:t>Expected result: </a:t>
            </a:r>
            <a:pPr indent="0" marL="0">
              <a:buNone/>
            </a:pPr>
            <a:r>
              <a:rPr lang="en-US" sz="1800" dirty="0">
                <a:solidFill>
                  <a:srgbClr val="121614"/>
                </a:solidFill>
                <a:latin typeface="Arial" pitchFamily="34" charset="0"/>
                <a:ea typeface="Arial" pitchFamily="34" charset="-122"/>
                <a:cs typeface="Arial" pitchFamily="34" charset="-120"/>
              </a:rPr>
              <a:t>The Arena session graph, with the lessons linked to the project</a:t>
            </a:r>
            <a:endParaRPr lang="en-US" sz="18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121614"/>
                </a:solidFill>
                <a:latin typeface="Arial"/>
                <a:ea typeface="Arial"/>
                <a:cs typeface="Aria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0"/>
            <a:ext cx="10972800" cy="1371600"/>
          </a:xfrm>
          <a:prstGeom prst="rect">
            <a:avLst/>
          </a:prstGeom>
          <a:noFill/>
          <a:ln/>
        </p:spPr>
        <p:txBody>
          <a:bodyPr wrap="square" lIns="0" tIns="0" rIns="0" bIns="0" rtlCol="0" anchor="b"/>
          <a:lstStyle/>
          <a:p>
            <a:pPr algn="l" indent="0" marL="0">
              <a:buNone/>
            </a:pPr>
            <a:r>
              <a:rPr lang="en-US" sz="6000" b="1" dirty="0">
                <a:solidFill>
                  <a:srgbClr val="E8EDE9"/>
                </a:solidFill>
                <a:latin typeface="Bricolage Grotesque" pitchFamily="34" charset="0"/>
                <a:ea typeface="Bricolage Grotesque" pitchFamily="34" charset="-122"/>
                <a:cs typeface="Bricolage Grotesque" pitchFamily="34" charset="-120"/>
              </a:rPr>
              <a:t>Project 2</a:t>
            </a:r>
            <a:endParaRPr lang="en-US" sz="6000" dirty="0"/>
          </a:p>
        </p:txBody>
      </p:sp>
      <p:sp>
        <p:nvSpPr>
          <p:cNvPr id="3" name="Text 0"/>
          <p:cNvSpPr/>
          <p:nvPr>
            <p:ph idx="101" type="body" hasCustomPrompt="1"/>
          </p:nvPr>
        </p:nvSpPr>
        <p:spPr>
          <a:xfrm>
            <a:off x="548640" y="3840480"/>
            <a:ext cx="10972800" cy="731520"/>
          </a:xfrm>
          <a:prstGeom prst="rect">
            <a:avLst/>
          </a:prstGeom>
          <a:noFill/>
          <a:ln/>
        </p:spPr>
        <p:txBody>
          <a:bodyPr wrap="square" lIns="0" tIns="0" rIns="0" bIns="0" rtlCol="0"/>
          <a:lstStyle/>
          <a:p>
            <a:pPr algn="l" indent="0" marL="0">
              <a:buNone/>
            </a:pPr>
            <a:r>
              <a:rPr lang="en-US" sz="2400" dirty="0">
                <a:solidFill>
                  <a:srgbClr val="9BA59F"/>
                </a:solidFill>
                <a:latin typeface="Arial" pitchFamily="34" charset="0"/>
                <a:ea typeface="Arial" pitchFamily="34" charset="-122"/>
                <a:cs typeface="Arial" pitchFamily="34" charset="-120"/>
              </a:rPr>
              <a:t>Your real task</a:t>
            </a:r>
            <a:endParaRPr lang="en-US" sz="2400" dirty="0"/>
          </a:p>
        </p:txBody>
      </p:sp>
      <p:sp>
        <p:nvSpPr>
          <p:cNvPr id="4" name="estado-0-0"/>
          <p:cNvSpPr/>
          <p:nvPr/>
        </p:nvSpPr>
        <p:spPr>
          <a:xfrm>
            <a:off x="548640" y="1280160"/>
            <a:ext cx="384048" cy="384048"/>
          </a:xfrm>
          <a:prstGeom prst="rect">
            <a:avLst/>
          </a:prstGeom>
          <a:solidFill>
            <a:srgbClr val="1E9E57"/>
          </a:solidFill>
          <a:ln w="12700">
            <a:solidFill>
              <a:srgbClr val="1E9E57"/>
            </a:solidFill>
            <a:prstDash val="solid"/>
          </a:ln>
        </p:spPr>
      </p:sp>
      <p:sp>
        <p:nvSpPr>
          <p:cNvPr id="5" name="estado-0-1"/>
          <p:cNvSpPr/>
          <p:nvPr/>
        </p:nvSpPr>
        <p:spPr>
          <a:xfrm>
            <a:off x="1042416" y="1280160"/>
            <a:ext cx="384048" cy="384048"/>
          </a:xfrm>
          <a:prstGeom prst="rect">
            <a:avLst/>
          </a:prstGeom>
          <a:solidFill>
            <a:srgbClr val="1E9E57"/>
          </a:solidFill>
          <a:ln w="12700">
            <a:solidFill>
              <a:srgbClr val="1E9E57"/>
            </a:solidFill>
            <a:prstDash val="solid"/>
          </a:ln>
        </p:spPr>
      </p:sp>
      <p:sp>
        <p:nvSpPr>
          <p:cNvPr id="6" name="estado-0-2"/>
          <p:cNvSpPr/>
          <p:nvPr/>
        </p:nvSpPr>
        <p:spPr>
          <a:xfrm>
            <a:off x="1536192" y="1280160"/>
            <a:ext cx="384048" cy="384048"/>
          </a:xfrm>
          <a:prstGeom prst="rect">
            <a:avLst/>
          </a:prstGeom>
          <a:solidFill>
            <a:srgbClr val="1E9E57"/>
          </a:solidFill>
          <a:ln w="12700">
            <a:solidFill>
              <a:srgbClr val="1E9E57"/>
            </a:solidFill>
            <a:prstDash val="solid"/>
          </a:ln>
        </p:spPr>
      </p:sp>
      <p:sp>
        <p:nvSpPr>
          <p:cNvPr id="7" name="estado-0-3"/>
          <p:cNvSpPr/>
          <p:nvPr/>
        </p:nvSpPr>
        <p:spPr>
          <a:xfrm>
            <a:off x="2029968" y="1280160"/>
            <a:ext cx="384048" cy="384048"/>
          </a:xfrm>
          <a:prstGeom prst="rect">
            <a:avLst/>
          </a:prstGeom>
          <a:solidFill>
            <a:srgbClr val="1E9E57"/>
          </a:solidFill>
          <a:ln w="12700">
            <a:solidFill>
              <a:srgbClr val="1E9E57"/>
            </a:solidFill>
            <a:prstDash val="solid"/>
          </a:ln>
        </p:spPr>
      </p:sp>
      <p:sp>
        <p:nvSpPr>
          <p:cNvPr id="8" name="estado-0-4"/>
          <p:cNvSpPr/>
          <p:nvPr/>
        </p:nvSpPr>
        <p:spPr>
          <a:xfrm>
            <a:off x="2523744" y="1280160"/>
            <a:ext cx="384048" cy="384048"/>
          </a:xfrm>
          <a:prstGeom prst="rect">
            <a:avLst/>
          </a:prstGeom>
          <a:solidFill>
            <a:srgbClr val="1E9E57"/>
          </a:solidFill>
          <a:ln w="12700">
            <a:solidFill>
              <a:srgbClr val="1E9E57"/>
            </a:solidFill>
            <a:prstDash val="solid"/>
          </a:ln>
        </p:spPr>
      </p:sp>
      <p:sp>
        <p:nvSpPr>
          <p:cNvPr id="9" name="estado-0-5"/>
          <p:cNvSpPr/>
          <p:nvPr/>
        </p:nvSpPr>
        <p:spPr>
          <a:xfrm>
            <a:off x="3017520" y="1280160"/>
            <a:ext cx="384048" cy="384048"/>
          </a:xfrm>
          <a:prstGeom prst="rect">
            <a:avLst/>
          </a:prstGeom>
          <a:solidFill>
            <a:srgbClr val="1E9E57"/>
          </a:solidFill>
          <a:ln w="12700">
            <a:solidFill>
              <a:srgbClr val="1E9E57"/>
            </a:solidFill>
            <a:prstDash val="solid"/>
          </a:ln>
        </p:spPr>
      </p:sp>
      <p:sp>
        <p:nvSpPr>
          <p:cNvPr id="10" name="estado-0-6"/>
          <p:cNvSpPr/>
          <p:nvPr/>
        </p:nvSpPr>
        <p:spPr>
          <a:xfrm>
            <a:off x="3511296" y="1280160"/>
            <a:ext cx="384048" cy="384048"/>
          </a:xfrm>
          <a:prstGeom prst="rect">
            <a:avLst/>
          </a:prstGeom>
          <a:solidFill>
            <a:srgbClr val="1E9E57"/>
          </a:solidFill>
          <a:ln w="12700">
            <a:solidFill>
              <a:srgbClr val="1E9E57"/>
            </a:solidFill>
            <a:prstDash val="solid"/>
          </a:ln>
        </p:spPr>
      </p:sp>
      <p:sp>
        <p:nvSpPr>
          <p:cNvPr id="11" name="estado-0-7"/>
          <p:cNvSpPr/>
          <p:nvPr/>
        </p:nvSpPr>
        <p:spPr>
          <a:xfrm>
            <a:off x="4005072" y="1280160"/>
            <a:ext cx="384048" cy="384048"/>
          </a:xfrm>
          <a:prstGeom prst="rect">
            <a:avLst/>
          </a:prstGeom>
          <a:solidFill>
            <a:srgbClr val="1E9E57"/>
          </a:solidFill>
          <a:ln w="12700">
            <a:solidFill>
              <a:srgbClr val="1E9E57"/>
            </a:solidFill>
            <a:prstDash val="solid"/>
          </a:ln>
        </p:spPr>
      </p:sp>
      <p:sp>
        <p:nvSpPr>
          <p:cNvPr id="12" name="estado-0-8"/>
          <p:cNvSpPr/>
          <p:nvPr/>
        </p:nvSpPr>
        <p:spPr>
          <a:xfrm>
            <a:off x="4498848" y="1280160"/>
            <a:ext cx="384048" cy="384048"/>
          </a:xfrm>
          <a:prstGeom prst="rect">
            <a:avLst/>
          </a:prstGeom>
          <a:solidFill>
            <a:srgbClr val="1E9E57"/>
          </a:solidFill>
          <a:ln w="12700">
            <a:solidFill>
              <a:srgbClr val="1E9E57"/>
            </a:solidFill>
            <a:prstDash val="solid"/>
          </a:ln>
        </p:spPr>
      </p:sp>
      <p:sp>
        <p:nvSpPr>
          <p:cNvPr id="13" name="estado-0-9"/>
          <p:cNvSpPr/>
          <p:nvPr/>
        </p:nvSpPr>
        <p:spPr>
          <a:xfrm>
            <a:off x="4992624" y="1280160"/>
            <a:ext cx="384048" cy="384048"/>
          </a:xfrm>
          <a:prstGeom prst="rect">
            <a:avLst/>
          </a:prstGeom>
          <a:solidFill>
            <a:srgbClr val="1E9E57"/>
          </a:solidFill>
          <a:ln w="12700">
            <a:solidFill>
              <a:srgbClr val="1E9E57"/>
            </a:solidFill>
            <a:prstDash val="solid"/>
          </a:ln>
        </p:spPr>
      </p:sp>
      <p:sp>
        <p:nvSpPr>
          <p:cNvPr id="14" name="estado-0-10"/>
          <p:cNvSpPr/>
          <p:nvPr/>
        </p:nvSpPr>
        <p:spPr>
          <a:xfrm>
            <a:off x="5486400" y="1280160"/>
            <a:ext cx="384048" cy="384048"/>
          </a:xfrm>
          <a:prstGeom prst="rect">
            <a:avLst/>
          </a:prstGeom>
          <a:solidFill>
            <a:srgbClr val="1E9E57"/>
          </a:solidFill>
          <a:ln w="12700">
            <a:solidFill>
              <a:srgbClr val="1E9E57"/>
            </a:solidFill>
            <a:prstDash val="solid"/>
          </a:ln>
        </p:spPr>
      </p:sp>
      <p:sp>
        <p:nvSpPr>
          <p:cNvPr id="15" name="estado-0-11"/>
          <p:cNvSpPr/>
          <p:nvPr/>
        </p:nvSpPr>
        <p:spPr>
          <a:xfrm>
            <a:off x="5980176" y="1280160"/>
            <a:ext cx="384048" cy="384048"/>
          </a:xfrm>
          <a:prstGeom prst="rect">
            <a:avLst/>
          </a:prstGeom>
          <a:solidFill>
            <a:srgbClr val="1E9E57"/>
          </a:solidFill>
          <a:ln w="12700">
            <a:solidFill>
              <a:srgbClr val="1E9E57"/>
            </a:solidFill>
            <a:prstDash val="solid"/>
          </a:ln>
        </p:spPr>
      </p:sp>
      <p:sp>
        <p:nvSpPr>
          <p:cNvPr id="16" name="estado-0-12"/>
          <p:cNvSpPr/>
          <p:nvPr/>
        </p:nvSpPr>
        <p:spPr>
          <a:xfrm>
            <a:off x="6473952" y="1280160"/>
            <a:ext cx="384048" cy="384048"/>
          </a:xfrm>
          <a:prstGeom prst="rect">
            <a:avLst/>
          </a:prstGeom>
          <a:solidFill>
            <a:srgbClr val="1E9E57"/>
          </a:solidFill>
          <a:ln w="12700">
            <a:solidFill>
              <a:srgbClr val="1E9E57"/>
            </a:solidFill>
            <a:prstDash val="solid"/>
          </a:ln>
        </p:spPr>
      </p:sp>
      <p:sp>
        <p:nvSpPr>
          <p:cNvPr id="17" name="estado-0-13"/>
          <p:cNvSpPr/>
          <p:nvPr/>
        </p:nvSpPr>
        <p:spPr>
          <a:xfrm>
            <a:off x="6967728" y="1280160"/>
            <a:ext cx="384048" cy="384048"/>
          </a:xfrm>
          <a:prstGeom prst="rect">
            <a:avLst/>
          </a:prstGeom>
          <a:solidFill>
            <a:srgbClr val="1E9E57"/>
          </a:solidFill>
          <a:ln w="12700">
            <a:solidFill>
              <a:srgbClr val="1E9E57"/>
            </a:solidFill>
            <a:prstDash val="solid"/>
          </a:ln>
        </p:spPr>
      </p:sp>
      <p:sp>
        <p:nvSpPr>
          <p:cNvPr id="18" name="estado-0-14"/>
          <p:cNvSpPr/>
          <p:nvPr/>
        </p:nvSpPr>
        <p:spPr>
          <a:xfrm>
            <a:off x="7461504" y="1280160"/>
            <a:ext cx="384048" cy="384048"/>
          </a:xfrm>
          <a:prstGeom prst="rect">
            <a:avLst/>
          </a:prstGeom>
          <a:solidFill>
            <a:srgbClr val="1E9E57"/>
          </a:solidFill>
          <a:ln w="12700">
            <a:solidFill>
              <a:srgbClr val="1E9E57"/>
            </a:solidFill>
            <a:prstDash val="solid"/>
          </a:ln>
        </p:spPr>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914400"/>
          </a:xfrm>
          <a:prstGeom prst="rect">
            <a:avLst/>
          </a:prstGeom>
          <a:noFill/>
          <a:ln/>
        </p:spPr>
        <p:txBody>
          <a:bodyPr wrap="square" lIns="0" tIns="0" rIns="0" bIns="0" rtlCol="0" anchor="t"/>
          <a:lstStyle/>
          <a:p>
            <a:pPr algn="l" indent="0" marL="0">
              <a:buNone/>
            </a:pPr>
            <a:r>
              <a:rPr lang="en-US" sz="3600" b="1" dirty="0">
                <a:solidFill>
                  <a:srgbClr val="121614"/>
                </a:solidFill>
                <a:latin typeface="Bricolage Grotesque" pitchFamily="34" charset="0"/>
                <a:ea typeface="Bricolage Grotesque" pitchFamily="34" charset="-122"/>
                <a:cs typeface="Bricolage Grotesque" pitchFamily="34" charset="-120"/>
              </a:rPr>
              <a:t>The same cycle, in your repository</a:t>
            </a:r>
            <a:endParaRPr lang="en-US" sz="3600" dirty="0"/>
          </a:p>
        </p:txBody>
      </p:sp>
      <p:sp>
        <p:nvSpPr>
          <p:cNvPr id="3" name="passo-0"/>
          <p:cNvSpPr/>
          <p:nvPr/>
        </p:nvSpPr>
        <p:spPr>
          <a:xfrm>
            <a:off x="548640" y="2377440"/>
            <a:ext cx="1889699" cy="1828800"/>
          </a:xfrm>
          <a:prstGeom prst="rect">
            <a:avLst/>
          </a:prstGeom>
          <a:solidFill>
            <a:srgbClr val="E6E6E1"/>
          </a:solidFill>
          <a:ln w="12700">
            <a:solidFill>
              <a:srgbClr val="E6E6E1"/>
            </a:solidFill>
            <a:prstDash val="solid"/>
          </a:ln>
        </p:spPr>
      </p:sp>
      <p:sp>
        <p:nvSpPr>
          <p:cNvPr id="4" name="passo-marca-0"/>
          <p:cNvSpPr/>
          <p:nvPr/>
        </p:nvSpPr>
        <p:spPr>
          <a:xfrm>
            <a:off x="777240" y="2606040"/>
            <a:ext cx="274320" cy="274320"/>
          </a:xfrm>
          <a:prstGeom prst="rect">
            <a:avLst/>
          </a:prstGeom>
          <a:solidFill>
            <a:srgbClr val="C4C7C1"/>
          </a:solidFill>
          <a:ln w="12700">
            <a:solidFill>
              <a:srgbClr val="C4C7C1"/>
            </a:solidFill>
            <a:prstDash val="solid"/>
          </a:ln>
        </p:spPr>
      </p:sp>
      <p:sp>
        <p:nvSpPr>
          <p:cNvPr id="5" name="passo-texto-0"/>
          <p:cNvSpPr txBox="1"/>
          <p:nvPr/>
        </p:nvSpPr>
        <p:spPr>
          <a:xfrm>
            <a:off x="777240" y="3063240"/>
            <a:ext cx="1432499" cy="1005840"/>
          </a:xfrm>
          <a:prstGeom prst="rect">
            <a:avLst/>
          </a:prstGeom>
          <a:noFill/>
          <a:ln/>
        </p:spPr>
        <p:txBody>
          <a:bodyPr wrap="square" lIns="0" tIns="0" rIns="0" bIns="0" rtlCol="0" anchor="t"/>
          <a:lstStyle/>
          <a:p>
            <a:pPr indent="0" marL="0">
              <a:buNone/>
            </a:pPr>
            <a:r>
              <a:rPr lang="en-US" sz="1600" b="1" dirty="0">
                <a:solidFill>
                  <a:srgbClr val="121614"/>
                </a:solidFill>
                <a:latin typeface="Bricolage Grotesque" pitchFamily="34" charset="0"/>
                <a:ea typeface="Bricolage Grotesque" pitchFamily="34" charset="-122"/>
                <a:cs typeface="Bricolage Grotesque" pitchFamily="34" charset="-120"/>
              </a:rPr>
              <a:t>/task-intake</a:t>
            </a:r>
            <a:endParaRPr lang="en-US" sz="1600" dirty="0"/>
          </a:p>
        </p:txBody>
      </p:sp>
      <p:sp>
        <p:nvSpPr>
          <p:cNvPr id="6" name="fluxo-seta-0"/>
          <p:cNvSpPr/>
          <p:nvPr/>
        </p:nvSpPr>
        <p:spPr>
          <a:xfrm>
            <a:off x="2484059" y="3291840"/>
            <a:ext cx="320040" cy="0"/>
          </a:xfrm>
          <a:prstGeom prst="line">
            <a:avLst/>
          </a:prstGeom>
          <a:noFill/>
          <a:ln w="31750">
            <a:solidFill>
              <a:srgbClr val="121614"/>
            </a:solidFill>
            <a:prstDash val="solid"/>
            <a:tailEnd type="triangle"/>
          </a:ln>
        </p:spPr>
      </p:sp>
      <p:sp>
        <p:nvSpPr>
          <p:cNvPr id="7" name="passo-1"/>
          <p:cNvSpPr/>
          <p:nvPr/>
        </p:nvSpPr>
        <p:spPr>
          <a:xfrm>
            <a:off x="2849819" y="2377440"/>
            <a:ext cx="1889699" cy="1828800"/>
          </a:xfrm>
          <a:prstGeom prst="rect">
            <a:avLst/>
          </a:prstGeom>
          <a:solidFill>
            <a:srgbClr val="E6E6E1"/>
          </a:solidFill>
          <a:ln w="12700">
            <a:solidFill>
              <a:srgbClr val="E6E6E1"/>
            </a:solidFill>
            <a:prstDash val="solid"/>
          </a:ln>
        </p:spPr>
      </p:sp>
      <p:sp>
        <p:nvSpPr>
          <p:cNvPr id="8" name="passo-marca-1"/>
          <p:cNvSpPr/>
          <p:nvPr/>
        </p:nvSpPr>
        <p:spPr>
          <a:xfrm>
            <a:off x="3078419" y="2606040"/>
            <a:ext cx="274320" cy="274320"/>
          </a:xfrm>
          <a:prstGeom prst="rect">
            <a:avLst/>
          </a:prstGeom>
          <a:solidFill>
            <a:srgbClr val="F1C232"/>
          </a:solidFill>
          <a:ln w="12700">
            <a:solidFill>
              <a:srgbClr val="F1C232"/>
            </a:solidFill>
            <a:prstDash val="solid"/>
          </a:ln>
        </p:spPr>
      </p:sp>
      <p:sp>
        <p:nvSpPr>
          <p:cNvPr id="9" name="passo-texto-1"/>
          <p:cNvSpPr txBox="1"/>
          <p:nvPr/>
        </p:nvSpPr>
        <p:spPr>
          <a:xfrm>
            <a:off x="3078419" y="3063240"/>
            <a:ext cx="1432499" cy="1005840"/>
          </a:xfrm>
          <a:prstGeom prst="rect">
            <a:avLst/>
          </a:prstGeom>
          <a:noFill/>
          <a:ln/>
        </p:spPr>
        <p:txBody>
          <a:bodyPr wrap="square" lIns="0" tIns="0" rIns="0" bIns="0" rtlCol="0" anchor="t"/>
          <a:lstStyle/>
          <a:p>
            <a:pPr indent="0" marL="0">
              <a:buNone/>
            </a:pPr>
            <a:r>
              <a:rPr lang="en-US" sz="1600" b="1" dirty="0">
                <a:solidFill>
                  <a:srgbClr val="121614"/>
                </a:solidFill>
                <a:latin typeface="Bricolage Grotesque" pitchFamily="34" charset="0"/>
                <a:ea typeface="Bricolage Grotesque" pitchFamily="34" charset="-122"/>
                <a:cs typeface="Bricolage Grotesque" pitchFamily="34" charset="-120"/>
              </a:rPr>
              <a:t>/task-plan</a:t>
            </a:r>
            <a:endParaRPr lang="en-US" sz="1600" dirty="0"/>
          </a:p>
        </p:txBody>
      </p:sp>
      <p:sp>
        <p:nvSpPr>
          <p:cNvPr id="10" name="fluxo-seta-1"/>
          <p:cNvSpPr/>
          <p:nvPr/>
        </p:nvSpPr>
        <p:spPr>
          <a:xfrm>
            <a:off x="4785238" y="3291840"/>
            <a:ext cx="320040" cy="0"/>
          </a:xfrm>
          <a:prstGeom prst="line">
            <a:avLst/>
          </a:prstGeom>
          <a:noFill/>
          <a:ln w="31750">
            <a:solidFill>
              <a:srgbClr val="121614"/>
            </a:solidFill>
            <a:prstDash val="solid"/>
            <a:tailEnd type="triangle"/>
          </a:ln>
        </p:spPr>
      </p:sp>
      <p:sp>
        <p:nvSpPr>
          <p:cNvPr id="11" name="passo-2"/>
          <p:cNvSpPr/>
          <p:nvPr/>
        </p:nvSpPr>
        <p:spPr>
          <a:xfrm>
            <a:off x="5150998" y="2377440"/>
            <a:ext cx="1889699" cy="1828800"/>
          </a:xfrm>
          <a:prstGeom prst="rect">
            <a:avLst/>
          </a:prstGeom>
          <a:solidFill>
            <a:srgbClr val="E6E6E1"/>
          </a:solidFill>
          <a:ln w="12700">
            <a:solidFill>
              <a:srgbClr val="E6E6E1"/>
            </a:solidFill>
            <a:prstDash val="solid"/>
          </a:ln>
        </p:spPr>
      </p:sp>
      <p:sp>
        <p:nvSpPr>
          <p:cNvPr id="12" name="passo-marca-2"/>
          <p:cNvSpPr/>
          <p:nvPr/>
        </p:nvSpPr>
        <p:spPr>
          <a:xfrm>
            <a:off x="5379598" y="2606040"/>
            <a:ext cx="274320" cy="274320"/>
          </a:xfrm>
          <a:prstGeom prst="rect">
            <a:avLst/>
          </a:prstGeom>
          <a:solidFill>
            <a:srgbClr val="1E9E57"/>
          </a:solidFill>
          <a:ln w="12700">
            <a:solidFill>
              <a:srgbClr val="1E9E57"/>
            </a:solidFill>
            <a:prstDash val="solid"/>
          </a:ln>
        </p:spPr>
      </p:sp>
      <p:sp>
        <p:nvSpPr>
          <p:cNvPr id="13" name="passo-texto-2"/>
          <p:cNvSpPr txBox="1"/>
          <p:nvPr/>
        </p:nvSpPr>
        <p:spPr>
          <a:xfrm>
            <a:off x="5379598" y="3063240"/>
            <a:ext cx="1432499" cy="1005840"/>
          </a:xfrm>
          <a:prstGeom prst="rect">
            <a:avLst/>
          </a:prstGeom>
          <a:noFill/>
          <a:ln/>
        </p:spPr>
        <p:txBody>
          <a:bodyPr wrap="square" lIns="0" tIns="0" rIns="0" bIns="0" rtlCol="0" anchor="t"/>
          <a:lstStyle/>
          <a:p>
            <a:pPr indent="0" marL="0">
              <a:buNone/>
            </a:pPr>
            <a:r>
              <a:rPr lang="en-US" sz="1600" b="1" dirty="0">
                <a:solidFill>
                  <a:srgbClr val="121614"/>
                </a:solidFill>
                <a:latin typeface="Bricolage Grotesque" pitchFamily="34" charset="0"/>
                <a:ea typeface="Bricolage Grotesque" pitchFamily="34" charset="-122"/>
                <a:cs typeface="Bricolage Grotesque" pitchFamily="34" charset="-120"/>
              </a:rPr>
              <a:t>/task-swarm</a:t>
            </a:r>
            <a:endParaRPr lang="en-US" sz="1600" dirty="0"/>
          </a:p>
        </p:txBody>
      </p:sp>
      <p:sp>
        <p:nvSpPr>
          <p:cNvPr id="14" name="fluxo-seta-2"/>
          <p:cNvSpPr/>
          <p:nvPr/>
        </p:nvSpPr>
        <p:spPr>
          <a:xfrm>
            <a:off x="7086417" y="3291840"/>
            <a:ext cx="320040" cy="0"/>
          </a:xfrm>
          <a:prstGeom prst="line">
            <a:avLst/>
          </a:prstGeom>
          <a:noFill/>
          <a:ln w="31750">
            <a:solidFill>
              <a:srgbClr val="121614"/>
            </a:solidFill>
            <a:prstDash val="solid"/>
            <a:tailEnd type="triangle"/>
          </a:ln>
        </p:spPr>
      </p:sp>
      <p:sp>
        <p:nvSpPr>
          <p:cNvPr id="15" name="passo-3"/>
          <p:cNvSpPr/>
          <p:nvPr/>
        </p:nvSpPr>
        <p:spPr>
          <a:xfrm>
            <a:off x="7452177" y="2377440"/>
            <a:ext cx="1889699" cy="1828800"/>
          </a:xfrm>
          <a:prstGeom prst="rect">
            <a:avLst/>
          </a:prstGeom>
          <a:solidFill>
            <a:srgbClr val="E6E6E1"/>
          </a:solidFill>
          <a:ln w="12700">
            <a:solidFill>
              <a:srgbClr val="E6E6E1"/>
            </a:solidFill>
            <a:prstDash val="solid"/>
          </a:ln>
        </p:spPr>
      </p:sp>
      <p:sp>
        <p:nvSpPr>
          <p:cNvPr id="16" name="passo-marca-3"/>
          <p:cNvSpPr/>
          <p:nvPr/>
        </p:nvSpPr>
        <p:spPr>
          <a:xfrm>
            <a:off x="7680777" y="2606040"/>
            <a:ext cx="274320" cy="274320"/>
          </a:xfrm>
          <a:prstGeom prst="rect">
            <a:avLst/>
          </a:prstGeom>
          <a:solidFill>
            <a:srgbClr val="1E9E57"/>
          </a:solidFill>
          <a:ln w="12700">
            <a:solidFill>
              <a:srgbClr val="1E9E57"/>
            </a:solidFill>
            <a:prstDash val="solid"/>
          </a:ln>
        </p:spPr>
      </p:sp>
      <p:sp>
        <p:nvSpPr>
          <p:cNvPr id="17" name="passo-texto-3"/>
          <p:cNvSpPr txBox="1"/>
          <p:nvPr/>
        </p:nvSpPr>
        <p:spPr>
          <a:xfrm>
            <a:off x="7680777" y="3063240"/>
            <a:ext cx="1432499" cy="1005840"/>
          </a:xfrm>
          <a:prstGeom prst="rect">
            <a:avLst/>
          </a:prstGeom>
          <a:noFill/>
          <a:ln/>
        </p:spPr>
        <p:txBody>
          <a:bodyPr wrap="square" lIns="0" tIns="0" rIns="0" bIns="0" rtlCol="0" anchor="t"/>
          <a:lstStyle/>
          <a:p>
            <a:pPr indent="0" marL="0">
              <a:buNone/>
            </a:pPr>
            <a:r>
              <a:rPr lang="en-US" sz="1600" b="1" dirty="0">
                <a:solidFill>
                  <a:srgbClr val="121614"/>
                </a:solidFill>
                <a:latin typeface="Bricolage Grotesque" pitchFamily="34" charset="0"/>
                <a:ea typeface="Bricolage Grotesque" pitchFamily="34" charset="-122"/>
                <a:cs typeface="Bricolage Grotesque" pitchFamily="34" charset="-120"/>
              </a:rPr>
              <a:t>/task-gate</a:t>
            </a:r>
            <a:endParaRPr lang="en-US" sz="1600" dirty="0"/>
          </a:p>
        </p:txBody>
      </p:sp>
      <p:sp>
        <p:nvSpPr>
          <p:cNvPr id="18" name="fluxo-seta-3"/>
          <p:cNvSpPr/>
          <p:nvPr/>
        </p:nvSpPr>
        <p:spPr>
          <a:xfrm>
            <a:off x="9387596" y="3291840"/>
            <a:ext cx="320040" cy="0"/>
          </a:xfrm>
          <a:prstGeom prst="line">
            <a:avLst/>
          </a:prstGeom>
          <a:noFill/>
          <a:ln w="31750">
            <a:solidFill>
              <a:srgbClr val="121614"/>
            </a:solidFill>
            <a:prstDash val="solid"/>
            <a:tailEnd type="triangle"/>
          </a:ln>
        </p:spPr>
      </p:sp>
      <p:sp>
        <p:nvSpPr>
          <p:cNvPr id="19" name="passo-4"/>
          <p:cNvSpPr/>
          <p:nvPr/>
        </p:nvSpPr>
        <p:spPr>
          <a:xfrm>
            <a:off x="9753356" y="2377440"/>
            <a:ext cx="1889699" cy="1828800"/>
          </a:xfrm>
          <a:prstGeom prst="rect">
            <a:avLst/>
          </a:prstGeom>
          <a:solidFill>
            <a:srgbClr val="121614"/>
          </a:solidFill>
          <a:ln w="12700">
            <a:solidFill>
              <a:srgbClr val="121614"/>
            </a:solidFill>
            <a:prstDash val="solid"/>
          </a:ln>
        </p:spPr>
      </p:sp>
      <p:sp>
        <p:nvSpPr>
          <p:cNvPr id="20" name="passo-marca-4"/>
          <p:cNvSpPr/>
          <p:nvPr/>
        </p:nvSpPr>
        <p:spPr>
          <a:xfrm>
            <a:off x="9981956" y="2606040"/>
            <a:ext cx="274320" cy="274320"/>
          </a:xfrm>
          <a:prstGeom prst="rect">
            <a:avLst/>
          </a:prstGeom>
          <a:solidFill>
            <a:srgbClr val="1A4BE0"/>
          </a:solidFill>
          <a:ln w="12700">
            <a:solidFill>
              <a:srgbClr val="1A4BE0"/>
            </a:solidFill>
            <a:prstDash val="solid"/>
          </a:ln>
        </p:spPr>
      </p:sp>
      <p:sp>
        <p:nvSpPr>
          <p:cNvPr id="21" name="passo-texto-4"/>
          <p:cNvSpPr txBox="1"/>
          <p:nvPr/>
        </p:nvSpPr>
        <p:spPr>
          <a:xfrm>
            <a:off x="9981956" y="3063240"/>
            <a:ext cx="1432499" cy="1005840"/>
          </a:xfrm>
          <a:prstGeom prst="rect">
            <a:avLst/>
          </a:prstGeom>
          <a:noFill/>
          <a:ln/>
        </p:spPr>
        <p:txBody>
          <a:bodyPr wrap="square" lIns="0" tIns="0" rIns="0" bIns="0" rtlCol="0" anchor="t"/>
          <a:lstStyle/>
          <a:p>
            <a:pPr indent="0" marL="0">
              <a:buNone/>
            </a:pPr>
            <a:r>
              <a:rPr lang="en-US" sz="1600" b="1" dirty="0">
                <a:solidFill>
                  <a:srgbClr val="E8EDE9"/>
                </a:solidFill>
                <a:latin typeface="Bricolage Grotesque" pitchFamily="34" charset="0"/>
                <a:ea typeface="Bricolage Grotesque" pitchFamily="34" charset="-122"/>
                <a:cs typeface="Bricolage Grotesque" pitchFamily="34" charset="-120"/>
              </a:rPr>
              <a:t>/task-report</a:t>
            </a:r>
            <a:endParaRPr lang="en-US" sz="16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45C57"/>
                </a:solidFill>
                <a:latin typeface="Arial"/>
                <a:ea typeface="Arial"/>
                <a:cs typeface="Aria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faca-rotulo"/>
          <p:cNvSpPr txBox="1"/>
          <p:nvPr/>
        </p:nvSpPr>
        <p:spPr>
          <a:xfrm>
            <a:off x="548640" y="411480"/>
            <a:ext cx="5486400" cy="411480"/>
          </a:xfrm>
          <a:prstGeom prst="rect">
            <a:avLst/>
          </a:prstGeom>
          <a:noFill/>
          <a:ln/>
        </p:spPr>
        <p:txBody>
          <a:bodyPr wrap="square" lIns="0" tIns="0" rIns="0" bIns="0" rtlCol="0" anchor="t"/>
          <a:lstStyle/>
          <a:p>
            <a:pPr indent="0" marL="0">
              <a:buNone/>
            </a:pPr>
            <a:r>
              <a:rPr lang="en-US" sz="2000" b="1" dirty="0">
                <a:solidFill>
                  <a:srgbClr val="121614"/>
                </a:solidFill>
                <a:latin typeface="Bricolage Grotesque" pitchFamily="34" charset="0"/>
                <a:ea typeface="Bricolage Grotesque" pitchFamily="34" charset="-122"/>
                <a:cs typeface="Bricolage Grotesque" pitchFamily="34" charset="-120"/>
              </a:rPr>
              <a:t>Do it now · 4 min</a:t>
            </a:r>
            <a:endParaRPr lang="en-US" sz="2000" dirty="0"/>
          </a:p>
        </p:txBody>
      </p:sp>
      <p:sp>
        <p:nvSpPr>
          <p:cNvPr id="3" name="Text 0"/>
          <p:cNvSpPr/>
          <p:nvPr>
            <p:ph idx="100" type="title" hasCustomPrompt="1"/>
          </p:nvPr>
        </p:nvSpPr>
        <p:spPr>
          <a:xfrm>
            <a:off x="548640" y="868680"/>
            <a:ext cx="11094415" cy="868680"/>
          </a:xfrm>
          <a:prstGeom prst="rect">
            <a:avLst/>
          </a:prstGeom>
          <a:noFill/>
          <a:ln/>
        </p:spPr>
        <p:txBody>
          <a:bodyPr wrap="square" lIns="0" tIns="0" rIns="0" bIns="0" rtlCol="0" anchor="t"/>
          <a:lstStyle/>
          <a:p>
            <a:pPr algn="l" indent="0" marL="0">
              <a:buNone/>
            </a:pPr>
            <a:r>
              <a:rPr lang="en-US" sz="3800" b="1" dirty="0">
                <a:solidFill>
                  <a:srgbClr val="121614"/>
                </a:solidFill>
                <a:latin typeface="Bricolage Grotesque" pitchFamily="34" charset="0"/>
                <a:ea typeface="Bricolage Grotesque" pitchFamily="34" charset="-122"/>
                <a:cs typeface="Bricolage Grotesque" pitchFamily="34" charset="-120"/>
              </a:rPr>
              <a:t>Bring your task</a:t>
            </a:r>
            <a:endParaRPr lang="en-US" sz="3800" dirty="0"/>
          </a:p>
        </p:txBody>
      </p:sp>
      <p:sp>
        <p:nvSpPr>
          <p:cNvPr id="4" name="faca-passos"/>
          <p:cNvSpPr txBox="1"/>
          <p:nvPr/>
        </p:nvSpPr>
        <p:spPr>
          <a:xfrm>
            <a:off x="548640" y="1920240"/>
            <a:ext cx="4023360" cy="329184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21614"/>
                </a:solidFill>
                <a:latin typeface="Arial" pitchFamily="34" charset="0"/>
                <a:ea typeface="Arial" pitchFamily="34" charset="-122"/>
                <a:cs typeface="Arial" pitchFamily="34" charset="-120"/>
              </a:rPr>
              <a:t>Open Claude Code at the root of your project</a:t>
            </a:r>
            <a:endParaRPr lang="en-US" sz="2000" dirty="0"/>
          </a:p>
          <a:p>
            <a:pPr marL="342900" indent="-342900">
              <a:spcAft>
                <a:spcPts val="1200"/>
              </a:spcAft>
              <a:buSzPct val="100000"/>
              <a:buFont typeface="+mj-lt"/>
              <a:buAutoNum type="arabicPeriod" startAt="1"/>
            </a:pPr>
            <a:r>
              <a:rPr lang="en-US" sz="2000" dirty="0">
                <a:solidFill>
                  <a:srgbClr val="121614"/>
                </a:solidFill>
                <a:latin typeface="Arial" pitchFamily="34" charset="0"/>
                <a:ea typeface="Arial" pitchFamily="34" charset="-122"/>
                <a:cs typeface="Arial" pitchFamily="34" charset="-120"/>
              </a:rPr>
              <a:t>Give it the Jira or GitHub issue</a:t>
            </a:r>
            <a:endParaRPr lang="en-US" sz="2000" dirty="0"/>
          </a:p>
          <a:p>
            <a:pPr marL="342900" indent="-342900">
              <a:spcAft>
                <a:spcPts val="1200"/>
              </a:spcAft>
              <a:buSzPct val="100000"/>
              <a:buFont typeface="+mj-lt"/>
              <a:buAutoNum type="arabicPeriod" startAt="1"/>
            </a:pPr>
            <a:r>
              <a:rPr lang="en-US" sz="2000" dirty="0">
                <a:solidFill>
                  <a:srgbClr val="121614"/>
                </a:solidFill>
                <a:latin typeface="Arial" pitchFamily="34" charset="0"/>
                <a:ea typeface="Arial" pitchFamily="34" charset="-122"/>
                <a:cs typeface="Arial" pitchFamily="34" charset="-120"/>
              </a:rPr>
              <a:t>No access? Use the practice project</a:t>
            </a:r>
            <a:endParaRPr lang="en-US" sz="2000" dirty="0"/>
          </a:p>
        </p:txBody>
      </p:sp>
      <p:sp>
        <p:nvSpPr>
          <p:cNvPr id="5" name="codigo-fundo"/>
          <p:cNvSpPr/>
          <p:nvPr/>
        </p:nvSpPr>
        <p:spPr>
          <a:xfrm>
            <a:off x="4937760" y="1920240"/>
            <a:ext cx="6705295" cy="1728216"/>
          </a:xfrm>
          <a:prstGeom prst="rect">
            <a:avLst/>
          </a:prstGeom>
          <a:solidFill>
            <a:srgbClr val="121614"/>
          </a:solidFill>
          <a:ln w="12700">
            <a:solidFill>
              <a:srgbClr val="121614"/>
            </a:solidFill>
            <a:prstDash val="solid"/>
          </a:ln>
        </p:spPr>
      </p:sp>
      <p:sp>
        <p:nvSpPr>
          <p:cNvPr id="6" name="codigo-rotulo"/>
          <p:cNvSpPr txBox="1"/>
          <p:nvPr/>
        </p:nvSpPr>
        <p:spPr>
          <a:xfrm>
            <a:off x="5166360" y="2103120"/>
            <a:ext cx="6248095" cy="274320"/>
          </a:xfrm>
          <a:prstGeom prst="rect">
            <a:avLst/>
          </a:prstGeom>
          <a:noFill/>
          <a:ln/>
        </p:spPr>
        <p:txBody>
          <a:bodyPr wrap="square" lIns="0" tIns="0" rIns="0" bIns="0" rtlCol="0" anchor="t"/>
          <a:lstStyle/>
          <a:p>
            <a:pPr indent="0" marL="0">
              <a:buNone/>
            </a:pPr>
            <a:r>
              <a:rPr lang="en-US" sz="1300" b="1" dirty="0">
                <a:solidFill>
                  <a:srgbClr val="F1C232"/>
                </a:solidFill>
                <a:latin typeface="Arial" pitchFamily="34" charset="0"/>
                <a:ea typeface="Arial" pitchFamily="34" charset="-122"/>
                <a:cs typeface="Arial" pitchFamily="34" charset="-120"/>
              </a:rPr>
              <a:t>Your project</a:t>
            </a:r>
            <a:endParaRPr lang="en-US" sz="1300" dirty="0"/>
          </a:p>
        </p:txBody>
      </p:sp>
      <p:sp>
        <p:nvSpPr>
          <p:cNvPr id="7" name="codigo"/>
          <p:cNvSpPr txBox="1"/>
          <p:nvPr/>
        </p:nvSpPr>
        <p:spPr>
          <a:xfrm>
            <a:off x="5166360" y="2450592"/>
            <a:ext cx="6248095" cy="1060704"/>
          </a:xfrm>
          <a:prstGeom prst="rect">
            <a:avLst/>
          </a:prstGeom>
          <a:noFill/>
          <a:ln/>
        </p:spPr>
        <p:txBody>
          <a:bodyPr wrap="square" lIns="0" tIns="0" rIns="0" bIns="0" rtlCol="0" anchor="t"/>
          <a:lstStyle/>
          <a:p>
            <a:pPr indent="0" marL="0">
              <a:buNone/>
            </a:pPr>
            <a:r>
              <a:rPr lang="en-US" sz="2000" dirty="0">
                <a:solidFill>
                  <a:srgbClr val="E8EDE9"/>
                </a:solidFill>
                <a:latin typeface="Courier New" pitchFamily="34" charset="0"/>
                <a:ea typeface="Courier New" pitchFamily="34" charset="-122"/>
                <a:cs typeface="Courier New" pitchFamily="34" charset="-120"/>
              </a:rPr>
              <a:t>cd &lt;your repository&gt;</a:t>
            </a:r>
            <a:endParaRPr lang="en-US" sz="2000" dirty="0"/>
          </a:p>
          <a:p>
            <a:pPr indent="0" marL="0">
              <a:buNone/>
            </a:pPr>
            <a:r>
              <a:rPr lang="en-US" sz="2000" dirty="0">
                <a:solidFill>
                  <a:srgbClr val="E8EDE9"/>
                </a:solidFill>
                <a:latin typeface="Courier New" pitchFamily="34" charset="0"/>
                <a:ea typeface="Courier New" pitchFamily="34" charset="-122"/>
                <a:cs typeface="Courier New" pitchFamily="34" charset="-120"/>
              </a:rPr>
              <a:t>claude</a:t>
            </a:r>
            <a:endParaRPr lang="en-US" sz="2000" dirty="0"/>
          </a:p>
          <a:p>
            <a:pPr indent="0" marL="0">
              <a:buNone/>
            </a:pPr>
            <a:r>
              <a:rPr lang="en-US" sz="2000" dirty="0">
                <a:solidFill>
                  <a:srgbClr val="E8EDE9"/>
                </a:solidFill>
                <a:latin typeface="Courier New" pitchFamily="34" charset="0"/>
                <a:ea typeface="Courier New" pitchFamily="34" charset="-122"/>
                <a:cs typeface="Courier New" pitchFamily="34" charset="-120"/>
              </a:rPr>
              <a:t>/task-intake ABC-123</a:t>
            </a:r>
            <a:endParaRPr lang="en-US" sz="2000" dirty="0"/>
          </a:p>
        </p:txBody>
      </p:sp>
      <p:sp>
        <p:nvSpPr>
          <p:cNvPr id="8" name="codigo-fundo"/>
          <p:cNvSpPr/>
          <p:nvPr/>
        </p:nvSpPr>
        <p:spPr>
          <a:xfrm>
            <a:off x="4937760" y="3877056"/>
            <a:ext cx="6705295" cy="1728216"/>
          </a:xfrm>
          <a:prstGeom prst="rect">
            <a:avLst/>
          </a:prstGeom>
          <a:solidFill>
            <a:srgbClr val="121614"/>
          </a:solidFill>
          <a:ln w="12700">
            <a:solidFill>
              <a:srgbClr val="121614"/>
            </a:solidFill>
            <a:prstDash val="solid"/>
          </a:ln>
        </p:spPr>
      </p:sp>
      <p:sp>
        <p:nvSpPr>
          <p:cNvPr id="9" name="codigo-rotulo"/>
          <p:cNvSpPr txBox="1"/>
          <p:nvPr/>
        </p:nvSpPr>
        <p:spPr>
          <a:xfrm>
            <a:off x="5166360" y="4059936"/>
            <a:ext cx="6248095" cy="274320"/>
          </a:xfrm>
          <a:prstGeom prst="rect">
            <a:avLst/>
          </a:prstGeom>
          <a:noFill/>
          <a:ln/>
        </p:spPr>
        <p:txBody>
          <a:bodyPr wrap="square" lIns="0" tIns="0" rIns="0" bIns="0" rtlCol="0" anchor="t"/>
          <a:lstStyle/>
          <a:p>
            <a:pPr indent="0" marL="0">
              <a:buNone/>
            </a:pPr>
            <a:r>
              <a:rPr lang="en-US" sz="1300" b="1" dirty="0">
                <a:solidFill>
                  <a:srgbClr val="F1C232"/>
                </a:solidFill>
                <a:latin typeface="Arial" pitchFamily="34" charset="0"/>
                <a:ea typeface="Arial" pitchFamily="34" charset="-122"/>
                <a:cs typeface="Arial" pitchFamily="34" charset="-120"/>
              </a:rPr>
              <a:t>Practice project</a:t>
            </a:r>
            <a:endParaRPr lang="en-US" sz="1300" dirty="0"/>
          </a:p>
        </p:txBody>
      </p:sp>
      <p:sp>
        <p:nvSpPr>
          <p:cNvPr id="10" name="codigo"/>
          <p:cNvSpPr txBox="1"/>
          <p:nvPr/>
        </p:nvSpPr>
        <p:spPr>
          <a:xfrm>
            <a:off x="5166360" y="4407408"/>
            <a:ext cx="6248095" cy="1060704"/>
          </a:xfrm>
          <a:prstGeom prst="rect">
            <a:avLst/>
          </a:prstGeom>
          <a:noFill/>
          <a:ln/>
        </p:spPr>
        <p:txBody>
          <a:bodyPr wrap="square" lIns="0" tIns="0" rIns="0" bIns="0" rtlCol="0" anchor="t"/>
          <a:lstStyle/>
          <a:p>
            <a:pPr indent="0" marL="0">
              <a:buNone/>
            </a:pPr>
            <a:r>
              <a:rPr lang="en-US" sz="2000" dirty="0">
                <a:solidFill>
                  <a:srgbClr val="E8EDE9"/>
                </a:solidFill>
                <a:latin typeface="Courier New" pitchFamily="34" charset="0"/>
                <a:ea typeface="Courier New" pitchFamily="34" charset="-122"/>
                <a:cs typeface="Courier New" pitchFamily="34" charset="-120"/>
              </a:rPr>
              <a:t>cd ~/workshop-claude/exemplo-projeto-real</a:t>
            </a:r>
            <a:endParaRPr lang="en-US" sz="2000" dirty="0"/>
          </a:p>
          <a:p>
            <a:pPr indent="0" marL="0">
              <a:buNone/>
            </a:pPr>
            <a:r>
              <a:rPr lang="en-US" sz="2000" dirty="0">
                <a:solidFill>
                  <a:srgbClr val="E8EDE9"/>
                </a:solidFill>
                <a:latin typeface="Courier New" pitchFamily="34" charset="0"/>
                <a:ea typeface="Courier New" pitchFamily="34" charset="-122"/>
                <a:cs typeface="Courier New" pitchFamily="34" charset="-120"/>
              </a:rPr>
              <a:t>claude</a:t>
            </a:r>
            <a:endParaRPr lang="en-US" sz="2000" dirty="0"/>
          </a:p>
          <a:p>
            <a:pPr indent="0" marL="0">
              <a:buNone/>
            </a:pPr>
            <a:r>
              <a:rPr lang="en-US" sz="2000" dirty="0">
                <a:solidFill>
                  <a:srgbClr val="E8EDE9"/>
                </a:solidFill>
                <a:latin typeface="Courier New" pitchFamily="34" charset="0"/>
                <a:ea typeface="Courier New" pitchFamily="34" charset="-122"/>
                <a:cs typeface="Courier New" pitchFamily="34" charset="-120"/>
              </a:rPr>
              <a:t>/task-intake issues/EX-1.json</a:t>
            </a:r>
            <a:endParaRPr lang="en-US" sz="2000" dirty="0"/>
          </a:p>
        </p:txBody>
      </p:sp>
      <p:sp>
        <p:nvSpPr>
          <p:cNvPr id="11" name="esperado-marca"/>
          <p:cNvSpPr/>
          <p:nvPr/>
        </p:nvSpPr>
        <p:spPr>
          <a:xfrm>
            <a:off x="548640" y="5650992"/>
            <a:ext cx="292608" cy="292608"/>
          </a:xfrm>
          <a:prstGeom prst="rect">
            <a:avLst/>
          </a:prstGeom>
          <a:solidFill>
            <a:srgbClr val="1E9E57"/>
          </a:solidFill>
          <a:ln w="12700">
            <a:solidFill>
              <a:srgbClr val="1E9E57"/>
            </a:solidFill>
            <a:prstDash val="solid"/>
          </a:ln>
        </p:spPr>
      </p:sp>
      <p:sp>
        <p:nvSpPr>
          <p:cNvPr id="12" name="faca-esperado"/>
          <p:cNvSpPr txBox="1"/>
          <p:nvPr/>
        </p:nvSpPr>
        <p:spPr>
          <a:xfrm>
            <a:off x="1005840" y="5596128"/>
            <a:ext cx="9814255" cy="548640"/>
          </a:xfrm>
          <a:prstGeom prst="rect">
            <a:avLst/>
          </a:prstGeom>
          <a:noFill/>
          <a:ln/>
        </p:spPr>
        <p:txBody>
          <a:bodyPr wrap="square" lIns="0" tIns="0" rIns="0" bIns="0" rtlCol="0" anchor="t"/>
          <a:lstStyle/>
          <a:p>
            <a:pPr indent="0" marL="0">
              <a:buNone/>
            </a:pPr>
            <a:r>
              <a:rPr lang="en-US" sz="1800" b="1" dirty="0">
                <a:solidFill>
                  <a:srgbClr val="121614"/>
                </a:solidFill>
                <a:latin typeface="Arial" pitchFamily="34" charset="0"/>
                <a:ea typeface="Arial" pitchFamily="34" charset="-122"/>
                <a:cs typeface="Arial" pitchFamily="34" charset="-120"/>
              </a:rPr>
              <a:t>Expected result: </a:t>
            </a:r>
            <a:pPr indent="0" marL="0">
              <a:buNone/>
            </a:pPr>
            <a:r>
              <a:rPr lang="en-US" sz="1800" dirty="0">
                <a:solidFill>
                  <a:srgbClr val="121614"/>
                </a:solidFill>
                <a:latin typeface="Arial" pitchFamily="34" charset="0"/>
                <a:ea typeface="Arial" pitchFamily="34" charset="-122"/>
                <a:cs typeface="Arial" pitchFamily="34" charset="-120"/>
              </a:rPr>
              <a:t>Title, acceptance criteria and the test command of the project</a:t>
            </a:r>
            <a:endParaRPr lang="en-US" sz="18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121614"/>
                </a:solidFill>
                <a:latin typeface="Arial"/>
                <a:ea typeface="Arial"/>
                <a:cs typeface="Aria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faca-rotulo"/>
          <p:cNvSpPr txBox="1"/>
          <p:nvPr/>
        </p:nvSpPr>
        <p:spPr>
          <a:xfrm>
            <a:off x="548640" y="411480"/>
            <a:ext cx="5486400" cy="411480"/>
          </a:xfrm>
          <a:prstGeom prst="rect">
            <a:avLst/>
          </a:prstGeom>
          <a:noFill/>
          <a:ln/>
        </p:spPr>
        <p:txBody>
          <a:bodyPr wrap="square" lIns="0" tIns="0" rIns="0" bIns="0" rtlCol="0" anchor="t"/>
          <a:lstStyle/>
          <a:p>
            <a:pPr indent="0" marL="0">
              <a:buNone/>
            </a:pPr>
            <a:r>
              <a:rPr lang="en-US" sz="2000" b="1" dirty="0">
                <a:solidFill>
                  <a:srgbClr val="121614"/>
                </a:solidFill>
                <a:latin typeface="Bricolage Grotesque" pitchFamily="34" charset="0"/>
                <a:ea typeface="Bricolage Grotesque" pitchFamily="34" charset="-122"/>
                <a:cs typeface="Bricolage Grotesque" pitchFamily="34" charset="-120"/>
              </a:rPr>
              <a:t>Do it now · 5 min</a:t>
            </a:r>
            <a:endParaRPr lang="en-US" sz="2000" dirty="0"/>
          </a:p>
        </p:txBody>
      </p:sp>
      <p:sp>
        <p:nvSpPr>
          <p:cNvPr id="3" name="Text 0"/>
          <p:cNvSpPr/>
          <p:nvPr>
            <p:ph idx="100" type="title" hasCustomPrompt="1"/>
          </p:nvPr>
        </p:nvSpPr>
        <p:spPr>
          <a:xfrm>
            <a:off x="548640" y="868680"/>
            <a:ext cx="11094415" cy="868680"/>
          </a:xfrm>
          <a:prstGeom prst="rect">
            <a:avLst/>
          </a:prstGeom>
          <a:noFill/>
          <a:ln/>
        </p:spPr>
        <p:txBody>
          <a:bodyPr wrap="square" lIns="0" tIns="0" rIns="0" bIns="0" rtlCol="0" anchor="t"/>
          <a:lstStyle/>
          <a:p>
            <a:pPr algn="l" indent="0" marL="0">
              <a:buNone/>
            </a:pPr>
            <a:r>
              <a:rPr lang="en-US" sz="3800" b="1" dirty="0">
                <a:solidFill>
                  <a:srgbClr val="121614"/>
                </a:solidFill>
                <a:latin typeface="Bricolage Grotesque" pitchFamily="34" charset="0"/>
                <a:ea typeface="Bricolage Grotesque" pitchFamily="34" charset="-122"/>
                <a:cs typeface="Bricolage Grotesque" pitchFamily="34" charset="-120"/>
              </a:rPr>
              <a:t>The planner decides how many agents</a:t>
            </a:r>
            <a:endParaRPr lang="en-US" sz="3800" dirty="0"/>
          </a:p>
        </p:txBody>
      </p:sp>
      <p:sp>
        <p:nvSpPr>
          <p:cNvPr id="4" name="faca-passos"/>
          <p:cNvSpPr txBox="1"/>
          <p:nvPr/>
        </p:nvSpPr>
        <p:spPr>
          <a:xfrm>
            <a:off x="548640" y="1920240"/>
            <a:ext cx="4023360" cy="329184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21614"/>
                </a:solidFill>
                <a:latin typeface="Arial" pitchFamily="34" charset="0"/>
                <a:ea typeface="Arial" pitchFamily="34" charset="-122"/>
                <a:cs typeface="Arial" pitchFamily="34" charset="-120"/>
              </a:rPr>
              <a:t>Run /task-plan</a:t>
            </a:r>
            <a:endParaRPr lang="en-US" sz="2000" dirty="0"/>
          </a:p>
          <a:p>
            <a:pPr marL="342900" indent="-342900">
              <a:spcAft>
                <a:spcPts val="1200"/>
              </a:spcAft>
              <a:buSzPct val="100000"/>
              <a:buFont typeface="+mj-lt"/>
              <a:buAutoNum type="arabicPeriod" startAt="1"/>
            </a:pPr>
            <a:r>
              <a:rPr lang="en-US" sz="2000" dirty="0">
                <a:solidFill>
                  <a:srgbClr val="121614"/>
                </a:solidFill>
                <a:latin typeface="Arial" pitchFamily="34" charset="0"/>
                <a:ea typeface="Arial" pitchFamily="34" charset="-122"/>
                <a:cs typeface="Arial" pitchFamily="34" charset="-120"/>
              </a:rPr>
              <a:t>Read why it picked that number of agents</a:t>
            </a:r>
            <a:endParaRPr lang="en-US" sz="2000" dirty="0"/>
          </a:p>
          <a:p>
            <a:pPr marL="342900" indent="-342900">
              <a:spcAft>
                <a:spcPts val="1200"/>
              </a:spcAft>
              <a:buSzPct val="100000"/>
              <a:buFont typeface="+mj-lt"/>
              <a:buAutoNum type="arabicPeriod" startAt="1"/>
            </a:pPr>
            <a:r>
              <a:rPr lang="en-US" sz="2000" dirty="0">
                <a:solidFill>
                  <a:srgbClr val="121614"/>
                </a:solidFill>
                <a:latin typeface="Arial" pitchFamily="34" charset="0"/>
                <a:ea typeface="Arial" pitchFamily="34" charset="-122"/>
                <a:cs typeface="Arial" pitchFamily="34" charset="-120"/>
              </a:rPr>
              <a:t>Approve or adjust</a:t>
            </a:r>
            <a:endParaRPr lang="en-US" sz="2000" dirty="0"/>
          </a:p>
        </p:txBody>
      </p:sp>
      <p:sp>
        <p:nvSpPr>
          <p:cNvPr id="5" name="codigo-fundo"/>
          <p:cNvSpPr/>
          <p:nvPr/>
        </p:nvSpPr>
        <p:spPr>
          <a:xfrm>
            <a:off x="4937760" y="1920240"/>
            <a:ext cx="6705295" cy="1051560"/>
          </a:xfrm>
          <a:prstGeom prst="rect">
            <a:avLst/>
          </a:prstGeom>
          <a:solidFill>
            <a:srgbClr val="121614"/>
          </a:solidFill>
          <a:ln w="12700">
            <a:solidFill>
              <a:srgbClr val="121614"/>
            </a:solidFill>
            <a:prstDash val="solid"/>
          </a:ln>
        </p:spPr>
      </p:sp>
      <p:sp>
        <p:nvSpPr>
          <p:cNvPr id="6" name="codigo-rotulo"/>
          <p:cNvSpPr txBox="1"/>
          <p:nvPr/>
        </p:nvSpPr>
        <p:spPr>
          <a:xfrm>
            <a:off x="5166360" y="2103120"/>
            <a:ext cx="6248095" cy="274320"/>
          </a:xfrm>
          <a:prstGeom prst="rect">
            <a:avLst/>
          </a:prstGeom>
          <a:noFill/>
          <a:ln/>
        </p:spPr>
        <p:txBody>
          <a:bodyPr wrap="square" lIns="0" tIns="0" rIns="0" bIns="0" rtlCol="0" anchor="t"/>
          <a:lstStyle/>
          <a:p>
            <a:pPr indent="0" marL="0">
              <a:buNone/>
            </a:pPr>
            <a:r>
              <a:rPr lang="en-US" sz="1300" b="1" dirty="0">
                <a:solidFill>
                  <a:srgbClr val="F1C232"/>
                </a:solidFill>
                <a:latin typeface="Arial" pitchFamily="34" charset="0"/>
                <a:ea typeface="Arial" pitchFamily="34" charset="-122"/>
                <a:cs typeface="Arial" pitchFamily="34" charset="-120"/>
              </a:rPr>
              <a:t>Terminal</a:t>
            </a:r>
            <a:endParaRPr lang="en-US" sz="1300" dirty="0"/>
          </a:p>
        </p:txBody>
      </p:sp>
      <p:sp>
        <p:nvSpPr>
          <p:cNvPr id="7" name="codigo"/>
          <p:cNvSpPr txBox="1"/>
          <p:nvPr/>
        </p:nvSpPr>
        <p:spPr>
          <a:xfrm>
            <a:off x="5166360" y="2450592"/>
            <a:ext cx="6248095" cy="384048"/>
          </a:xfrm>
          <a:prstGeom prst="rect">
            <a:avLst/>
          </a:prstGeom>
          <a:noFill/>
          <a:ln/>
        </p:spPr>
        <p:txBody>
          <a:bodyPr wrap="square" lIns="0" tIns="0" rIns="0" bIns="0" rtlCol="0" anchor="t"/>
          <a:lstStyle/>
          <a:p>
            <a:pPr indent="0" marL="0">
              <a:buNone/>
            </a:pPr>
            <a:r>
              <a:rPr lang="en-US" sz="2000" dirty="0">
                <a:solidFill>
                  <a:srgbClr val="E8EDE9"/>
                </a:solidFill>
                <a:latin typeface="Courier New" pitchFamily="34" charset="0"/>
                <a:ea typeface="Courier New" pitchFamily="34" charset="-122"/>
                <a:cs typeface="Courier New" pitchFamily="34" charset="-120"/>
              </a:rPr>
              <a:t>/task-plan</a:t>
            </a:r>
            <a:endParaRPr lang="en-US" sz="2000" dirty="0"/>
          </a:p>
        </p:txBody>
      </p:sp>
      <p:sp>
        <p:nvSpPr>
          <p:cNvPr id="8" name="esperado-marca"/>
          <p:cNvSpPr/>
          <p:nvPr/>
        </p:nvSpPr>
        <p:spPr>
          <a:xfrm>
            <a:off x="548640" y="5650992"/>
            <a:ext cx="292608" cy="292608"/>
          </a:xfrm>
          <a:prstGeom prst="rect">
            <a:avLst/>
          </a:prstGeom>
          <a:solidFill>
            <a:srgbClr val="1E9E57"/>
          </a:solidFill>
          <a:ln w="12700">
            <a:solidFill>
              <a:srgbClr val="1E9E57"/>
            </a:solidFill>
            <a:prstDash val="solid"/>
          </a:ln>
        </p:spPr>
      </p:sp>
      <p:sp>
        <p:nvSpPr>
          <p:cNvPr id="9" name="faca-esperado"/>
          <p:cNvSpPr txBox="1"/>
          <p:nvPr/>
        </p:nvSpPr>
        <p:spPr>
          <a:xfrm>
            <a:off x="1005840" y="5596128"/>
            <a:ext cx="9814255" cy="548640"/>
          </a:xfrm>
          <a:prstGeom prst="rect">
            <a:avLst/>
          </a:prstGeom>
          <a:noFill/>
          <a:ln/>
        </p:spPr>
        <p:txBody>
          <a:bodyPr wrap="square" lIns="0" tIns="0" rIns="0" bIns="0" rtlCol="0" anchor="t"/>
          <a:lstStyle/>
          <a:p>
            <a:pPr indent="0" marL="0">
              <a:buNone/>
            </a:pPr>
            <a:r>
              <a:rPr lang="en-US" sz="1800" b="1" dirty="0">
                <a:solidFill>
                  <a:srgbClr val="121614"/>
                </a:solidFill>
                <a:latin typeface="Arial" pitchFamily="34" charset="0"/>
                <a:ea typeface="Arial" pitchFamily="34" charset="-122"/>
                <a:cs typeface="Arial" pitchFamily="34" charset="-120"/>
              </a:rPr>
              <a:t>Expected result: </a:t>
            </a:r>
            <a:pPr indent="0" marL="0">
              <a:buNone/>
            </a:pPr>
            <a:r>
              <a:rPr lang="en-US" sz="1800" dirty="0">
                <a:solidFill>
                  <a:srgbClr val="121614"/>
                </a:solidFill>
                <a:latin typeface="Arial" pitchFamily="34" charset="0"/>
                <a:ea typeface="Arial" pitchFamily="34" charset="-122"/>
                <a:cs typeface="Arial" pitchFamily="34" charset="-120"/>
              </a:rPr>
              <a:t>Small: 1–3 agents. Large: more, with a reason and an estimate</a:t>
            </a:r>
            <a:endParaRPr lang="en-US" sz="18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121614"/>
                </a:solidFill>
                <a:latin typeface="Arial"/>
                <a:ea typeface="Arial"/>
                <a:cs typeface="Aria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faca-rotulo"/>
          <p:cNvSpPr txBox="1"/>
          <p:nvPr/>
        </p:nvSpPr>
        <p:spPr>
          <a:xfrm>
            <a:off x="548640" y="411480"/>
            <a:ext cx="5486400" cy="411480"/>
          </a:xfrm>
          <a:prstGeom prst="rect">
            <a:avLst/>
          </a:prstGeom>
          <a:noFill/>
          <a:ln/>
        </p:spPr>
        <p:txBody>
          <a:bodyPr wrap="square" lIns="0" tIns="0" rIns="0" bIns="0" rtlCol="0" anchor="t"/>
          <a:lstStyle/>
          <a:p>
            <a:pPr indent="0" marL="0">
              <a:buNone/>
            </a:pPr>
            <a:r>
              <a:rPr lang="en-US" sz="2000" b="1" dirty="0">
                <a:solidFill>
                  <a:srgbClr val="121614"/>
                </a:solidFill>
                <a:latin typeface="Bricolage Grotesque" pitchFamily="34" charset="0"/>
                <a:ea typeface="Bricolage Grotesque" pitchFamily="34" charset="-122"/>
                <a:cs typeface="Bricolage Grotesque" pitchFamily="34" charset="-120"/>
              </a:rPr>
              <a:t>Do it now · 10 min</a:t>
            </a:r>
            <a:endParaRPr lang="en-US" sz="2000" dirty="0"/>
          </a:p>
        </p:txBody>
      </p:sp>
      <p:sp>
        <p:nvSpPr>
          <p:cNvPr id="3" name="Text 0"/>
          <p:cNvSpPr/>
          <p:nvPr>
            <p:ph idx="100" type="title" hasCustomPrompt="1"/>
          </p:nvPr>
        </p:nvSpPr>
        <p:spPr>
          <a:xfrm>
            <a:off x="548640" y="868680"/>
            <a:ext cx="11094415" cy="868680"/>
          </a:xfrm>
          <a:prstGeom prst="rect">
            <a:avLst/>
          </a:prstGeom>
          <a:noFill/>
          <a:ln/>
        </p:spPr>
        <p:txBody>
          <a:bodyPr wrap="square" lIns="0" tIns="0" rIns="0" bIns="0" rtlCol="0" anchor="t"/>
          <a:lstStyle/>
          <a:p>
            <a:pPr algn="l" indent="0" marL="0">
              <a:buNone/>
            </a:pPr>
            <a:r>
              <a:rPr lang="en-US" sz="3800" b="1" dirty="0">
                <a:solidFill>
                  <a:srgbClr val="121614"/>
                </a:solidFill>
                <a:latin typeface="Bricolage Grotesque" pitchFamily="34" charset="0"/>
                <a:ea typeface="Bricolage Grotesque" pitchFamily="34" charset="-122"/>
                <a:cs typeface="Bricolage Grotesque" pitchFamily="34" charset="-120"/>
              </a:rPr>
              <a:t>Put the swarm to work</a:t>
            </a:r>
            <a:endParaRPr lang="en-US" sz="3800" dirty="0"/>
          </a:p>
        </p:txBody>
      </p:sp>
      <p:sp>
        <p:nvSpPr>
          <p:cNvPr id="4" name="faca-passos"/>
          <p:cNvSpPr txBox="1"/>
          <p:nvPr/>
        </p:nvSpPr>
        <p:spPr>
          <a:xfrm>
            <a:off x="548640" y="1920240"/>
            <a:ext cx="4023360" cy="329184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21614"/>
                </a:solidFill>
                <a:latin typeface="Arial" pitchFamily="34" charset="0"/>
                <a:ea typeface="Arial" pitchFamily="34" charset="-122"/>
                <a:cs typeface="Arial" pitchFamily="34" charset="-120"/>
              </a:rPr>
              <a:t>Run /task-swarm</a:t>
            </a:r>
            <a:endParaRPr lang="en-US" sz="2000" dirty="0"/>
          </a:p>
          <a:p>
            <a:pPr marL="342900" indent="-342900">
              <a:spcAft>
                <a:spcPts val="1200"/>
              </a:spcAft>
              <a:buSzPct val="100000"/>
              <a:buFont typeface="+mj-lt"/>
              <a:buAutoNum type="arabicPeriod" startAt="1"/>
            </a:pPr>
            <a:r>
              <a:rPr lang="en-US" sz="2000" dirty="0">
                <a:solidFill>
                  <a:srgbClr val="121614"/>
                </a:solidFill>
                <a:latin typeface="Arial" pitchFamily="34" charset="0"/>
                <a:ea typeface="Arial" pitchFamily="34" charset="-122"/>
                <a:cs typeface="Arial" pitchFamily="34" charset="-120"/>
              </a:rPr>
              <a:t>Watch the dashboard in another terminal</a:t>
            </a:r>
            <a:endParaRPr lang="en-US" sz="2000" dirty="0"/>
          </a:p>
          <a:p>
            <a:pPr marL="342900" indent="-342900">
              <a:spcAft>
                <a:spcPts val="1200"/>
              </a:spcAft>
              <a:buSzPct val="100000"/>
              <a:buFont typeface="+mj-lt"/>
              <a:buAutoNum type="arabicPeriod" startAt="1"/>
            </a:pPr>
            <a:r>
              <a:rPr lang="en-US" sz="2000" dirty="0">
                <a:solidFill>
                  <a:srgbClr val="121614"/>
                </a:solidFill>
                <a:latin typeface="Arial" pitchFamily="34" charset="0"/>
                <a:ea typeface="Arial" pitchFamily="34" charset="-122"/>
                <a:cs typeface="Arial" pitchFamily="34" charset="-120"/>
              </a:rPr>
              <a:t>Stop with Esc and resume whenever you want</a:t>
            </a:r>
            <a:endParaRPr lang="en-US" sz="2000" dirty="0"/>
          </a:p>
        </p:txBody>
      </p:sp>
      <p:sp>
        <p:nvSpPr>
          <p:cNvPr id="5" name="codigo-fundo"/>
          <p:cNvSpPr/>
          <p:nvPr/>
        </p:nvSpPr>
        <p:spPr>
          <a:xfrm>
            <a:off x="4937760" y="1920240"/>
            <a:ext cx="6705295" cy="1051560"/>
          </a:xfrm>
          <a:prstGeom prst="rect">
            <a:avLst/>
          </a:prstGeom>
          <a:solidFill>
            <a:srgbClr val="121614"/>
          </a:solidFill>
          <a:ln w="12700">
            <a:solidFill>
              <a:srgbClr val="121614"/>
            </a:solidFill>
            <a:prstDash val="solid"/>
          </a:ln>
        </p:spPr>
      </p:sp>
      <p:sp>
        <p:nvSpPr>
          <p:cNvPr id="6" name="codigo-rotulo"/>
          <p:cNvSpPr txBox="1"/>
          <p:nvPr/>
        </p:nvSpPr>
        <p:spPr>
          <a:xfrm>
            <a:off x="5166360" y="2103120"/>
            <a:ext cx="6248095" cy="274320"/>
          </a:xfrm>
          <a:prstGeom prst="rect">
            <a:avLst/>
          </a:prstGeom>
          <a:noFill/>
          <a:ln/>
        </p:spPr>
        <p:txBody>
          <a:bodyPr wrap="square" lIns="0" tIns="0" rIns="0" bIns="0" rtlCol="0" anchor="t"/>
          <a:lstStyle/>
          <a:p>
            <a:pPr indent="0" marL="0">
              <a:buNone/>
            </a:pPr>
            <a:r>
              <a:rPr lang="en-US" sz="1300" b="1" dirty="0">
                <a:solidFill>
                  <a:srgbClr val="F1C232"/>
                </a:solidFill>
                <a:latin typeface="Arial" pitchFamily="34" charset="0"/>
                <a:ea typeface="Arial" pitchFamily="34" charset="-122"/>
                <a:cs typeface="Arial" pitchFamily="34" charset="-120"/>
              </a:rPr>
              <a:t>Terminal 1</a:t>
            </a:r>
            <a:endParaRPr lang="en-US" sz="1300" dirty="0"/>
          </a:p>
        </p:txBody>
      </p:sp>
      <p:sp>
        <p:nvSpPr>
          <p:cNvPr id="7" name="codigo"/>
          <p:cNvSpPr txBox="1"/>
          <p:nvPr/>
        </p:nvSpPr>
        <p:spPr>
          <a:xfrm>
            <a:off x="5166360" y="2450592"/>
            <a:ext cx="6248095" cy="384048"/>
          </a:xfrm>
          <a:prstGeom prst="rect">
            <a:avLst/>
          </a:prstGeom>
          <a:noFill/>
          <a:ln/>
        </p:spPr>
        <p:txBody>
          <a:bodyPr wrap="square" lIns="0" tIns="0" rIns="0" bIns="0" rtlCol="0" anchor="t"/>
          <a:lstStyle/>
          <a:p>
            <a:pPr indent="0" marL="0">
              <a:buNone/>
            </a:pPr>
            <a:r>
              <a:rPr lang="en-US" sz="2000" dirty="0">
                <a:solidFill>
                  <a:srgbClr val="E8EDE9"/>
                </a:solidFill>
                <a:latin typeface="Courier New" pitchFamily="34" charset="0"/>
                <a:ea typeface="Courier New" pitchFamily="34" charset="-122"/>
                <a:cs typeface="Courier New" pitchFamily="34" charset="-120"/>
              </a:rPr>
              <a:t>/task-swarm</a:t>
            </a:r>
            <a:endParaRPr lang="en-US" sz="2000" dirty="0"/>
          </a:p>
        </p:txBody>
      </p:sp>
      <p:sp>
        <p:nvSpPr>
          <p:cNvPr id="8" name="codigo-fundo"/>
          <p:cNvSpPr/>
          <p:nvPr/>
        </p:nvSpPr>
        <p:spPr>
          <a:xfrm>
            <a:off x="4937760" y="3200400"/>
            <a:ext cx="6705295" cy="983894"/>
          </a:xfrm>
          <a:prstGeom prst="rect">
            <a:avLst/>
          </a:prstGeom>
          <a:solidFill>
            <a:srgbClr val="121614"/>
          </a:solidFill>
          <a:ln w="12700">
            <a:solidFill>
              <a:srgbClr val="121614"/>
            </a:solidFill>
            <a:prstDash val="solid"/>
          </a:ln>
        </p:spPr>
      </p:sp>
      <p:sp>
        <p:nvSpPr>
          <p:cNvPr id="9" name="codigo-rotulo"/>
          <p:cNvSpPr txBox="1"/>
          <p:nvPr/>
        </p:nvSpPr>
        <p:spPr>
          <a:xfrm>
            <a:off x="5166360" y="3383280"/>
            <a:ext cx="6248095" cy="274320"/>
          </a:xfrm>
          <a:prstGeom prst="rect">
            <a:avLst/>
          </a:prstGeom>
          <a:noFill/>
          <a:ln/>
        </p:spPr>
        <p:txBody>
          <a:bodyPr wrap="square" lIns="0" tIns="0" rIns="0" bIns="0" rtlCol="0" anchor="t"/>
          <a:lstStyle/>
          <a:p>
            <a:pPr indent="0" marL="0">
              <a:buNone/>
            </a:pPr>
            <a:r>
              <a:rPr lang="en-US" sz="1300" b="1" dirty="0">
                <a:solidFill>
                  <a:srgbClr val="F1C232"/>
                </a:solidFill>
                <a:latin typeface="Arial" pitchFamily="34" charset="0"/>
                <a:ea typeface="Arial" pitchFamily="34" charset="-122"/>
                <a:cs typeface="Arial" pitchFamily="34" charset="-120"/>
              </a:rPr>
              <a:t>Terminal 2</a:t>
            </a:r>
            <a:endParaRPr lang="en-US" sz="1300" dirty="0"/>
          </a:p>
        </p:txBody>
      </p:sp>
      <p:sp>
        <p:nvSpPr>
          <p:cNvPr id="10" name="codigo"/>
          <p:cNvSpPr txBox="1"/>
          <p:nvPr/>
        </p:nvSpPr>
        <p:spPr>
          <a:xfrm>
            <a:off x="5166360" y="3730752"/>
            <a:ext cx="6248095" cy="316382"/>
          </a:xfrm>
          <a:prstGeom prst="rect">
            <a:avLst/>
          </a:prstGeom>
          <a:noFill/>
          <a:ln/>
        </p:spPr>
        <p:txBody>
          <a:bodyPr wrap="square" lIns="0" tIns="0" rIns="0" bIns="0" rtlCol="0" anchor="t"/>
          <a:lstStyle/>
          <a:p>
            <a:pPr indent="0" marL="0">
              <a:buNone/>
            </a:pPr>
            <a:r>
              <a:rPr lang="en-US" sz="1600" dirty="0">
                <a:solidFill>
                  <a:srgbClr val="E8EDE9"/>
                </a:solidFill>
                <a:latin typeface="Courier New" pitchFamily="34" charset="0"/>
                <a:ea typeface="Courier New" pitchFamily="34" charset="-122"/>
                <a:cs typeface="Courier New" pitchFamily="34" charset="-120"/>
              </a:rPr>
              <a:t>node ~/.workshop-claude/kit/orquestrador/painel.mjs</a:t>
            </a:r>
            <a:endParaRPr lang="en-US" sz="1600" dirty="0"/>
          </a:p>
        </p:txBody>
      </p:sp>
      <p:sp>
        <p:nvSpPr>
          <p:cNvPr id="11" name="esperado-marca"/>
          <p:cNvSpPr/>
          <p:nvPr/>
        </p:nvSpPr>
        <p:spPr>
          <a:xfrm>
            <a:off x="548640" y="5650992"/>
            <a:ext cx="292608" cy="292608"/>
          </a:xfrm>
          <a:prstGeom prst="rect">
            <a:avLst/>
          </a:prstGeom>
          <a:solidFill>
            <a:srgbClr val="1E9E57"/>
          </a:solidFill>
          <a:ln w="12700">
            <a:solidFill>
              <a:srgbClr val="1E9E57"/>
            </a:solidFill>
            <a:prstDash val="solid"/>
          </a:ln>
        </p:spPr>
      </p:sp>
      <p:sp>
        <p:nvSpPr>
          <p:cNvPr id="12" name="faca-esperado"/>
          <p:cNvSpPr txBox="1"/>
          <p:nvPr/>
        </p:nvSpPr>
        <p:spPr>
          <a:xfrm>
            <a:off x="1005840" y="5596128"/>
            <a:ext cx="9814255" cy="548640"/>
          </a:xfrm>
          <a:prstGeom prst="rect">
            <a:avLst/>
          </a:prstGeom>
          <a:noFill/>
          <a:ln/>
        </p:spPr>
        <p:txBody>
          <a:bodyPr wrap="square" lIns="0" tIns="0" rIns="0" bIns="0" rtlCol="0" anchor="t"/>
          <a:lstStyle/>
          <a:p>
            <a:pPr indent="0" marL="0">
              <a:buNone/>
            </a:pPr>
            <a:r>
              <a:rPr lang="en-US" sz="1800" b="1" dirty="0">
                <a:solidFill>
                  <a:srgbClr val="121614"/>
                </a:solidFill>
                <a:latin typeface="Arial" pitchFamily="34" charset="0"/>
                <a:ea typeface="Arial" pitchFamily="34" charset="-122"/>
                <a:cs typeface="Arial" pitchFamily="34" charset="-120"/>
              </a:rPr>
              <a:t>Expected result: </a:t>
            </a:r>
            <a:pPr indent="0" marL="0">
              <a:buNone/>
            </a:pPr>
            <a:r>
              <a:rPr lang="en-US" sz="1800" dirty="0">
                <a:solidFill>
                  <a:srgbClr val="121614"/>
                </a:solidFill>
                <a:latin typeface="Arial" pitchFamily="34" charset="0"/>
                <a:ea typeface="Arial" pitchFamily="34" charset="-122"/>
                <a:cs typeface="Arial" pitchFamily="34" charset="-120"/>
              </a:rPr>
              <a:t>Batches of agents finishing; never two on the same file at the same time</a:t>
            </a:r>
            <a:endParaRPr lang="en-US" sz="18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121614"/>
                </a:solidFill>
                <a:latin typeface="Arial"/>
                <a:ea typeface="Arial"/>
                <a:cs typeface="Arial"/>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914400"/>
          </a:xfrm>
          <a:prstGeom prst="rect">
            <a:avLst/>
          </a:prstGeom>
          <a:noFill/>
          <a:ln/>
        </p:spPr>
        <p:txBody>
          <a:bodyPr wrap="square" lIns="0" tIns="0" rIns="0" bIns="0" rtlCol="0" anchor="t"/>
          <a:lstStyle/>
          <a:p>
            <a:pPr algn="l" indent="0" marL="0">
              <a:buNone/>
            </a:pPr>
            <a:r>
              <a:rPr lang="en-US" sz="3600" b="1" dirty="0">
                <a:solidFill>
                  <a:srgbClr val="121614"/>
                </a:solidFill>
                <a:latin typeface="Bricolage Grotesque" pitchFamily="34" charset="0"/>
                <a:ea typeface="Bricolage Grotesque" pitchFamily="34" charset="-122"/>
                <a:cs typeface="Bricolage Grotesque" pitchFamily="34" charset="-120"/>
              </a:rPr>
              <a:t>Jira and GitHub</a:t>
            </a:r>
            <a:endParaRPr lang="en-US" sz="3600" dirty="0"/>
          </a:p>
        </p:txBody>
      </p:sp>
      <p:sp>
        <p:nvSpPr>
          <p:cNvPr id="3" name="coluna-0"/>
          <p:cNvSpPr/>
          <p:nvPr/>
        </p:nvSpPr>
        <p:spPr>
          <a:xfrm>
            <a:off x="548640" y="1691640"/>
            <a:ext cx="3484778" cy="3566160"/>
          </a:xfrm>
          <a:prstGeom prst="rect">
            <a:avLst/>
          </a:prstGeom>
          <a:solidFill>
            <a:srgbClr val="E6E6E1"/>
          </a:solidFill>
          <a:ln w="12700">
            <a:solidFill>
              <a:srgbClr val="E6E6E1"/>
            </a:solidFill>
            <a:prstDash val="solid"/>
          </a:ln>
        </p:spPr>
      </p:sp>
      <p:sp>
        <p:nvSpPr>
          <p:cNvPr id="4" name="marca-0"/>
          <p:cNvSpPr/>
          <p:nvPr/>
        </p:nvSpPr>
        <p:spPr>
          <a:xfrm>
            <a:off x="868680" y="2011680"/>
            <a:ext cx="384048" cy="384048"/>
          </a:xfrm>
          <a:prstGeom prst="rect">
            <a:avLst/>
          </a:prstGeom>
          <a:solidFill>
            <a:srgbClr val="1E9E57"/>
          </a:solidFill>
          <a:ln w="12700">
            <a:solidFill>
              <a:srgbClr val="1E9E57"/>
            </a:solidFill>
            <a:prstDash val="solid"/>
          </a:ln>
        </p:spPr>
      </p:sp>
      <p:sp>
        <p:nvSpPr>
          <p:cNvPr id="5" name="coluna-titulo-0"/>
          <p:cNvSpPr txBox="1"/>
          <p:nvPr/>
        </p:nvSpPr>
        <p:spPr>
          <a:xfrm>
            <a:off x="868680" y="2697480"/>
            <a:ext cx="2844698" cy="914400"/>
          </a:xfrm>
          <a:prstGeom prst="rect">
            <a:avLst/>
          </a:prstGeom>
          <a:noFill/>
          <a:ln/>
        </p:spPr>
        <p:txBody>
          <a:bodyPr wrap="square" lIns="0" tIns="0" rIns="0" bIns="0" rtlCol="0" anchor="t"/>
          <a:lstStyle/>
          <a:p>
            <a:pPr indent="0" marL="0">
              <a:buNone/>
            </a:pPr>
            <a:r>
              <a:rPr lang="en-US" sz="2600" b="1" dirty="0">
                <a:solidFill>
                  <a:srgbClr val="121614"/>
                </a:solidFill>
                <a:latin typeface="Bricolage Grotesque" pitchFamily="34" charset="0"/>
                <a:ea typeface="Bricolage Grotesque" pitchFamily="34" charset="-122"/>
                <a:cs typeface="Bricolage Grotesque" pitchFamily="34" charset="-120"/>
              </a:rPr>
              <a:t>Jira (MCP + acli)</a:t>
            </a:r>
            <a:endParaRPr lang="en-US" sz="2600" dirty="0"/>
          </a:p>
        </p:txBody>
      </p:sp>
      <p:sp>
        <p:nvSpPr>
          <p:cNvPr id="6" name="coluna-texto-0"/>
          <p:cNvSpPr txBox="1"/>
          <p:nvPr/>
        </p:nvSpPr>
        <p:spPr>
          <a:xfrm>
            <a:off x="868680" y="3657600"/>
            <a:ext cx="2844698" cy="1463040"/>
          </a:xfrm>
          <a:prstGeom prst="rect">
            <a:avLst/>
          </a:prstGeom>
          <a:noFill/>
          <a:ln/>
        </p:spPr>
        <p:txBody>
          <a:bodyPr wrap="square" lIns="0" tIns="0" rIns="0" bIns="0" rtlCol="0" anchor="t"/>
          <a:lstStyle/>
          <a:p>
            <a:pPr indent="0" marL="0">
              <a:buNone/>
            </a:pPr>
            <a:r>
              <a:rPr lang="en-US" sz="2000" dirty="0">
                <a:solidFill>
                  <a:srgbClr val="121614"/>
                </a:solidFill>
                <a:latin typeface="Arial" pitchFamily="34" charset="0"/>
                <a:ea typeface="Arial" pitchFamily="34" charset="-122"/>
                <a:cs typeface="Arial" pitchFamily="34" charset="-120"/>
              </a:rPr>
              <a:t>MCP with login in /mcp; if it fails, the Atlassian CLI (acli auth login)</a:t>
            </a:r>
            <a:endParaRPr lang="en-US" sz="2000" dirty="0"/>
          </a:p>
        </p:txBody>
      </p:sp>
      <p:sp>
        <p:nvSpPr>
          <p:cNvPr id="7" name="coluna-1"/>
          <p:cNvSpPr/>
          <p:nvPr/>
        </p:nvSpPr>
        <p:spPr>
          <a:xfrm>
            <a:off x="4353458" y="1691640"/>
            <a:ext cx="3484778" cy="3566160"/>
          </a:xfrm>
          <a:prstGeom prst="rect">
            <a:avLst/>
          </a:prstGeom>
          <a:solidFill>
            <a:srgbClr val="E6E6E1"/>
          </a:solidFill>
          <a:ln w="12700">
            <a:solidFill>
              <a:srgbClr val="E6E6E1"/>
            </a:solidFill>
            <a:prstDash val="solid"/>
          </a:ln>
        </p:spPr>
      </p:sp>
      <p:sp>
        <p:nvSpPr>
          <p:cNvPr id="8" name="marca-1"/>
          <p:cNvSpPr/>
          <p:nvPr/>
        </p:nvSpPr>
        <p:spPr>
          <a:xfrm>
            <a:off x="4673498" y="2011680"/>
            <a:ext cx="384048" cy="384048"/>
          </a:xfrm>
          <a:prstGeom prst="rect">
            <a:avLst/>
          </a:prstGeom>
          <a:solidFill>
            <a:srgbClr val="1A4BE0"/>
          </a:solidFill>
          <a:ln w="12700">
            <a:solidFill>
              <a:srgbClr val="1A4BE0"/>
            </a:solidFill>
            <a:prstDash val="solid"/>
          </a:ln>
        </p:spPr>
      </p:sp>
      <p:sp>
        <p:nvSpPr>
          <p:cNvPr id="9" name="coluna-titulo-1"/>
          <p:cNvSpPr txBox="1"/>
          <p:nvPr/>
        </p:nvSpPr>
        <p:spPr>
          <a:xfrm>
            <a:off x="4673498" y="2697480"/>
            <a:ext cx="2844698" cy="914400"/>
          </a:xfrm>
          <a:prstGeom prst="rect">
            <a:avLst/>
          </a:prstGeom>
          <a:noFill/>
          <a:ln/>
        </p:spPr>
        <p:txBody>
          <a:bodyPr wrap="square" lIns="0" tIns="0" rIns="0" bIns="0" rtlCol="0" anchor="t"/>
          <a:lstStyle/>
          <a:p>
            <a:pPr indent="0" marL="0">
              <a:buNone/>
            </a:pPr>
            <a:r>
              <a:rPr lang="en-US" sz="2600" b="1" dirty="0">
                <a:solidFill>
                  <a:srgbClr val="121614"/>
                </a:solidFill>
                <a:latin typeface="Bricolage Grotesque" pitchFamily="34" charset="0"/>
                <a:ea typeface="Bricolage Grotesque" pitchFamily="34" charset="-122"/>
                <a:cs typeface="Bricolage Grotesque" pitchFamily="34" charset="-120"/>
              </a:rPr>
              <a:t>GitHub (gh)</a:t>
            </a:r>
            <a:endParaRPr lang="en-US" sz="2600" dirty="0"/>
          </a:p>
        </p:txBody>
      </p:sp>
      <p:sp>
        <p:nvSpPr>
          <p:cNvPr id="10" name="coluna-texto-1"/>
          <p:cNvSpPr txBox="1"/>
          <p:nvPr/>
        </p:nvSpPr>
        <p:spPr>
          <a:xfrm>
            <a:off x="4673498" y="3657600"/>
            <a:ext cx="2844698" cy="1463040"/>
          </a:xfrm>
          <a:prstGeom prst="rect">
            <a:avLst/>
          </a:prstGeom>
          <a:noFill/>
          <a:ln/>
        </p:spPr>
        <p:txBody>
          <a:bodyPr wrap="square" lIns="0" tIns="0" rIns="0" bIns="0" rtlCol="0" anchor="t"/>
          <a:lstStyle/>
          <a:p>
            <a:pPr indent="0" marL="0">
              <a:buNone/>
            </a:pPr>
            <a:r>
              <a:rPr lang="en-US" sz="2000" dirty="0">
                <a:solidFill>
                  <a:srgbClr val="121614"/>
                </a:solidFill>
                <a:latin typeface="Arial" pitchFamily="34" charset="0"/>
                <a:ea typeface="Arial" pitchFamily="34" charset="-122"/>
                <a:cs typeface="Arial" pitchFamily="34" charset="-120"/>
              </a:rPr>
              <a:t>gh auth login: less context than an MCP and no shared tokens</a:t>
            </a:r>
            <a:endParaRPr lang="en-US" sz="2000" dirty="0"/>
          </a:p>
        </p:txBody>
      </p:sp>
      <p:sp>
        <p:nvSpPr>
          <p:cNvPr id="11" name="coluna-2"/>
          <p:cNvSpPr/>
          <p:nvPr/>
        </p:nvSpPr>
        <p:spPr>
          <a:xfrm>
            <a:off x="8158277" y="1691640"/>
            <a:ext cx="3484778" cy="3566160"/>
          </a:xfrm>
          <a:prstGeom prst="rect">
            <a:avLst/>
          </a:prstGeom>
          <a:solidFill>
            <a:srgbClr val="E6E6E1"/>
          </a:solidFill>
          <a:ln w="12700">
            <a:solidFill>
              <a:srgbClr val="E6E6E1"/>
            </a:solidFill>
            <a:prstDash val="solid"/>
          </a:ln>
        </p:spPr>
      </p:sp>
      <p:sp>
        <p:nvSpPr>
          <p:cNvPr id="12" name="marca-2"/>
          <p:cNvSpPr/>
          <p:nvPr/>
        </p:nvSpPr>
        <p:spPr>
          <a:xfrm>
            <a:off x="8478317" y="2011680"/>
            <a:ext cx="384048" cy="384048"/>
          </a:xfrm>
          <a:prstGeom prst="rect">
            <a:avLst/>
          </a:prstGeom>
          <a:solidFill>
            <a:srgbClr val="F1C232"/>
          </a:solidFill>
          <a:ln w="12700">
            <a:solidFill>
              <a:srgbClr val="F1C232"/>
            </a:solidFill>
            <a:prstDash val="solid"/>
          </a:ln>
        </p:spPr>
      </p:sp>
      <p:sp>
        <p:nvSpPr>
          <p:cNvPr id="13" name="coluna-titulo-2"/>
          <p:cNvSpPr txBox="1"/>
          <p:nvPr/>
        </p:nvSpPr>
        <p:spPr>
          <a:xfrm>
            <a:off x="8478317" y="2697480"/>
            <a:ext cx="2844698" cy="914400"/>
          </a:xfrm>
          <a:prstGeom prst="rect">
            <a:avLst/>
          </a:prstGeom>
          <a:noFill/>
          <a:ln/>
        </p:spPr>
        <p:txBody>
          <a:bodyPr wrap="square" lIns="0" tIns="0" rIns="0" bIns="0" rtlCol="0" anchor="t"/>
          <a:lstStyle/>
          <a:p>
            <a:pPr indent="0" marL="0">
              <a:buNone/>
            </a:pPr>
            <a:r>
              <a:rPr lang="en-US" sz="2600" b="1" dirty="0">
                <a:solidFill>
                  <a:srgbClr val="121614"/>
                </a:solidFill>
                <a:latin typeface="Bricolage Grotesque" pitchFamily="34" charset="0"/>
                <a:ea typeface="Bricolage Grotesque" pitchFamily="34" charset="-122"/>
                <a:cs typeface="Bricolage Grotesque" pitchFamily="34" charset="-120"/>
              </a:rPr>
              <a:t>Always with confirmation</a:t>
            </a:r>
            <a:endParaRPr lang="en-US" sz="2600" dirty="0"/>
          </a:p>
        </p:txBody>
      </p:sp>
      <p:sp>
        <p:nvSpPr>
          <p:cNvPr id="14" name="coluna-texto-2"/>
          <p:cNvSpPr txBox="1"/>
          <p:nvPr/>
        </p:nvSpPr>
        <p:spPr>
          <a:xfrm>
            <a:off x="8478317" y="3657600"/>
            <a:ext cx="2844698" cy="1463040"/>
          </a:xfrm>
          <a:prstGeom prst="rect">
            <a:avLst/>
          </a:prstGeom>
          <a:noFill/>
          <a:ln/>
        </p:spPr>
        <p:txBody>
          <a:bodyPr wrap="square" lIns="0" tIns="0" rIns="0" bIns="0" rtlCol="0" anchor="t"/>
          <a:lstStyle/>
          <a:p>
            <a:pPr indent="0" marL="0">
              <a:buNone/>
            </a:pPr>
            <a:r>
              <a:rPr lang="en-US" sz="2000" dirty="0">
                <a:solidFill>
                  <a:srgbClr val="121614"/>
                </a:solidFill>
                <a:latin typeface="Arial" pitchFamily="34" charset="0"/>
                <a:ea typeface="Arial" pitchFamily="34" charset="-122"/>
                <a:cs typeface="Arial" pitchFamily="34" charset="-120"/>
              </a:rPr>
              <a:t>comments, worklog and PR only after your yes</a:t>
            </a:r>
            <a:endParaRPr lang="en-US" sz="2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45C57"/>
                </a:solidFill>
                <a:latin typeface="Arial"/>
                <a:ea typeface="Arial"/>
                <a:cs typeface="Arial"/>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914400"/>
          </a:xfrm>
          <a:prstGeom prst="rect">
            <a:avLst/>
          </a:prstGeom>
          <a:noFill/>
          <a:ln/>
        </p:spPr>
        <p:txBody>
          <a:bodyPr wrap="square" lIns="0" tIns="0" rIns="0" bIns="0" rtlCol="0" anchor="t"/>
          <a:lstStyle/>
          <a:p>
            <a:pPr algn="l" indent="0" marL="0">
              <a:buNone/>
            </a:pPr>
            <a:r>
              <a:rPr lang="en-US" sz="3600" b="1" dirty="0">
                <a:solidFill>
                  <a:srgbClr val="121614"/>
                </a:solidFill>
                <a:latin typeface="Bricolage Grotesque" pitchFamily="34" charset="0"/>
                <a:ea typeface="Bricolage Grotesque" pitchFamily="34" charset="-122"/>
                <a:cs typeface="Bricolage Grotesque" pitchFamily="34" charset="-120"/>
              </a:rPr>
              <a:t>After the workshop</a:t>
            </a:r>
            <a:endParaRPr lang="en-US" sz="3600" dirty="0"/>
          </a:p>
        </p:txBody>
      </p:sp>
      <p:sp>
        <p:nvSpPr>
          <p:cNvPr id="3" name="coluna-0"/>
          <p:cNvSpPr/>
          <p:nvPr/>
        </p:nvSpPr>
        <p:spPr>
          <a:xfrm>
            <a:off x="548640" y="1691640"/>
            <a:ext cx="3484778" cy="3566160"/>
          </a:xfrm>
          <a:prstGeom prst="rect">
            <a:avLst/>
          </a:prstGeom>
          <a:solidFill>
            <a:srgbClr val="E6E6E1"/>
          </a:solidFill>
          <a:ln w="12700">
            <a:solidFill>
              <a:srgbClr val="E6E6E1"/>
            </a:solidFill>
            <a:prstDash val="solid"/>
          </a:ln>
        </p:spPr>
      </p:sp>
      <p:sp>
        <p:nvSpPr>
          <p:cNvPr id="4" name="marca-0"/>
          <p:cNvSpPr/>
          <p:nvPr/>
        </p:nvSpPr>
        <p:spPr>
          <a:xfrm>
            <a:off x="868680" y="2011680"/>
            <a:ext cx="384048" cy="384048"/>
          </a:xfrm>
          <a:prstGeom prst="rect">
            <a:avLst/>
          </a:prstGeom>
          <a:solidFill>
            <a:srgbClr val="1E9E57"/>
          </a:solidFill>
          <a:ln w="12700">
            <a:solidFill>
              <a:srgbClr val="1E9E57"/>
            </a:solidFill>
            <a:prstDash val="solid"/>
          </a:ln>
        </p:spPr>
      </p:sp>
      <p:sp>
        <p:nvSpPr>
          <p:cNvPr id="5" name="coluna-titulo-0"/>
          <p:cNvSpPr txBox="1"/>
          <p:nvPr/>
        </p:nvSpPr>
        <p:spPr>
          <a:xfrm>
            <a:off x="868680" y="2697480"/>
            <a:ext cx="2844698" cy="914400"/>
          </a:xfrm>
          <a:prstGeom prst="rect">
            <a:avLst/>
          </a:prstGeom>
          <a:noFill/>
          <a:ln/>
        </p:spPr>
        <p:txBody>
          <a:bodyPr wrap="square" lIns="0" tIns="0" rIns="0" bIns="0" rtlCol="0" anchor="t"/>
          <a:lstStyle/>
          <a:p>
            <a:pPr indent="0" marL="0">
              <a:buNone/>
            </a:pPr>
            <a:r>
              <a:rPr lang="en-US" sz="2600" b="1" dirty="0">
                <a:solidFill>
                  <a:srgbClr val="121614"/>
                </a:solidFill>
                <a:latin typeface="Bricolage Grotesque" pitchFamily="34" charset="0"/>
                <a:ea typeface="Bricolage Grotesque" pitchFamily="34" charset="-122"/>
                <a:cs typeface="Bricolage Grotesque" pitchFamily="34" charset="-120"/>
              </a:rPr>
              <a:t>/task-gate</a:t>
            </a:r>
            <a:endParaRPr lang="en-US" sz="2600" dirty="0"/>
          </a:p>
        </p:txBody>
      </p:sp>
      <p:sp>
        <p:nvSpPr>
          <p:cNvPr id="6" name="coluna-texto-0"/>
          <p:cNvSpPr txBox="1"/>
          <p:nvPr/>
        </p:nvSpPr>
        <p:spPr>
          <a:xfrm>
            <a:off x="868680" y="3657600"/>
            <a:ext cx="2844698" cy="1463040"/>
          </a:xfrm>
          <a:prstGeom prst="rect">
            <a:avLst/>
          </a:prstGeom>
          <a:noFill/>
          <a:ln/>
        </p:spPr>
        <p:txBody>
          <a:bodyPr wrap="square" lIns="0" tIns="0" rIns="0" bIns="0" rtlCol="0" anchor="t"/>
          <a:lstStyle/>
          <a:p>
            <a:pPr indent="0" marL="0">
              <a:buNone/>
            </a:pPr>
            <a:r>
              <a:rPr lang="en-US" sz="2000" dirty="0">
                <a:solidFill>
                  <a:srgbClr val="121614"/>
                </a:solidFill>
                <a:latin typeface="Arial" pitchFamily="34" charset="0"/>
                <a:ea typeface="Arial" pitchFamily="34" charset="-122"/>
                <a:cs typeface="Arial" pitchFamily="34" charset="-120"/>
              </a:rPr>
              <a:t>tests, secrets, dangerous code and the Opus verdict</a:t>
            </a:r>
            <a:endParaRPr lang="en-US" sz="2000" dirty="0"/>
          </a:p>
        </p:txBody>
      </p:sp>
      <p:sp>
        <p:nvSpPr>
          <p:cNvPr id="7" name="coluna-1"/>
          <p:cNvSpPr/>
          <p:nvPr/>
        </p:nvSpPr>
        <p:spPr>
          <a:xfrm>
            <a:off x="4353458" y="1691640"/>
            <a:ext cx="3484778" cy="3566160"/>
          </a:xfrm>
          <a:prstGeom prst="rect">
            <a:avLst/>
          </a:prstGeom>
          <a:solidFill>
            <a:srgbClr val="E6E6E1"/>
          </a:solidFill>
          <a:ln w="12700">
            <a:solidFill>
              <a:srgbClr val="E6E6E1"/>
            </a:solidFill>
            <a:prstDash val="solid"/>
          </a:ln>
        </p:spPr>
      </p:sp>
      <p:sp>
        <p:nvSpPr>
          <p:cNvPr id="8" name="marca-1"/>
          <p:cNvSpPr/>
          <p:nvPr/>
        </p:nvSpPr>
        <p:spPr>
          <a:xfrm>
            <a:off x="4673498" y="2011680"/>
            <a:ext cx="384048" cy="384048"/>
          </a:xfrm>
          <a:prstGeom prst="rect">
            <a:avLst/>
          </a:prstGeom>
          <a:solidFill>
            <a:srgbClr val="1A4BE0"/>
          </a:solidFill>
          <a:ln w="12700">
            <a:solidFill>
              <a:srgbClr val="1A4BE0"/>
            </a:solidFill>
            <a:prstDash val="solid"/>
          </a:ln>
        </p:spPr>
      </p:sp>
      <p:sp>
        <p:nvSpPr>
          <p:cNvPr id="9" name="coluna-titulo-1"/>
          <p:cNvSpPr txBox="1"/>
          <p:nvPr/>
        </p:nvSpPr>
        <p:spPr>
          <a:xfrm>
            <a:off x="4673498" y="2697480"/>
            <a:ext cx="2844698" cy="914400"/>
          </a:xfrm>
          <a:prstGeom prst="rect">
            <a:avLst/>
          </a:prstGeom>
          <a:noFill/>
          <a:ln/>
        </p:spPr>
        <p:txBody>
          <a:bodyPr wrap="square" lIns="0" tIns="0" rIns="0" bIns="0" rtlCol="0" anchor="t"/>
          <a:lstStyle/>
          <a:p>
            <a:pPr indent="0" marL="0">
              <a:buNone/>
            </a:pPr>
            <a:r>
              <a:rPr lang="en-US" sz="2600" b="1" dirty="0">
                <a:solidFill>
                  <a:srgbClr val="121614"/>
                </a:solidFill>
                <a:latin typeface="Bricolage Grotesque" pitchFamily="34" charset="0"/>
                <a:ea typeface="Bricolage Grotesque" pitchFamily="34" charset="-122"/>
                <a:cs typeface="Bricolage Grotesque" pitchFamily="34" charset="-120"/>
              </a:rPr>
              <a:t>/task-report</a:t>
            </a:r>
            <a:endParaRPr lang="en-US" sz="2600" dirty="0"/>
          </a:p>
        </p:txBody>
      </p:sp>
      <p:sp>
        <p:nvSpPr>
          <p:cNvPr id="10" name="coluna-texto-1"/>
          <p:cNvSpPr txBox="1"/>
          <p:nvPr/>
        </p:nvSpPr>
        <p:spPr>
          <a:xfrm>
            <a:off x="4673498" y="3657600"/>
            <a:ext cx="2844698" cy="1463040"/>
          </a:xfrm>
          <a:prstGeom prst="rect">
            <a:avLst/>
          </a:prstGeom>
          <a:noFill/>
          <a:ln/>
        </p:spPr>
        <p:txBody>
          <a:bodyPr wrap="square" lIns="0" tIns="0" rIns="0" bIns="0" rtlCol="0" anchor="t"/>
          <a:lstStyle/>
          <a:p>
            <a:pPr indent="0" marL="0">
              <a:buNone/>
            </a:pPr>
            <a:r>
              <a:rPr lang="en-US" sz="2000" dirty="0">
                <a:solidFill>
                  <a:srgbClr val="121614"/>
                </a:solidFill>
                <a:latin typeface="Arial" pitchFamily="34" charset="0"/>
                <a:ea typeface="Arial" pitchFamily="34" charset="-122"/>
                <a:cs typeface="Arial" pitchFamily="34" charset="-120"/>
              </a:rPr>
              <a:t>Jira: one comment per subtask, with agent, model, time and cost, and the worklog. GitHub: the PR</a:t>
            </a:r>
            <a:endParaRPr lang="en-US" sz="2000" dirty="0"/>
          </a:p>
        </p:txBody>
      </p:sp>
      <p:sp>
        <p:nvSpPr>
          <p:cNvPr id="11" name="coluna-2"/>
          <p:cNvSpPr/>
          <p:nvPr/>
        </p:nvSpPr>
        <p:spPr>
          <a:xfrm>
            <a:off x="8158277" y="1691640"/>
            <a:ext cx="3484778" cy="3566160"/>
          </a:xfrm>
          <a:prstGeom prst="rect">
            <a:avLst/>
          </a:prstGeom>
          <a:solidFill>
            <a:srgbClr val="E6E6E1"/>
          </a:solidFill>
          <a:ln w="12700">
            <a:solidFill>
              <a:srgbClr val="E6E6E1"/>
            </a:solidFill>
            <a:prstDash val="solid"/>
          </a:ln>
        </p:spPr>
      </p:sp>
      <p:sp>
        <p:nvSpPr>
          <p:cNvPr id="12" name="marca-2"/>
          <p:cNvSpPr/>
          <p:nvPr/>
        </p:nvSpPr>
        <p:spPr>
          <a:xfrm>
            <a:off x="8478317" y="2011680"/>
            <a:ext cx="384048" cy="384048"/>
          </a:xfrm>
          <a:prstGeom prst="rect">
            <a:avLst/>
          </a:prstGeom>
          <a:solidFill>
            <a:srgbClr val="F1C232"/>
          </a:solidFill>
          <a:ln w="12700">
            <a:solidFill>
              <a:srgbClr val="F1C232"/>
            </a:solidFill>
            <a:prstDash val="solid"/>
          </a:ln>
        </p:spPr>
      </p:sp>
      <p:sp>
        <p:nvSpPr>
          <p:cNvPr id="13" name="coluna-titulo-2"/>
          <p:cNvSpPr txBox="1"/>
          <p:nvPr/>
        </p:nvSpPr>
        <p:spPr>
          <a:xfrm>
            <a:off x="8478317" y="2697480"/>
            <a:ext cx="2844698" cy="914400"/>
          </a:xfrm>
          <a:prstGeom prst="rect">
            <a:avLst/>
          </a:prstGeom>
          <a:noFill/>
          <a:ln/>
        </p:spPr>
        <p:txBody>
          <a:bodyPr wrap="square" lIns="0" tIns="0" rIns="0" bIns="0" rtlCol="0" anchor="t"/>
          <a:lstStyle/>
          <a:p>
            <a:pPr indent="0" marL="0">
              <a:buNone/>
            </a:pPr>
            <a:r>
              <a:rPr lang="en-US" sz="2600" b="1" dirty="0">
                <a:solidFill>
                  <a:srgbClr val="121614"/>
                </a:solidFill>
                <a:latin typeface="Bricolage Grotesque" pitchFamily="34" charset="0"/>
                <a:ea typeface="Bricolage Grotesque" pitchFamily="34" charset="-122"/>
                <a:cs typeface="Bricolage Grotesque" pitchFamily="34" charset="-120"/>
              </a:rPr>
              <a:t>/memoria</a:t>
            </a:r>
            <a:endParaRPr lang="en-US" sz="2600" dirty="0"/>
          </a:p>
        </p:txBody>
      </p:sp>
      <p:sp>
        <p:nvSpPr>
          <p:cNvPr id="14" name="coluna-texto-2"/>
          <p:cNvSpPr txBox="1"/>
          <p:nvPr/>
        </p:nvSpPr>
        <p:spPr>
          <a:xfrm>
            <a:off x="8478317" y="3657600"/>
            <a:ext cx="2844698" cy="1463040"/>
          </a:xfrm>
          <a:prstGeom prst="rect">
            <a:avLst/>
          </a:prstGeom>
          <a:noFill/>
          <a:ln/>
        </p:spPr>
        <p:txBody>
          <a:bodyPr wrap="square" lIns="0" tIns="0" rIns="0" bIns="0" rtlCol="0" anchor="t"/>
          <a:lstStyle/>
          <a:p>
            <a:pPr indent="0" marL="0">
              <a:buNone/>
            </a:pPr>
            <a:r>
              <a:rPr lang="en-US" sz="2000" dirty="0">
                <a:solidFill>
                  <a:srgbClr val="121614"/>
                </a:solidFill>
                <a:latin typeface="Arial" pitchFamily="34" charset="0"/>
                <a:ea typeface="Arial" pitchFamily="34" charset="-122"/>
                <a:cs typeface="Arial" pitchFamily="34" charset="-120"/>
              </a:rPr>
              <a:t>the lessons from this task stay for the next one</a:t>
            </a:r>
            <a:endParaRPr lang="en-US" sz="2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45C57"/>
                </a:solidFill>
                <a:latin typeface="Arial"/>
                <a:ea typeface="Arial"/>
                <a:cs typeface="Arial"/>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914400"/>
          </a:xfrm>
          <a:prstGeom prst="rect">
            <a:avLst/>
          </a:prstGeom>
          <a:noFill/>
          <a:ln/>
        </p:spPr>
        <p:txBody>
          <a:bodyPr wrap="square" lIns="0" tIns="0" rIns="0" bIns="0" rtlCol="0" anchor="t"/>
          <a:lstStyle/>
          <a:p>
            <a:pPr algn="l" indent="0" marL="0">
              <a:buNone/>
            </a:pPr>
            <a:r>
              <a:rPr lang="en-US" sz="3600" b="1" dirty="0">
                <a:solidFill>
                  <a:srgbClr val="121614"/>
                </a:solidFill>
                <a:latin typeface="Bricolage Grotesque" pitchFamily="34" charset="0"/>
                <a:ea typeface="Bricolage Grotesque" pitchFamily="34" charset="-122"/>
                <a:cs typeface="Bricolage Grotesque" pitchFamily="34" charset="-120"/>
              </a:rPr>
              <a:t>Claude Desktop and mobile</a:t>
            </a:r>
            <a:endParaRPr lang="en-US" sz="3600" dirty="0"/>
          </a:p>
        </p:txBody>
      </p:sp>
      <p:sp>
        <p:nvSpPr>
          <p:cNvPr id="3" name="coluna-0"/>
          <p:cNvSpPr/>
          <p:nvPr/>
        </p:nvSpPr>
        <p:spPr>
          <a:xfrm>
            <a:off x="548640" y="1691640"/>
            <a:ext cx="3484778" cy="3566160"/>
          </a:xfrm>
          <a:prstGeom prst="rect">
            <a:avLst/>
          </a:prstGeom>
          <a:solidFill>
            <a:srgbClr val="E6E6E1"/>
          </a:solidFill>
          <a:ln w="12700">
            <a:solidFill>
              <a:srgbClr val="E6E6E1"/>
            </a:solidFill>
            <a:prstDash val="solid"/>
          </a:ln>
        </p:spPr>
      </p:sp>
      <p:sp>
        <p:nvSpPr>
          <p:cNvPr id="4" name="marca-0"/>
          <p:cNvSpPr/>
          <p:nvPr/>
        </p:nvSpPr>
        <p:spPr>
          <a:xfrm>
            <a:off x="868680" y="2011680"/>
            <a:ext cx="384048" cy="384048"/>
          </a:xfrm>
          <a:prstGeom prst="rect">
            <a:avLst/>
          </a:prstGeom>
          <a:solidFill>
            <a:srgbClr val="1E9E57"/>
          </a:solidFill>
          <a:ln w="12700">
            <a:solidFill>
              <a:srgbClr val="1E9E57"/>
            </a:solidFill>
            <a:prstDash val="solid"/>
          </a:ln>
        </p:spPr>
      </p:sp>
      <p:sp>
        <p:nvSpPr>
          <p:cNvPr id="5" name="coluna-titulo-0"/>
          <p:cNvSpPr txBox="1"/>
          <p:nvPr/>
        </p:nvSpPr>
        <p:spPr>
          <a:xfrm>
            <a:off x="868680" y="2697480"/>
            <a:ext cx="2844698" cy="914400"/>
          </a:xfrm>
          <a:prstGeom prst="rect">
            <a:avLst/>
          </a:prstGeom>
          <a:noFill/>
          <a:ln/>
        </p:spPr>
        <p:txBody>
          <a:bodyPr wrap="square" lIns="0" tIns="0" rIns="0" bIns="0" rtlCol="0" anchor="t"/>
          <a:lstStyle/>
          <a:p>
            <a:pPr indent="0" marL="0">
              <a:buNone/>
            </a:pPr>
            <a:r>
              <a:rPr lang="en-US" sz="2600" b="1" dirty="0">
                <a:solidFill>
                  <a:srgbClr val="121614"/>
                </a:solidFill>
                <a:latin typeface="Bricolage Grotesque" pitchFamily="34" charset="0"/>
                <a:ea typeface="Bricolage Grotesque" pitchFamily="34" charset="-122"/>
                <a:cs typeface="Bricolage Grotesque" pitchFamily="34" charset="-120"/>
              </a:rPr>
              <a:t>Desktop</a:t>
            </a:r>
            <a:endParaRPr lang="en-US" sz="2600" dirty="0"/>
          </a:p>
        </p:txBody>
      </p:sp>
      <p:sp>
        <p:nvSpPr>
          <p:cNvPr id="6" name="coluna-texto-0"/>
          <p:cNvSpPr txBox="1"/>
          <p:nvPr/>
        </p:nvSpPr>
        <p:spPr>
          <a:xfrm>
            <a:off x="868680" y="3657600"/>
            <a:ext cx="2844698" cy="1463040"/>
          </a:xfrm>
          <a:prstGeom prst="rect">
            <a:avLst/>
          </a:prstGeom>
          <a:noFill/>
          <a:ln/>
        </p:spPr>
        <p:txBody>
          <a:bodyPr wrap="square" lIns="0" tIns="0" rIns="0" bIns="0" rtlCol="0" anchor="t"/>
          <a:lstStyle/>
          <a:p>
            <a:pPr indent="0" marL="0">
              <a:buNone/>
            </a:pPr>
            <a:r>
              <a:rPr lang="en-US" sz="2000" dirty="0">
                <a:solidFill>
                  <a:srgbClr val="121614"/>
                </a:solidFill>
                <a:latin typeface="Arial" pitchFamily="34" charset="0"/>
                <a:ea typeface="Arial" pitchFamily="34" charset="-122"/>
                <a:cs typeface="Arial" pitchFamily="34" charset="-120"/>
              </a:rPr>
              <a:t>for chatting, with a claude.ai account; the Code tab needs a subscription</a:t>
            </a:r>
            <a:endParaRPr lang="en-US" sz="2000" dirty="0"/>
          </a:p>
        </p:txBody>
      </p:sp>
      <p:sp>
        <p:nvSpPr>
          <p:cNvPr id="7" name="coluna-1"/>
          <p:cNvSpPr/>
          <p:nvPr/>
        </p:nvSpPr>
        <p:spPr>
          <a:xfrm>
            <a:off x="4353458" y="1691640"/>
            <a:ext cx="3484778" cy="3566160"/>
          </a:xfrm>
          <a:prstGeom prst="rect">
            <a:avLst/>
          </a:prstGeom>
          <a:solidFill>
            <a:srgbClr val="E6E6E1"/>
          </a:solidFill>
          <a:ln w="12700">
            <a:solidFill>
              <a:srgbClr val="E6E6E1"/>
            </a:solidFill>
            <a:prstDash val="solid"/>
          </a:ln>
        </p:spPr>
      </p:sp>
      <p:sp>
        <p:nvSpPr>
          <p:cNvPr id="8" name="marca-1"/>
          <p:cNvSpPr/>
          <p:nvPr/>
        </p:nvSpPr>
        <p:spPr>
          <a:xfrm>
            <a:off x="4673498" y="2011680"/>
            <a:ext cx="384048" cy="384048"/>
          </a:xfrm>
          <a:prstGeom prst="rect">
            <a:avLst/>
          </a:prstGeom>
          <a:solidFill>
            <a:srgbClr val="1A4BE0"/>
          </a:solidFill>
          <a:ln w="12700">
            <a:solidFill>
              <a:srgbClr val="1A4BE0"/>
            </a:solidFill>
            <a:prstDash val="solid"/>
          </a:ln>
        </p:spPr>
      </p:sp>
      <p:sp>
        <p:nvSpPr>
          <p:cNvPr id="9" name="coluna-titulo-1"/>
          <p:cNvSpPr txBox="1"/>
          <p:nvPr/>
        </p:nvSpPr>
        <p:spPr>
          <a:xfrm>
            <a:off x="4673498" y="2697480"/>
            <a:ext cx="2844698" cy="914400"/>
          </a:xfrm>
          <a:prstGeom prst="rect">
            <a:avLst/>
          </a:prstGeom>
          <a:noFill/>
          <a:ln/>
        </p:spPr>
        <p:txBody>
          <a:bodyPr wrap="square" lIns="0" tIns="0" rIns="0" bIns="0" rtlCol="0" anchor="t"/>
          <a:lstStyle/>
          <a:p>
            <a:pPr indent="0" marL="0">
              <a:buNone/>
            </a:pPr>
            <a:r>
              <a:rPr lang="en-US" sz="2600" b="1" dirty="0">
                <a:solidFill>
                  <a:srgbClr val="121614"/>
                </a:solidFill>
                <a:latin typeface="Bricolage Grotesque" pitchFamily="34" charset="0"/>
                <a:ea typeface="Bricolage Grotesque" pitchFamily="34" charset="-122"/>
                <a:cs typeface="Bricolage Grotesque" pitchFamily="34" charset="-120"/>
              </a:rPr>
              <a:t>Mobile</a:t>
            </a:r>
            <a:endParaRPr lang="en-US" sz="2600" dirty="0"/>
          </a:p>
        </p:txBody>
      </p:sp>
      <p:sp>
        <p:nvSpPr>
          <p:cNvPr id="10" name="coluna-texto-1"/>
          <p:cNvSpPr txBox="1"/>
          <p:nvPr/>
        </p:nvSpPr>
        <p:spPr>
          <a:xfrm>
            <a:off x="4673498" y="3657600"/>
            <a:ext cx="2844698" cy="1463040"/>
          </a:xfrm>
          <a:prstGeom prst="rect">
            <a:avLst/>
          </a:prstGeom>
          <a:noFill/>
          <a:ln/>
        </p:spPr>
        <p:txBody>
          <a:bodyPr wrap="square" lIns="0" tIns="0" rIns="0" bIns="0" rtlCol="0" anchor="t"/>
          <a:lstStyle/>
          <a:p>
            <a:pPr indent="0" marL="0">
              <a:buNone/>
            </a:pPr>
            <a:r>
              <a:rPr lang="en-US" sz="2000" dirty="0">
                <a:solidFill>
                  <a:srgbClr val="121614"/>
                </a:solidFill>
                <a:latin typeface="Arial" pitchFamily="34" charset="0"/>
                <a:ea typeface="Arial" pitchFamily="34" charset="-122"/>
                <a:cs typeface="Arial" pitchFamily="34" charset="-120"/>
              </a:rPr>
              <a:t>Remote Control needs a subscription and does not accept API keys</a:t>
            </a:r>
            <a:endParaRPr lang="en-US" sz="2000" dirty="0"/>
          </a:p>
        </p:txBody>
      </p:sp>
      <p:sp>
        <p:nvSpPr>
          <p:cNvPr id="11" name="coluna-2"/>
          <p:cNvSpPr/>
          <p:nvPr/>
        </p:nvSpPr>
        <p:spPr>
          <a:xfrm>
            <a:off x="8158277" y="1691640"/>
            <a:ext cx="3484778" cy="3566160"/>
          </a:xfrm>
          <a:prstGeom prst="rect">
            <a:avLst/>
          </a:prstGeom>
          <a:solidFill>
            <a:srgbClr val="E6E6E1"/>
          </a:solidFill>
          <a:ln w="12700">
            <a:solidFill>
              <a:srgbClr val="E6E6E1"/>
            </a:solidFill>
            <a:prstDash val="solid"/>
          </a:ln>
        </p:spPr>
      </p:sp>
      <p:sp>
        <p:nvSpPr>
          <p:cNvPr id="12" name="marca-2"/>
          <p:cNvSpPr/>
          <p:nvPr/>
        </p:nvSpPr>
        <p:spPr>
          <a:xfrm>
            <a:off x="8478317" y="2011680"/>
            <a:ext cx="384048" cy="384048"/>
          </a:xfrm>
          <a:prstGeom prst="rect">
            <a:avLst/>
          </a:prstGeom>
          <a:solidFill>
            <a:srgbClr val="F1C232"/>
          </a:solidFill>
          <a:ln w="12700">
            <a:solidFill>
              <a:srgbClr val="F1C232"/>
            </a:solidFill>
            <a:prstDash val="solid"/>
          </a:ln>
        </p:spPr>
      </p:sp>
      <p:sp>
        <p:nvSpPr>
          <p:cNvPr id="13" name="coluna-titulo-2"/>
          <p:cNvSpPr txBox="1"/>
          <p:nvPr/>
        </p:nvSpPr>
        <p:spPr>
          <a:xfrm>
            <a:off x="8478317" y="2697480"/>
            <a:ext cx="2844698" cy="914400"/>
          </a:xfrm>
          <a:prstGeom prst="rect">
            <a:avLst/>
          </a:prstGeom>
          <a:noFill/>
          <a:ln/>
        </p:spPr>
        <p:txBody>
          <a:bodyPr wrap="square" lIns="0" tIns="0" rIns="0" bIns="0" rtlCol="0" anchor="t"/>
          <a:lstStyle/>
          <a:p>
            <a:pPr indent="0" marL="0">
              <a:buNone/>
            </a:pPr>
            <a:r>
              <a:rPr lang="en-US" sz="2600" b="1" dirty="0">
                <a:solidFill>
                  <a:srgbClr val="121614"/>
                </a:solidFill>
                <a:latin typeface="Bricolage Grotesque" pitchFamily="34" charset="0"/>
                <a:ea typeface="Bricolage Grotesque" pitchFamily="34" charset="-122"/>
                <a:cs typeface="Bricolage Grotesque" pitchFamily="34" charset="-120"/>
              </a:rPr>
              <a:t>Today</a:t>
            </a:r>
            <a:endParaRPr lang="en-US" sz="2600" dirty="0"/>
          </a:p>
        </p:txBody>
      </p:sp>
      <p:sp>
        <p:nvSpPr>
          <p:cNvPr id="14" name="coluna-texto-2"/>
          <p:cNvSpPr txBox="1"/>
          <p:nvPr/>
        </p:nvSpPr>
        <p:spPr>
          <a:xfrm>
            <a:off x="8478317" y="3657600"/>
            <a:ext cx="2844698" cy="1463040"/>
          </a:xfrm>
          <a:prstGeom prst="rect">
            <a:avLst/>
          </a:prstGeom>
          <a:noFill/>
          <a:ln/>
        </p:spPr>
        <p:txBody>
          <a:bodyPr wrap="square" lIns="0" tIns="0" rIns="0" bIns="0" rtlCol="0" anchor="t"/>
          <a:lstStyle/>
          <a:p>
            <a:pPr indent="0" marL="0">
              <a:buNone/>
            </a:pPr>
            <a:r>
              <a:rPr lang="en-US" sz="2000" dirty="0">
                <a:solidFill>
                  <a:srgbClr val="121614"/>
                </a:solidFill>
                <a:latin typeface="Arial" pitchFamily="34" charset="0"/>
                <a:ea typeface="Arial" pitchFamily="34" charset="-122"/>
                <a:cs typeface="Arial" pitchFamily="34" charset="-120"/>
              </a:rPr>
              <a:t>everything in Claude Code, with your Console account</a:t>
            </a:r>
            <a:endParaRPr lang="en-US" sz="2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45C57"/>
                </a:solidFill>
                <a:latin typeface="Arial"/>
                <a:ea typeface="Arial"/>
                <a:cs typeface="Arial"/>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914400"/>
          </a:xfrm>
          <a:prstGeom prst="rect">
            <a:avLst/>
          </a:prstGeom>
          <a:noFill/>
          <a:ln/>
        </p:spPr>
        <p:txBody>
          <a:bodyPr wrap="square" lIns="0" tIns="0" rIns="0" bIns="0" rtlCol="0" anchor="t"/>
          <a:lstStyle/>
          <a:p>
            <a:pPr algn="l" indent="0" marL="0">
              <a:buNone/>
            </a:pPr>
            <a:r>
              <a:rPr lang="en-US" sz="3600" b="1" dirty="0">
                <a:solidFill>
                  <a:srgbClr val="121614"/>
                </a:solidFill>
                <a:latin typeface="Bricolage Grotesque" pitchFamily="34" charset="0"/>
                <a:ea typeface="Bricolage Grotesque" pitchFamily="34" charset="-122"/>
                <a:cs typeface="Bricolage Grotesque" pitchFamily="34" charset="-120"/>
              </a:rPr>
              <a:t>Five ideas to take with you</a:t>
            </a:r>
            <a:endParaRPr lang="en-US" sz="3600" dirty="0"/>
          </a:p>
        </p:txBody>
      </p:sp>
      <p:sp>
        <p:nvSpPr>
          <p:cNvPr id="3" name="lista-marca-0"/>
          <p:cNvSpPr/>
          <p:nvPr/>
        </p:nvSpPr>
        <p:spPr>
          <a:xfrm>
            <a:off x="548640" y="1783080"/>
            <a:ext cx="310896" cy="310896"/>
          </a:xfrm>
          <a:prstGeom prst="rect">
            <a:avLst/>
          </a:prstGeom>
          <a:solidFill>
            <a:srgbClr val="1E9E57"/>
          </a:solidFill>
          <a:ln w="12700">
            <a:solidFill>
              <a:srgbClr val="1E9E57"/>
            </a:solidFill>
            <a:prstDash val="solid"/>
          </a:ln>
        </p:spPr>
      </p:sp>
      <p:sp>
        <p:nvSpPr>
          <p:cNvPr id="4" name="lista-item-0"/>
          <p:cNvSpPr txBox="1"/>
          <p:nvPr/>
        </p:nvSpPr>
        <p:spPr>
          <a:xfrm>
            <a:off x="1097280" y="1691640"/>
            <a:ext cx="10545775" cy="731520"/>
          </a:xfrm>
          <a:prstGeom prst="rect">
            <a:avLst/>
          </a:prstGeom>
          <a:noFill/>
          <a:ln/>
        </p:spPr>
        <p:txBody>
          <a:bodyPr wrap="square" lIns="0" tIns="0" rIns="0" bIns="0" rtlCol="0" anchor="t"/>
          <a:lstStyle/>
          <a:p>
            <a:pPr indent="0" marL="0">
              <a:buNone/>
            </a:pPr>
            <a:r>
              <a:rPr lang="en-US" sz="2600" b="1" dirty="0">
                <a:solidFill>
                  <a:srgbClr val="121614"/>
                </a:solidFill>
                <a:latin typeface="Bricolage Grotesque" pitchFamily="34" charset="0"/>
                <a:ea typeface="Bricolage Grotesque" pitchFamily="34" charset="-122"/>
                <a:cs typeface="Bricolage Grotesque" pitchFamily="34" charset="-120"/>
              </a:rPr>
              <a:t>Skills make work repeatable</a:t>
            </a:r>
            <a:endParaRPr lang="en-US" sz="2600" dirty="0"/>
          </a:p>
        </p:txBody>
      </p:sp>
      <p:sp>
        <p:nvSpPr>
          <p:cNvPr id="5" name="lista-marca-1"/>
          <p:cNvSpPr/>
          <p:nvPr/>
        </p:nvSpPr>
        <p:spPr>
          <a:xfrm>
            <a:off x="548640" y="2624328"/>
            <a:ext cx="310896" cy="310896"/>
          </a:xfrm>
          <a:prstGeom prst="rect">
            <a:avLst/>
          </a:prstGeom>
          <a:solidFill>
            <a:srgbClr val="1E9E57"/>
          </a:solidFill>
          <a:ln w="12700">
            <a:solidFill>
              <a:srgbClr val="1E9E57"/>
            </a:solidFill>
            <a:prstDash val="solid"/>
          </a:ln>
        </p:spPr>
      </p:sp>
      <p:sp>
        <p:nvSpPr>
          <p:cNvPr id="6" name="lista-item-1"/>
          <p:cNvSpPr txBox="1"/>
          <p:nvPr/>
        </p:nvSpPr>
        <p:spPr>
          <a:xfrm>
            <a:off x="1097280" y="2532888"/>
            <a:ext cx="10545775" cy="731520"/>
          </a:xfrm>
          <a:prstGeom prst="rect">
            <a:avLst/>
          </a:prstGeom>
          <a:noFill/>
          <a:ln/>
        </p:spPr>
        <p:txBody>
          <a:bodyPr wrap="square" lIns="0" tIns="0" rIns="0" bIns="0" rtlCol="0" anchor="t"/>
          <a:lstStyle/>
          <a:p>
            <a:pPr indent="0" marL="0">
              <a:buNone/>
            </a:pPr>
            <a:r>
              <a:rPr lang="en-US" sz="2600" b="1" dirty="0">
                <a:solidFill>
                  <a:srgbClr val="121614"/>
                </a:solidFill>
                <a:latin typeface="Bricolage Grotesque" pitchFamily="34" charset="0"/>
                <a:ea typeface="Bricolage Grotesque" pitchFamily="34" charset="-122"/>
                <a:cs typeface="Bricolage Grotesque" pitchFamily="34" charset="-120"/>
              </a:rPr>
              <a:t>Subagents bring a clean context and the right model per piece</a:t>
            </a:r>
            <a:endParaRPr lang="en-US" sz="2600" dirty="0"/>
          </a:p>
        </p:txBody>
      </p:sp>
      <p:sp>
        <p:nvSpPr>
          <p:cNvPr id="7" name="lista-marca-2"/>
          <p:cNvSpPr/>
          <p:nvPr/>
        </p:nvSpPr>
        <p:spPr>
          <a:xfrm>
            <a:off x="548640" y="3465576"/>
            <a:ext cx="310896" cy="310896"/>
          </a:xfrm>
          <a:prstGeom prst="rect">
            <a:avLst/>
          </a:prstGeom>
          <a:solidFill>
            <a:srgbClr val="1E9E57"/>
          </a:solidFill>
          <a:ln w="12700">
            <a:solidFill>
              <a:srgbClr val="1E9E57"/>
            </a:solidFill>
            <a:prstDash val="solid"/>
          </a:ln>
        </p:spPr>
      </p:sp>
      <p:sp>
        <p:nvSpPr>
          <p:cNvPr id="8" name="lista-item-2"/>
          <p:cNvSpPr txBox="1"/>
          <p:nvPr/>
        </p:nvSpPr>
        <p:spPr>
          <a:xfrm>
            <a:off x="1097280" y="3374136"/>
            <a:ext cx="10545775" cy="731520"/>
          </a:xfrm>
          <a:prstGeom prst="rect">
            <a:avLst/>
          </a:prstGeom>
          <a:noFill/>
          <a:ln/>
        </p:spPr>
        <p:txBody>
          <a:bodyPr wrap="square" lIns="0" tIns="0" rIns="0" bIns="0" rtlCol="0" anchor="t"/>
          <a:lstStyle/>
          <a:p>
            <a:pPr indent="0" marL="0">
              <a:buNone/>
            </a:pPr>
            <a:r>
              <a:rPr lang="en-US" sz="2600" b="1" dirty="0">
                <a:solidFill>
                  <a:srgbClr val="121614"/>
                </a:solidFill>
                <a:latin typeface="Bricolage Grotesque" pitchFamily="34" charset="0"/>
                <a:ea typeface="Bricolage Grotesque" pitchFamily="34" charset="-122"/>
                <a:cs typeface="Bricolage Grotesque" pitchFamily="34" charset="-120"/>
              </a:rPr>
              <a:t>A script decides the graph; the model executes</a:t>
            </a:r>
            <a:endParaRPr lang="en-US" sz="2600" dirty="0"/>
          </a:p>
        </p:txBody>
      </p:sp>
      <p:sp>
        <p:nvSpPr>
          <p:cNvPr id="9" name="lista-marca-3"/>
          <p:cNvSpPr/>
          <p:nvPr/>
        </p:nvSpPr>
        <p:spPr>
          <a:xfrm>
            <a:off x="548640" y="4306824"/>
            <a:ext cx="310896" cy="310896"/>
          </a:xfrm>
          <a:prstGeom prst="rect">
            <a:avLst/>
          </a:prstGeom>
          <a:solidFill>
            <a:srgbClr val="1E9E57"/>
          </a:solidFill>
          <a:ln w="12700">
            <a:solidFill>
              <a:srgbClr val="1E9E57"/>
            </a:solidFill>
            <a:prstDash val="solid"/>
          </a:ln>
        </p:spPr>
      </p:sp>
      <p:sp>
        <p:nvSpPr>
          <p:cNvPr id="10" name="lista-item-3"/>
          <p:cNvSpPr txBox="1"/>
          <p:nvPr/>
        </p:nvSpPr>
        <p:spPr>
          <a:xfrm>
            <a:off x="1097280" y="4215384"/>
            <a:ext cx="10545775" cy="731520"/>
          </a:xfrm>
          <a:prstGeom prst="rect">
            <a:avLst/>
          </a:prstGeom>
          <a:noFill/>
          <a:ln/>
        </p:spPr>
        <p:txBody>
          <a:bodyPr wrap="square" lIns="0" tIns="0" rIns="0" bIns="0" rtlCol="0" anchor="t"/>
          <a:lstStyle/>
          <a:p>
            <a:pPr indent="0" marL="0">
              <a:buNone/>
            </a:pPr>
            <a:r>
              <a:rPr lang="en-US" sz="2600" b="1" dirty="0">
                <a:solidFill>
                  <a:srgbClr val="121614"/>
                </a:solidFill>
                <a:latin typeface="Bricolage Grotesque" pitchFamily="34" charset="0"/>
                <a:ea typeface="Bricolage Grotesque" pitchFamily="34" charset="-122"/>
                <a:cs typeface="Bricolage Grotesque" pitchFamily="34" charset="-120"/>
              </a:rPr>
              <a:t>Measure with hooks; cost is not guessed</a:t>
            </a:r>
            <a:endParaRPr lang="en-US" sz="2600" dirty="0"/>
          </a:p>
        </p:txBody>
      </p:sp>
      <p:sp>
        <p:nvSpPr>
          <p:cNvPr id="11" name="lista-marca-4"/>
          <p:cNvSpPr/>
          <p:nvPr/>
        </p:nvSpPr>
        <p:spPr>
          <a:xfrm>
            <a:off x="548640" y="5148072"/>
            <a:ext cx="310896" cy="310896"/>
          </a:xfrm>
          <a:prstGeom prst="rect">
            <a:avLst/>
          </a:prstGeom>
          <a:solidFill>
            <a:srgbClr val="1E9E57"/>
          </a:solidFill>
          <a:ln w="12700">
            <a:solidFill>
              <a:srgbClr val="1E9E57"/>
            </a:solidFill>
            <a:prstDash val="solid"/>
          </a:ln>
        </p:spPr>
      </p:sp>
      <p:sp>
        <p:nvSpPr>
          <p:cNvPr id="12" name="lista-item-4"/>
          <p:cNvSpPr txBox="1"/>
          <p:nvPr/>
        </p:nvSpPr>
        <p:spPr>
          <a:xfrm>
            <a:off x="1097280" y="5056632"/>
            <a:ext cx="10545775" cy="731520"/>
          </a:xfrm>
          <a:prstGeom prst="rect">
            <a:avLst/>
          </a:prstGeom>
          <a:noFill/>
          <a:ln/>
        </p:spPr>
        <p:txBody>
          <a:bodyPr wrap="square" lIns="0" tIns="0" rIns="0" bIns="0" rtlCol="0" anchor="t"/>
          <a:lstStyle/>
          <a:p>
            <a:pPr indent="0" marL="0">
              <a:buNone/>
            </a:pPr>
            <a:r>
              <a:rPr lang="en-US" sz="2600" b="1" dirty="0">
                <a:solidFill>
                  <a:srgbClr val="121614"/>
                </a:solidFill>
                <a:latin typeface="Bricolage Grotesque" pitchFamily="34" charset="0"/>
                <a:ea typeface="Bricolage Grotesque" pitchFamily="34" charset="-122"/>
                <a:cs typeface="Bricolage Grotesque" pitchFamily="34" charset="-120"/>
              </a:rPr>
              <a:t>Memory makes each task teach the next one</a:t>
            </a:r>
            <a:endParaRPr lang="en-US" sz="26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45C57"/>
                </a:solidFill>
                <a:latin typeface="Arial"/>
                <a:ea typeface="Arial"/>
                <a:cs typeface="Arial"/>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914400"/>
          </a:xfrm>
          <a:prstGeom prst="rect">
            <a:avLst/>
          </a:prstGeom>
          <a:noFill/>
          <a:ln/>
        </p:spPr>
        <p:txBody>
          <a:bodyPr wrap="square" lIns="0" tIns="0" rIns="0" bIns="0" rtlCol="0" anchor="t"/>
          <a:lstStyle/>
          <a:p>
            <a:pPr algn="l" indent="0" marL="0">
              <a:buNone/>
            </a:pPr>
            <a:r>
              <a:rPr lang="en-US" sz="3600" b="1" dirty="0">
                <a:solidFill>
                  <a:srgbClr val="121614"/>
                </a:solidFill>
                <a:latin typeface="Bricolage Grotesque" pitchFamily="34" charset="0"/>
                <a:ea typeface="Bricolage Grotesque" pitchFamily="34" charset="-122"/>
                <a:cs typeface="Bricolage Grotesque" pitchFamily="34" charset="-120"/>
              </a:rPr>
              <a:t>Where everything is</a:t>
            </a:r>
            <a:endParaRPr lang="en-US" sz="3600" dirty="0"/>
          </a:p>
        </p:txBody>
      </p:sp>
      <p:sp>
        <p:nvSpPr>
          <p:cNvPr id="3" name="intro"/>
          <p:cNvSpPr txBox="1"/>
          <p:nvPr/>
        </p:nvSpPr>
        <p:spPr>
          <a:xfrm>
            <a:off x="548640" y="1463040"/>
            <a:ext cx="11094415" cy="548640"/>
          </a:xfrm>
          <a:prstGeom prst="rect">
            <a:avLst/>
          </a:prstGeom>
          <a:noFill/>
          <a:ln/>
        </p:spPr>
        <p:txBody>
          <a:bodyPr wrap="square" lIns="0" tIns="0" rIns="0" bIns="0" rtlCol="0" anchor="t"/>
          <a:lstStyle/>
          <a:p>
            <a:pPr indent="0" marL="0">
              <a:buNone/>
            </a:pPr>
            <a:r>
              <a:rPr lang="en-US" sz="2000" dirty="0">
                <a:solidFill>
                  <a:srgbClr val="121614"/>
                </a:solidFill>
                <a:latin typeface="Arial" pitchFamily="34" charset="0"/>
                <a:ea typeface="Arial" pitchFamily="34" charset="-122"/>
                <a:cs typeface="Arial" pitchFamily="34" charset="-120"/>
              </a:rPr>
              <a:t>Install on another machine:</a:t>
            </a:r>
            <a:endParaRPr lang="en-US" sz="2000" dirty="0"/>
          </a:p>
        </p:txBody>
      </p:sp>
      <p:sp>
        <p:nvSpPr>
          <p:cNvPr id="4" name="codigo-fundo"/>
          <p:cNvSpPr/>
          <p:nvPr/>
        </p:nvSpPr>
        <p:spPr>
          <a:xfrm>
            <a:off x="548640" y="2148840"/>
            <a:ext cx="11094415" cy="2057400"/>
          </a:xfrm>
          <a:prstGeom prst="rect">
            <a:avLst/>
          </a:prstGeom>
          <a:solidFill>
            <a:srgbClr val="121614"/>
          </a:solidFill>
          <a:ln w="12700">
            <a:solidFill>
              <a:srgbClr val="121614"/>
            </a:solidFill>
            <a:prstDash val="solid"/>
          </a:ln>
        </p:spPr>
      </p:sp>
      <p:sp>
        <p:nvSpPr>
          <p:cNvPr id="5" name="codigo"/>
          <p:cNvSpPr txBox="1"/>
          <p:nvPr/>
        </p:nvSpPr>
        <p:spPr>
          <a:xfrm>
            <a:off x="777240" y="2331720"/>
            <a:ext cx="10637215" cy="1737360"/>
          </a:xfrm>
          <a:prstGeom prst="rect">
            <a:avLst/>
          </a:prstGeom>
          <a:noFill/>
          <a:ln/>
        </p:spPr>
        <p:txBody>
          <a:bodyPr wrap="square" lIns="0" tIns="0" rIns="0" bIns="0" rtlCol="0" anchor="t"/>
          <a:lstStyle/>
          <a:p>
            <a:pPr indent="0" marL="0">
              <a:buNone/>
            </a:pPr>
            <a:r>
              <a:rPr lang="en-US" sz="2000" dirty="0">
                <a:solidFill>
                  <a:srgbClr val="E8EDE9"/>
                </a:solidFill>
                <a:latin typeface="Courier New" pitchFamily="34" charset="0"/>
                <a:ea typeface="Courier New" pitchFamily="34" charset="-122"/>
                <a:cs typeface="Courier New" pitchFamily="34" charset="-120"/>
              </a:rPr>
              <a:t>curl -fsSL https://gitea.guilhermepinto.pt/guilherme/workshop-claude/releases/download/v1.0.0-dev.3/setup-mac.sh | bash</a:t>
            </a:r>
            <a:endParaRPr lang="en-US" sz="2000" dirty="0"/>
          </a:p>
          <a:p>
            <a:pPr indent="0" marL="0">
              <a:buNone/>
            </a:pPr>
            <a:endParaRPr lang="en-US" sz="2000" dirty="0"/>
          </a:p>
          <a:p>
            <a:pPr indent="0" marL="0">
              <a:buNone/>
            </a:pPr>
            <a:r>
              <a:rPr lang="en-US" sz="2000" dirty="0">
                <a:solidFill>
                  <a:srgbClr val="E8EDE9"/>
                </a:solidFill>
                <a:latin typeface="Courier New" pitchFamily="34" charset="0"/>
                <a:ea typeface="Courier New" pitchFamily="34" charset="-122"/>
                <a:cs typeface="Courier New" pitchFamily="34" charset="-120"/>
              </a:rPr>
              <a:t>irm https://gitea.guilhermepinto.pt/guilherme/workshop-claude/releases/download/v1.0.0-dev.3/bootstrap-windows.ps1 | iex</a:t>
            </a:r>
            <a:endParaRPr lang="en-US" sz="2000" dirty="0"/>
          </a:p>
        </p:txBody>
      </p:sp>
      <p:sp>
        <p:nvSpPr>
          <p:cNvPr id="6" name="depois"/>
          <p:cNvSpPr txBox="1"/>
          <p:nvPr/>
        </p:nvSpPr>
        <p:spPr>
          <a:xfrm>
            <a:off x="548640" y="5760720"/>
            <a:ext cx="11094415" cy="502920"/>
          </a:xfrm>
          <a:prstGeom prst="rect">
            <a:avLst/>
          </a:prstGeom>
          <a:noFill/>
          <a:ln/>
        </p:spPr>
        <p:txBody>
          <a:bodyPr wrap="square" lIns="0" tIns="0" rIns="0" bIns="0" rtlCol="0" anchor="t"/>
          <a:lstStyle/>
          <a:p>
            <a:pPr indent="0" marL="0">
              <a:buNone/>
            </a:pPr>
            <a:r>
              <a:rPr lang="en-US" sz="1500" dirty="0">
                <a:solidFill>
                  <a:srgbClr val="545C57"/>
                </a:solidFill>
                <a:latin typeface="Arial" pitchFamily="34" charset="0"/>
                <a:ea typeface="Arial" pitchFamily="34" charset="-122"/>
                <a:cs typeface="Arial" pitchFamily="34" charset="-120"/>
              </a:rPr>
              <a:t>Repository: https://gitea.guilhermepinto.pt/guilherme/workshop-claude · version v1.0.0-dev.3 · update the memory: memoria update</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45C57"/>
                </a:solidFill>
                <a:latin typeface="Arial"/>
                <a:ea typeface="Arial"/>
                <a:cs typeface="Arial"/>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914400"/>
          </a:xfrm>
          <a:prstGeom prst="rect">
            <a:avLst/>
          </a:prstGeom>
          <a:noFill/>
          <a:ln/>
        </p:spPr>
        <p:txBody>
          <a:bodyPr wrap="square" lIns="0" tIns="0" rIns="0" bIns="0" rtlCol="0" anchor="t"/>
          <a:lstStyle/>
          <a:p>
            <a:pPr algn="l" indent="0" marL="0">
              <a:buNone/>
            </a:pPr>
            <a:r>
              <a:rPr lang="en-US" sz="3600" b="1" dirty="0">
                <a:solidFill>
                  <a:srgbClr val="121614"/>
                </a:solidFill>
                <a:latin typeface="Bricolage Grotesque" pitchFamily="34" charset="0"/>
                <a:ea typeface="Bricolage Grotesque" pitchFamily="34" charset="-122"/>
                <a:cs typeface="Bricolage Grotesque" pitchFamily="34" charset="-120"/>
              </a:rPr>
              <a:t>Tomorrow</a:t>
            </a:r>
            <a:endParaRPr lang="en-US" sz="3600" dirty="0"/>
          </a:p>
        </p:txBody>
      </p:sp>
      <p:sp>
        <p:nvSpPr>
          <p:cNvPr id="3" name="lista-marca-0"/>
          <p:cNvSpPr/>
          <p:nvPr/>
        </p:nvSpPr>
        <p:spPr>
          <a:xfrm>
            <a:off x="548640" y="1783080"/>
            <a:ext cx="310896" cy="310896"/>
          </a:xfrm>
          <a:prstGeom prst="rect">
            <a:avLst/>
          </a:prstGeom>
          <a:solidFill>
            <a:srgbClr val="1E9E57"/>
          </a:solidFill>
          <a:ln w="12700">
            <a:solidFill>
              <a:srgbClr val="1E9E57"/>
            </a:solidFill>
            <a:prstDash val="solid"/>
          </a:ln>
        </p:spPr>
      </p:sp>
      <p:sp>
        <p:nvSpPr>
          <p:cNvPr id="4" name="lista-item-0"/>
          <p:cNvSpPr txBox="1"/>
          <p:nvPr/>
        </p:nvSpPr>
        <p:spPr>
          <a:xfrm>
            <a:off x="1097280" y="1691640"/>
            <a:ext cx="10545775" cy="731520"/>
          </a:xfrm>
          <a:prstGeom prst="rect">
            <a:avLst/>
          </a:prstGeom>
          <a:noFill/>
          <a:ln/>
        </p:spPr>
        <p:txBody>
          <a:bodyPr wrap="square" lIns="0" tIns="0" rIns="0" bIns="0" rtlCol="0" anchor="t"/>
          <a:lstStyle/>
          <a:p>
            <a:pPr indent="0" marL="0">
              <a:buNone/>
            </a:pPr>
            <a:r>
              <a:rPr lang="en-US" sz="2600" b="1" dirty="0">
                <a:solidFill>
                  <a:srgbClr val="121614"/>
                </a:solidFill>
                <a:latin typeface="Bricolage Grotesque" pitchFamily="34" charset="0"/>
                <a:ea typeface="Bricolage Grotesque" pitchFamily="34" charset="-122"/>
                <a:cs typeface="Bricolage Grotesque" pitchFamily="34" charset="-120"/>
              </a:rPr>
              <a:t>Run /task-intake on the next issue assigned to you</a:t>
            </a:r>
            <a:endParaRPr lang="en-US" sz="2600" dirty="0"/>
          </a:p>
        </p:txBody>
      </p:sp>
      <p:sp>
        <p:nvSpPr>
          <p:cNvPr id="5" name="lista-marca-1"/>
          <p:cNvSpPr/>
          <p:nvPr/>
        </p:nvSpPr>
        <p:spPr>
          <a:xfrm>
            <a:off x="548640" y="2624328"/>
            <a:ext cx="310896" cy="310896"/>
          </a:xfrm>
          <a:prstGeom prst="rect">
            <a:avLst/>
          </a:prstGeom>
          <a:solidFill>
            <a:srgbClr val="1E9E57"/>
          </a:solidFill>
          <a:ln w="12700">
            <a:solidFill>
              <a:srgbClr val="1E9E57"/>
            </a:solidFill>
            <a:prstDash val="solid"/>
          </a:ln>
        </p:spPr>
      </p:sp>
      <p:sp>
        <p:nvSpPr>
          <p:cNvPr id="6" name="lista-item-1"/>
          <p:cNvSpPr txBox="1"/>
          <p:nvPr/>
        </p:nvSpPr>
        <p:spPr>
          <a:xfrm>
            <a:off x="1097280" y="2532888"/>
            <a:ext cx="10545775" cy="731520"/>
          </a:xfrm>
          <a:prstGeom prst="rect">
            <a:avLst/>
          </a:prstGeom>
          <a:noFill/>
          <a:ln/>
        </p:spPr>
        <p:txBody>
          <a:bodyPr wrap="square" lIns="0" tIns="0" rIns="0" bIns="0" rtlCol="0" anchor="t"/>
          <a:lstStyle/>
          <a:p>
            <a:pPr indent="0" marL="0">
              <a:buNone/>
            </a:pPr>
            <a:r>
              <a:rPr lang="en-US" sz="2600" b="1" dirty="0">
                <a:solidFill>
                  <a:srgbClr val="121614"/>
                </a:solidFill>
                <a:latin typeface="Bricolage Grotesque" pitchFamily="34" charset="0"/>
                <a:ea typeface="Bricolage Grotesque" pitchFamily="34" charset="-122"/>
                <a:cs typeface="Bricolage Grotesque" pitchFamily="34" charset="-120"/>
              </a:rPr>
              <a:t>Write a skill for a task you repeat every week</a:t>
            </a:r>
            <a:endParaRPr lang="en-US" sz="2600" dirty="0"/>
          </a:p>
        </p:txBody>
      </p:sp>
      <p:sp>
        <p:nvSpPr>
          <p:cNvPr id="7" name="lista-marca-2"/>
          <p:cNvSpPr/>
          <p:nvPr/>
        </p:nvSpPr>
        <p:spPr>
          <a:xfrm>
            <a:off x="548640" y="3465576"/>
            <a:ext cx="310896" cy="310896"/>
          </a:xfrm>
          <a:prstGeom prst="rect">
            <a:avLst/>
          </a:prstGeom>
          <a:solidFill>
            <a:srgbClr val="1E9E57"/>
          </a:solidFill>
          <a:ln w="12700">
            <a:solidFill>
              <a:srgbClr val="1E9E57"/>
            </a:solidFill>
            <a:prstDash val="solid"/>
          </a:ln>
        </p:spPr>
      </p:sp>
      <p:sp>
        <p:nvSpPr>
          <p:cNvPr id="8" name="lista-item-2"/>
          <p:cNvSpPr txBox="1"/>
          <p:nvPr/>
        </p:nvSpPr>
        <p:spPr>
          <a:xfrm>
            <a:off x="1097280" y="3374136"/>
            <a:ext cx="10545775" cy="731520"/>
          </a:xfrm>
          <a:prstGeom prst="rect">
            <a:avLst/>
          </a:prstGeom>
          <a:noFill/>
          <a:ln/>
        </p:spPr>
        <p:txBody>
          <a:bodyPr wrap="square" lIns="0" tIns="0" rIns="0" bIns="0" rtlCol="0" anchor="t"/>
          <a:lstStyle/>
          <a:p>
            <a:pPr indent="0" marL="0">
              <a:buNone/>
            </a:pPr>
            <a:r>
              <a:rPr lang="en-US" sz="2600" b="1" dirty="0">
                <a:solidFill>
                  <a:srgbClr val="121614"/>
                </a:solidFill>
                <a:latin typeface="Bricolage Grotesque" pitchFamily="34" charset="0"/>
                <a:ea typeface="Bricolage Grotesque" pitchFamily="34" charset="-122"/>
                <a:cs typeface="Bricolage Grotesque" pitchFamily="34" charset="-120"/>
              </a:rPr>
              <a:t>Open Memória before planning</a:t>
            </a:r>
            <a:endParaRPr lang="en-US" sz="26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45C57"/>
                </a:solidFill>
                <a:latin typeface="Arial"/>
                <a:ea typeface="Arial"/>
                <a:cs typeface="Arial"/>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0"/>
            <a:ext cx="7863840" cy="1920240"/>
          </a:xfrm>
          <a:prstGeom prst="rect">
            <a:avLst/>
          </a:prstGeom>
          <a:noFill/>
          <a:ln/>
        </p:spPr>
        <p:txBody>
          <a:bodyPr wrap="square" lIns="0" tIns="0" rIns="0" bIns="0" rtlCol="0" anchor="b"/>
          <a:lstStyle/>
          <a:p>
            <a:pPr algn="l" indent="0" marL="0">
              <a:buNone/>
            </a:pPr>
            <a:r>
              <a:rPr lang="en-US" sz="5200" b="1" dirty="0">
                <a:solidFill>
                  <a:srgbClr val="E8EDE9"/>
                </a:solidFill>
                <a:latin typeface="Bricolage Grotesque" pitchFamily="34" charset="0"/>
                <a:ea typeface="Bricolage Grotesque" pitchFamily="34" charset="-122"/>
                <a:cs typeface="Bricolage Grotesque" pitchFamily="34" charset="-120"/>
              </a:rPr>
              <a:t>Questions</a:t>
            </a:r>
            <a:endParaRPr lang="en-US" sz="5200" dirty="0"/>
          </a:p>
        </p:txBody>
      </p:sp>
      <p:sp>
        <p:nvSpPr>
          <p:cNvPr id="3" name="Text 0"/>
          <p:cNvSpPr/>
          <p:nvPr>
            <p:ph idx="101" type="body" hasCustomPrompt="1"/>
          </p:nvPr>
        </p:nvSpPr>
        <p:spPr>
          <a:xfrm>
            <a:off x="548640" y="3977640"/>
            <a:ext cx="7863840" cy="914400"/>
          </a:xfrm>
          <a:prstGeom prst="rect">
            <a:avLst/>
          </a:prstGeom>
          <a:noFill/>
          <a:ln/>
        </p:spPr>
        <p:txBody>
          <a:bodyPr wrap="square" lIns="0" tIns="0" rIns="0" bIns="0" rtlCol="0" anchor="t"/>
          <a:lstStyle/>
          <a:p>
            <a:pPr algn="l" indent="0" marL="0">
              <a:buNone/>
            </a:pPr>
            <a:r>
              <a:rPr lang="en-US" sz="2200" dirty="0">
                <a:solidFill>
                  <a:srgbClr val="9BA59F"/>
                </a:solidFill>
                <a:latin typeface="Arial" pitchFamily="34" charset="0"/>
                <a:ea typeface="Arial" pitchFamily="34" charset="-122"/>
                <a:cs typeface="Arial" pitchFamily="34" charset="-120"/>
              </a:rPr>
              <a:t>No time limit</a:t>
            </a:r>
            <a:endParaRPr lang="en-US" sz="2200" dirty="0"/>
          </a:p>
        </p:txBody>
      </p:sp>
      <p:sp>
        <p:nvSpPr>
          <p:cNvPr id="4" name="estado-0-0"/>
          <p:cNvSpPr/>
          <p:nvPr/>
        </p:nvSpPr>
        <p:spPr>
          <a:xfrm>
            <a:off x="9052560" y="1463040"/>
            <a:ext cx="384048" cy="384048"/>
          </a:xfrm>
          <a:prstGeom prst="rect">
            <a:avLst/>
          </a:prstGeom>
          <a:solidFill>
            <a:srgbClr val="1E9E57"/>
          </a:solidFill>
          <a:ln w="12700">
            <a:solidFill>
              <a:srgbClr val="1E9E57"/>
            </a:solidFill>
            <a:prstDash val="solid"/>
          </a:ln>
        </p:spPr>
      </p:sp>
      <p:sp>
        <p:nvSpPr>
          <p:cNvPr id="5" name="estado-0-1"/>
          <p:cNvSpPr/>
          <p:nvPr/>
        </p:nvSpPr>
        <p:spPr>
          <a:xfrm>
            <a:off x="9546336" y="1463040"/>
            <a:ext cx="384048" cy="384048"/>
          </a:xfrm>
          <a:prstGeom prst="rect">
            <a:avLst/>
          </a:prstGeom>
          <a:solidFill>
            <a:srgbClr val="1E9E57"/>
          </a:solidFill>
          <a:ln w="12700">
            <a:solidFill>
              <a:srgbClr val="1E9E57"/>
            </a:solidFill>
            <a:prstDash val="solid"/>
          </a:ln>
        </p:spPr>
      </p:sp>
      <p:sp>
        <p:nvSpPr>
          <p:cNvPr id="6" name="estado-0-2"/>
          <p:cNvSpPr/>
          <p:nvPr/>
        </p:nvSpPr>
        <p:spPr>
          <a:xfrm>
            <a:off x="10040112" y="1463040"/>
            <a:ext cx="384048" cy="384048"/>
          </a:xfrm>
          <a:prstGeom prst="rect">
            <a:avLst/>
          </a:prstGeom>
          <a:solidFill>
            <a:srgbClr val="D2463F"/>
          </a:solidFill>
          <a:ln w="12700">
            <a:solidFill>
              <a:srgbClr val="D2463F"/>
            </a:solidFill>
            <a:prstDash val="solid"/>
          </a:ln>
        </p:spPr>
      </p:sp>
      <p:sp>
        <p:nvSpPr>
          <p:cNvPr id="7" name="estado-0-3"/>
          <p:cNvSpPr/>
          <p:nvPr/>
        </p:nvSpPr>
        <p:spPr>
          <a:xfrm>
            <a:off x="10533888" y="1463040"/>
            <a:ext cx="384048" cy="384048"/>
          </a:xfrm>
          <a:prstGeom prst="rect">
            <a:avLst/>
          </a:prstGeom>
          <a:solidFill>
            <a:srgbClr val="C4C7C1"/>
          </a:solidFill>
          <a:ln w="12700">
            <a:solidFill>
              <a:srgbClr val="C4C7C1"/>
            </a:solidFill>
            <a:prstDash val="solid"/>
          </a:ln>
        </p:spPr>
      </p:sp>
      <p:sp>
        <p:nvSpPr>
          <p:cNvPr id="8" name="estado-0-4"/>
          <p:cNvSpPr/>
          <p:nvPr/>
        </p:nvSpPr>
        <p:spPr>
          <a:xfrm>
            <a:off x="11027664" y="1463040"/>
            <a:ext cx="384048" cy="384048"/>
          </a:xfrm>
          <a:prstGeom prst="rect">
            <a:avLst/>
          </a:prstGeom>
          <a:solidFill>
            <a:srgbClr val="F1C232"/>
          </a:solidFill>
          <a:ln w="12700">
            <a:solidFill>
              <a:srgbClr val="F1C232"/>
            </a:solidFill>
            <a:prstDash val="solid"/>
          </a:ln>
        </p:spPr>
      </p:sp>
      <p:sp>
        <p:nvSpPr>
          <p:cNvPr id="9" name="estado-1-0"/>
          <p:cNvSpPr/>
          <p:nvPr/>
        </p:nvSpPr>
        <p:spPr>
          <a:xfrm>
            <a:off x="9052560" y="1956816"/>
            <a:ext cx="384048" cy="384048"/>
          </a:xfrm>
          <a:prstGeom prst="rect">
            <a:avLst/>
          </a:prstGeom>
          <a:solidFill>
            <a:srgbClr val="1E9E57"/>
          </a:solidFill>
          <a:ln w="12700">
            <a:solidFill>
              <a:srgbClr val="1E9E57"/>
            </a:solidFill>
            <a:prstDash val="solid"/>
          </a:ln>
        </p:spPr>
      </p:sp>
      <p:sp>
        <p:nvSpPr>
          <p:cNvPr id="10" name="estado-1-1"/>
          <p:cNvSpPr/>
          <p:nvPr/>
        </p:nvSpPr>
        <p:spPr>
          <a:xfrm>
            <a:off x="9546336" y="1956816"/>
            <a:ext cx="384048" cy="384048"/>
          </a:xfrm>
          <a:prstGeom prst="rect">
            <a:avLst/>
          </a:prstGeom>
          <a:solidFill>
            <a:srgbClr val="1E9E57"/>
          </a:solidFill>
          <a:ln w="12700">
            <a:solidFill>
              <a:srgbClr val="1E9E57"/>
            </a:solidFill>
            <a:prstDash val="solid"/>
          </a:ln>
        </p:spPr>
      </p:sp>
      <p:sp>
        <p:nvSpPr>
          <p:cNvPr id="11" name="estado-1-2"/>
          <p:cNvSpPr/>
          <p:nvPr/>
        </p:nvSpPr>
        <p:spPr>
          <a:xfrm>
            <a:off x="10040112" y="1956816"/>
            <a:ext cx="384048" cy="384048"/>
          </a:xfrm>
          <a:prstGeom prst="rect">
            <a:avLst/>
          </a:prstGeom>
          <a:solidFill>
            <a:srgbClr val="1E9E57"/>
          </a:solidFill>
          <a:ln w="12700">
            <a:solidFill>
              <a:srgbClr val="1E9E57"/>
            </a:solidFill>
            <a:prstDash val="solid"/>
          </a:ln>
        </p:spPr>
      </p:sp>
      <p:sp>
        <p:nvSpPr>
          <p:cNvPr id="12" name="estado-1-3"/>
          <p:cNvSpPr/>
          <p:nvPr/>
        </p:nvSpPr>
        <p:spPr>
          <a:xfrm>
            <a:off x="10533888" y="1956816"/>
            <a:ext cx="384048" cy="384048"/>
          </a:xfrm>
          <a:prstGeom prst="rect">
            <a:avLst/>
          </a:prstGeom>
          <a:solidFill>
            <a:srgbClr val="D2463F"/>
          </a:solidFill>
          <a:ln w="12700">
            <a:solidFill>
              <a:srgbClr val="D2463F"/>
            </a:solidFill>
            <a:prstDash val="solid"/>
          </a:ln>
        </p:spPr>
      </p:sp>
      <p:sp>
        <p:nvSpPr>
          <p:cNvPr id="13" name="estado-1-4"/>
          <p:cNvSpPr/>
          <p:nvPr/>
        </p:nvSpPr>
        <p:spPr>
          <a:xfrm>
            <a:off x="11027664" y="1956816"/>
            <a:ext cx="384048" cy="384048"/>
          </a:xfrm>
          <a:prstGeom prst="rect">
            <a:avLst/>
          </a:prstGeom>
          <a:solidFill>
            <a:srgbClr val="C4C7C1"/>
          </a:solidFill>
          <a:ln w="12700">
            <a:solidFill>
              <a:srgbClr val="C4C7C1"/>
            </a:solidFill>
            <a:prstDash val="solid"/>
          </a:ln>
        </p:spPr>
      </p:sp>
      <p:sp>
        <p:nvSpPr>
          <p:cNvPr id="14" name="estado-2-0"/>
          <p:cNvSpPr/>
          <p:nvPr/>
        </p:nvSpPr>
        <p:spPr>
          <a:xfrm>
            <a:off x="9052560" y="2450592"/>
            <a:ext cx="384048" cy="384048"/>
          </a:xfrm>
          <a:prstGeom prst="rect">
            <a:avLst/>
          </a:prstGeom>
          <a:solidFill>
            <a:srgbClr val="C4C7C1"/>
          </a:solidFill>
          <a:ln w="12700">
            <a:solidFill>
              <a:srgbClr val="C4C7C1"/>
            </a:solidFill>
            <a:prstDash val="solid"/>
          </a:ln>
        </p:spPr>
      </p:sp>
      <p:sp>
        <p:nvSpPr>
          <p:cNvPr id="15" name="estado-2-1"/>
          <p:cNvSpPr/>
          <p:nvPr/>
        </p:nvSpPr>
        <p:spPr>
          <a:xfrm>
            <a:off x="9546336" y="2450592"/>
            <a:ext cx="384048" cy="384048"/>
          </a:xfrm>
          <a:prstGeom prst="rect">
            <a:avLst/>
          </a:prstGeom>
          <a:solidFill>
            <a:srgbClr val="1E9E57"/>
          </a:solidFill>
          <a:ln w="12700">
            <a:solidFill>
              <a:srgbClr val="1E9E57"/>
            </a:solidFill>
            <a:prstDash val="solid"/>
          </a:ln>
        </p:spPr>
      </p:sp>
      <p:sp>
        <p:nvSpPr>
          <p:cNvPr id="16" name="estado-2-2"/>
          <p:cNvSpPr/>
          <p:nvPr/>
        </p:nvSpPr>
        <p:spPr>
          <a:xfrm>
            <a:off x="10040112" y="2450592"/>
            <a:ext cx="384048" cy="384048"/>
          </a:xfrm>
          <a:prstGeom prst="rect">
            <a:avLst/>
          </a:prstGeom>
          <a:solidFill>
            <a:srgbClr val="1E9E57"/>
          </a:solidFill>
          <a:ln w="12700">
            <a:solidFill>
              <a:srgbClr val="1E9E57"/>
            </a:solidFill>
            <a:prstDash val="solid"/>
          </a:ln>
        </p:spPr>
      </p:sp>
      <p:sp>
        <p:nvSpPr>
          <p:cNvPr id="17" name="estado-2-3"/>
          <p:cNvSpPr/>
          <p:nvPr/>
        </p:nvSpPr>
        <p:spPr>
          <a:xfrm>
            <a:off x="10533888" y="2450592"/>
            <a:ext cx="384048" cy="384048"/>
          </a:xfrm>
          <a:prstGeom prst="rect">
            <a:avLst/>
          </a:prstGeom>
          <a:solidFill>
            <a:srgbClr val="1E9E57"/>
          </a:solidFill>
          <a:ln w="12700">
            <a:solidFill>
              <a:srgbClr val="1E9E57"/>
            </a:solidFill>
            <a:prstDash val="solid"/>
          </a:ln>
        </p:spPr>
      </p:sp>
      <p:sp>
        <p:nvSpPr>
          <p:cNvPr id="18" name="estado-2-4"/>
          <p:cNvSpPr/>
          <p:nvPr/>
        </p:nvSpPr>
        <p:spPr>
          <a:xfrm>
            <a:off x="11027664" y="2450592"/>
            <a:ext cx="384048" cy="384048"/>
          </a:xfrm>
          <a:prstGeom prst="rect">
            <a:avLst/>
          </a:prstGeom>
          <a:solidFill>
            <a:srgbClr val="D2463F"/>
          </a:solidFill>
          <a:ln w="12700">
            <a:solidFill>
              <a:srgbClr val="D2463F"/>
            </a:solidFill>
            <a:prstDash val="solid"/>
          </a:ln>
        </p:spPr>
      </p:sp>
      <p:sp>
        <p:nvSpPr>
          <p:cNvPr id="19" name="estado-3-0"/>
          <p:cNvSpPr/>
          <p:nvPr/>
        </p:nvSpPr>
        <p:spPr>
          <a:xfrm>
            <a:off x="9052560" y="2944368"/>
            <a:ext cx="384048" cy="384048"/>
          </a:xfrm>
          <a:prstGeom prst="rect">
            <a:avLst/>
          </a:prstGeom>
          <a:solidFill>
            <a:srgbClr val="1E9E57"/>
          </a:solidFill>
          <a:ln w="12700">
            <a:solidFill>
              <a:srgbClr val="1E9E57"/>
            </a:solidFill>
            <a:prstDash val="solid"/>
          </a:ln>
        </p:spPr>
      </p:sp>
      <p:sp>
        <p:nvSpPr>
          <p:cNvPr id="20" name="estado-3-1"/>
          <p:cNvSpPr/>
          <p:nvPr/>
        </p:nvSpPr>
        <p:spPr>
          <a:xfrm>
            <a:off x="9546336" y="2944368"/>
            <a:ext cx="384048" cy="384048"/>
          </a:xfrm>
          <a:prstGeom prst="rect">
            <a:avLst/>
          </a:prstGeom>
          <a:solidFill>
            <a:srgbClr val="C4C7C1"/>
          </a:solidFill>
          <a:ln w="12700">
            <a:solidFill>
              <a:srgbClr val="C4C7C1"/>
            </a:solidFill>
            <a:prstDash val="solid"/>
          </a:ln>
        </p:spPr>
      </p:sp>
      <p:sp>
        <p:nvSpPr>
          <p:cNvPr id="21" name="estado-3-2"/>
          <p:cNvSpPr/>
          <p:nvPr/>
        </p:nvSpPr>
        <p:spPr>
          <a:xfrm>
            <a:off x="10040112" y="2944368"/>
            <a:ext cx="384048" cy="384048"/>
          </a:xfrm>
          <a:prstGeom prst="rect">
            <a:avLst/>
          </a:prstGeom>
          <a:solidFill>
            <a:srgbClr val="1E9E57"/>
          </a:solidFill>
          <a:ln w="12700">
            <a:solidFill>
              <a:srgbClr val="1E9E57"/>
            </a:solidFill>
            <a:prstDash val="solid"/>
          </a:ln>
        </p:spPr>
      </p:sp>
      <p:sp>
        <p:nvSpPr>
          <p:cNvPr id="22" name="estado-3-3"/>
          <p:cNvSpPr/>
          <p:nvPr/>
        </p:nvSpPr>
        <p:spPr>
          <a:xfrm>
            <a:off x="10533888" y="2944368"/>
            <a:ext cx="384048" cy="384048"/>
          </a:xfrm>
          <a:prstGeom prst="rect">
            <a:avLst/>
          </a:prstGeom>
          <a:solidFill>
            <a:srgbClr val="1E9E57"/>
          </a:solidFill>
          <a:ln w="12700">
            <a:solidFill>
              <a:srgbClr val="1E9E57"/>
            </a:solidFill>
            <a:prstDash val="solid"/>
          </a:ln>
        </p:spPr>
      </p:sp>
      <p:sp>
        <p:nvSpPr>
          <p:cNvPr id="23" name="estado-3-4"/>
          <p:cNvSpPr/>
          <p:nvPr/>
        </p:nvSpPr>
        <p:spPr>
          <a:xfrm>
            <a:off x="11027664" y="2944368"/>
            <a:ext cx="384048" cy="384048"/>
          </a:xfrm>
          <a:prstGeom prst="rect">
            <a:avLst/>
          </a:prstGeom>
          <a:solidFill>
            <a:srgbClr val="1E9E57"/>
          </a:solidFill>
          <a:ln w="12700">
            <a:solidFill>
              <a:srgbClr val="1E9E57"/>
            </a:solidFill>
            <a:prstDash val="solid"/>
          </a:ln>
        </p:spPr>
      </p:sp>
      <p:sp>
        <p:nvSpPr>
          <p:cNvPr id="24" name="estado-4-0"/>
          <p:cNvSpPr/>
          <p:nvPr/>
        </p:nvSpPr>
        <p:spPr>
          <a:xfrm>
            <a:off x="9052560" y="3438144"/>
            <a:ext cx="384048" cy="384048"/>
          </a:xfrm>
          <a:prstGeom prst="rect">
            <a:avLst/>
          </a:prstGeom>
          <a:solidFill>
            <a:srgbClr val="F1C232"/>
          </a:solidFill>
          <a:ln w="12700">
            <a:solidFill>
              <a:srgbClr val="F1C232"/>
            </a:solidFill>
            <a:prstDash val="solid"/>
          </a:ln>
        </p:spPr>
      </p:sp>
      <p:sp>
        <p:nvSpPr>
          <p:cNvPr id="25" name="estado-4-1"/>
          <p:cNvSpPr/>
          <p:nvPr/>
        </p:nvSpPr>
        <p:spPr>
          <a:xfrm>
            <a:off x="9546336" y="3438144"/>
            <a:ext cx="384048" cy="384048"/>
          </a:xfrm>
          <a:prstGeom prst="rect">
            <a:avLst/>
          </a:prstGeom>
          <a:solidFill>
            <a:srgbClr val="1E9E57"/>
          </a:solidFill>
          <a:ln w="12700">
            <a:solidFill>
              <a:srgbClr val="1E9E57"/>
            </a:solidFill>
            <a:prstDash val="solid"/>
          </a:ln>
        </p:spPr>
      </p:sp>
      <p:sp>
        <p:nvSpPr>
          <p:cNvPr id="26" name="estado-4-2"/>
          <p:cNvSpPr/>
          <p:nvPr/>
        </p:nvSpPr>
        <p:spPr>
          <a:xfrm>
            <a:off x="10040112" y="3438144"/>
            <a:ext cx="384048" cy="384048"/>
          </a:xfrm>
          <a:prstGeom prst="rect">
            <a:avLst/>
          </a:prstGeom>
          <a:solidFill>
            <a:srgbClr val="C4C7C1"/>
          </a:solidFill>
          <a:ln w="12700">
            <a:solidFill>
              <a:srgbClr val="C4C7C1"/>
            </a:solidFill>
            <a:prstDash val="solid"/>
          </a:ln>
        </p:spPr>
      </p:sp>
      <p:sp>
        <p:nvSpPr>
          <p:cNvPr id="27" name="estado-4-3"/>
          <p:cNvSpPr/>
          <p:nvPr/>
        </p:nvSpPr>
        <p:spPr>
          <a:xfrm>
            <a:off x="10533888" y="3438144"/>
            <a:ext cx="384048" cy="384048"/>
          </a:xfrm>
          <a:prstGeom prst="rect">
            <a:avLst/>
          </a:prstGeom>
          <a:solidFill>
            <a:srgbClr val="1E9E57"/>
          </a:solidFill>
          <a:ln w="12700">
            <a:solidFill>
              <a:srgbClr val="1E9E57"/>
            </a:solidFill>
            <a:prstDash val="solid"/>
          </a:ln>
        </p:spPr>
      </p:sp>
      <p:sp>
        <p:nvSpPr>
          <p:cNvPr id="28" name="estado-4-4"/>
          <p:cNvSpPr/>
          <p:nvPr/>
        </p:nvSpPr>
        <p:spPr>
          <a:xfrm>
            <a:off x="11027664" y="3438144"/>
            <a:ext cx="384048" cy="384048"/>
          </a:xfrm>
          <a:prstGeom prst="rect">
            <a:avLst/>
          </a:prstGeom>
          <a:solidFill>
            <a:srgbClr val="1E9E57"/>
          </a:solidFill>
          <a:ln w="12700">
            <a:solidFill>
              <a:srgbClr val="1E9E57"/>
            </a:solidFill>
            <a:prstDash val="solid"/>
          </a:ln>
        </p:spPr>
      </p:sp>
      <p:sp>
        <p:nvSpPr>
          <p:cNvPr id="29" name="estado-5-0"/>
          <p:cNvSpPr/>
          <p:nvPr/>
        </p:nvSpPr>
        <p:spPr>
          <a:xfrm>
            <a:off x="9052560" y="3931920"/>
            <a:ext cx="384048" cy="384048"/>
          </a:xfrm>
          <a:prstGeom prst="rect">
            <a:avLst/>
          </a:prstGeom>
          <a:solidFill>
            <a:srgbClr val="1E9E57"/>
          </a:solidFill>
          <a:ln w="12700">
            <a:solidFill>
              <a:srgbClr val="1E9E57"/>
            </a:solidFill>
            <a:prstDash val="solid"/>
          </a:ln>
        </p:spPr>
      </p:sp>
      <p:sp>
        <p:nvSpPr>
          <p:cNvPr id="30" name="estado-5-1"/>
          <p:cNvSpPr/>
          <p:nvPr/>
        </p:nvSpPr>
        <p:spPr>
          <a:xfrm>
            <a:off x="9546336" y="3931920"/>
            <a:ext cx="384048" cy="384048"/>
          </a:xfrm>
          <a:prstGeom prst="rect">
            <a:avLst/>
          </a:prstGeom>
          <a:solidFill>
            <a:srgbClr val="F1C232"/>
          </a:solidFill>
          <a:ln w="12700">
            <a:solidFill>
              <a:srgbClr val="F1C232"/>
            </a:solidFill>
            <a:prstDash val="solid"/>
          </a:ln>
        </p:spPr>
      </p:sp>
      <p:sp>
        <p:nvSpPr>
          <p:cNvPr id="31" name="estado-5-2"/>
          <p:cNvSpPr/>
          <p:nvPr/>
        </p:nvSpPr>
        <p:spPr>
          <a:xfrm>
            <a:off x="10040112" y="3931920"/>
            <a:ext cx="384048" cy="384048"/>
          </a:xfrm>
          <a:prstGeom prst="rect">
            <a:avLst/>
          </a:prstGeom>
          <a:solidFill>
            <a:srgbClr val="1E9E57"/>
          </a:solidFill>
          <a:ln w="12700">
            <a:solidFill>
              <a:srgbClr val="1E9E57"/>
            </a:solidFill>
            <a:prstDash val="solid"/>
          </a:ln>
        </p:spPr>
      </p:sp>
      <p:sp>
        <p:nvSpPr>
          <p:cNvPr id="32" name="estado-5-3"/>
          <p:cNvSpPr/>
          <p:nvPr/>
        </p:nvSpPr>
        <p:spPr>
          <a:xfrm>
            <a:off x="10533888" y="3931920"/>
            <a:ext cx="384048" cy="384048"/>
          </a:xfrm>
          <a:prstGeom prst="rect">
            <a:avLst/>
          </a:prstGeom>
          <a:solidFill>
            <a:srgbClr val="C4C7C1"/>
          </a:solidFill>
          <a:ln w="12700">
            <a:solidFill>
              <a:srgbClr val="C4C7C1"/>
            </a:solidFill>
            <a:prstDash val="solid"/>
          </a:ln>
        </p:spPr>
      </p:sp>
      <p:sp>
        <p:nvSpPr>
          <p:cNvPr id="33" name="estado-5-4"/>
          <p:cNvSpPr/>
          <p:nvPr/>
        </p:nvSpPr>
        <p:spPr>
          <a:xfrm>
            <a:off x="11027664" y="3931920"/>
            <a:ext cx="384048" cy="384048"/>
          </a:xfrm>
          <a:prstGeom prst="rect">
            <a:avLst/>
          </a:prstGeom>
          <a:solidFill>
            <a:srgbClr val="1E9E57"/>
          </a:solidFill>
          <a:ln w="12700">
            <a:solidFill>
              <a:srgbClr val="1E9E57"/>
            </a:solidFill>
            <a:prstDash val="solid"/>
          </a:ln>
        </p:spPr>
      </p:sp>
      <p:sp>
        <p:nvSpPr>
          <p:cNvPr id="34" name="estado-6-0"/>
          <p:cNvSpPr/>
          <p:nvPr/>
        </p:nvSpPr>
        <p:spPr>
          <a:xfrm>
            <a:off x="9052560" y="4425696"/>
            <a:ext cx="384048" cy="384048"/>
          </a:xfrm>
          <a:prstGeom prst="rect">
            <a:avLst/>
          </a:prstGeom>
          <a:solidFill>
            <a:srgbClr val="F1C232"/>
          </a:solidFill>
          <a:ln w="12700">
            <a:solidFill>
              <a:srgbClr val="F1C232"/>
            </a:solidFill>
            <a:prstDash val="solid"/>
          </a:ln>
        </p:spPr>
      </p:sp>
      <p:sp>
        <p:nvSpPr>
          <p:cNvPr id="35" name="estado-6-1"/>
          <p:cNvSpPr/>
          <p:nvPr/>
        </p:nvSpPr>
        <p:spPr>
          <a:xfrm>
            <a:off x="9546336" y="4425696"/>
            <a:ext cx="384048" cy="384048"/>
          </a:xfrm>
          <a:prstGeom prst="rect">
            <a:avLst/>
          </a:prstGeom>
          <a:solidFill>
            <a:srgbClr val="1E9E57"/>
          </a:solidFill>
          <a:ln w="12700">
            <a:solidFill>
              <a:srgbClr val="1E9E57"/>
            </a:solidFill>
            <a:prstDash val="solid"/>
          </a:ln>
        </p:spPr>
      </p:sp>
      <p:sp>
        <p:nvSpPr>
          <p:cNvPr id="36" name="estado-6-2"/>
          <p:cNvSpPr/>
          <p:nvPr/>
        </p:nvSpPr>
        <p:spPr>
          <a:xfrm>
            <a:off x="10040112" y="4425696"/>
            <a:ext cx="384048" cy="384048"/>
          </a:xfrm>
          <a:prstGeom prst="rect">
            <a:avLst/>
          </a:prstGeom>
          <a:solidFill>
            <a:srgbClr val="F1C232"/>
          </a:solidFill>
          <a:ln w="12700">
            <a:solidFill>
              <a:srgbClr val="F1C232"/>
            </a:solidFill>
            <a:prstDash val="solid"/>
          </a:ln>
        </p:spPr>
      </p:sp>
      <p:sp>
        <p:nvSpPr>
          <p:cNvPr id="37" name="estado-6-3"/>
          <p:cNvSpPr/>
          <p:nvPr/>
        </p:nvSpPr>
        <p:spPr>
          <a:xfrm>
            <a:off x="10533888" y="4425696"/>
            <a:ext cx="384048" cy="384048"/>
          </a:xfrm>
          <a:prstGeom prst="rect">
            <a:avLst/>
          </a:prstGeom>
          <a:solidFill>
            <a:srgbClr val="1E9E57"/>
          </a:solidFill>
          <a:ln w="12700">
            <a:solidFill>
              <a:srgbClr val="1E9E57"/>
            </a:solidFill>
            <a:prstDash val="solid"/>
          </a:ln>
        </p:spPr>
      </p:sp>
      <p:sp>
        <p:nvSpPr>
          <p:cNvPr id="38" name="estado-6-4"/>
          <p:cNvSpPr/>
          <p:nvPr/>
        </p:nvSpPr>
        <p:spPr>
          <a:xfrm>
            <a:off x="11027664" y="4425696"/>
            <a:ext cx="384048" cy="384048"/>
          </a:xfrm>
          <a:prstGeom prst="rect">
            <a:avLst/>
          </a:prstGeom>
          <a:solidFill>
            <a:srgbClr val="C4C7C1"/>
          </a:solidFill>
          <a:ln w="12700">
            <a:solidFill>
              <a:srgbClr val="C4C7C1"/>
            </a:solidFill>
            <a:prstDash val="solid"/>
          </a:ln>
        </p:spPr>
      </p:sp>
      <p:sp>
        <p:nvSpPr>
          <p:cNvPr id="39" name="estado-7-0"/>
          <p:cNvSpPr/>
          <p:nvPr/>
        </p:nvSpPr>
        <p:spPr>
          <a:xfrm>
            <a:off x="9052560" y="4919472"/>
            <a:ext cx="384048" cy="384048"/>
          </a:xfrm>
          <a:prstGeom prst="rect">
            <a:avLst/>
          </a:prstGeom>
          <a:solidFill>
            <a:srgbClr val="C4C7C1"/>
          </a:solidFill>
          <a:ln w="12700">
            <a:solidFill>
              <a:srgbClr val="C4C7C1"/>
            </a:solidFill>
            <a:prstDash val="solid"/>
          </a:ln>
        </p:spPr>
      </p:sp>
      <p:sp>
        <p:nvSpPr>
          <p:cNvPr id="40" name="estado-7-1"/>
          <p:cNvSpPr/>
          <p:nvPr/>
        </p:nvSpPr>
        <p:spPr>
          <a:xfrm>
            <a:off x="9546336" y="4919472"/>
            <a:ext cx="384048" cy="384048"/>
          </a:xfrm>
          <a:prstGeom prst="rect">
            <a:avLst/>
          </a:prstGeom>
          <a:solidFill>
            <a:srgbClr val="F1C232"/>
          </a:solidFill>
          <a:ln w="12700">
            <a:solidFill>
              <a:srgbClr val="F1C232"/>
            </a:solidFill>
            <a:prstDash val="solid"/>
          </a:ln>
        </p:spPr>
      </p:sp>
      <p:sp>
        <p:nvSpPr>
          <p:cNvPr id="41" name="estado-7-2"/>
          <p:cNvSpPr/>
          <p:nvPr/>
        </p:nvSpPr>
        <p:spPr>
          <a:xfrm>
            <a:off x="10040112" y="4919472"/>
            <a:ext cx="384048" cy="384048"/>
          </a:xfrm>
          <a:prstGeom prst="rect">
            <a:avLst/>
          </a:prstGeom>
          <a:solidFill>
            <a:srgbClr val="1E9E57"/>
          </a:solidFill>
          <a:ln w="12700">
            <a:solidFill>
              <a:srgbClr val="1E9E57"/>
            </a:solidFill>
            <a:prstDash val="solid"/>
          </a:ln>
        </p:spPr>
      </p:sp>
      <p:sp>
        <p:nvSpPr>
          <p:cNvPr id="42" name="estado-7-3"/>
          <p:cNvSpPr/>
          <p:nvPr/>
        </p:nvSpPr>
        <p:spPr>
          <a:xfrm>
            <a:off x="10533888" y="4919472"/>
            <a:ext cx="384048" cy="384048"/>
          </a:xfrm>
          <a:prstGeom prst="rect">
            <a:avLst/>
          </a:prstGeom>
          <a:solidFill>
            <a:srgbClr val="F1C232"/>
          </a:solidFill>
          <a:ln w="12700">
            <a:solidFill>
              <a:srgbClr val="F1C232"/>
            </a:solidFill>
            <a:prstDash val="solid"/>
          </a:ln>
        </p:spPr>
      </p:sp>
      <p:sp>
        <p:nvSpPr>
          <p:cNvPr id="43" name="estado-7-4"/>
          <p:cNvSpPr/>
          <p:nvPr/>
        </p:nvSpPr>
        <p:spPr>
          <a:xfrm>
            <a:off x="11027664" y="4919472"/>
            <a:ext cx="384048" cy="384048"/>
          </a:xfrm>
          <a:prstGeom prst="rect">
            <a:avLst/>
          </a:prstGeom>
          <a:solidFill>
            <a:srgbClr val="1E9E57"/>
          </a:solidFill>
          <a:ln w="12700">
            <a:solidFill>
              <a:srgbClr val="1E9E57"/>
            </a:solidFill>
            <a:prstDash val="solid"/>
          </a:ln>
        </p:spPr>
      </p:sp>
      <p:sp>
        <p:nvSpPr>
          <p:cNvPr id="44" name="estado-8-0"/>
          <p:cNvSpPr/>
          <p:nvPr/>
        </p:nvSpPr>
        <p:spPr>
          <a:xfrm>
            <a:off x="9052560" y="5413248"/>
            <a:ext cx="384048" cy="384048"/>
          </a:xfrm>
          <a:prstGeom prst="rect">
            <a:avLst/>
          </a:prstGeom>
          <a:solidFill>
            <a:srgbClr val="D2463F"/>
          </a:solidFill>
          <a:ln w="12700">
            <a:solidFill>
              <a:srgbClr val="D2463F"/>
            </a:solidFill>
            <a:prstDash val="solid"/>
          </a:ln>
        </p:spPr>
      </p:sp>
      <p:sp>
        <p:nvSpPr>
          <p:cNvPr id="45" name="estado-8-1"/>
          <p:cNvSpPr/>
          <p:nvPr/>
        </p:nvSpPr>
        <p:spPr>
          <a:xfrm>
            <a:off x="9546336" y="5413248"/>
            <a:ext cx="384048" cy="384048"/>
          </a:xfrm>
          <a:prstGeom prst="rect">
            <a:avLst/>
          </a:prstGeom>
          <a:solidFill>
            <a:srgbClr val="C4C7C1"/>
          </a:solidFill>
          <a:ln w="12700">
            <a:solidFill>
              <a:srgbClr val="C4C7C1"/>
            </a:solidFill>
            <a:prstDash val="solid"/>
          </a:ln>
        </p:spPr>
      </p:sp>
      <p:sp>
        <p:nvSpPr>
          <p:cNvPr id="46" name="estado-8-2"/>
          <p:cNvSpPr/>
          <p:nvPr/>
        </p:nvSpPr>
        <p:spPr>
          <a:xfrm>
            <a:off x="10040112" y="5413248"/>
            <a:ext cx="384048" cy="384048"/>
          </a:xfrm>
          <a:prstGeom prst="rect">
            <a:avLst/>
          </a:prstGeom>
          <a:solidFill>
            <a:srgbClr val="F1C232"/>
          </a:solidFill>
          <a:ln w="12700">
            <a:solidFill>
              <a:srgbClr val="F1C232"/>
            </a:solidFill>
            <a:prstDash val="solid"/>
          </a:ln>
        </p:spPr>
      </p:sp>
      <p:sp>
        <p:nvSpPr>
          <p:cNvPr id="47" name="estado-8-3"/>
          <p:cNvSpPr/>
          <p:nvPr/>
        </p:nvSpPr>
        <p:spPr>
          <a:xfrm>
            <a:off x="10533888" y="5413248"/>
            <a:ext cx="384048" cy="384048"/>
          </a:xfrm>
          <a:prstGeom prst="rect">
            <a:avLst/>
          </a:prstGeom>
          <a:solidFill>
            <a:srgbClr val="1E9E57"/>
          </a:solidFill>
          <a:ln w="12700">
            <a:solidFill>
              <a:srgbClr val="1E9E57"/>
            </a:solidFill>
            <a:prstDash val="solid"/>
          </a:ln>
        </p:spPr>
      </p:sp>
      <p:sp>
        <p:nvSpPr>
          <p:cNvPr id="48" name="estado-8-4"/>
          <p:cNvSpPr/>
          <p:nvPr/>
        </p:nvSpPr>
        <p:spPr>
          <a:xfrm>
            <a:off x="11027664" y="5413248"/>
            <a:ext cx="384048" cy="384048"/>
          </a:xfrm>
          <a:prstGeom prst="rect">
            <a:avLst/>
          </a:prstGeom>
          <a:solidFill>
            <a:srgbClr val="F1C232"/>
          </a:solidFill>
          <a:ln w="12700">
            <a:solidFill>
              <a:srgbClr val="F1C232"/>
            </a:solidFill>
            <a:prstDash val="solid"/>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Bricolage Grotesque"/>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45</Slides>
  <Notes>45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45</vt:i4>
      </vt:variant>
    </vt:vector>
  </HeadingPairs>
  <TitlesOfParts>
    <vt:vector size="4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Agent orchestration with Claude</dc:title>
  <dc:subject>PptxGenJS Presentation</dc:subject>
  <dc:creator>Workshop Claude</dc:creator>
  <cp:lastModifiedBy>Workshop Claude</cp:lastModifiedBy>
  <cp:revision>1</cp:revision>
  <dcterms:created xsi:type="dcterms:W3CDTF">2026-10-16T16:15:12Z</dcterms:created>
  <dcterms:modified xsi:type="dcterms:W3CDTF">2026-10-16T16:15:12Z</dcterms:modified>
</cp:coreProperties>
</file>