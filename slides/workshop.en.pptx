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6afbc69-c992-d787-59b6-235c43b4140c}">
          <p14:sldIdLst>
            <p14:sldId id="256"/>
            <p14:sldId id="257"/>
            <p14:sldId id="258"/>
          </p14:sldIdLst>
        </p14:section>
        <p14:section name="Check" id="{78ca0250-0321-92a9-41bf-cc9ebb9cadca}">
          <p14:sldIdLst>
            <p14:sldId id="259"/>
            <p14:sldId id="260"/>
          </p14:sldIdLst>
        </p14:section>
        <p14:section name="Concepts" id="{31919a10-7d96-5ce6-2880-3ef021d767c7}">
          <p14:sldIdLst>
            <p14:sldId id="261"/>
            <p14:sldId id="262"/>
            <p14:sldId id="263"/>
            <p14:sldId id="264"/>
            <p14:sldId id="265"/>
            <p14:sldId id="266"/>
            <p14:sldId id="267"/>
            <p14:sldId id="268"/>
            <p14:sldId id="269"/>
          </p14:sldIdLst>
        </p14:section>
        <p14:section name="Preview" id="{67f094c2-7f77-2fc5-efd2-6514ad05bb36}">
          <p14:sldIdLst>
            <p14:sldId id="270"/>
            <p14:sldId id="271"/>
            <p14:sldId id="272"/>
          </p14:sldIdLst>
        </p14:section>
        <p14:section name="Project 1" id="{4d5b4324-81c1-3aef-47ab-55c3a945f61f}">
          <p14:sldIdLst>
            <p14:sldId id="273"/>
            <p14:sldId id="274"/>
            <p14:sldId id="275"/>
            <p14:sldId id="276"/>
            <p14:sldId id="277"/>
            <p14:sldId id="278"/>
            <p14:sldId id="279"/>
            <p14:sldId id="280"/>
            <p14:sldId id="281"/>
            <p14:sldId id="282"/>
            <p14:sldId id="283"/>
            <p14:sldId id="284"/>
            <p14:sldId id="285"/>
            <p14:sldId id="286"/>
            <p14:sldId id="287"/>
            <p14:sldId id="288"/>
          </p14:sldIdLst>
        </p14:section>
        <p14:section name="Memory" id="{aa407777-f0bc-4672-138b-816ec9c5d7da}">
          <p14:sldIdLst>
            <p14:sldId id="289"/>
            <p14:sldId id="290"/>
          </p14:sldIdLst>
        </p14:section>
        <p14:section name="Project 2" id="{9d494906-2264-02d9-db26-acfd87a7012b}">
          <p14:sldIdLst>
            <p14:sldId id="291"/>
            <p14:sldId id="292"/>
            <p14:sldId id="293"/>
            <p14:sldId id="294"/>
            <p14:sldId id="295"/>
            <p14:sldId id="296"/>
            <p14:sldId id="297"/>
          </p14:sldIdLst>
        </p14:section>
        <p14:section name="Closing" id="{12937b9a-2b51-dc62-b9b1-4d5635b6edac}">
          <p14:sldIdLst>
            <p14:sldId id="298"/>
            <p14:sldId id="299"/>
            <p14:sldId id="300"/>
            <p14:sldId id="30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1:00] 1 min · you should be here at 0 min
Welcome. In 90 minutes we will put a swarm of agents to work building a game and then working on a real task of your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 2:30] 1.5 min · you should be here at 1 min
Three concrete outcomes. Everything stays installed on each laptop and keeps working after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 → 4:00] 1.5 min · you should be here at 3 min
The budget is backed by the benchmark, not by cuts. If someone goes over the target, a warning shows up and they keep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 → 7:00] 3 min · you should be here at 4 min
Everyone runs the check. It takes 2 to 3 minutes and installs nothing. Anyone who did not run the setup follows along with a neighbour and installs during the questions. The setup speaks English, but it detects the machine language and writes the Claude Code language setting (Portuguese, English, Hindi or Hebrew): the skills answer in that language. The Arena, the orchestrator tables and the docs come in Portuguese or English (any other language gets English). Before this slide, post the commands in Teams so everyone can copy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[7:00 → 9:00] 2 min · you should be here at 7 min
Claude reads only the log excerpt for that step, with no secrets, and suggests commands. It never runs anything without confirmation. If Claude is not installed yet, the pre-written message from TROUBLESHOOTING is shown. Before this slide, post the commands in Teams so everyone can copy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[9:00 → 9:30] 0.5 min · you should be here at 9 min
Fifteen minutes of ideas, one concept per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[9:30 → 11:00] 1.5 min · you should be here at 10 min
Claude Code is not a chat: it is an agent that acts on the repository. Everything it does goes through permissions. Plan mode (Shift+Tab) makes it only plan, without touching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[11:00 → 13:00] 2 min · you should be here at 11 min
Skills replaced the old slash commands. The frontmatter pins the model and the allowed tools. Today we use two sets: /demo-* in the Arena and /task-* for everyday work. The kit skills are in English and tell Claude to answer in the participant's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[13:00 → 15:00] 2 min · you should be here at 13 min
A subagent is a Claude instance with a clean context, its own tools and the model we choose. It is defined in a .claude/agents/&lt;name&gt;.md file. The /agents command no longer opens a wizard: you edit the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[15:00 → 17:00] 2 min · you should be here at 15 min
A cheap swarm is many small agents with clear instructions. What costs money is coordination. That is why the orchestrator is a script and the workers answer with 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[17:00 → 19:00] 2 min · you should be here at 17 min
The plan is a dependency graph. We run it in waves: everything that is ready runs in parallel. The three cryptography cards wait for lib/hash, a real dependency inside wave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[19:00 → 20:30] 1.5 min · you should be here at 19 min
With 15 calls in parallel, a model forgets dependencies or rewrites prompts. The script is reproducible: that is what makes the cost predictable and the benchmark comparable.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[20:30 → 22:00] 1.5 min · you should be here at 21 min
Hooks are commands that Claude Code runs on events. Ours only measures: it reads the real tokens from the transcript, multiplies them by the published prices and appends one line. It never blocks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[22:00 → 23:00] 1 min · you should be here at 22 min
It is the same cycle in both projects: plan with Opus, run as a swarm, a security gate, measure and save what was learned.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[23:00 → 23:30] 0.5 min · you should be here at 23 min
Bridge into Project 1. What they are about to see is the cycle from the previous slide (plan → swarm → review → cost → memory) in a real run with 100 cards. Right after, each person does the same with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[23:30 → 26:30] 3 min · you should be here at 24 min
Sped-up video of a real run with 100 cards. On the left, the /estado page: each square is a card, yellow while an agent works on it and green when its test passes. On the right, the terminal with the agent batches. The time and cost are the real ones. Plan B if the video fails: open /estado?replay=gravacao in the recorded Arena.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[26:30 → 27:30] 1 min · you should be here at 27 min
Recording of someone playing the final Arena: point at the insecure line, pick the right answer, order the steps and type the answer. Each card explains the why at the end. At the end of Project 1 everyone plays their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[27:30 → 28:00] 0.5 min · you should be here at 28 min
25 minutes of hands-on. In the benchmark, the 15-card swarm took 4 to 6 minutes; in interactive mode and with new accounts it can take longer. We use that time to look at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[28:00 → 29:00] 1 min · you should be here at 28 min
The tests already exist: each agent only has to turn its test green. That is what lets Haiku do the bulk of the work safely.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[29:00 → 30:30] 1.5 min · you should be here at 29 min
Explain before running it. A skill is not magic: it is a Markdown recipe that Claude follows. Here it calls a script that builds the graph (always the same, from the tasks) and an Opus agent that only reviews it. The result is in files they can open and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[30:30 → 33:30] 3 min · you should be here at 31 min
The trust dialog matters: without it, the project permissions stay off. /demo-plan checks the memory, builds the graph and asks the planner (Opus) to review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[33:30 → 35:00] 1.5 min · you should be here at 34 min
Show someone's plan on the projector. In wave 1, lib/hash and the cards start together; the cryptography ones join as soon as hash turns green.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[35:00 → 36:30] 1.5 min · you should be here at 35 min
Explain before running it. The key point: a script picks what runs, not the model. That is why cost and time are predictable. If a card fails, the script retries it with the error message and, on the third attempt, with Sonnet.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[36:30 → 38:30] 2 min · you should be here at 37 min
From here the swarm works for a few minutes (4 to 6 in the benchmark). The next slides use that time; whoever finishes first plays the Arena.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[38:30 → 40:30] 2 min · you should be here at 39 min
/btw answers on the side. It is the right way to ask questions during a long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[40:30 → 42:00] 1.5 min · you should be here at 41 min
No code walkthrough. The idea: a hook is "when X happens, run Y", set up in settings.json. Claude writes hooks very well: just describe what you want. Show /hooks to see the active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[42:00 → 43:00] 1 min · you should be here at 42 min
Show the statusline changing as the agents finish. The hook records, the statusline shows: together they give the live cost. Claude Code's /usage may show more, because some versions do not know the latest prices yet; /demo-cost uses the published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[43:00 → 46:00] 3 min · you should be here at 43 min
Plan mode only reads and proposes. claude -p is the basis for scripts and CI. Esc Esc opens rewind: it restores code and conversation to a checkpoint, but not what was done through Bash nor most of what the subagents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[46:00 → 48:00] 2 min · CAN SKIP · you should be here at 46 min
Skip if running late. Example routine: a daily security review with node tools/rotina.mjs --instalar, which registers a claude -p "/demo-review --auto" in launchd or in Task Scheduler.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[48:00 → 50:00] 2 min · you should be here at 48 min
/loop repeats a prompt at each interval, while the session is open. Esc cancels.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[50:00 → 52:00] 2 min · you should be here at 50 min
A security game with security flaws would be the worst example. The gate links each check to the OWASP Top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[52:00 → 54:00] 2 min · you should be here at 52 min
The report uses real tokens and published prices. At the end it saves the lessons to the memory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[54:00 → 56:00] 2 min · you should be here at 54 min
The tests also run in the browser. It is the same test that decided the colour of the square.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[56:00 → 58:00] 2 min · you should be here at 56 min
They are Markdown files in ~/.memoria, with an SQLite index. Everything stays on your PC. Each memory is linked to the Jira or GitHub ticket and to its epic: searching ABC-123 brings everything for that ticket and the epic. /task-intake and /task-plan check it before planning ("last time in this epic, don't do 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[58:00 → 61:00] 3 min · you should be here at 58 min
The app opens in your native language and has a language selector. Routines, worktrees and headless mode were already covered during the waiting moments.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[61:00 → 61:30] 0.5 min · you should be here at 61 min
25 minutes. The task may not finish here: the goal is to leave with the orchestration running and to know how to continue.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[61:30 → 63:00] 1.5 min · you should be here at 62 min
The /task-* skills are installed at user level and work in any repository. Every write to Jira or GitHub asks for confirmation.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[63:00 → 67:00] 4 min · you should be here at 63 min
For Jira you need to have logged in via /mcp (atlassian). GitHub uses gh. Intake only reads; it writes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[67:00 → 72:00] 5 min · you should be here at 67 min
The planner (Opus) proposes the graph and a script validates it: cycles, shared files, known agents. Integration and review are added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[72:00 → 82:00] 10 min · you should be here at 72 min
The state lives in .workshop/. Running /task-swarm again resumes. Tasks that touch the same files go in different batches, or in git worktrees if the planner decides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[82:00 → 83:00] 1 min · CAN SKIP · you should be here at 82 min
Skip if running late. The Atlassian MCP spends the company Rovo credits and the admin can limit it. If the MCP fails, the skills use the official Atlassian CLI (acli), which the setup already installed: it reads the issue and posts the comments; hours are logged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[83:00 → 85:00] 2 min · you should be here at 83 min
Example comment: agent ws-worker-07 · Haiku · 5 s · US$ 0.004.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[85:00 → 87:00] 2 min · you should be here at 85 min
A summary in five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[87:00 → 88:30] 1.5 min · you should be here at 87 min
The commands are generated from repos.conf: they are always right for the published version. Before this slide, post the commands in Teams so everyone can copy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[88:30 → 89:30] 1 min · you should be here at 89 min
Three concrete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[89:30 → 90:00] 0.5 min · you should be here at 90 min
Questions can go past 90 minutes. Anyone who did not run the setup installs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1.png"/><Relationship Id="rId3" Type="http://schemas.openxmlformats.org/officeDocument/2006/relationships/image" Target="../media/TITULO-image-3.png"/><Relationship Id="rId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FECHO-image-2.pn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SECCAO-image-2.pn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ULO">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Image 0" descr="/Users/guilhermepinto/Github/workshop-claude/slides/modelo/logo-branco.png">    </p:cNvPr>
          <p:cNvPicPr>
            <a:picLocks noChangeAspect="1"/>
          </p:cNvPicPr>
          <p:nvPr/>
        </p:nvPicPr>
        <p:blipFill>
          <a:blip r:embed="rId1"/>
          <a:stretch>
            <a:fillRect/>
          </a:stretch>
        </p:blipFill>
        <p:spPr>
          <a:xfrm>
            <a:off x="615391" y="611734"/>
            <a:ext cx="2112264" cy="264262"/>
          </a:xfrm>
          <a:prstGeom prst="rect">
            <a:avLst/>
          </a:prstGeom>
        </p:spPr>
      </p:pic>
      <p:sp>
        <p:nvSpPr>
          <p:cNvPr id="3" name="Shape 0"/>
          <p:cNvSpPr/>
          <p:nvPr/>
        </p:nvSpPr>
        <p:spPr>
          <a:xfrm>
            <a:off x="0" y="6323076"/>
            <a:ext cx="12191695" cy="534924"/>
          </a:xfrm>
          <a:prstGeom prst="rect">
            <a:avLst/>
          </a:prstGeom>
          <a:solidFill>
            <a:srgbClr val="140920"/>
          </a:solidFill>
          <a:ln w="12700">
            <a:solidFill>
              <a:srgbClr val="140920"/>
            </a:solidFill>
            <a:prstDash val="solid"/>
          </a:ln>
        </p:spPr>
      </p:sp>
      <p:pic>
        <p:nvPicPr>
          <p:cNvPr id="4" name="Image 1" descr="/Users/guilhermepinto/Github/workshop-claude/slides/modelo/logo-branco.png">    </p:cNvPr>
          <p:cNvPicPr>
            <a:picLocks noChangeAspect="1"/>
          </p:cNvPicPr>
          <p:nvPr/>
        </p:nvPicPr>
        <p:blipFill>
          <a:blip r:embed="rId2"/>
          <a:stretch>
            <a:fillRect/>
          </a:stretch>
        </p:blipFill>
        <p:spPr>
          <a:xfrm>
            <a:off x="472745" y="6557162"/>
            <a:ext cx="750722" cy="94183"/>
          </a:xfrm>
          <a:prstGeom prst="rect">
            <a:avLst/>
          </a:prstGeom>
        </p:spPr>
      </p:pic>
      <p:sp>
        <p:nvSpPr>
          <p:cNvPr id="5" name="Text 1"/>
          <p:cNvSpPr/>
          <p:nvPr>
            <p:ph idx="103" type="title" hasCustomPrompt="1"/>
          </p:nvPr>
        </p:nvSpPr>
        <p:spPr>
          <a:xfrm>
            <a:off x="615391" y="1325880"/>
            <a:ext cx="8778240" cy="2011680"/>
          </a:xfrm>
          <a:prstGeom prst="rect">
            <a:avLst/>
          </a:prstGeom>
          <a:noFill/>
          <a:ln/>
        </p:spPr>
        <p:txBody>
          <a:bodyPr wrap="square" rtlCol="0"/>
          <a:lstStyle>
            <a:lvl1pPr algn="l" indent="0" marL="0">
              <a:buNone/>
              <a:defRPr lang="en-US" sz="4800" dirty="0">
                <a:solidFill>
                  <a:srgbClr val="FCF9FE"/>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4800" dirty="0"/>
          </a:p>
        </p:txBody>
      </p:sp>
      <p:sp>
        <p:nvSpPr>
          <p:cNvPr id="6" name="Text 1"/>
          <p:cNvSpPr/>
          <p:nvPr>
            <p:ph idx="104" type="body" hasCustomPrompt="1"/>
          </p:nvPr>
        </p:nvSpPr>
        <p:spPr>
          <a:xfrm>
            <a:off x="615391" y="3474720"/>
            <a:ext cx="8778240" cy="1097280"/>
          </a:xfrm>
          <a:prstGeom prst="rect">
            <a:avLst/>
          </a:prstGeom>
          <a:noFill/>
          <a:ln/>
        </p:spPr>
        <p:txBody>
          <a:bodyPr wrap="square" rtlCol="0"/>
          <a:lstStyle>
            <a:lvl1pPr algn="l" indent="0" marL="0">
              <a:buNone/>
              <a:defRPr lang="en-US" sz="2600" dirty="0">
                <a:solidFill>
                  <a:srgbClr val="F25928"/>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FECHO">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Users/guilhermepinto/Github/workshop-claude/slides/modelo/logo-branco.png">    </p:cNvPr>
          <p:cNvPicPr>
            <a:picLocks noChangeAspect="1"/>
          </p:cNvPicPr>
          <p:nvPr/>
        </p:nvPicPr>
        <p:blipFill>
          <a:blip r:embed="rId1"/>
          <a:stretch>
            <a:fillRect/>
          </a:stretch>
        </p:blipFill>
        <p:spPr>
          <a:xfrm>
            <a:off x="4952848" y="5074920"/>
            <a:ext cx="2286000" cy="285750"/>
          </a:xfrm>
          <a:prstGeom prst="rect">
            <a:avLst/>
          </a:prstGeom>
        </p:spPr>
      </p:pic>
      <p:sp>
        <p:nvSpPr>
          <p:cNvPr id="3" name="Text 0"/>
          <p:cNvSpPr/>
          <p:nvPr>
            <p:ph idx="101" type="title" hasCustomPrompt="1"/>
          </p:nvPr>
        </p:nvSpPr>
        <p:spPr>
          <a:xfrm>
            <a:off x="914400" y="2011680"/>
            <a:ext cx="10362895" cy="1463040"/>
          </a:xfrm>
          <a:prstGeom prst="rect">
            <a:avLst/>
          </a:prstGeom>
          <a:noFill/>
          <a:ln/>
        </p:spPr>
        <p:txBody>
          <a:bodyPr wrap="square" rtlCol="0"/>
          <a:lstStyle>
            <a:lvl1pPr algn="ctr" indent="0" marL="0">
              <a:buNone/>
              <a:defRPr lang="en-US" sz="6000" dirty="0">
                <a:solidFill>
                  <a:srgbClr val="FCF9FE"/>
                </a:solidFill>
                <a:latin typeface="Founders Grotesk Medium" pitchFamily="34" charset="0"/>
                <a:ea typeface="Founders Grotesk Medium" pitchFamily="34" charset="-122"/>
                <a:cs typeface="Founders Grotesk Medium" pitchFamily="34" charset="-120"/>
              </a:defRPr>
            </a:lvl1pPr>
          </a:lstStyle>
          <a:p>
            <a:pPr algn="ctr" indent="0" marL="0">
              <a:buNone/>
            </a:pPr>
            <a:endParaRPr lang="en-US" sz="6000" dirty="0"/>
          </a:p>
        </p:txBody>
      </p:sp>
      <p:sp>
        <p:nvSpPr>
          <p:cNvPr id="4" name="Text 0"/>
          <p:cNvSpPr/>
          <p:nvPr>
            <p:ph idx="102" type="body" hasCustomPrompt="1"/>
          </p:nvPr>
        </p:nvSpPr>
        <p:spPr>
          <a:xfrm>
            <a:off x="914400" y="3566160"/>
            <a:ext cx="10362895" cy="822960"/>
          </a:xfrm>
          <a:prstGeom prst="rect">
            <a:avLst/>
          </a:prstGeom>
          <a:noFill/>
          <a:ln/>
        </p:spPr>
        <p:txBody>
          <a:bodyPr wrap="square" rtlCol="0"/>
          <a:lstStyle>
            <a:lvl1pPr algn="ctr" indent="0" marL="0">
              <a:buNone/>
              <a:defRPr lang="en-US" sz="2800" dirty="0">
                <a:solidFill>
                  <a:srgbClr val="F25928"/>
                </a:solidFill>
                <a:latin typeface="Founders Grotesk Medium" pitchFamily="34" charset="0"/>
                <a:ea typeface="Founders Grotesk Medium" pitchFamily="34" charset="-122"/>
                <a:cs typeface="Founders Grotesk Medium" pitchFamily="34" charset="-120"/>
              </a:defRPr>
            </a:lvl1pPr>
          </a:lstStyle>
          <a:p>
            <a:pPr algn="ctr" indent="0" marL="0">
              <a:buNone/>
            </a:pPr>
            <a:endParaRPr lang="en-US" sz="2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CAO">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Users/guilhermepinto/Github/workshop-claude/slides/modelo/logo-roxo.png">    </p:cNvPr>
          <p:cNvPicPr>
            <a:picLocks noChangeAspect="1"/>
          </p:cNvPicPr>
          <p:nvPr/>
        </p:nvPicPr>
        <p:blipFill>
          <a:blip r:embed="rId1"/>
          <a:stretch>
            <a:fillRect/>
          </a:stretch>
        </p:blipFill>
        <p:spPr>
          <a:xfrm>
            <a:off x="715975" y="611734"/>
            <a:ext cx="2112264" cy="264262"/>
          </a:xfrm>
          <a:prstGeom prst="rect">
            <a:avLst/>
          </a:prstGeom>
        </p:spPr>
      </p:pic>
      <p:sp>
        <p:nvSpPr>
          <p:cNvPr id="3" name="Text 0"/>
          <p:cNvSpPr/>
          <p:nvPr>
            <p:ph idx="101" type="title" hasCustomPrompt="1"/>
          </p:nvPr>
        </p:nvSpPr>
        <p:spPr>
          <a:xfrm>
            <a:off x="715975" y="1051560"/>
            <a:ext cx="7498080" cy="1554480"/>
          </a:xfrm>
          <a:prstGeom prst="rect">
            <a:avLst/>
          </a:prstGeom>
          <a:noFill/>
          <a:ln/>
        </p:spPr>
        <p:txBody>
          <a:bodyPr wrap="square" rtlCol="0"/>
          <a:lstStyle>
            <a:lvl1pPr algn="l" indent="0" marL="0">
              <a:buNone/>
              <a:defRPr lang="en-US" sz="4600" dirty="0">
                <a:solidFill>
                  <a:srgbClr val="140920"/>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4600" dirty="0"/>
          </a:p>
        </p:txBody>
      </p:sp>
      <p:sp>
        <p:nvSpPr>
          <p:cNvPr id="4" name="Text 0"/>
          <p:cNvSpPr/>
          <p:nvPr>
            <p:ph idx="102" type="body" hasCustomPrompt="1"/>
          </p:nvPr>
        </p:nvSpPr>
        <p:spPr>
          <a:xfrm>
            <a:off x="715975" y="2697480"/>
            <a:ext cx="5852160" cy="1097280"/>
          </a:xfrm>
          <a:prstGeom prst="rect">
            <a:avLst/>
          </a:prstGeom>
          <a:noFill/>
          <a:ln/>
        </p:spPr>
        <p:txBody>
          <a:bodyPr wrap="square" rtlCol="0"/>
          <a:lstStyle>
            <a:lvl1pPr algn="l" indent="0" marL="0">
              <a:buNone/>
              <a:defRPr lang="en-US" sz="2000" dirty="0">
                <a:solidFill>
                  <a:srgbClr val="4A405A"/>
                </a:solidFill>
                <a:latin typeface="Arial" pitchFamily="34" charset="0"/>
                <a:ea typeface="Arial" pitchFamily="34" charset="-122"/>
                <a:cs typeface="Arial" pitchFamily="34" charset="-120"/>
              </a:defRPr>
            </a:lvl1pPr>
          </a:lstStyle>
          <a:p>
            <a:pPr algn="l" indent="0" marL="0">
              <a:buNone/>
            </a:pPr>
            <a:endParaRPr lang="en-US" sz="2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UDO">
    <p:bg>
      <p:bgPr>
        <a:solidFill>
          <a:srgbClr val="FCF9FE"/>
        </a:solidFill>
      </p:bgPr>
    </p:bg>
    <p:spTree>
      <p:nvGrpSpPr>
        <p:cNvPr id="1" name=""/>
        <p:cNvGrpSpPr/>
        <p:nvPr/>
      </p:nvGrpSpPr>
      <p:grpSpPr>
        <a:xfrm>
          <a:off x="0" y="0"/>
          <a:ext cx="0" cy="0"/>
          <a:chOff x="0" y="0"/>
          <a:chExt cx="0" cy="0"/>
        </a:xfrm>
      </p:grpSpPr>
      <p:sp>
        <p:nvSpPr>
          <p:cNvPr id="2" name="Shape 0"/>
          <p:cNvSpPr/>
          <p:nvPr/>
        </p:nvSpPr>
        <p:spPr>
          <a:xfrm>
            <a:off x="0" y="6323076"/>
            <a:ext cx="12191695" cy="534924"/>
          </a:xfrm>
          <a:prstGeom prst="rect">
            <a:avLst/>
          </a:prstGeom>
          <a:solidFill>
            <a:srgbClr val="140920"/>
          </a:solidFill>
          <a:ln w="12700">
            <a:solidFill>
              <a:srgbClr val="140920"/>
            </a:solidFill>
            <a:prstDash val="solid"/>
          </a:ln>
        </p:spPr>
      </p:sp>
      <p:pic>
        <p:nvPicPr>
          <p:cNvPr id="3" name="Image 0" descr="/Users/guilhermepinto/Github/workshop-claude/slides/modelo/logo-branco.png">    </p:cNvPr>
          <p:cNvPicPr>
            <a:picLocks noChangeAspect="1"/>
          </p:cNvPicPr>
          <p:nvPr/>
        </p:nvPicPr>
        <p:blipFill>
          <a:blip r:embed="rId1"/>
          <a:stretch>
            <a:fillRect/>
          </a:stretch>
        </p:blipFill>
        <p:spPr>
          <a:xfrm>
            <a:off x="472745" y="6557162"/>
            <a:ext cx="750722" cy="94183"/>
          </a:xfrm>
          <a:prstGeom prst="rect">
            <a:avLst/>
          </a:prstGeom>
        </p:spPr>
      </p:pic>
      <p:sp>
        <p:nvSpPr>
          <p:cNvPr id="4" name="Text 1"/>
          <p:cNvSpPr/>
          <p:nvPr>
            <p:ph idx="102" type="title" hasCustomPrompt="1"/>
          </p:nvPr>
        </p:nvSpPr>
        <p:spPr>
          <a:xfrm>
            <a:off x="615391" y="411480"/>
            <a:ext cx="10957255" cy="868680"/>
          </a:xfrm>
          <a:prstGeom prst="rect">
            <a:avLst/>
          </a:prstGeom>
          <a:noFill/>
          <a:ln/>
        </p:spPr>
        <p:txBody>
          <a:bodyPr wrap="square" rtlCol="0"/>
          <a:lstStyle>
            <a:lvl1pPr algn="l" indent="0" marL="0">
              <a:buNone/>
              <a:defRPr lang="en-US" sz="3200" dirty="0">
                <a:solidFill>
                  <a:srgbClr val="140920"/>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FACA">
    <p:bg>
      <p:bgPr>
        <a:solidFill>
          <a:srgbClr val="F4EFFE"/>
        </a:solidFill>
      </p:bgPr>
    </p:bg>
    <p:spTree>
      <p:nvGrpSpPr>
        <p:cNvPr id="1" name=""/>
        <p:cNvGrpSpPr/>
        <p:nvPr/>
      </p:nvGrpSpPr>
      <p:grpSpPr>
        <a:xfrm>
          <a:off x="0" y="0"/>
          <a:ext cx="0" cy="0"/>
          <a:chOff x="0" y="0"/>
          <a:chExt cx="0" cy="0"/>
        </a:xfrm>
      </p:grpSpPr>
      <p:sp>
        <p:nvSpPr>
          <p:cNvPr id="2" name="Shape 0"/>
          <p:cNvSpPr/>
          <p:nvPr/>
        </p:nvSpPr>
        <p:spPr>
          <a:xfrm>
            <a:off x="0" y="6323076"/>
            <a:ext cx="12191695" cy="534924"/>
          </a:xfrm>
          <a:prstGeom prst="rect">
            <a:avLst/>
          </a:prstGeom>
          <a:solidFill>
            <a:srgbClr val="140920"/>
          </a:solidFill>
          <a:ln w="12700">
            <a:solidFill>
              <a:srgbClr val="140920"/>
            </a:solidFill>
            <a:prstDash val="solid"/>
          </a:ln>
        </p:spPr>
      </p:sp>
      <p:pic>
        <p:nvPicPr>
          <p:cNvPr id="3" name="Image 0" descr="/Users/guilhermepinto/Github/workshop-claude/slides/modelo/logo-branco.png">    </p:cNvPr>
          <p:cNvPicPr>
            <a:picLocks noChangeAspect="1"/>
          </p:cNvPicPr>
          <p:nvPr/>
        </p:nvPicPr>
        <p:blipFill>
          <a:blip r:embed="rId1"/>
          <a:stretch>
            <a:fillRect/>
          </a:stretch>
        </p:blipFill>
        <p:spPr>
          <a:xfrm>
            <a:off x="472745" y="6557162"/>
            <a:ext cx="750722" cy="94183"/>
          </a:xfrm>
          <a:prstGeom prst="rect">
            <a:avLst/>
          </a:prstGeom>
        </p:spPr>
      </p:pic>
      <p:sp>
        <p:nvSpPr>
          <p:cNvPr id="4" name="Text 1"/>
          <p:cNvSpPr/>
          <p:nvPr>
            <p:ph idx="102" type="title" hasCustomPrompt="1"/>
          </p:nvPr>
        </p:nvSpPr>
        <p:spPr>
          <a:xfrm>
            <a:off x="548640" y="896112"/>
            <a:ext cx="11094415" cy="868680"/>
          </a:xfrm>
          <a:prstGeom prst="rect">
            <a:avLst/>
          </a:prstGeom>
          <a:noFill/>
          <a:ln/>
        </p:spPr>
        <p:txBody>
          <a:bodyPr wrap="square" rtlCol="0"/>
          <a:lstStyle>
            <a:lvl1pPr algn="l" indent="0" marL="0">
              <a:buNone/>
              <a:defRPr lang="en-US" sz="3400" dirty="0">
                <a:solidFill>
                  <a:srgbClr val="140920"/>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1006</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video" Target="../media/media-16-1.mp4"/><Relationship Id="rId2" Type="http://schemas.microsoft.com/office/2007/relationships/media" Target="../media/media-16-1.mp4"/><Relationship Id="rId3" Type="http://schemas.openxmlformats.org/officeDocument/2006/relationships/image" Target="../media/image-16-3.png"/><Relationship Id="rId4" Type="http://schemas.openxmlformats.org/officeDocument/2006/relationships/slideLayout" Target="../slideLayouts/slideLayout5.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video" Target="../media/media-17-1.mp4"/><Relationship Id="rId2" Type="http://schemas.microsoft.com/office/2007/relationships/media" Target="../media/media-17-1.mp4"/><Relationship Id="rId3" Type="http://schemas.openxmlformats.org/officeDocument/2006/relationships/image" Target="../media/image-17-3.png"/><Relationship Id="rId4" Type="http://schemas.openxmlformats.org/officeDocument/2006/relationships/slideLayout" Target="../slideLayouts/slideLayout5.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5.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3" type="title" hasCustomPrompt="1"/>
          </p:nvPr>
        </p:nvSpPr>
        <p:spPr>
          <a:xfrm>
            <a:off x="615391" y="1325880"/>
            <a:ext cx="8778240" cy="2011680"/>
          </a:xfrm>
          <a:prstGeom prst="rect">
            <a:avLst/>
          </a:prstGeom>
          <a:noFill/>
          <a:ln/>
        </p:spPr>
        <p:txBody>
          <a:bodyPr wrap="square" lIns="0" tIns="0" rIns="0" bIns="0" rtlCol="0" anchor="b"/>
          <a:lstStyle/>
          <a:p>
            <a:pPr algn="l" indent="0" marL="0">
              <a:buNone/>
            </a:pPr>
            <a:r>
              <a:rPr lang="en-US" sz="4800" dirty="0">
                <a:solidFill>
                  <a:srgbClr val="FCF9FE"/>
                </a:solidFill>
                <a:latin typeface="Founders Grotesk Medium" pitchFamily="34" charset="0"/>
                <a:ea typeface="Founders Grotesk Medium" pitchFamily="34" charset="-122"/>
                <a:cs typeface="Founders Grotesk Medium" pitchFamily="34" charset="-120"/>
              </a:rPr>
              <a:t>Agent orchestration with Claude</a:t>
            </a:r>
            <a:endParaRPr lang="en-US" sz="4800" dirty="0"/>
          </a:p>
        </p:txBody>
      </p:sp>
      <p:sp>
        <p:nvSpPr>
          <p:cNvPr id="3" name="Text 1"/>
          <p:cNvSpPr/>
          <p:nvPr>
            <p:ph idx="104" type="body" hasCustomPrompt="1"/>
          </p:nvPr>
        </p:nvSpPr>
        <p:spPr>
          <a:xfrm>
            <a:off x="615391" y="3474720"/>
            <a:ext cx="8778240" cy="1097280"/>
          </a:xfrm>
          <a:prstGeom prst="rect">
            <a:avLst/>
          </a:prstGeom>
          <a:noFill/>
          <a:ln/>
        </p:spPr>
        <p:txBody>
          <a:bodyPr wrap="square" lIns="0" tIns="0" rIns="0" bIns="0" rtlCol="0" anchor="t"/>
          <a:lstStyle/>
          <a:p>
            <a:pPr algn="l" indent="0" marL="0">
              <a:buNone/>
            </a:pPr>
            <a:r>
              <a:rPr lang="en-US" sz="2600" dirty="0">
                <a:solidFill>
                  <a:srgbClr val="F25928"/>
                </a:solidFill>
                <a:latin typeface="Founders Grotesk Medium" pitchFamily="34" charset="0"/>
                <a:ea typeface="Founders Grotesk Medium" pitchFamily="34" charset="-122"/>
                <a:cs typeface="Founders Grotesk Medium" pitchFamily="34" charset="-120"/>
              </a:rPr>
              <a:t>Skills, subagents and parallel swarms, with measured cost</a:t>
            </a:r>
            <a:endParaRPr lang="en-US" sz="2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you take home</a:t>
            </a:r>
            <a:endParaRPr lang="en-US" sz="3200" dirty="0"/>
          </a:p>
        </p:txBody>
      </p:sp>
      <p:sp>
        <p:nvSpPr>
          <p:cNvPr id="3" name="coluna-0"/>
          <p:cNvSpPr/>
          <p:nvPr/>
        </p:nvSpPr>
        <p:spPr>
          <a:xfrm>
            <a:off x="548640" y="1691640"/>
            <a:ext cx="3484778" cy="3566160"/>
          </a:xfrm>
          <a:prstGeom prst="rect">
            <a:avLst/>
          </a:prstGeom>
          <a:solidFill>
            <a:srgbClr val="F4EFFE"/>
          </a:solidFill>
          <a:ln w="12700">
            <a:solidFill>
              <a:srgbClr val="F4EFFE"/>
            </a:solidFill>
            <a:prstDash val="solid"/>
          </a:ln>
        </p:spPr>
      </p:sp>
      <p:sp>
        <p:nvSpPr>
          <p:cNvPr id="4" name="marca-0"/>
          <p:cNvSpPr/>
          <p:nvPr/>
        </p:nvSpPr>
        <p:spPr>
          <a:xfrm>
            <a:off x="868680" y="2011680"/>
            <a:ext cx="384048" cy="384048"/>
          </a:xfrm>
          <a:prstGeom prst="rect">
            <a:avLst/>
          </a:prstGeom>
          <a:solidFill>
            <a:srgbClr val="6B34FD"/>
          </a:solidFill>
          <a:ln w="12700">
            <a:solidFill>
              <a:srgbClr val="6B34FD"/>
            </a:solidFill>
            <a:prstDash val="solid"/>
          </a:ln>
        </p:spPr>
      </p:sp>
      <p:sp>
        <p:nvSpPr>
          <p:cNvPr id="5" name="coluna-titulo-0"/>
          <p:cNvSpPr txBox="1"/>
          <p:nvPr/>
        </p:nvSpPr>
        <p:spPr>
          <a:xfrm>
            <a:off x="868680" y="2697480"/>
            <a:ext cx="2844698" cy="91440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A swarm</a:t>
            </a:r>
            <a:endParaRPr lang="en-US" sz="2600" dirty="0"/>
          </a:p>
        </p:txBody>
      </p:sp>
      <p:sp>
        <p:nvSpPr>
          <p:cNvPr id="6" name="coluna-texto-0"/>
          <p:cNvSpPr txBox="1"/>
          <p:nvPr/>
        </p:nvSpPr>
        <p:spPr>
          <a:xfrm>
            <a:off x="868680" y="3657600"/>
            <a:ext cx="2844698" cy="146304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that builds a security game with 15 agents in parallel</a:t>
            </a:r>
            <a:endParaRPr lang="en-US" sz="2000" dirty="0"/>
          </a:p>
        </p:txBody>
      </p:sp>
      <p:sp>
        <p:nvSpPr>
          <p:cNvPr id="7" name="coluna-1"/>
          <p:cNvSpPr/>
          <p:nvPr/>
        </p:nvSpPr>
        <p:spPr>
          <a:xfrm>
            <a:off x="4353458" y="1691640"/>
            <a:ext cx="3484778" cy="3566160"/>
          </a:xfrm>
          <a:prstGeom prst="rect">
            <a:avLst/>
          </a:prstGeom>
          <a:solidFill>
            <a:srgbClr val="F4EFFE"/>
          </a:solidFill>
          <a:ln w="12700">
            <a:solidFill>
              <a:srgbClr val="F4EFFE"/>
            </a:solidFill>
            <a:prstDash val="solid"/>
          </a:ln>
        </p:spPr>
      </p:sp>
      <p:sp>
        <p:nvSpPr>
          <p:cNvPr id="8" name="marca-1"/>
          <p:cNvSpPr/>
          <p:nvPr/>
        </p:nvSpPr>
        <p:spPr>
          <a:xfrm>
            <a:off x="4673498" y="2011680"/>
            <a:ext cx="384048" cy="384048"/>
          </a:xfrm>
          <a:prstGeom prst="rect">
            <a:avLst/>
          </a:prstGeom>
          <a:solidFill>
            <a:srgbClr val="8F23D7"/>
          </a:solidFill>
          <a:ln w="12700">
            <a:solidFill>
              <a:srgbClr val="8F23D7"/>
            </a:solidFill>
            <a:prstDash val="solid"/>
          </a:ln>
        </p:spPr>
      </p:sp>
      <p:sp>
        <p:nvSpPr>
          <p:cNvPr id="9" name="coluna-titulo-1"/>
          <p:cNvSpPr txBox="1"/>
          <p:nvPr/>
        </p:nvSpPr>
        <p:spPr>
          <a:xfrm>
            <a:off x="4673498" y="2697480"/>
            <a:ext cx="2844698" cy="91440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Your task</a:t>
            </a:r>
            <a:endParaRPr lang="en-US" sz="2600" dirty="0"/>
          </a:p>
        </p:txBody>
      </p:sp>
      <p:sp>
        <p:nvSpPr>
          <p:cNvPr id="10" name="coluna-texto-1"/>
          <p:cNvSpPr txBox="1"/>
          <p:nvPr/>
        </p:nvSpPr>
        <p:spPr>
          <a:xfrm>
            <a:off x="4673498" y="3657600"/>
            <a:ext cx="2844698" cy="146304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a real one, from Jira or GitHub, broken down and running</a:t>
            </a:r>
            <a:endParaRPr lang="en-US" sz="2000" dirty="0"/>
          </a:p>
        </p:txBody>
      </p:sp>
      <p:sp>
        <p:nvSpPr>
          <p:cNvPr id="11" name="coluna-2"/>
          <p:cNvSpPr/>
          <p:nvPr/>
        </p:nvSpPr>
        <p:spPr>
          <a:xfrm>
            <a:off x="8158277" y="1691640"/>
            <a:ext cx="3484778" cy="3566160"/>
          </a:xfrm>
          <a:prstGeom prst="rect">
            <a:avLst/>
          </a:prstGeom>
          <a:solidFill>
            <a:srgbClr val="F4EFFE"/>
          </a:solidFill>
          <a:ln w="12700">
            <a:solidFill>
              <a:srgbClr val="F4EFFE"/>
            </a:solidFill>
            <a:prstDash val="solid"/>
          </a:ln>
        </p:spPr>
      </p:sp>
      <p:sp>
        <p:nvSpPr>
          <p:cNvPr id="12" name="marca-2"/>
          <p:cNvSpPr/>
          <p:nvPr/>
        </p:nvSpPr>
        <p:spPr>
          <a:xfrm>
            <a:off x="8478317" y="2011680"/>
            <a:ext cx="384048" cy="384048"/>
          </a:xfrm>
          <a:prstGeom prst="rect">
            <a:avLst/>
          </a:prstGeom>
          <a:solidFill>
            <a:srgbClr val="F25928"/>
          </a:solidFill>
          <a:ln w="12700">
            <a:solidFill>
              <a:srgbClr val="F25928"/>
            </a:solidFill>
            <a:prstDash val="solid"/>
          </a:ln>
        </p:spPr>
      </p:sp>
      <p:sp>
        <p:nvSpPr>
          <p:cNvPr id="13" name="coluna-titulo-2"/>
          <p:cNvSpPr txBox="1"/>
          <p:nvPr/>
        </p:nvSpPr>
        <p:spPr>
          <a:xfrm>
            <a:off x="8478317" y="2697480"/>
            <a:ext cx="2844698" cy="91440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A memory</a:t>
            </a:r>
            <a:endParaRPr lang="en-US" sz="2600" dirty="0"/>
          </a:p>
        </p:txBody>
      </p:sp>
      <p:sp>
        <p:nvSpPr>
          <p:cNvPr id="14" name="coluna-texto-2"/>
          <p:cNvSpPr txBox="1"/>
          <p:nvPr/>
        </p:nvSpPr>
        <p:spPr>
          <a:xfrm>
            <a:off x="8478317" y="3657600"/>
            <a:ext cx="2844698" cy="146304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a graph of what you learned, ready to use tomorrow</a:t>
            </a:r>
            <a:endParaRPr lang="en-US" sz="20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cost rules</a:t>
            </a:r>
            <a:endParaRPr lang="en-US" sz="3200" dirty="0"/>
          </a:p>
        </p:txBody>
      </p:sp>
      <p:sp>
        <p:nvSpPr>
          <p:cNvPr id="3" name="stat-0"/>
          <p:cNvSpPr/>
          <p:nvPr/>
        </p:nvSpPr>
        <p:spPr>
          <a:xfrm>
            <a:off x="548640" y="1737360"/>
            <a:ext cx="3484778" cy="3291840"/>
          </a:xfrm>
          <a:prstGeom prst="rect">
            <a:avLst/>
          </a:prstGeom>
          <a:solidFill>
            <a:srgbClr val="140920"/>
          </a:solidFill>
          <a:ln w="12700">
            <a:solidFill>
              <a:srgbClr val="140920"/>
            </a:solidFill>
            <a:prstDash val="solid"/>
          </a:ln>
        </p:spPr>
      </p:sp>
      <p:sp>
        <p:nvSpPr>
          <p:cNvPr id="4" name="stat-valor-0"/>
          <p:cNvSpPr txBox="1"/>
          <p:nvPr/>
        </p:nvSpPr>
        <p:spPr>
          <a:xfrm>
            <a:off x="868680"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FCF9FE"/>
                </a:solidFill>
                <a:latin typeface="Founders Grotesk Medium" pitchFamily="34" charset="0"/>
                <a:ea typeface="Founders Grotesk Medium" pitchFamily="34" charset="-122"/>
                <a:cs typeface="Founders Grotesk Medium" pitchFamily="34" charset="-120"/>
              </a:rPr>
              <a:t>US$ 5</a:t>
            </a:r>
            <a:endParaRPr lang="en-US" sz="6000" dirty="0"/>
          </a:p>
        </p:txBody>
      </p:sp>
      <p:sp>
        <p:nvSpPr>
          <p:cNvPr id="5" name="stat-rotulo-0"/>
          <p:cNvSpPr txBox="1"/>
          <p:nvPr/>
        </p:nvSpPr>
        <p:spPr>
          <a:xfrm>
            <a:off x="868680" y="3474720"/>
            <a:ext cx="2844698" cy="1371600"/>
          </a:xfrm>
          <a:prstGeom prst="rect">
            <a:avLst/>
          </a:prstGeom>
          <a:noFill/>
          <a:ln/>
        </p:spPr>
        <p:txBody>
          <a:bodyPr wrap="square" lIns="0" tIns="0" rIns="0" bIns="0" rtlCol="0" anchor="t"/>
          <a:lstStyle/>
          <a:p>
            <a:pPr indent="0" marL="0">
              <a:buNone/>
            </a:pPr>
            <a:r>
              <a:rPr lang="en-US" sz="1800" dirty="0">
                <a:solidFill>
                  <a:srgbClr val="B9AEDB"/>
                </a:solidFill>
                <a:latin typeface="Arial" pitchFamily="34" charset="0"/>
                <a:ea typeface="Arial" pitchFamily="34" charset="-122"/>
                <a:cs typeface="Arial" pitchFamily="34" charset="-120"/>
              </a:rPr>
              <a:t>target per person, for everything you do today</a:t>
            </a:r>
            <a:endParaRPr lang="en-US" sz="1800" dirty="0"/>
          </a:p>
        </p:txBody>
      </p:sp>
      <p:sp>
        <p:nvSpPr>
          <p:cNvPr id="6" name="stat-1"/>
          <p:cNvSpPr/>
          <p:nvPr/>
        </p:nvSpPr>
        <p:spPr>
          <a:xfrm>
            <a:off x="4353458" y="1737360"/>
            <a:ext cx="3484778" cy="3291840"/>
          </a:xfrm>
          <a:prstGeom prst="rect">
            <a:avLst/>
          </a:prstGeom>
          <a:solidFill>
            <a:srgbClr val="F4EFFE"/>
          </a:solidFill>
          <a:ln w="12700">
            <a:solidFill>
              <a:srgbClr val="F4EFFE"/>
            </a:solidFill>
            <a:prstDash val="solid"/>
          </a:ln>
        </p:spPr>
      </p:sp>
      <p:sp>
        <p:nvSpPr>
          <p:cNvPr id="7" name="stat-valor-1"/>
          <p:cNvSpPr txBox="1"/>
          <p:nvPr/>
        </p:nvSpPr>
        <p:spPr>
          <a:xfrm>
            <a:off x="4673498"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140920"/>
                </a:solidFill>
                <a:latin typeface="Founders Grotesk Medium" pitchFamily="34" charset="0"/>
                <a:ea typeface="Founders Grotesk Medium" pitchFamily="34" charset="-122"/>
                <a:cs typeface="Founders Grotesk Medium" pitchFamily="34" charset="-120"/>
              </a:rPr>
              <a:t>US$ 10</a:t>
            </a:r>
            <a:endParaRPr lang="en-US" sz="6000" dirty="0"/>
          </a:p>
        </p:txBody>
      </p:sp>
      <p:sp>
        <p:nvSpPr>
          <p:cNvPr id="8" name="stat-rotulo-1"/>
          <p:cNvSpPr txBox="1"/>
          <p:nvPr/>
        </p:nvSpPr>
        <p:spPr>
          <a:xfrm>
            <a:off x="4673498"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safety cap, never the goal</a:t>
            </a:r>
            <a:endParaRPr lang="en-US" sz="1800" dirty="0"/>
          </a:p>
        </p:txBody>
      </p:sp>
      <p:sp>
        <p:nvSpPr>
          <p:cNvPr id="9" name="stat-2"/>
          <p:cNvSpPr/>
          <p:nvPr/>
        </p:nvSpPr>
        <p:spPr>
          <a:xfrm>
            <a:off x="8158277" y="1737360"/>
            <a:ext cx="3484778" cy="3291840"/>
          </a:xfrm>
          <a:prstGeom prst="rect">
            <a:avLst/>
          </a:prstGeom>
          <a:solidFill>
            <a:srgbClr val="F4EFFE"/>
          </a:solidFill>
          <a:ln w="12700">
            <a:solidFill>
              <a:srgbClr val="F4EFFE"/>
            </a:solidFill>
            <a:prstDash val="solid"/>
          </a:ln>
        </p:spPr>
      </p:sp>
      <p:sp>
        <p:nvSpPr>
          <p:cNvPr id="10" name="stat-valor-2"/>
          <p:cNvSpPr txBox="1"/>
          <p:nvPr/>
        </p:nvSpPr>
        <p:spPr>
          <a:xfrm>
            <a:off x="8478317"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140920"/>
                </a:solidFill>
                <a:latin typeface="Founders Grotesk Medium" pitchFamily="34" charset="0"/>
                <a:ea typeface="Founders Grotesk Medium" pitchFamily="34" charset="-122"/>
                <a:cs typeface="Founders Grotesk Medium" pitchFamily="34" charset="-120"/>
              </a:rPr>
              <a:t>0</a:t>
            </a:r>
            <a:endParaRPr lang="en-US" sz="6000" dirty="0"/>
          </a:p>
        </p:txBody>
      </p:sp>
      <p:sp>
        <p:nvSpPr>
          <p:cNvPr id="11" name="stat-rotulo-2"/>
          <p:cNvSpPr txBox="1"/>
          <p:nvPr/>
        </p:nvSpPr>
        <p:spPr>
          <a:xfrm>
            <a:off x="8478317"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sessions stopped because of cost</a:t>
            </a:r>
            <a:endParaRPr lang="en-US" sz="1800" dirty="0"/>
          </a:p>
        </p:txBody>
      </p:sp>
      <p:sp>
        <p:nvSpPr>
          <p:cNvPr id="12" name="rodape"/>
          <p:cNvSpPr txBox="1"/>
          <p:nvPr/>
        </p:nvSpPr>
        <p:spPr>
          <a:xfrm>
            <a:off x="548640" y="5349240"/>
            <a:ext cx="11094415" cy="640080"/>
          </a:xfrm>
          <a:prstGeom prst="rect">
            <a:avLst/>
          </a:prstGeom>
          <a:noFill/>
          <a:ln/>
        </p:spPr>
        <p:txBody>
          <a:bodyPr wrap="square" lIns="0" tIns="0" rIns="0" bIns="0" rtlCol="0" anchor="t"/>
          <a:lstStyle/>
          <a:p>
            <a:pPr indent="0" marL="0">
              <a:buNone/>
            </a:pPr>
            <a:r>
              <a:rPr lang="en-US" sz="1600" dirty="0">
                <a:solidFill>
                  <a:srgbClr val="140920"/>
                </a:solidFill>
                <a:latin typeface="Arial" pitchFamily="34" charset="0"/>
                <a:ea typeface="Arial" pitchFamily="34" charset="-122"/>
                <a:cs typeface="Arial" pitchFamily="34" charset="-120"/>
              </a:rPr>
              <a:t>Measured over 16 real runs: average US$ 1.02, maximum US$ 1.12.</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Check your installation</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a terminal</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the command for your system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Wait for the summary table</a:t>
            </a:r>
            <a:endParaRPr lang="en-US" sz="2000" dirty="0"/>
          </a:p>
        </p:txBody>
      </p:sp>
      <p:sp>
        <p:nvSpPr>
          <p:cNvPr id="6" name="codigo-fundo"/>
          <p:cNvSpPr/>
          <p:nvPr/>
        </p:nvSpPr>
        <p:spPr>
          <a:xfrm>
            <a:off x="4937760" y="1920240"/>
            <a:ext cx="6705295" cy="1017727"/>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Mac</a:t>
            </a:r>
            <a:endParaRPr lang="en-US" sz="1300" dirty="0"/>
          </a:p>
        </p:txBody>
      </p:sp>
      <p:sp>
        <p:nvSpPr>
          <p:cNvPr id="8" name="codigo"/>
          <p:cNvSpPr txBox="1"/>
          <p:nvPr/>
        </p:nvSpPr>
        <p:spPr>
          <a:xfrm>
            <a:off x="5166360" y="2450592"/>
            <a:ext cx="6248095" cy="350215"/>
          </a:xfrm>
          <a:prstGeom prst="rect">
            <a:avLst/>
          </a:prstGeom>
          <a:noFill/>
          <a:ln/>
        </p:spPr>
        <p:txBody>
          <a:bodyPr wrap="square" lIns="0" tIns="0" rIns="0" bIns="0" rtlCol="0" anchor="t"/>
          <a:lstStyle/>
          <a:p>
            <a:pPr indent="0" marL="0">
              <a:buNone/>
            </a:pPr>
            <a:r>
              <a:rPr lang="en-US" sz="1800" dirty="0">
                <a:solidFill>
                  <a:srgbClr val="FCF9FE"/>
                </a:solidFill>
                <a:latin typeface="Courier New" pitchFamily="34" charset="0"/>
                <a:ea typeface="Courier New" pitchFamily="34" charset="-122"/>
                <a:cs typeface="Courier New" pitchFamily="34" charset="-120"/>
              </a:rPr>
              <a:t>bash ~/.workshop-claude/setup-mac.sh --check</a:t>
            </a:r>
            <a:endParaRPr lang="en-US" sz="1800" dirty="0"/>
          </a:p>
        </p:txBody>
      </p:sp>
      <p:sp>
        <p:nvSpPr>
          <p:cNvPr id="9" name="codigo-fundo"/>
          <p:cNvSpPr/>
          <p:nvPr/>
        </p:nvSpPr>
        <p:spPr>
          <a:xfrm>
            <a:off x="4937760" y="3166567"/>
            <a:ext cx="6705295" cy="1423721"/>
          </a:xfrm>
          <a:prstGeom prst="rect">
            <a:avLst/>
          </a:prstGeom>
          <a:solidFill>
            <a:srgbClr val="140920"/>
          </a:solidFill>
          <a:ln w="12700">
            <a:solidFill>
              <a:srgbClr val="140920"/>
            </a:solidFill>
            <a:prstDash val="solid"/>
          </a:ln>
        </p:spPr>
      </p:sp>
      <p:sp>
        <p:nvSpPr>
          <p:cNvPr id="10" name="codigo-rotulo"/>
          <p:cNvSpPr txBox="1"/>
          <p:nvPr/>
        </p:nvSpPr>
        <p:spPr>
          <a:xfrm>
            <a:off x="5166360" y="3349447"/>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Windows</a:t>
            </a:r>
            <a:endParaRPr lang="en-US" sz="1300" dirty="0"/>
          </a:p>
        </p:txBody>
      </p:sp>
      <p:sp>
        <p:nvSpPr>
          <p:cNvPr id="11" name="codigo"/>
          <p:cNvSpPr txBox="1"/>
          <p:nvPr/>
        </p:nvSpPr>
        <p:spPr>
          <a:xfrm>
            <a:off x="5166360" y="3696919"/>
            <a:ext cx="6248095" cy="756209"/>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powershell -NoProfile -ExecutionPolicy Bypass -File "$HOME\.workshop-claude\setup-windows.ps1" -Check</a:t>
            </a:r>
            <a:endParaRPr lang="en-US" sz="1400" dirty="0"/>
          </a:p>
        </p:txBody>
      </p:sp>
      <p:sp>
        <p:nvSpPr>
          <p:cNvPr id="12" name="esperado-marca"/>
          <p:cNvSpPr/>
          <p:nvPr/>
        </p:nvSpPr>
        <p:spPr>
          <a:xfrm>
            <a:off x="548640" y="5650992"/>
            <a:ext cx="292608" cy="292608"/>
          </a:xfrm>
          <a:prstGeom prst="rect">
            <a:avLst/>
          </a:prstGeom>
          <a:solidFill>
            <a:srgbClr val="6B34FD"/>
          </a:solidFill>
          <a:ln w="12700">
            <a:solidFill>
              <a:srgbClr val="6B34FD"/>
            </a:solidFill>
            <a:prstDash val="solid"/>
          </a:ln>
        </p:spPr>
      </p:sp>
      <p:sp>
        <p:nvSpPr>
          <p:cNvPr id="13" name="faca-esperado"/>
          <p:cNvSpPr txBox="1"/>
          <p:nvPr/>
        </p:nvSpPr>
        <p:spPr>
          <a:xfrm>
            <a:off x="100584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"Everything is ready for the workshop"</a:t>
            </a:r>
            <a:endParaRPr lang="en-US" sz="1800" dirty="0"/>
          </a:p>
        </p:txBody>
      </p:sp>
      <p:sp>
        <p:nvSpPr>
          <p:cNvPr id="14" name="aviso-fundo"/>
          <p:cNvSpPr/>
          <p:nvPr/>
        </p:nvSpPr>
        <p:spPr>
          <a:xfrm>
            <a:off x="5745175" y="384048"/>
            <a:ext cx="5897880" cy="457200"/>
          </a:xfrm>
          <a:prstGeom prst="rect">
            <a:avLst/>
          </a:prstGeom>
          <a:solidFill>
            <a:srgbClr val="F25928"/>
          </a:solidFill>
          <a:ln w="12700">
            <a:solidFill>
              <a:srgbClr val="F25928"/>
            </a:solidFill>
            <a:prstDash val="solid"/>
          </a:ln>
        </p:spPr>
      </p:sp>
      <p:sp>
        <p:nvSpPr>
          <p:cNvPr id="15" name="aviso"/>
          <p:cNvSpPr txBox="1"/>
          <p:nvPr/>
        </p:nvSpPr>
        <p:spPr>
          <a:xfrm>
            <a:off x="5909767" y="384048"/>
            <a:ext cx="5568696"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commands are in Teams: copy them from there.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Did a step fail?</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doctor mode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Accept the analysis by Claude (under US$ 0.01)</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Confirm the commands one by one</a:t>
            </a:r>
            <a:endParaRPr lang="en-US" sz="2000" dirty="0"/>
          </a:p>
        </p:txBody>
      </p:sp>
      <p:sp>
        <p:nvSpPr>
          <p:cNvPr id="6" name="codigo-fundo"/>
          <p:cNvSpPr/>
          <p:nvPr/>
        </p:nvSpPr>
        <p:spPr>
          <a:xfrm>
            <a:off x="4937760" y="1920240"/>
            <a:ext cx="6705295" cy="1017727"/>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Mac</a:t>
            </a:r>
            <a:endParaRPr lang="en-US" sz="1300" dirty="0"/>
          </a:p>
        </p:txBody>
      </p:sp>
      <p:sp>
        <p:nvSpPr>
          <p:cNvPr id="8" name="codigo"/>
          <p:cNvSpPr txBox="1"/>
          <p:nvPr/>
        </p:nvSpPr>
        <p:spPr>
          <a:xfrm>
            <a:off x="5166360" y="2450592"/>
            <a:ext cx="6248095" cy="350215"/>
          </a:xfrm>
          <a:prstGeom prst="rect">
            <a:avLst/>
          </a:prstGeom>
          <a:noFill/>
          <a:ln/>
        </p:spPr>
        <p:txBody>
          <a:bodyPr wrap="square" lIns="0" tIns="0" rIns="0" bIns="0" rtlCol="0" anchor="t"/>
          <a:lstStyle/>
          <a:p>
            <a:pPr indent="0" marL="0">
              <a:buNone/>
            </a:pPr>
            <a:r>
              <a:rPr lang="en-US" sz="1800" dirty="0">
                <a:solidFill>
                  <a:srgbClr val="FCF9FE"/>
                </a:solidFill>
                <a:latin typeface="Courier New" pitchFamily="34" charset="0"/>
                <a:ea typeface="Courier New" pitchFamily="34" charset="-122"/>
                <a:cs typeface="Courier New" pitchFamily="34" charset="-120"/>
              </a:rPr>
              <a:t>bash ~/.workshop-claude/setup-mac.sh --doctor</a:t>
            </a:r>
            <a:endParaRPr lang="en-US" sz="1800" dirty="0"/>
          </a:p>
        </p:txBody>
      </p:sp>
      <p:sp>
        <p:nvSpPr>
          <p:cNvPr id="9" name="codigo-fundo"/>
          <p:cNvSpPr/>
          <p:nvPr/>
        </p:nvSpPr>
        <p:spPr>
          <a:xfrm>
            <a:off x="4937760" y="3166567"/>
            <a:ext cx="6705295" cy="1423721"/>
          </a:xfrm>
          <a:prstGeom prst="rect">
            <a:avLst/>
          </a:prstGeom>
          <a:solidFill>
            <a:srgbClr val="140920"/>
          </a:solidFill>
          <a:ln w="12700">
            <a:solidFill>
              <a:srgbClr val="140920"/>
            </a:solidFill>
            <a:prstDash val="solid"/>
          </a:ln>
        </p:spPr>
      </p:sp>
      <p:sp>
        <p:nvSpPr>
          <p:cNvPr id="10" name="codigo-rotulo"/>
          <p:cNvSpPr txBox="1"/>
          <p:nvPr/>
        </p:nvSpPr>
        <p:spPr>
          <a:xfrm>
            <a:off x="5166360" y="3349447"/>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Windows</a:t>
            </a:r>
            <a:endParaRPr lang="en-US" sz="1300" dirty="0"/>
          </a:p>
        </p:txBody>
      </p:sp>
      <p:sp>
        <p:nvSpPr>
          <p:cNvPr id="11" name="codigo"/>
          <p:cNvSpPr txBox="1"/>
          <p:nvPr/>
        </p:nvSpPr>
        <p:spPr>
          <a:xfrm>
            <a:off x="5166360" y="3696919"/>
            <a:ext cx="6248095" cy="756209"/>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powershell -NoProfile -ExecutionPolicy Bypass -File "$HOME\.workshop-claude\setup-windows.ps1" -Doctor</a:t>
            </a:r>
            <a:endParaRPr lang="en-US" sz="1400" dirty="0"/>
          </a:p>
        </p:txBody>
      </p:sp>
      <p:sp>
        <p:nvSpPr>
          <p:cNvPr id="12" name="esperado-marca"/>
          <p:cNvSpPr/>
          <p:nvPr/>
        </p:nvSpPr>
        <p:spPr>
          <a:xfrm>
            <a:off x="548640" y="5650992"/>
            <a:ext cx="292608" cy="292608"/>
          </a:xfrm>
          <a:prstGeom prst="rect">
            <a:avLst/>
          </a:prstGeom>
          <a:solidFill>
            <a:srgbClr val="6B34FD"/>
          </a:solidFill>
          <a:ln w="12700">
            <a:solidFill>
              <a:srgbClr val="6B34FD"/>
            </a:solidFill>
            <a:prstDash val="solid"/>
          </a:ln>
        </p:spPr>
      </p:sp>
      <p:sp>
        <p:nvSpPr>
          <p:cNvPr id="13" name="faca-esperado"/>
          <p:cNvSpPr txBox="1"/>
          <p:nvPr/>
        </p:nvSpPr>
        <p:spPr>
          <a:xfrm>
            <a:off x="100584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The failed step runs again and gets done</a:t>
            </a:r>
            <a:endParaRPr lang="en-US" sz="1800" dirty="0"/>
          </a:p>
        </p:txBody>
      </p:sp>
      <p:sp>
        <p:nvSpPr>
          <p:cNvPr id="14" name="aviso-fundo"/>
          <p:cNvSpPr/>
          <p:nvPr/>
        </p:nvSpPr>
        <p:spPr>
          <a:xfrm>
            <a:off x="5745175" y="384048"/>
            <a:ext cx="5897880" cy="457200"/>
          </a:xfrm>
          <a:prstGeom prst="rect">
            <a:avLst/>
          </a:prstGeom>
          <a:solidFill>
            <a:srgbClr val="F25928"/>
          </a:solidFill>
          <a:ln w="12700">
            <a:solidFill>
              <a:srgbClr val="F25928"/>
            </a:solidFill>
            <a:prstDash val="solid"/>
          </a:ln>
        </p:spPr>
      </p:sp>
      <p:sp>
        <p:nvSpPr>
          <p:cNvPr id="15" name="aviso"/>
          <p:cNvSpPr txBox="1"/>
          <p:nvPr/>
        </p:nvSpPr>
        <p:spPr>
          <a:xfrm>
            <a:off x="5909767" y="384048"/>
            <a:ext cx="5568696"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commands are in Teams: copy them from there.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Concepts</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Skills, agents, graphs and money</a:t>
            </a:r>
            <a:endParaRPr lang="en-US" sz="2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Claude Code works in your project</a:t>
            </a:r>
            <a:endParaRPr lang="en-US" sz="3200" dirty="0"/>
          </a:p>
        </p:txBody>
      </p:sp>
      <p:sp>
        <p:nvSpPr>
          <p:cNvPr id="3" name="coluna-0"/>
          <p:cNvSpPr/>
          <p:nvPr/>
        </p:nvSpPr>
        <p:spPr>
          <a:xfrm>
            <a:off x="548640" y="1691640"/>
            <a:ext cx="3484778" cy="3566160"/>
          </a:xfrm>
          <a:prstGeom prst="rect">
            <a:avLst/>
          </a:prstGeom>
          <a:solidFill>
            <a:srgbClr val="F4EFFE"/>
          </a:solidFill>
          <a:ln w="12700">
            <a:solidFill>
              <a:srgbClr val="F4EFFE"/>
            </a:solidFill>
            <a:prstDash val="solid"/>
          </a:ln>
        </p:spPr>
      </p:sp>
      <p:sp>
        <p:nvSpPr>
          <p:cNvPr id="4" name="marca-0"/>
          <p:cNvSpPr/>
          <p:nvPr/>
        </p:nvSpPr>
        <p:spPr>
          <a:xfrm>
            <a:off x="868680" y="2011680"/>
            <a:ext cx="384048" cy="384048"/>
          </a:xfrm>
          <a:prstGeom prst="rect">
            <a:avLst/>
          </a:prstGeom>
          <a:solidFill>
            <a:srgbClr val="6B34FD"/>
          </a:solidFill>
          <a:ln w="12700">
            <a:solidFill>
              <a:srgbClr val="6B34FD"/>
            </a:solidFill>
            <a:prstDash val="solid"/>
          </a:ln>
        </p:spPr>
      </p:sp>
      <p:sp>
        <p:nvSpPr>
          <p:cNvPr id="5" name="coluna-titulo-0"/>
          <p:cNvSpPr txBox="1"/>
          <p:nvPr/>
        </p:nvSpPr>
        <p:spPr>
          <a:xfrm>
            <a:off x="868680" y="2697480"/>
            <a:ext cx="2844698" cy="91440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Reads and writes</a:t>
            </a:r>
            <a:endParaRPr lang="en-US" sz="2600" dirty="0"/>
          </a:p>
        </p:txBody>
      </p:sp>
      <p:sp>
        <p:nvSpPr>
          <p:cNvPr id="6" name="coluna-texto-0"/>
          <p:cNvSpPr txBox="1"/>
          <p:nvPr/>
        </p:nvSpPr>
        <p:spPr>
          <a:xfrm>
            <a:off x="868680" y="3657600"/>
            <a:ext cx="2844698" cy="146304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project files, with permissions you control</a:t>
            </a:r>
            <a:endParaRPr lang="en-US" sz="2000" dirty="0"/>
          </a:p>
        </p:txBody>
      </p:sp>
      <p:sp>
        <p:nvSpPr>
          <p:cNvPr id="7" name="coluna-1"/>
          <p:cNvSpPr/>
          <p:nvPr/>
        </p:nvSpPr>
        <p:spPr>
          <a:xfrm>
            <a:off x="4353458" y="1691640"/>
            <a:ext cx="3484778" cy="3566160"/>
          </a:xfrm>
          <a:prstGeom prst="rect">
            <a:avLst/>
          </a:prstGeom>
          <a:solidFill>
            <a:srgbClr val="F4EFFE"/>
          </a:solidFill>
          <a:ln w="12700">
            <a:solidFill>
              <a:srgbClr val="F4EFFE"/>
            </a:solidFill>
            <a:prstDash val="solid"/>
          </a:ln>
        </p:spPr>
      </p:sp>
      <p:sp>
        <p:nvSpPr>
          <p:cNvPr id="8" name="marca-1"/>
          <p:cNvSpPr/>
          <p:nvPr/>
        </p:nvSpPr>
        <p:spPr>
          <a:xfrm>
            <a:off x="4673498" y="2011680"/>
            <a:ext cx="384048" cy="384048"/>
          </a:xfrm>
          <a:prstGeom prst="rect">
            <a:avLst/>
          </a:prstGeom>
          <a:solidFill>
            <a:srgbClr val="8F23D7"/>
          </a:solidFill>
          <a:ln w="12700">
            <a:solidFill>
              <a:srgbClr val="8F23D7"/>
            </a:solidFill>
            <a:prstDash val="solid"/>
          </a:ln>
        </p:spPr>
      </p:sp>
      <p:sp>
        <p:nvSpPr>
          <p:cNvPr id="9" name="coluna-titulo-1"/>
          <p:cNvSpPr txBox="1"/>
          <p:nvPr/>
        </p:nvSpPr>
        <p:spPr>
          <a:xfrm>
            <a:off x="4673498" y="2697480"/>
            <a:ext cx="2844698" cy="91440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Runs commands</a:t>
            </a:r>
            <a:endParaRPr lang="en-US" sz="2600" dirty="0"/>
          </a:p>
        </p:txBody>
      </p:sp>
      <p:sp>
        <p:nvSpPr>
          <p:cNvPr id="10" name="coluna-texto-1"/>
          <p:cNvSpPr txBox="1"/>
          <p:nvPr/>
        </p:nvSpPr>
        <p:spPr>
          <a:xfrm>
            <a:off x="4673498" y="3657600"/>
            <a:ext cx="2844698" cy="146304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tests, git, scripts: it sees the result and fixes it</a:t>
            </a:r>
            <a:endParaRPr lang="en-US" sz="2000" dirty="0"/>
          </a:p>
        </p:txBody>
      </p:sp>
      <p:sp>
        <p:nvSpPr>
          <p:cNvPr id="11" name="coluna-2"/>
          <p:cNvSpPr/>
          <p:nvPr/>
        </p:nvSpPr>
        <p:spPr>
          <a:xfrm>
            <a:off x="8158277" y="1691640"/>
            <a:ext cx="3484778" cy="3566160"/>
          </a:xfrm>
          <a:prstGeom prst="rect">
            <a:avLst/>
          </a:prstGeom>
          <a:solidFill>
            <a:srgbClr val="F4EFFE"/>
          </a:solidFill>
          <a:ln w="12700">
            <a:solidFill>
              <a:srgbClr val="F4EFFE"/>
            </a:solidFill>
            <a:prstDash val="solid"/>
          </a:ln>
        </p:spPr>
      </p:sp>
      <p:sp>
        <p:nvSpPr>
          <p:cNvPr id="12" name="marca-2"/>
          <p:cNvSpPr/>
          <p:nvPr/>
        </p:nvSpPr>
        <p:spPr>
          <a:xfrm>
            <a:off x="8478317" y="2011680"/>
            <a:ext cx="384048" cy="384048"/>
          </a:xfrm>
          <a:prstGeom prst="rect">
            <a:avLst/>
          </a:prstGeom>
          <a:solidFill>
            <a:srgbClr val="F25928"/>
          </a:solidFill>
          <a:ln w="12700">
            <a:solidFill>
              <a:srgbClr val="F25928"/>
            </a:solidFill>
            <a:prstDash val="solid"/>
          </a:ln>
        </p:spPr>
      </p:sp>
      <p:sp>
        <p:nvSpPr>
          <p:cNvPr id="13" name="coluna-titulo-2"/>
          <p:cNvSpPr txBox="1"/>
          <p:nvPr/>
        </p:nvSpPr>
        <p:spPr>
          <a:xfrm>
            <a:off x="8478317" y="2697480"/>
            <a:ext cx="2844698" cy="91440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Connects to tools</a:t>
            </a:r>
            <a:endParaRPr lang="en-US" sz="2600" dirty="0"/>
          </a:p>
        </p:txBody>
      </p:sp>
      <p:sp>
        <p:nvSpPr>
          <p:cNvPr id="14" name="coluna-texto-2"/>
          <p:cNvSpPr txBox="1"/>
          <p:nvPr/>
        </p:nvSpPr>
        <p:spPr>
          <a:xfrm>
            <a:off x="8478317" y="3657600"/>
            <a:ext cx="2844698" cy="146304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Jira, GitHub and your memory, via MCP</a:t>
            </a:r>
            <a:endParaRPr lang="en-US" sz="20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A skill is a recipe with a name</a:t>
            </a:r>
            <a:endParaRPr lang="en-US" sz="3200" dirty="0"/>
          </a:p>
        </p:txBody>
      </p:sp>
      <p:sp>
        <p:nvSpPr>
          <p:cNvPr id="3" name="intro"/>
          <p:cNvSpPr txBox="1"/>
          <p:nvPr/>
        </p:nvSpPr>
        <p:spPr>
          <a:xfrm>
            <a:off x="548640" y="1463040"/>
            <a:ext cx="11094415" cy="54864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A SKILL.md file in a folder. You type /name and Claude follows the recipe.</a:t>
            </a:r>
            <a:endParaRPr lang="en-US" sz="2000" dirty="0"/>
          </a:p>
        </p:txBody>
      </p:sp>
      <p:sp>
        <p:nvSpPr>
          <p:cNvPr id="4" name="codigo-fundo"/>
          <p:cNvSpPr/>
          <p:nvPr/>
        </p:nvSpPr>
        <p:spPr>
          <a:xfrm>
            <a:off x="548640" y="2148840"/>
            <a:ext cx="11094415" cy="3474720"/>
          </a:xfrm>
          <a:prstGeom prst="rect">
            <a:avLst/>
          </a:prstGeom>
          <a:solidFill>
            <a:srgbClr val="140920"/>
          </a:solidFill>
          <a:ln w="12700">
            <a:solidFill>
              <a:srgbClr val="140920"/>
            </a:solidFill>
            <a:prstDash val="solid"/>
          </a:ln>
        </p:spPr>
      </p:sp>
      <p:sp>
        <p:nvSpPr>
          <p:cNvPr id="5" name="codigo"/>
          <p:cNvSpPr txBox="1"/>
          <p:nvPr/>
        </p:nvSpPr>
        <p:spPr>
          <a:xfrm>
            <a:off x="777240" y="2331720"/>
            <a:ext cx="10637215" cy="3154680"/>
          </a:xfrm>
          <a:prstGeom prst="rect">
            <a:avLst/>
          </a:prstGeom>
          <a:noFill/>
          <a:ln/>
        </p:spPr>
        <p:txBody>
          <a:bodyPr wrap="square" lIns="0" tIns="0" rIns="0" bIns="0" rtlCol="0" anchor="t"/>
          <a:lstStyle/>
          <a:p>
            <a:pPr indent="0" marL="0">
              <a:buNone/>
            </a:pPr>
            <a:r>
              <a:rPr lang="en-US" sz="1500" dirty="0">
                <a:solidFill>
                  <a:srgbClr val="FCF9FE"/>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name: demo-swarm</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description: Runs the Arena swarm in waves</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model: sonnet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allowed-tools:</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 Bash(node tools/*)</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 Agent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1. Run next-wave.mjs</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2. Launch exactly the calls it returns</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3. Repeat until ESTADO: FIM</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Answer in the participant's language.</a:t>
            </a:r>
            <a:endParaRPr lang="en-US" sz="1500" dirty="0"/>
          </a:p>
        </p:txBody>
      </p:sp>
      <p:sp>
        <p:nvSpPr>
          <p:cNvPr id="6" name="depois"/>
          <p:cNvSpPr txBox="1"/>
          <p:nvPr/>
        </p:nvSpPr>
        <p:spPr>
          <a:xfrm>
            <a:off x="548640" y="5760720"/>
            <a:ext cx="11094415" cy="50292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.claude/skills/ in the project · ~/.claude/skills/ for every project · written in English, they answer in your language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Subagents: their own context and model</a:t>
            </a:r>
            <a:endParaRPr lang="en-US" sz="3200" dirty="0"/>
          </a:p>
        </p:txBody>
      </p:sp>
      <p:sp>
        <p:nvSpPr>
          <p:cNvPr id="3" name="modelo-0"/>
          <p:cNvSpPr/>
          <p:nvPr/>
        </p:nvSpPr>
        <p:spPr>
          <a:xfrm>
            <a:off x="548640" y="1691640"/>
            <a:ext cx="3484778" cy="3749040"/>
          </a:xfrm>
          <a:prstGeom prst="rect">
            <a:avLst/>
          </a:prstGeom>
          <a:solidFill>
            <a:srgbClr val="F4EFFE"/>
          </a:solidFill>
          <a:ln w="12700">
            <a:solidFill>
              <a:srgbClr val="F4EFFE"/>
            </a:solidFill>
            <a:prstDash val="solid"/>
          </a:ln>
        </p:spPr>
      </p:sp>
      <p:sp>
        <p:nvSpPr>
          <p:cNvPr id="4" name="modelo-marca-0"/>
          <p:cNvSpPr/>
          <p:nvPr/>
        </p:nvSpPr>
        <p:spPr>
          <a:xfrm>
            <a:off x="868680" y="2011680"/>
            <a:ext cx="384048" cy="384048"/>
          </a:xfrm>
          <a:prstGeom prst="rect">
            <a:avLst/>
          </a:prstGeom>
          <a:solidFill>
            <a:srgbClr val="6B34FD"/>
          </a:solidFill>
          <a:ln w="12700">
            <a:solidFill>
              <a:srgbClr val="6B34FD"/>
            </a:solidFill>
            <a:prstDash val="solid"/>
          </a:ln>
        </p:spPr>
      </p:sp>
      <p:sp>
        <p:nvSpPr>
          <p:cNvPr id="5" name="modelo-nome-0"/>
          <p:cNvSpPr txBox="1"/>
          <p:nvPr/>
        </p:nvSpPr>
        <p:spPr>
          <a:xfrm>
            <a:off x="868680" y="2606040"/>
            <a:ext cx="2844698" cy="1005840"/>
          </a:xfrm>
          <a:prstGeom prst="rect">
            <a:avLst/>
          </a:prstGeom>
          <a:noFill/>
          <a:ln/>
        </p:spPr>
        <p:txBody>
          <a:bodyPr wrap="square" lIns="0" tIns="0" rIns="0" bIns="0" rtlCol="0" anchor="t"/>
          <a:lstStyle/>
          <a:p>
            <a:pPr indent="0" marL="0">
              <a:buNone/>
            </a:pPr>
            <a:r>
              <a:rPr lang="en-US" sz="4800" b="1" dirty="0">
                <a:solidFill>
                  <a:srgbClr val="140920"/>
                </a:solidFill>
                <a:latin typeface="Founders Grotesk Medium" pitchFamily="34" charset="0"/>
                <a:ea typeface="Founders Grotesk Medium" pitchFamily="34" charset="-122"/>
                <a:cs typeface="Founders Grotesk Medium" pitchFamily="34" charset="-120"/>
              </a:rPr>
              <a:t>Opus</a:t>
            </a:r>
            <a:endParaRPr lang="en-US" sz="4800" dirty="0"/>
          </a:p>
        </p:txBody>
      </p:sp>
      <p:sp>
        <p:nvSpPr>
          <p:cNvPr id="6" name="modelo-papel-0"/>
          <p:cNvSpPr txBox="1"/>
          <p:nvPr/>
        </p:nvSpPr>
        <p:spPr>
          <a:xfrm>
            <a:off x="868680" y="3703320"/>
            <a:ext cx="2844698" cy="8229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plan and review</a:t>
            </a:r>
            <a:endParaRPr lang="en-US" sz="2000" dirty="0"/>
          </a:p>
        </p:txBody>
      </p:sp>
      <p:sp>
        <p:nvSpPr>
          <p:cNvPr id="7" name="modelo-preco-0"/>
          <p:cNvSpPr txBox="1"/>
          <p:nvPr/>
        </p:nvSpPr>
        <p:spPr>
          <a:xfrm>
            <a:off x="868680" y="4663440"/>
            <a:ext cx="2844698" cy="457200"/>
          </a:xfrm>
          <a:prstGeom prst="rect">
            <a:avLst/>
          </a:prstGeom>
          <a:noFill/>
          <a:ln/>
        </p:spPr>
        <p:txBody>
          <a:bodyPr wrap="square" lIns="0" tIns="0" rIns="0" bIns="0" rtlCol="0" anchor="t"/>
          <a:lstStyle/>
          <a:p>
            <a:pPr indent="0" marL="0">
              <a:buNone/>
            </a:pPr>
            <a:r>
              <a:rPr lang="en-US" sz="1800" b="1" dirty="0">
                <a:solidFill>
                  <a:srgbClr val="4A405A"/>
                </a:solidFill>
                <a:latin typeface="Arial" pitchFamily="34" charset="0"/>
                <a:ea typeface="Arial" pitchFamily="34" charset="-122"/>
                <a:cs typeface="Arial" pitchFamily="34" charset="-120"/>
              </a:rPr>
              <a:t>US$ 4 / 20</a:t>
            </a:r>
            <a:endParaRPr lang="en-US" sz="1800" dirty="0"/>
          </a:p>
        </p:txBody>
      </p:sp>
      <p:sp>
        <p:nvSpPr>
          <p:cNvPr id="8" name="modelo-1"/>
          <p:cNvSpPr/>
          <p:nvPr/>
        </p:nvSpPr>
        <p:spPr>
          <a:xfrm>
            <a:off x="4353458" y="1691640"/>
            <a:ext cx="3484778" cy="3749040"/>
          </a:xfrm>
          <a:prstGeom prst="rect">
            <a:avLst/>
          </a:prstGeom>
          <a:solidFill>
            <a:srgbClr val="F4EFFE"/>
          </a:solidFill>
          <a:ln w="12700">
            <a:solidFill>
              <a:srgbClr val="F4EFFE"/>
            </a:solidFill>
            <a:prstDash val="solid"/>
          </a:ln>
        </p:spPr>
      </p:sp>
      <p:sp>
        <p:nvSpPr>
          <p:cNvPr id="9" name="modelo-marca-1"/>
          <p:cNvSpPr/>
          <p:nvPr/>
        </p:nvSpPr>
        <p:spPr>
          <a:xfrm>
            <a:off x="4673498" y="2011680"/>
            <a:ext cx="384048" cy="384048"/>
          </a:xfrm>
          <a:prstGeom prst="rect">
            <a:avLst/>
          </a:prstGeom>
          <a:solidFill>
            <a:srgbClr val="1E9E57"/>
          </a:solidFill>
          <a:ln w="12700">
            <a:solidFill>
              <a:srgbClr val="1E9E57"/>
            </a:solidFill>
            <a:prstDash val="solid"/>
          </a:ln>
        </p:spPr>
      </p:sp>
      <p:sp>
        <p:nvSpPr>
          <p:cNvPr id="10" name="modelo-nome-1"/>
          <p:cNvSpPr txBox="1"/>
          <p:nvPr/>
        </p:nvSpPr>
        <p:spPr>
          <a:xfrm>
            <a:off x="4673498" y="2606040"/>
            <a:ext cx="2844698" cy="1005840"/>
          </a:xfrm>
          <a:prstGeom prst="rect">
            <a:avLst/>
          </a:prstGeom>
          <a:noFill/>
          <a:ln/>
        </p:spPr>
        <p:txBody>
          <a:bodyPr wrap="square" lIns="0" tIns="0" rIns="0" bIns="0" rtlCol="0" anchor="t"/>
          <a:lstStyle/>
          <a:p>
            <a:pPr indent="0" marL="0">
              <a:buNone/>
            </a:pPr>
            <a:r>
              <a:rPr lang="en-US" sz="4800" b="1" dirty="0">
                <a:solidFill>
                  <a:srgbClr val="140920"/>
                </a:solidFill>
                <a:latin typeface="Founders Grotesk Medium" pitchFamily="34" charset="0"/>
                <a:ea typeface="Founders Grotesk Medium" pitchFamily="34" charset="-122"/>
                <a:cs typeface="Founders Grotesk Medium" pitchFamily="34" charset="-120"/>
              </a:rPr>
              <a:t>Sonnet</a:t>
            </a:r>
            <a:endParaRPr lang="en-US" sz="4800" dirty="0"/>
          </a:p>
        </p:txBody>
      </p:sp>
      <p:sp>
        <p:nvSpPr>
          <p:cNvPr id="11" name="modelo-papel-1"/>
          <p:cNvSpPr txBox="1"/>
          <p:nvPr/>
        </p:nvSpPr>
        <p:spPr>
          <a:xfrm>
            <a:off x="4673498" y="3703320"/>
            <a:ext cx="2844698" cy="8229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integration and hard logic</a:t>
            </a:r>
            <a:endParaRPr lang="en-US" sz="2000" dirty="0"/>
          </a:p>
        </p:txBody>
      </p:sp>
      <p:sp>
        <p:nvSpPr>
          <p:cNvPr id="12" name="modelo-preco-1"/>
          <p:cNvSpPr txBox="1"/>
          <p:nvPr/>
        </p:nvSpPr>
        <p:spPr>
          <a:xfrm>
            <a:off x="4673498" y="4663440"/>
            <a:ext cx="2844698" cy="457200"/>
          </a:xfrm>
          <a:prstGeom prst="rect">
            <a:avLst/>
          </a:prstGeom>
          <a:noFill/>
          <a:ln/>
        </p:spPr>
        <p:txBody>
          <a:bodyPr wrap="square" lIns="0" tIns="0" rIns="0" bIns="0" rtlCol="0" anchor="t"/>
          <a:lstStyle/>
          <a:p>
            <a:pPr indent="0" marL="0">
              <a:buNone/>
            </a:pPr>
            <a:r>
              <a:rPr lang="en-US" sz="1800" b="1" dirty="0">
                <a:solidFill>
                  <a:srgbClr val="4A405A"/>
                </a:solidFill>
                <a:latin typeface="Arial" pitchFamily="34" charset="0"/>
                <a:ea typeface="Arial" pitchFamily="34" charset="-122"/>
                <a:cs typeface="Arial" pitchFamily="34" charset="-120"/>
              </a:rPr>
              <a:t>US$ 2 / 10</a:t>
            </a:r>
            <a:endParaRPr lang="en-US" sz="1800" dirty="0"/>
          </a:p>
        </p:txBody>
      </p:sp>
      <p:sp>
        <p:nvSpPr>
          <p:cNvPr id="13" name="modelo-2"/>
          <p:cNvSpPr/>
          <p:nvPr/>
        </p:nvSpPr>
        <p:spPr>
          <a:xfrm>
            <a:off x="8158277" y="1691640"/>
            <a:ext cx="3484778" cy="3749040"/>
          </a:xfrm>
          <a:prstGeom prst="rect">
            <a:avLst/>
          </a:prstGeom>
          <a:solidFill>
            <a:srgbClr val="F4EFFE"/>
          </a:solidFill>
          <a:ln w="12700">
            <a:solidFill>
              <a:srgbClr val="F4EFFE"/>
            </a:solidFill>
            <a:prstDash val="solid"/>
          </a:ln>
        </p:spPr>
      </p:sp>
      <p:sp>
        <p:nvSpPr>
          <p:cNvPr id="14" name="modelo-marca-2"/>
          <p:cNvSpPr/>
          <p:nvPr/>
        </p:nvSpPr>
        <p:spPr>
          <a:xfrm>
            <a:off x="8478317" y="2011680"/>
            <a:ext cx="384048" cy="384048"/>
          </a:xfrm>
          <a:prstGeom prst="rect">
            <a:avLst/>
          </a:prstGeom>
          <a:solidFill>
            <a:srgbClr val="F1C232"/>
          </a:solidFill>
          <a:ln w="12700">
            <a:solidFill>
              <a:srgbClr val="F1C232"/>
            </a:solidFill>
            <a:prstDash val="solid"/>
          </a:ln>
        </p:spPr>
      </p:sp>
      <p:sp>
        <p:nvSpPr>
          <p:cNvPr id="15" name="modelo-nome-2"/>
          <p:cNvSpPr txBox="1"/>
          <p:nvPr/>
        </p:nvSpPr>
        <p:spPr>
          <a:xfrm>
            <a:off x="8478317" y="2606040"/>
            <a:ext cx="2844698" cy="1005840"/>
          </a:xfrm>
          <a:prstGeom prst="rect">
            <a:avLst/>
          </a:prstGeom>
          <a:noFill/>
          <a:ln/>
        </p:spPr>
        <p:txBody>
          <a:bodyPr wrap="square" lIns="0" tIns="0" rIns="0" bIns="0" rtlCol="0" anchor="t"/>
          <a:lstStyle/>
          <a:p>
            <a:pPr indent="0" marL="0">
              <a:buNone/>
            </a:pPr>
            <a:r>
              <a:rPr lang="en-US" sz="4800" b="1" dirty="0">
                <a:solidFill>
                  <a:srgbClr val="140920"/>
                </a:solidFill>
                <a:latin typeface="Founders Grotesk Medium" pitchFamily="34" charset="0"/>
                <a:ea typeface="Founders Grotesk Medium" pitchFamily="34" charset="-122"/>
                <a:cs typeface="Founders Grotesk Medium" pitchFamily="34" charset="-120"/>
              </a:rPr>
              <a:t>Haiku</a:t>
            </a:r>
            <a:endParaRPr lang="en-US" sz="4800" dirty="0"/>
          </a:p>
        </p:txBody>
      </p:sp>
      <p:sp>
        <p:nvSpPr>
          <p:cNvPr id="16" name="modelo-papel-2"/>
          <p:cNvSpPr txBox="1"/>
          <p:nvPr/>
        </p:nvSpPr>
        <p:spPr>
          <a:xfrm>
            <a:off x="8478317" y="3703320"/>
            <a:ext cx="2844698" cy="8229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the bulk of the swarm</a:t>
            </a:r>
            <a:endParaRPr lang="en-US" sz="2000" dirty="0"/>
          </a:p>
        </p:txBody>
      </p:sp>
      <p:sp>
        <p:nvSpPr>
          <p:cNvPr id="17" name="modelo-preco-2"/>
          <p:cNvSpPr txBox="1"/>
          <p:nvPr/>
        </p:nvSpPr>
        <p:spPr>
          <a:xfrm>
            <a:off x="8478317" y="4663440"/>
            <a:ext cx="2844698" cy="457200"/>
          </a:xfrm>
          <a:prstGeom prst="rect">
            <a:avLst/>
          </a:prstGeom>
          <a:noFill/>
          <a:ln/>
        </p:spPr>
        <p:txBody>
          <a:bodyPr wrap="square" lIns="0" tIns="0" rIns="0" bIns="0" rtlCol="0" anchor="t"/>
          <a:lstStyle/>
          <a:p>
            <a:pPr indent="0" marL="0">
              <a:buNone/>
            </a:pPr>
            <a:r>
              <a:rPr lang="en-US" sz="1800" b="1" dirty="0">
                <a:solidFill>
                  <a:srgbClr val="4A405A"/>
                </a:solidFill>
                <a:latin typeface="Arial" pitchFamily="34" charset="0"/>
                <a:ea typeface="Arial" pitchFamily="34" charset="-122"/>
                <a:cs typeface="Arial" pitchFamily="34" charset="-120"/>
              </a:rPr>
              <a:t>US$ 0.10 / 0.50</a:t>
            </a:r>
            <a:endParaRPr lang="en-US" sz="1800" dirty="0"/>
          </a:p>
        </p:txBody>
      </p:sp>
      <p:sp>
        <p:nvSpPr>
          <p:cNvPr id="18" name="rodape"/>
          <p:cNvSpPr txBox="1"/>
          <p:nvPr/>
        </p:nvSpPr>
        <p:spPr>
          <a:xfrm>
            <a:off x="548640" y="5669280"/>
            <a:ext cx="11094415" cy="457200"/>
          </a:xfrm>
          <a:prstGeom prst="rect">
            <a:avLst/>
          </a:prstGeom>
          <a:noFill/>
          <a:ln/>
        </p:spPr>
        <p:txBody>
          <a:bodyPr wrap="square" lIns="0" tIns="0" rIns="0" bIns="0" rtlCol="0" anchor="t"/>
          <a:lstStyle/>
          <a:p>
            <a:pPr indent="0" marL="0">
              <a:buNone/>
            </a:pPr>
            <a:r>
              <a:rPr lang="en-US" sz="1400" dirty="0">
                <a:solidFill>
                  <a:srgbClr val="4A405A"/>
                </a:solidFill>
                <a:latin typeface="Arial" pitchFamily="34" charset="0"/>
                <a:ea typeface="Arial" pitchFamily="34" charset="-122"/>
                <a:cs typeface="Arial" pitchFamily="34" charset="-120"/>
              </a:rPr>
              <a:t>Price per million tokens: input / output. Source: platform.claude.com/docs/en/about-claude/pricing (2026-10-16).</a:t>
            </a:r>
            <a:endParaRPr lang="en-US" sz="1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economic rule</a:t>
            </a:r>
            <a:endParaRPr lang="en-US" sz="3200" dirty="0"/>
          </a:p>
        </p:txBody>
      </p:sp>
      <p:sp>
        <p:nvSpPr>
          <p:cNvPr id="3" name="stat-0"/>
          <p:cNvSpPr/>
          <p:nvPr/>
        </p:nvSpPr>
        <p:spPr>
          <a:xfrm>
            <a:off x="548640" y="1737360"/>
            <a:ext cx="3484778" cy="3291840"/>
          </a:xfrm>
          <a:prstGeom prst="rect">
            <a:avLst/>
          </a:prstGeom>
          <a:solidFill>
            <a:srgbClr val="140920"/>
          </a:solidFill>
          <a:ln w="12700">
            <a:solidFill>
              <a:srgbClr val="140920"/>
            </a:solidFill>
            <a:prstDash val="solid"/>
          </a:ln>
        </p:spPr>
      </p:sp>
      <p:sp>
        <p:nvSpPr>
          <p:cNvPr id="4" name="stat-valor-0"/>
          <p:cNvSpPr txBox="1"/>
          <p:nvPr/>
        </p:nvSpPr>
        <p:spPr>
          <a:xfrm>
            <a:off x="868680"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FCF9FE"/>
                </a:solidFill>
                <a:latin typeface="Founders Grotesk Medium" pitchFamily="34" charset="0"/>
                <a:ea typeface="Founders Grotesk Medium" pitchFamily="34" charset="-122"/>
                <a:cs typeface="Founders Grotesk Medium" pitchFamily="34" charset="-120"/>
              </a:rPr>
              <a:t>20×</a:t>
            </a:r>
            <a:endParaRPr lang="en-US" sz="6000" dirty="0"/>
          </a:p>
        </p:txBody>
      </p:sp>
      <p:sp>
        <p:nvSpPr>
          <p:cNvPr id="5" name="stat-rotulo-0"/>
          <p:cNvSpPr txBox="1"/>
          <p:nvPr/>
        </p:nvSpPr>
        <p:spPr>
          <a:xfrm>
            <a:off x="868680" y="3474720"/>
            <a:ext cx="2844698" cy="1371600"/>
          </a:xfrm>
          <a:prstGeom prst="rect">
            <a:avLst/>
          </a:prstGeom>
          <a:noFill/>
          <a:ln/>
        </p:spPr>
        <p:txBody>
          <a:bodyPr wrap="square" lIns="0" tIns="0" rIns="0" bIns="0" rtlCol="0" anchor="t"/>
          <a:lstStyle/>
          <a:p>
            <a:pPr indent="0" marL="0">
              <a:buNone/>
            </a:pPr>
            <a:r>
              <a:rPr lang="en-US" sz="1800" dirty="0">
                <a:solidFill>
                  <a:srgbClr val="B9AEDB"/>
                </a:solidFill>
                <a:latin typeface="Arial" pitchFamily="34" charset="0"/>
                <a:ea typeface="Arial" pitchFamily="34" charset="-122"/>
                <a:cs typeface="Arial" pitchFamily="34" charset="-120"/>
              </a:rPr>
              <a:t>Haiku is 20 times cheaper than Sonnet</a:t>
            </a:r>
            <a:endParaRPr lang="en-US" sz="1800" dirty="0"/>
          </a:p>
        </p:txBody>
      </p:sp>
      <p:sp>
        <p:nvSpPr>
          <p:cNvPr id="6" name="stat-1"/>
          <p:cNvSpPr/>
          <p:nvPr/>
        </p:nvSpPr>
        <p:spPr>
          <a:xfrm>
            <a:off x="4353458" y="1737360"/>
            <a:ext cx="3484778" cy="3291840"/>
          </a:xfrm>
          <a:prstGeom prst="rect">
            <a:avLst/>
          </a:prstGeom>
          <a:solidFill>
            <a:srgbClr val="F4EFFE"/>
          </a:solidFill>
          <a:ln w="12700">
            <a:solidFill>
              <a:srgbClr val="F4EFFE"/>
            </a:solidFill>
            <a:prstDash val="solid"/>
          </a:ln>
        </p:spPr>
      </p:sp>
      <p:sp>
        <p:nvSpPr>
          <p:cNvPr id="7" name="stat-valor-1"/>
          <p:cNvSpPr txBox="1"/>
          <p:nvPr/>
        </p:nvSpPr>
        <p:spPr>
          <a:xfrm>
            <a:off x="4673498" y="2057400"/>
            <a:ext cx="2844698" cy="1280160"/>
          </a:xfrm>
          <a:prstGeom prst="rect">
            <a:avLst/>
          </a:prstGeom>
          <a:noFill/>
          <a:ln/>
        </p:spPr>
        <p:txBody>
          <a:bodyPr wrap="square" lIns="0" tIns="0" rIns="0" bIns="0" rtlCol="0" anchor="t">
            <a:normAutofit/>
          </a:bodyPr>
          <a:lstStyle/>
          <a:p>
            <a:pPr indent="0" marL="0">
              <a:buNone/>
            </a:pPr>
            <a:r>
              <a:rPr lang="en-US" sz="4400" b="1" dirty="0">
                <a:solidFill>
                  <a:srgbClr val="140920"/>
                </a:solidFill>
                <a:latin typeface="Founders Grotesk Medium" pitchFamily="34" charset="0"/>
                <a:ea typeface="Founders Grotesk Medium" pitchFamily="34" charset="-122"/>
                <a:cs typeface="Founders Grotesk Medium" pitchFamily="34" charset="-120"/>
              </a:rPr>
              <a:t>US$ 0.0017</a:t>
            </a:r>
            <a:endParaRPr lang="en-US" sz="4400" dirty="0"/>
          </a:p>
        </p:txBody>
      </p:sp>
      <p:sp>
        <p:nvSpPr>
          <p:cNvPr id="8" name="stat-rotulo-1"/>
          <p:cNvSpPr txBox="1"/>
          <p:nvPr/>
        </p:nvSpPr>
        <p:spPr>
          <a:xfrm>
            <a:off x="4673498"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average cost of one card built by a Haiku agent</a:t>
            </a:r>
            <a:endParaRPr lang="en-US" sz="1800" dirty="0"/>
          </a:p>
        </p:txBody>
      </p:sp>
      <p:sp>
        <p:nvSpPr>
          <p:cNvPr id="9" name="stat-2"/>
          <p:cNvSpPr/>
          <p:nvPr/>
        </p:nvSpPr>
        <p:spPr>
          <a:xfrm>
            <a:off x="8158277" y="1737360"/>
            <a:ext cx="3484778" cy="3291840"/>
          </a:xfrm>
          <a:prstGeom prst="rect">
            <a:avLst/>
          </a:prstGeom>
          <a:solidFill>
            <a:srgbClr val="F4EFFE"/>
          </a:solidFill>
          <a:ln w="12700">
            <a:solidFill>
              <a:srgbClr val="F4EFFE"/>
            </a:solidFill>
            <a:prstDash val="solid"/>
          </a:ln>
        </p:spPr>
      </p:sp>
      <p:sp>
        <p:nvSpPr>
          <p:cNvPr id="10" name="stat-valor-2"/>
          <p:cNvSpPr txBox="1"/>
          <p:nvPr/>
        </p:nvSpPr>
        <p:spPr>
          <a:xfrm>
            <a:off x="8478317"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140920"/>
                </a:solidFill>
                <a:latin typeface="Founders Grotesk Medium" pitchFamily="34" charset="0"/>
                <a:ea typeface="Founders Grotesk Medium" pitchFamily="34" charset="-122"/>
                <a:cs typeface="Founders Grotesk Medium" pitchFamily="34" charset="-120"/>
              </a:rPr>
              <a:t>50%</a:t>
            </a:r>
            <a:endParaRPr lang="en-US" sz="6000" dirty="0"/>
          </a:p>
        </p:txBody>
      </p:sp>
      <p:sp>
        <p:nvSpPr>
          <p:cNvPr id="11" name="stat-rotulo-2"/>
          <p:cNvSpPr txBox="1"/>
          <p:nvPr/>
        </p:nvSpPr>
        <p:spPr>
          <a:xfrm>
            <a:off x="8478317"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of the cost goes to the main session, not to the swarm</a:t>
            </a:r>
            <a:endParaRPr lang="en-US" sz="1800" dirty="0"/>
          </a:p>
        </p:txBody>
      </p:sp>
      <p:sp>
        <p:nvSpPr>
          <p:cNvPr id="12" name="rodape"/>
          <p:cNvSpPr txBox="1"/>
          <p:nvPr/>
        </p:nvSpPr>
        <p:spPr>
          <a:xfrm>
            <a:off x="548640" y="5349240"/>
            <a:ext cx="11094415" cy="640080"/>
          </a:xfrm>
          <a:prstGeom prst="rect">
            <a:avLst/>
          </a:prstGeom>
          <a:noFill/>
          <a:ln/>
        </p:spPr>
        <p:txBody>
          <a:bodyPr wrap="square" lIns="0" tIns="0" rIns="0" bIns="0" rtlCol="0" anchor="t"/>
          <a:lstStyle/>
          <a:p>
            <a:pPr indent="0" marL="0">
              <a:buNone/>
            </a:pPr>
            <a:r>
              <a:rPr lang="en-US" sz="1600" dirty="0">
                <a:solidFill>
                  <a:srgbClr val="140920"/>
                </a:solidFill>
                <a:latin typeface="Arial" pitchFamily="34" charset="0"/>
                <a:ea typeface="Arial" pitchFamily="34" charset="-122"/>
                <a:cs typeface="Arial" pitchFamily="34" charset="-120"/>
              </a:rPr>
              <a:t>As much as possible on Haiku. Sonnet only where Haiku fails. Opus only to think and review.</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Task → graph → waves</a:t>
            </a:r>
            <a:endParaRPr lang="en-US" sz="3200" dirty="0"/>
          </a:p>
        </p:txBody>
      </p:sp>
      <p:sp>
        <p:nvSpPr>
          <p:cNvPr id="3" name="onda-0"/>
          <p:cNvSpPr/>
          <p:nvPr/>
        </p:nvSpPr>
        <p:spPr>
          <a:xfrm>
            <a:off x="548640" y="1691640"/>
            <a:ext cx="4114800" cy="4023360"/>
          </a:xfrm>
          <a:prstGeom prst="rect">
            <a:avLst/>
          </a:prstGeom>
          <a:solidFill>
            <a:srgbClr val="F4EFFE"/>
          </a:solidFill>
          <a:ln w="12700">
            <a:solidFill>
              <a:srgbClr val="F4EFFE"/>
            </a:solidFill>
            <a:prstDash val="solid"/>
          </a:ln>
        </p:spPr>
      </p:sp>
      <p:sp>
        <p:nvSpPr>
          <p:cNvPr id="4" name="onda-nome-0"/>
          <p:cNvSpPr txBox="1"/>
          <p:nvPr/>
        </p:nvSpPr>
        <p:spPr>
          <a:xfrm>
            <a:off x="822960" y="1920240"/>
            <a:ext cx="356616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1</a:t>
            </a:r>
            <a:endParaRPr lang="en-US" sz="2400" dirty="0"/>
          </a:p>
        </p:txBody>
      </p:sp>
      <p:sp>
        <p:nvSpPr>
          <p:cNvPr id="5" name="onda-cor-0"/>
          <p:cNvSpPr/>
          <p:nvPr/>
        </p:nvSpPr>
        <p:spPr>
          <a:xfrm>
            <a:off x="822960" y="2487168"/>
            <a:ext cx="201168" cy="201168"/>
          </a:xfrm>
          <a:prstGeom prst="rect">
            <a:avLst/>
          </a:prstGeom>
          <a:solidFill>
            <a:srgbClr val="F1C232"/>
          </a:solidFill>
          <a:ln w="12700">
            <a:solidFill>
              <a:srgbClr val="F1C232"/>
            </a:solidFill>
            <a:prstDash val="solid"/>
          </a:ln>
        </p:spPr>
      </p:sp>
      <p:sp>
        <p:nvSpPr>
          <p:cNvPr id="6" name="onda-modelo-0"/>
          <p:cNvSpPr txBox="1"/>
          <p:nvPr/>
        </p:nvSpPr>
        <p:spPr>
          <a:xfrm>
            <a:off x="1115568" y="2432304"/>
            <a:ext cx="3291840" cy="320040"/>
          </a:xfrm>
          <a:prstGeom prst="rect">
            <a:avLst/>
          </a:prstGeom>
          <a:noFill/>
          <a:ln/>
        </p:spPr>
        <p:txBody>
          <a:bodyPr wrap="square" lIns="0" tIns="0" rIns="0" bIns="0" rtlCol="0" anchor="t"/>
          <a:lstStyle/>
          <a:p>
            <a:pPr indent="0" marL="0">
              <a:buNone/>
            </a:pPr>
            <a:r>
              <a:rPr lang="en-US" sz="1600" b="1" dirty="0">
                <a:solidFill>
                  <a:srgbClr val="140920"/>
                </a:solidFill>
                <a:latin typeface="Arial" pitchFamily="34" charset="0"/>
                <a:ea typeface="Arial" pitchFamily="34" charset="-122"/>
                <a:cs typeface="Arial" pitchFamily="34" charset="-120"/>
              </a:rPr>
              <a:t>Haiku</a:t>
            </a:r>
            <a:endParaRPr lang="en-US" sz="1600" dirty="0"/>
          </a:p>
        </p:txBody>
      </p:sp>
      <p:sp>
        <p:nvSpPr>
          <p:cNvPr id="7" name="onda-sub-0"/>
          <p:cNvSpPr txBox="1"/>
          <p:nvPr/>
        </p:nvSpPr>
        <p:spPr>
          <a:xfrm>
            <a:off x="822960" y="2834640"/>
            <a:ext cx="356616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lib-hash and 15 cards</a:t>
            </a:r>
            <a:endParaRPr lang="en-US" sz="1500" dirty="0"/>
          </a:p>
        </p:txBody>
      </p:sp>
      <p:sp>
        <p:nvSpPr>
          <p:cNvPr id="8" name="hash"/>
          <p:cNvSpPr/>
          <p:nvPr/>
        </p:nvSpPr>
        <p:spPr>
          <a:xfrm>
            <a:off x="822960" y="3474720"/>
            <a:ext cx="411480" cy="411480"/>
          </a:xfrm>
          <a:prstGeom prst="rect">
            <a:avLst/>
          </a:prstGeom>
          <a:solidFill>
            <a:srgbClr val="6B34FD"/>
          </a:solidFill>
          <a:ln w="12700">
            <a:solidFill>
              <a:srgbClr val="6B34FD"/>
            </a:solidFill>
            <a:prstDash val="solid"/>
          </a:ln>
        </p:spPr>
      </p:sp>
      <p:sp>
        <p:nvSpPr>
          <p:cNvPr id="9" name="hash-rotulo"/>
          <p:cNvSpPr txBox="1"/>
          <p:nvPr/>
        </p:nvSpPr>
        <p:spPr>
          <a:xfrm>
            <a:off x="1325880" y="3547872"/>
            <a:ext cx="1463040" cy="320040"/>
          </a:xfrm>
          <a:prstGeom prst="rect">
            <a:avLst/>
          </a:prstGeom>
          <a:noFill/>
          <a:ln/>
        </p:spPr>
        <p:txBody>
          <a:bodyPr wrap="square" lIns="0" tIns="0" rIns="0" bIns="0" rtlCol="0" anchor="t"/>
          <a:lstStyle/>
          <a:p>
            <a:pPr indent="0" marL="0">
              <a:buNone/>
            </a:pPr>
            <a:r>
              <a:rPr lang="en-US" sz="1400" b="1" dirty="0">
                <a:solidFill>
                  <a:srgbClr val="140920"/>
                </a:solidFill>
                <a:latin typeface="Arial" pitchFamily="34" charset="0"/>
                <a:ea typeface="Arial" pitchFamily="34" charset="-122"/>
                <a:cs typeface="Arial" pitchFamily="34" charset="-120"/>
              </a:rPr>
              <a:t>lib-hash</a:t>
            </a:r>
            <a:endParaRPr lang="en-US" sz="1400" dirty="0"/>
          </a:p>
        </p:txBody>
      </p:sp>
      <p:sp>
        <p:nvSpPr>
          <p:cNvPr id="10" name="cartao-0"/>
          <p:cNvSpPr/>
          <p:nvPr/>
        </p:nvSpPr>
        <p:spPr>
          <a:xfrm>
            <a:off x="822960" y="4069080"/>
            <a:ext cx="384048" cy="384048"/>
          </a:xfrm>
          <a:prstGeom prst="rect">
            <a:avLst/>
          </a:prstGeom>
          <a:solidFill>
            <a:srgbClr val="1E9E57"/>
          </a:solidFill>
          <a:ln w="12700">
            <a:solidFill>
              <a:srgbClr val="1E9E57"/>
            </a:solidFill>
            <a:prstDash val="solid"/>
          </a:ln>
        </p:spPr>
      </p:sp>
      <p:sp>
        <p:nvSpPr>
          <p:cNvPr id="11" name="cartao-1"/>
          <p:cNvSpPr/>
          <p:nvPr/>
        </p:nvSpPr>
        <p:spPr>
          <a:xfrm>
            <a:off x="1426464" y="4069080"/>
            <a:ext cx="384048" cy="384048"/>
          </a:xfrm>
          <a:prstGeom prst="rect">
            <a:avLst/>
          </a:prstGeom>
          <a:solidFill>
            <a:srgbClr val="F1C232"/>
          </a:solidFill>
          <a:ln w="12700">
            <a:solidFill>
              <a:srgbClr val="F1C232"/>
            </a:solidFill>
            <a:prstDash val="solid"/>
          </a:ln>
        </p:spPr>
      </p:sp>
      <p:sp>
        <p:nvSpPr>
          <p:cNvPr id="12" name="cartao-2"/>
          <p:cNvSpPr/>
          <p:nvPr/>
        </p:nvSpPr>
        <p:spPr>
          <a:xfrm>
            <a:off x="2029968" y="4069080"/>
            <a:ext cx="384048" cy="384048"/>
          </a:xfrm>
          <a:prstGeom prst="rect">
            <a:avLst/>
          </a:prstGeom>
          <a:solidFill>
            <a:srgbClr val="1E9E57"/>
          </a:solidFill>
          <a:ln w="12700">
            <a:solidFill>
              <a:srgbClr val="1E9E57"/>
            </a:solidFill>
            <a:prstDash val="solid"/>
          </a:ln>
        </p:spPr>
      </p:sp>
      <p:sp>
        <p:nvSpPr>
          <p:cNvPr id="13" name="cartao-3"/>
          <p:cNvSpPr/>
          <p:nvPr/>
        </p:nvSpPr>
        <p:spPr>
          <a:xfrm>
            <a:off x="2633472" y="4069080"/>
            <a:ext cx="384048" cy="384048"/>
          </a:xfrm>
          <a:prstGeom prst="rect">
            <a:avLst/>
          </a:prstGeom>
          <a:solidFill>
            <a:srgbClr val="1E9E57"/>
          </a:solidFill>
          <a:ln w="12700">
            <a:solidFill>
              <a:srgbClr val="1E9E57"/>
            </a:solidFill>
            <a:prstDash val="solid"/>
          </a:ln>
        </p:spPr>
      </p:sp>
      <p:sp>
        <p:nvSpPr>
          <p:cNvPr id="14" name="cartao-4"/>
          <p:cNvSpPr/>
          <p:nvPr/>
        </p:nvSpPr>
        <p:spPr>
          <a:xfrm>
            <a:off x="3236976" y="4069080"/>
            <a:ext cx="384048" cy="384048"/>
          </a:xfrm>
          <a:prstGeom prst="rect">
            <a:avLst/>
          </a:prstGeom>
          <a:solidFill>
            <a:srgbClr val="1E9E57"/>
          </a:solidFill>
          <a:ln w="12700">
            <a:solidFill>
              <a:srgbClr val="1E9E57"/>
            </a:solidFill>
            <a:prstDash val="solid"/>
          </a:ln>
        </p:spPr>
      </p:sp>
      <p:sp>
        <p:nvSpPr>
          <p:cNvPr id="15" name="cartao-5"/>
          <p:cNvSpPr/>
          <p:nvPr/>
        </p:nvSpPr>
        <p:spPr>
          <a:xfrm>
            <a:off x="822960" y="4526280"/>
            <a:ext cx="384048" cy="384048"/>
          </a:xfrm>
          <a:prstGeom prst="rect">
            <a:avLst/>
          </a:prstGeom>
          <a:solidFill>
            <a:srgbClr val="1E9E57"/>
          </a:solidFill>
          <a:ln w="12700">
            <a:solidFill>
              <a:srgbClr val="1E9E57"/>
            </a:solidFill>
            <a:prstDash val="solid"/>
          </a:ln>
        </p:spPr>
      </p:sp>
      <p:sp>
        <p:nvSpPr>
          <p:cNvPr id="16" name="cartao-6"/>
          <p:cNvSpPr/>
          <p:nvPr/>
        </p:nvSpPr>
        <p:spPr>
          <a:xfrm>
            <a:off x="1426464" y="4526280"/>
            <a:ext cx="384048" cy="384048"/>
          </a:xfrm>
          <a:prstGeom prst="rect">
            <a:avLst/>
          </a:prstGeom>
          <a:solidFill>
            <a:srgbClr val="F1C232"/>
          </a:solidFill>
          <a:ln w="12700">
            <a:solidFill>
              <a:srgbClr val="F1C232"/>
            </a:solidFill>
            <a:prstDash val="solid"/>
          </a:ln>
        </p:spPr>
      </p:sp>
      <p:sp>
        <p:nvSpPr>
          <p:cNvPr id="17" name="cartao-7"/>
          <p:cNvSpPr/>
          <p:nvPr/>
        </p:nvSpPr>
        <p:spPr>
          <a:xfrm>
            <a:off x="2029968" y="4526280"/>
            <a:ext cx="384048" cy="384048"/>
          </a:xfrm>
          <a:prstGeom prst="rect">
            <a:avLst/>
          </a:prstGeom>
          <a:solidFill>
            <a:srgbClr val="1E9E57"/>
          </a:solidFill>
          <a:ln w="12700">
            <a:solidFill>
              <a:srgbClr val="1E9E57"/>
            </a:solidFill>
            <a:prstDash val="solid"/>
          </a:ln>
        </p:spPr>
      </p:sp>
      <p:sp>
        <p:nvSpPr>
          <p:cNvPr id="18" name="cartao-8"/>
          <p:cNvSpPr/>
          <p:nvPr/>
        </p:nvSpPr>
        <p:spPr>
          <a:xfrm>
            <a:off x="2633472" y="4526280"/>
            <a:ext cx="384048" cy="384048"/>
          </a:xfrm>
          <a:prstGeom prst="rect">
            <a:avLst/>
          </a:prstGeom>
          <a:solidFill>
            <a:srgbClr val="1E9E57"/>
          </a:solidFill>
          <a:ln w="12700">
            <a:solidFill>
              <a:srgbClr val="1E9E57"/>
            </a:solidFill>
            <a:prstDash val="solid"/>
          </a:ln>
        </p:spPr>
      </p:sp>
      <p:sp>
        <p:nvSpPr>
          <p:cNvPr id="19" name="cartao-9"/>
          <p:cNvSpPr/>
          <p:nvPr/>
        </p:nvSpPr>
        <p:spPr>
          <a:xfrm>
            <a:off x="3236976" y="4526280"/>
            <a:ext cx="384048" cy="384048"/>
          </a:xfrm>
          <a:prstGeom prst="rect">
            <a:avLst/>
          </a:prstGeom>
          <a:solidFill>
            <a:srgbClr val="1E9E57"/>
          </a:solidFill>
          <a:ln w="12700">
            <a:solidFill>
              <a:srgbClr val="1E9E57"/>
            </a:solidFill>
            <a:prstDash val="solid"/>
          </a:ln>
        </p:spPr>
      </p:sp>
      <p:sp>
        <p:nvSpPr>
          <p:cNvPr id="20" name="cartao-10"/>
          <p:cNvSpPr/>
          <p:nvPr/>
        </p:nvSpPr>
        <p:spPr>
          <a:xfrm>
            <a:off x="822960" y="4983480"/>
            <a:ext cx="384048" cy="384048"/>
          </a:xfrm>
          <a:prstGeom prst="rect">
            <a:avLst/>
          </a:prstGeom>
          <a:solidFill>
            <a:srgbClr val="1E9E57"/>
          </a:solidFill>
          <a:ln w="12700">
            <a:solidFill>
              <a:srgbClr val="1E9E57"/>
            </a:solidFill>
            <a:prstDash val="solid"/>
          </a:ln>
        </p:spPr>
      </p:sp>
      <p:sp>
        <p:nvSpPr>
          <p:cNvPr id="21" name="cartao-11"/>
          <p:cNvSpPr/>
          <p:nvPr/>
        </p:nvSpPr>
        <p:spPr>
          <a:xfrm>
            <a:off x="1426464" y="4983480"/>
            <a:ext cx="384048" cy="384048"/>
          </a:xfrm>
          <a:prstGeom prst="rect">
            <a:avLst/>
          </a:prstGeom>
          <a:solidFill>
            <a:srgbClr val="F1C232"/>
          </a:solidFill>
          <a:ln w="12700">
            <a:solidFill>
              <a:srgbClr val="F1C232"/>
            </a:solidFill>
            <a:prstDash val="solid"/>
          </a:ln>
        </p:spPr>
      </p:sp>
      <p:sp>
        <p:nvSpPr>
          <p:cNvPr id="22" name="cartao-12"/>
          <p:cNvSpPr/>
          <p:nvPr/>
        </p:nvSpPr>
        <p:spPr>
          <a:xfrm>
            <a:off x="2029968" y="4983480"/>
            <a:ext cx="384048" cy="384048"/>
          </a:xfrm>
          <a:prstGeom prst="rect">
            <a:avLst/>
          </a:prstGeom>
          <a:solidFill>
            <a:srgbClr val="C4C7C1"/>
          </a:solidFill>
          <a:ln w="12700">
            <a:solidFill>
              <a:srgbClr val="C4C7C1"/>
            </a:solidFill>
            <a:prstDash val="solid"/>
          </a:ln>
        </p:spPr>
      </p:sp>
      <p:sp>
        <p:nvSpPr>
          <p:cNvPr id="23" name="cartao-13"/>
          <p:cNvSpPr/>
          <p:nvPr/>
        </p:nvSpPr>
        <p:spPr>
          <a:xfrm>
            <a:off x="2633472" y="4983480"/>
            <a:ext cx="384048" cy="384048"/>
          </a:xfrm>
          <a:prstGeom prst="rect">
            <a:avLst/>
          </a:prstGeom>
          <a:solidFill>
            <a:srgbClr val="C4C7C1"/>
          </a:solidFill>
          <a:ln w="12700">
            <a:solidFill>
              <a:srgbClr val="C4C7C1"/>
            </a:solidFill>
            <a:prstDash val="solid"/>
          </a:ln>
        </p:spPr>
      </p:sp>
      <p:sp>
        <p:nvSpPr>
          <p:cNvPr id="24" name="cartao-14"/>
          <p:cNvSpPr/>
          <p:nvPr/>
        </p:nvSpPr>
        <p:spPr>
          <a:xfrm>
            <a:off x="3236976" y="4983480"/>
            <a:ext cx="384048" cy="384048"/>
          </a:xfrm>
          <a:prstGeom prst="rect">
            <a:avLst/>
          </a:prstGeom>
          <a:solidFill>
            <a:srgbClr val="C4C7C1"/>
          </a:solidFill>
          <a:ln w="12700">
            <a:solidFill>
              <a:srgbClr val="C4C7C1"/>
            </a:solidFill>
            <a:prstDash val="solid"/>
          </a:ln>
        </p:spPr>
      </p:sp>
      <p:sp>
        <p:nvSpPr>
          <p:cNvPr id="25" name="seta-0"/>
          <p:cNvSpPr/>
          <p:nvPr/>
        </p:nvSpPr>
        <p:spPr>
          <a:xfrm>
            <a:off x="4718304" y="3703320"/>
            <a:ext cx="22250" cy="0"/>
          </a:xfrm>
          <a:prstGeom prst="line">
            <a:avLst/>
          </a:prstGeom>
          <a:noFill/>
          <a:ln w="31750">
            <a:solidFill>
              <a:srgbClr val="140920"/>
            </a:solidFill>
            <a:prstDash val="solid"/>
            <a:tailEnd type="triangle"/>
          </a:ln>
        </p:spPr>
      </p:sp>
      <p:sp>
        <p:nvSpPr>
          <p:cNvPr id="26" name="onda-1"/>
          <p:cNvSpPr/>
          <p:nvPr/>
        </p:nvSpPr>
        <p:spPr>
          <a:xfrm>
            <a:off x="4795418" y="1691640"/>
            <a:ext cx="2194560" cy="4023360"/>
          </a:xfrm>
          <a:prstGeom prst="rect">
            <a:avLst/>
          </a:prstGeom>
          <a:solidFill>
            <a:srgbClr val="F4EFFE"/>
          </a:solidFill>
          <a:ln w="12700">
            <a:solidFill>
              <a:srgbClr val="F4EFFE"/>
            </a:solidFill>
            <a:prstDash val="solid"/>
          </a:ln>
        </p:spPr>
      </p:sp>
      <p:sp>
        <p:nvSpPr>
          <p:cNvPr id="27" name="onda-nome-1"/>
          <p:cNvSpPr txBox="1"/>
          <p:nvPr/>
        </p:nvSpPr>
        <p:spPr>
          <a:xfrm>
            <a:off x="5069738" y="1920240"/>
            <a:ext cx="164592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2</a:t>
            </a:r>
            <a:endParaRPr lang="en-US" sz="2400" dirty="0"/>
          </a:p>
        </p:txBody>
      </p:sp>
      <p:sp>
        <p:nvSpPr>
          <p:cNvPr id="28" name="onda-cor-1"/>
          <p:cNvSpPr/>
          <p:nvPr/>
        </p:nvSpPr>
        <p:spPr>
          <a:xfrm>
            <a:off x="5069738" y="2487168"/>
            <a:ext cx="201168" cy="201168"/>
          </a:xfrm>
          <a:prstGeom prst="rect">
            <a:avLst/>
          </a:prstGeom>
          <a:solidFill>
            <a:srgbClr val="1E9E57"/>
          </a:solidFill>
          <a:ln w="12700">
            <a:solidFill>
              <a:srgbClr val="1E9E57"/>
            </a:solidFill>
            <a:prstDash val="solid"/>
          </a:ln>
        </p:spPr>
      </p:sp>
      <p:sp>
        <p:nvSpPr>
          <p:cNvPr id="29" name="onda-modelo-1"/>
          <p:cNvSpPr txBox="1"/>
          <p:nvPr/>
        </p:nvSpPr>
        <p:spPr>
          <a:xfrm>
            <a:off x="5362346" y="2432304"/>
            <a:ext cx="1371600" cy="320040"/>
          </a:xfrm>
          <a:prstGeom prst="rect">
            <a:avLst/>
          </a:prstGeom>
          <a:noFill/>
          <a:ln/>
        </p:spPr>
        <p:txBody>
          <a:bodyPr wrap="square" lIns="0" tIns="0" rIns="0" bIns="0" rtlCol="0" anchor="t"/>
          <a:lstStyle/>
          <a:p>
            <a:pPr indent="0" marL="0">
              <a:buNone/>
            </a:pPr>
            <a:r>
              <a:rPr lang="en-US" sz="1600" b="1" dirty="0">
                <a:solidFill>
                  <a:srgbClr val="140920"/>
                </a:solidFill>
                <a:latin typeface="Arial" pitchFamily="34" charset="0"/>
                <a:ea typeface="Arial" pitchFamily="34" charset="-122"/>
                <a:cs typeface="Arial" pitchFamily="34" charset="-120"/>
              </a:rPr>
              <a:t>Sonnet</a:t>
            </a:r>
            <a:endParaRPr lang="en-US" sz="1600" dirty="0"/>
          </a:p>
        </p:txBody>
      </p:sp>
      <p:sp>
        <p:nvSpPr>
          <p:cNvPr id="30" name="onda-sub-1"/>
          <p:cNvSpPr txBox="1"/>
          <p:nvPr/>
        </p:nvSpPr>
        <p:spPr>
          <a:xfrm>
            <a:off x="5069738" y="2834640"/>
            <a:ext cx="164592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categories and scoring</a:t>
            </a:r>
            <a:endParaRPr lang="en-US" sz="1500" dirty="0"/>
          </a:p>
        </p:txBody>
      </p:sp>
      <p:sp>
        <p:nvSpPr>
          <p:cNvPr id="31" name="onda1-0"/>
          <p:cNvSpPr/>
          <p:nvPr/>
        </p:nvSpPr>
        <p:spPr>
          <a:xfrm>
            <a:off x="5069738" y="3474720"/>
            <a:ext cx="502920" cy="502920"/>
          </a:xfrm>
          <a:prstGeom prst="rect">
            <a:avLst/>
          </a:prstGeom>
          <a:solidFill>
            <a:srgbClr val="C4C7C1"/>
          </a:solidFill>
          <a:ln w="12700">
            <a:solidFill>
              <a:srgbClr val="C4C7C1"/>
            </a:solidFill>
            <a:prstDash val="solid"/>
          </a:ln>
        </p:spPr>
      </p:sp>
      <p:sp>
        <p:nvSpPr>
          <p:cNvPr id="32" name="onda1-1"/>
          <p:cNvSpPr/>
          <p:nvPr/>
        </p:nvSpPr>
        <p:spPr>
          <a:xfrm>
            <a:off x="5709818" y="3474720"/>
            <a:ext cx="502920" cy="502920"/>
          </a:xfrm>
          <a:prstGeom prst="rect">
            <a:avLst/>
          </a:prstGeom>
          <a:solidFill>
            <a:srgbClr val="C4C7C1"/>
          </a:solidFill>
          <a:ln w="12700">
            <a:solidFill>
              <a:srgbClr val="C4C7C1"/>
            </a:solidFill>
            <a:prstDash val="solid"/>
          </a:ln>
        </p:spPr>
      </p:sp>
      <p:sp>
        <p:nvSpPr>
          <p:cNvPr id="33" name="seta-1"/>
          <p:cNvSpPr/>
          <p:nvPr/>
        </p:nvSpPr>
        <p:spPr>
          <a:xfrm>
            <a:off x="7044842" y="3703320"/>
            <a:ext cx="22250" cy="0"/>
          </a:xfrm>
          <a:prstGeom prst="line">
            <a:avLst/>
          </a:prstGeom>
          <a:noFill/>
          <a:ln w="31750">
            <a:solidFill>
              <a:srgbClr val="140920"/>
            </a:solidFill>
            <a:prstDash val="solid"/>
            <a:tailEnd type="triangle"/>
          </a:ln>
        </p:spPr>
      </p:sp>
      <p:sp>
        <p:nvSpPr>
          <p:cNvPr id="34" name="onda-2"/>
          <p:cNvSpPr/>
          <p:nvPr/>
        </p:nvSpPr>
        <p:spPr>
          <a:xfrm>
            <a:off x="7121957" y="1691640"/>
            <a:ext cx="2194560" cy="4023360"/>
          </a:xfrm>
          <a:prstGeom prst="rect">
            <a:avLst/>
          </a:prstGeom>
          <a:solidFill>
            <a:srgbClr val="F4EFFE"/>
          </a:solidFill>
          <a:ln w="12700">
            <a:solidFill>
              <a:srgbClr val="F4EFFE"/>
            </a:solidFill>
            <a:prstDash val="solid"/>
          </a:ln>
        </p:spPr>
      </p:sp>
      <p:sp>
        <p:nvSpPr>
          <p:cNvPr id="35" name="onda-nome-2"/>
          <p:cNvSpPr txBox="1"/>
          <p:nvPr/>
        </p:nvSpPr>
        <p:spPr>
          <a:xfrm>
            <a:off x="7396277" y="1920240"/>
            <a:ext cx="164592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3</a:t>
            </a:r>
            <a:endParaRPr lang="en-US" sz="2400" dirty="0"/>
          </a:p>
        </p:txBody>
      </p:sp>
      <p:sp>
        <p:nvSpPr>
          <p:cNvPr id="36" name="onda-cor-2"/>
          <p:cNvSpPr/>
          <p:nvPr/>
        </p:nvSpPr>
        <p:spPr>
          <a:xfrm>
            <a:off x="7396277" y="2487168"/>
            <a:ext cx="201168" cy="201168"/>
          </a:xfrm>
          <a:prstGeom prst="rect">
            <a:avLst/>
          </a:prstGeom>
          <a:solidFill>
            <a:srgbClr val="1E9E57"/>
          </a:solidFill>
          <a:ln w="12700">
            <a:solidFill>
              <a:srgbClr val="1E9E57"/>
            </a:solidFill>
            <a:prstDash val="solid"/>
          </a:ln>
        </p:spPr>
      </p:sp>
      <p:sp>
        <p:nvSpPr>
          <p:cNvPr id="37" name="onda-modelo-2"/>
          <p:cNvSpPr txBox="1"/>
          <p:nvPr/>
        </p:nvSpPr>
        <p:spPr>
          <a:xfrm>
            <a:off x="7688885" y="2432304"/>
            <a:ext cx="1371600" cy="320040"/>
          </a:xfrm>
          <a:prstGeom prst="rect">
            <a:avLst/>
          </a:prstGeom>
          <a:noFill/>
          <a:ln/>
        </p:spPr>
        <p:txBody>
          <a:bodyPr wrap="square" lIns="0" tIns="0" rIns="0" bIns="0" rtlCol="0" anchor="t"/>
          <a:lstStyle/>
          <a:p>
            <a:pPr indent="0" marL="0">
              <a:buNone/>
            </a:pPr>
            <a:r>
              <a:rPr lang="en-US" sz="1600" b="1" dirty="0">
                <a:solidFill>
                  <a:srgbClr val="140920"/>
                </a:solidFill>
                <a:latin typeface="Arial" pitchFamily="34" charset="0"/>
                <a:ea typeface="Arial" pitchFamily="34" charset="-122"/>
                <a:cs typeface="Arial" pitchFamily="34" charset="-120"/>
              </a:rPr>
              <a:t>Sonnet</a:t>
            </a:r>
            <a:endParaRPr lang="en-US" sz="1600" dirty="0"/>
          </a:p>
        </p:txBody>
      </p:sp>
      <p:sp>
        <p:nvSpPr>
          <p:cNvPr id="38" name="onda-sub-2"/>
          <p:cNvSpPr txBox="1"/>
          <p:nvPr/>
        </p:nvSpPr>
        <p:spPr>
          <a:xfrm>
            <a:off x="7396277" y="2834640"/>
            <a:ext cx="164592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integration and suite</a:t>
            </a:r>
            <a:endParaRPr lang="en-US" sz="1500" dirty="0"/>
          </a:p>
        </p:txBody>
      </p:sp>
      <p:sp>
        <p:nvSpPr>
          <p:cNvPr id="39" name="onda2-0"/>
          <p:cNvSpPr/>
          <p:nvPr/>
        </p:nvSpPr>
        <p:spPr>
          <a:xfrm>
            <a:off x="7396277" y="3474720"/>
            <a:ext cx="502920" cy="502920"/>
          </a:xfrm>
          <a:prstGeom prst="rect">
            <a:avLst/>
          </a:prstGeom>
          <a:solidFill>
            <a:srgbClr val="C4C7C1"/>
          </a:solidFill>
          <a:ln w="12700">
            <a:solidFill>
              <a:srgbClr val="C4C7C1"/>
            </a:solidFill>
            <a:prstDash val="solid"/>
          </a:ln>
        </p:spPr>
      </p:sp>
      <p:sp>
        <p:nvSpPr>
          <p:cNvPr id="40" name="seta-2"/>
          <p:cNvSpPr/>
          <p:nvPr/>
        </p:nvSpPr>
        <p:spPr>
          <a:xfrm>
            <a:off x="9371381" y="3703320"/>
            <a:ext cx="22250" cy="0"/>
          </a:xfrm>
          <a:prstGeom prst="line">
            <a:avLst/>
          </a:prstGeom>
          <a:noFill/>
          <a:ln w="31750">
            <a:solidFill>
              <a:srgbClr val="140920"/>
            </a:solidFill>
            <a:prstDash val="solid"/>
            <a:tailEnd type="triangle"/>
          </a:ln>
        </p:spPr>
      </p:sp>
      <p:sp>
        <p:nvSpPr>
          <p:cNvPr id="41" name="onda-3"/>
          <p:cNvSpPr/>
          <p:nvPr/>
        </p:nvSpPr>
        <p:spPr>
          <a:xfrm>
            <a:off x="9448495" y="1691640"/>
            <a:ext cx="2194560" cy="4023360"/>
          </a:xfrm>
          <a:prstGeom prst="rect">
            <a:avLst/>
          </a:prstGeom>
          <a:solidFill>
            <a:srgbClr val="F4EFFE"/>
          </a:solidFill>
          <a:ln w="12700">
            <a:solidFill>
              <a:srgbClr val="F4EFFE"/>
            </a:solidFill>
            <a:prstDash val="solid"/>
          </a:ln>
        </p:spPr>
      </p:sp>
      <p:sp>
        <p:nvSpPr>
          <p:cNvPr id="42" name="onda-nome-3"/>
          <p:cNvSpPr txBox="1"/>
          <p:nvPr/>
        </p:nvSpPr>
        <p:spPr>
          <a:xfrm>
            <a:off x="9722815" y="1920240"/>
            <a:ext cx="164592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4</a:t>
            </a:r>
            <a:endParaRPr lang="en-US" sz="2400" dirty="0"/>
          </a:p>
        </p:txBody>
      </p:sp>
      <p:sp>
        <p:nvSpPr>
          <p:cNvPr id="43" name="onda-cor-3"/>
          <p:cNvSpPr/>
          <p:nvPr/>
        </p:nvSpPr>
        <p:spPr>
          <a:xfrm>
            <a:off x="9722815" y="2487168"/>
            <a:ext cx="201168" cy="201168"/>
          </a:xfrm>
          <a:prstGeom prst="rect">
            <a:avLst/>
          </a:prstGeom>
          <a:solidFill>
            <a:srgbClr val="6B34FD"/>
          </a:solidFill>
          <a:ln w="12700">
            <a:solidFill>
              <a:srgbClr val="6B34FD"/>
            </a:solidFill>
            <a:prstDash val="solid"/>
          </a:ln>
        </p:spPr>
      </p:sp>
      <p:sp>
        <p:nvSpPr>
          <p:cNvPr id="44" name="onda-modelo-3"/>
          <p:cNvSpPr txBox="1"/>
          <p:nvPr/>
        </p:nvSpPr>
        <p:spPr>
          <a:xfrm>
            <a:off x="10015423" y="2432304"/>
            <a:ext cx="1371600" cy="320040"/>
          </a:xfrm>
          <a:prstGeom prst="rect">
            <a:avLst/>
          </a:prstGeom>
          <a:noFill/>
          <a:ln/>
        </p:spPr>
        <p:txBody>
          <a:bodyPr wrap="square" lIns="0" tIns="0" rIns="0" bIns="0" rtlCol="0" anchor="t"/>
          <a:lstStyle/>
          <a:p>
            <a:pPr indent="0" marL="0">
              <a:buNone/>
            </a:pPr>
            <a:r>
              <a:rPr lang="en-US" sz="1600" b="1" dirty="0">
                <a:solidFill>
                  <a:srgbClr val="140920"/>
                </a:solidFill>
                <a:latin typeface="Arial" pitchFamily="34" charset="0"/>
                <a:ea typeface="Arial" pitchFamily="34" charset="-122"/>
                <a:cs typeface="Arial" pitchFamily="34" charset="-120"/>
              </a:rPr>
              <a:t>Opus</a:t>
            </a:r>
            <a:endParaRPr lang="en-US" sz="1600" dirty="0"/>
          </a:p>
        </p:txBody>
      </p:sp>
      <p:sp>
        <p:nvSpPr>
          <p:cNvPr id="45" name="onda-sub-3"/>
          <p:cNvSpPr txBox="1"/>
          <p:nvPr/>
        </p:nvSpPr>
        <p:spPr>
          <a:xfrm>
            <a:off x="9722815" y="2834640"/>
            <a:ext cx="164592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review and verdict</a:t>
            </a:r>
            <a:endParaRPr lang="en-US" sz="1500" dirty="0"/>
          </a:p>
        </p:txBody>
      </p:sp>
      <p:sp>
        <p:nvSpPr>
          <p:cNvPr id="46" name="onda3-0"/>
          <p:cNvSpPr/>
          <p:nvPr/>
        </p:nvSpPr>
        <p:spPr>
          <a:xfrm>
            <a:off x="9722815" y="3474720"/>
            <a:ext cx="502920" cy="502920"/>
          </a:xfrm>
          <a:prstGeom prst="rect">
            <a:avLst/>
          </a:prstGeom>
          <a:solidFill>
            <a:srgbClr val="C4C7C1"/>
          </a:solidFill>
          <a:ln w="12700">
            <a:solidFill>
              <a:srgbClr val="C4C7C1"/>
            </a:solidFill>
            <a:prstDash val="solid"/>
          </a:ln>
        </p:spPr>
      </p:sp>
      <p:sp>
        <p:nvSpPr>
          <p:cNvPr id="47" name="legenda-dag"/>
          <p:cNvSpPr txBox="1"/>
          <p:nvPr/>
        </p:nvSpPr>
        <p:spPr>
          <a:xfrm>
            <a:off x="548640" y="5852160"/>
            <a:ext cx="11094415" cy="36576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Grey: waiting. The 3 cryptography cards start when lib-hash turns green.</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A script decides the graph</a:t>
            </a:r>
            <a:endParaRPr lang="en-US" sz="3200" dirty="0"/>
          </a:p>
        </p:txBody>
      </p:sp>
      <p:sp>
        <p:nvSpPr>
          <p:cNvPr id="3" name="coluna-0"/>
          <p:cNvSpPr/>
          <p:nvPr/>
        </p:nvSpPr>
        <p:spPr>
          <a:xfrm>
            <a:off x="548640" y="1691640"/>
            <a:ext cx="3484778" cy="3566160"/>
          </a:xfrm>
          <a:prstGeom prst="rect">
            <a:avLst/>
          </a:prstGeom>
          <a:solidFill>
            <a:srgbClr val="F4EFFE"/>
          </a:solidFill>
          <a:ln w="12700">
            <a:solidFill>
              <a:srgbClr val="F4EFFE"/>
            </a:solidFill>
            <a:prstDash val="solid"/>
          </a:ln>
        </p:spPr>
      </p:sp>
      <p:sp>
        <p:nvSpPr>
          <p:cNvPr id="4" name="marca-0"/>
          <p:cNvSpPr/>
          <p:nvPr/>
        </p:nvSpPr>
        <p:spPr>
          <a:xfrm>
            <a:off x="868680" y="2011680"/>
            <a:ext cx="384048" cy="384048"/>
          </a:xfrm>
          <a:prstGeom prst="rect">
            <a:avLst/>
          </a:prstGeom>
          <a:solidFill>
            <a:srgbClr val="6B34FD"/>
          </a:solidFill>
          <a:ln w="12700">
            <a:solidFill>
              <a:srgbClr val="6B34FD"/>
            </a:solidFill>
            <a:prstDash val="solid"/>
          </a:ln>
        </p:spPr>
      </p:sp>
      <p:sp>
        <p:nvSpPr>
          <p:cNvPr id="5" name="coluna-titulo-0"/>
          <p:cNvSpPr txBox="1"/>
          <p:nvPr/>
        </p:nvSpPr>
        <p:spPr>
          <a:xfrm>
            <a:off x="868680" y="2697480"/>
            <a:ext cx="2844698" cy="91440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next-wave.mjs</a:t>
            </a:r>
            <a:endParaRPr lang="en-US" sz="2600" dirty="0"/>
          </a:p>
        </p:txBody>
      </p:sp>
      <p:sp>
        <p:nvSpPr>
          <p:cNvPr id="6" name="coluna-texto-0"/>
          <p:cNvSpPr txBox="1"/>
          <p:nvPr/>
        </p:nvSpPr>
        <p:spPr>
          <a:xfrm>
            <a:off x="868680" y="3657600"/>
            <a:ext cx="2844698" cy="146304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reads the plan and the state and returns the next batch of calls</a:t>
            </a:r>
            <a:endParaRPr lang="en-US" sz="2000" dirty="0"/>
          </a:p>
        </p:txBody>
      </p:sp>
      <p:sp>
        <p:nvSpPr>
          <p:cNvPr id="7" name="coluna-1"/>
          <p:cNvSpPr/>
          <p:nvPr/>
        </p:nvSpPr>
        <p:spPr>
          <a:xfrm>
            <a:off x="4353458" y="1691640"/>
            <a:ext cx="3484778" cy="3566160"/>
          </a:xfrm>
          <a:prstGeom prst="rect">
            <a:avLst/>
          </a:prstGeom>
          <a:solidFill>
            <a:srgbClr val="F4EFFE"/>
          </a:solidFill>
          <a:ln w="12700">
            <a:solidFill>
              <a:srgbClr val="F4EFFE"/>
            </a:solidFill>
            <a:prstDash val="solid"/>
          </a:ln>
        </p:spPr>
      </p:sp>
      <p:sp>
        <p:nvSpPr>
          <p:cNvPr id="8" name="marca-1"/>
          <p:cNvSpPr/>
          <p:nvPr/>
        </p:nvSpPr>
        <p:spPr>
          <a:xfrm>
            <a:off x="4673498" y="2011680"/>
            <a:ext cx="384048" cy="384048"/>
          </a:xfrm>
          <a:prstGeom prst="rect">
            <a:avLst/>
          </a:prstGeom>
          <a:solidFill>
            <a:srgbClr val="8F23D7"/>
          </a:solidFill>
          <a:ln w="12700">
            <a:solidFill>
              <a:srgbClr val="8F23D7"/>
            </a:solidFill>
            <a:prstDash val="solid"/>
          </a:ln>
        </p:spPr>
      </p:sp>
      <p:sp>
        <p:nvSpPr>
          <p:cNvPr id="9" name="coluna-titulo-1"/>
          <p:cNvSpPr txBox="1"/>
          <p:nvPr/>
        </p:nvSpPr>
        <p:spPr>
          <a:xfrm>
            <a:off x="4673498" y="2697480"/>
            <a:ext cx="2844698" cy="91440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the model</a:t>
            </a:r>
            <a:endParaRPr lang="en-US" sz="2600" dirty="0"/>
          </a:p>
        </p:txBody>
      </p:sp>
      <p:sp>
        <p:nvSpPr>
          <p:cNvPr id="10" name="coluna-texto-1"/>
          <p:cNvSpPr txBox="1"/>
          <p:nvPr/>
        </p:nvSpPr>
        <p:spPr>
          <a:xfrm>
            <a:off x="4673498" y="3657600"/>
            <a:ext cx="2844698" cy="146304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launches exactly those calls, all in the same message</a:t>
            </a:r>
            <a:endParaRPr lang="en-US" sz="2000" dirty="0"/>
          </a:p>
        </p:txBody>
      </p:sp>
      <p:sp>
        <p:nvSpPr>
          <p:cNvPr id="11" name="coluna-2"/>
          <p:cNvSpPr/>
          <p:nvPr/>
        </p:nvSpPr>
        <p:spPr>
          <a:xfrm>
            <a:off x="8158277" y="1691640"/>
            <a:ext cx="3484778" cy="3566160"/>
          </a:xfrm>
          <a:prstGeom prst="rect">
            <a:avLst/>
          </a:prstGeom>
          <a:solidFill>
            <a:srgbClr val="F4EFFE"/>
          </a:solidFill>
          <a:ln w="12700">
            <a:solidFill>
              <a:srgbClr val="F4EFFE"/>
            </a:solidFill>
            <a:prstDash val="solid"/>
          </a:ln>
        </p:spPr>
      </p:sp>
      <p:sp>
        <p:nvSpPr>
          <p:cNvPr id="12" name="marca-2"/>
          <p:cNvSpPr/>
          <p:nvPr/>
        </p:nvSpPr>
        <p:spPr>
          <a:xfrm>
            <a:off x="8478317" y="2011680"/>
            <a:ext cx="384048" cy="384048"/>
          </a:xfrm>
          <a:prstGeom prst="rect">
            <a:avLst/>
          </a:prstGeom>
          <a:solidFill>
            <a:srgbClr val="F25928"/>
          </a:solidFill>
          <a:ln w="12700">
            <a:solidFill>
              <a:srgbClr val="F25928"/>
            </a:solidFill>
            <a:prstDash val="solid"/>
          </a:ln>
        </p:spPr>
      </p:sp>
      <p:sp>
        <p:nvSpPr>
          <p:cNvPr id="13" name="coluna-titulo-2"/>
          <p:cNvSpPr txBox="1"/>
          <p:nvPr/>
        </p:nvSpPr>
        <p:spPr>
          <a:xfrm>
            <a:off x="8478317" y="2697480"/>
            <a:ext cx="2844698" cy="91440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grade.mjs</a:t>
            </a:r>
            <a:endParaRPr lang="en-US" sz="2600" dirty="0"/>
          </a:p>
        </p:txBody>
      </p:sp>
      <p:sp>
        <p:nvSpPr>
          <p:cNvPr id="14" name="coluna-texto-2"/>
          <p:cNvSpPr txBox="1"/>
          <p:nvPr/>
        </p:nvSpPr>
        <p:spPr>
          <a:xfrm>
            <a:off x="8478317" y="3657600"/>
            <a:ext cx="2844698" cy="146304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runs the test of each task and decides: green or red</a:t>
            </a:r>
            <a:endParaRPr lang="en-US" sz="20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Measure, don't guess</a:t>
            </a:r>
            <a:endParaRPr lang="en-US" sz="3200" dirty="0"/>
          </a:p>
        </p:txBody>
      </p:sp>
      <p:sp>
        <p:nvSpPr>
          <p:cNvPr id="3" name="passo-0"/>
          <p:cNvSpPr/>
          <p:nvPr/>
        </p:nvSpPr>
        <p:spPr>
          <a:xfrm>
            <a:off x="548640" y="2377440"/>
            <a:ext cx="1889699" cy="1828800"/>
          </a:xfrm>
          <a:prstGeom prst="rect">
            <a:avLst/>
          </a:prstGeom>
          <a:solidFill>
            <a:srgbClr val="F4EFFE"/>
          </a:solidFill>
          <a:ln w="12700">
            <a:solidFill>
              <a:srgbClr val="F4EFFE"/>
            </a:solidFill>
            <a:prstDash val="solid"/>
          </a:ln>
        </p:spPr>
      </p:sp>
      <p:sp>
        <p:nvSpPr>
          <p:cNvPr id="4" name="passo-marca-0"/>
          <p:cNvSpPr/>
          <p:nvPr/>
        </p:nvSpPr>
        <p:spPr>
          <a:xfrm>
            <a:off x="777240" y="2606040"/>
            <a:ext cx="274320" cy="274320"/>
          </a:xfrm>
          <a:prstGeom prst="rect">
            <a:avLst/>
          </a:prstGeom>
          <a:solidFill>
            <a:srgbClr val="6B34FD"/>
          </a:solidFill>
          <a:ln w="12700">
            <a:solidFill>
              <a:srgbClr val="6B34FD"/>
            </a:solidFill>
            <a:prstDash val="solid"/>
          </a:ln>
        </p:spPr>
      </p:sp>
      <p:sp>
        <p:nvSpPr>
          <p:cNvPr id="5" name="passo-texto-0"/>
          <p:cNvSpPr txBox="1"/>
          <p:nvPr/>
        </p:nvSpPr>
        <p:spPr>
          <a:xfrm>
            <a:off x="777240" y="3063240"/>
            <a:ext cx="1432499" cy="1005840"/>
          </a:xfrm>
          <a:prstGeom prst="rect">
            <a:avLst/>
          </a:prstGeom>
          <a:noFill/>
          <a:ln/>
        </p:spPr>
        <p:txBody>
          <a:bodyPr wrap="square" lIns="0" tIns="0" rIns="0" bIns="0" rtlCol="0" anchor="t"/>
          <a:lstStyle/>
          <a:p>
            <a:pPr indent="0" marL="0">
              <a:buNone/>
            </a:pPr>
            <a:r>
              <a:rPr lang="en-US" sz="1600" b="1" dirty="0">
                <a:solidFill>
                  <a:srgbClr val="140920"/>
                </a:solidFill>
                <a:latin typeface="Founders Grotesk Medium" pitchFamily="34" charset="0"/>
                <a:ea typeface="Founders Grotesk Medium" pitchFamily="34" charset="-122"/>
                <a:cs typeface="Founders Grotesk Medium" pitchFamily="34" charset="-120"/>
              </a:rPr>
              <a:t>The subagent finishes</a:t>
            </a:r>
            <a:endParaRPr lang="en-US" sz="1600" dirty="0"/>
          </a:p>
        </p:txBody>
      </p:sp>
      <p:sp>
        <p:nvSpPr>
          <p:cNvPr id="6" name="fluxo-seta-0"/>
          <p:cNvSpPr/>
          <p:nvPr/>
        </p:nvSpPr>
        <p:spPr>
          <a:xfrm>
            <a:off x="2484059" y="3291840"/>
            <a:ext cx="320040" cy="0"/>
          </a:xfrm>
          <a:prstGeom prst="line">
            <a:avLst/>
          </a:prstGeom>
          <a:noFill/>
          <a:ln w="31750">
            <a:solidFill>
              <a:srgbClr val="140920"/>
            </a:solidFill>
            <a:prstDash val="solid"/>
            <a:tailEnd type="triangle"/>
          </a:ln>
        </p:spPr>
      </p:sp>
      <p:sp>
        <p:nvSpPr>
          <p:cNvPr id="7" name="passo-1"/>
          <p:cNvSpPr/>
          <p:nvPr/>
        </p:nvSpPr>
        <p:spPr>
          <a:xfrm>
            <a:off x="2849819" y="2377440"/>
            <a:ext cx="1889699" cy="1828800"/>
          </a:xfrm>
          <a:prstGeom prst="rect">
            <a:avLst/>
          </a:prstGeom>
          <a:solidFill>
            <a:srgbClr val="F4EFFE"/>
          </a:solidFill>
          <a:ln w="12700">
            <a:solidFill>
              <a:srgbClr val="F4EFFE"/>
            </a:solidFill>
            <a:prstDash val="solid"/>
          </a:ln>
        </p:spPr>
      </p:sp>
      <p:sp>
        <p:nvSpPr>
          <p:cNvPr id="8" name="passo-marca-1"/>
          <p:cNvSpPr/>
          <p:nvPr/>
        </p:nvSpPr>
        <p:spPr>
          <a:xfrm>
            <a:off x="3078419" y="2606040"/>
            <a:ext cx="274320" cy="274320"/>
          </a:xfrm>
          <a:prstGeom prst="rect">
            <a:avLst/>
          </a:prstGeom>
          <a:solidFill>
            <a:srgbClr val="8F23D7"/>
          </a:solidFill>
          <a:ln w="12700">
            <a:solidFill>
              <a:srgbClr val="8F23D7"/>
            </a:solidFill>
            <a:prstDash val="solid"/>
          </a:ln>
        </p:spPr>
      </p:sp>
      <p:sp>
        <p:nvSpPr>
          <p:cNvPr id="9" name="passo-texto-1"/>
          <p:cNvSpPr txBox="1"/>
          <p:nvPr/>
        </p:nvSpPr>
        <p:spPr>
          <a:xfrm>
            <a:off x="3078419" y="3063240"/>
            <a:ext cx="1432499" cy="1005840"/>
          </a:xfrm>
          <a:prstGeom prst="rect">
            <a:avLst/>
          </a:prstGeom>
          <a:noFill/>
          <a:ln/>
        </p:spPr>
        <p:txBody>
          <a:bodyPr wrap="square" lIns="0" tIns="0" rIns="0" bIns="0" rtlCol="0" anchor="t"/>
          <a:lstStyle/>
          <a:p>
            <a:pPr indent="0" marL="0">
              <a:buNone/>
            </a:pPr>
            <a:r>
              <a:rPr lang="en-US" sz="1600" b="1" dirty="0">
                <a:solidFill>
                  <a:srgbClr val="140920"/>
                </a:solidFill>
                <a:latin typeface="Founders Grotesk Medium" pitchFamily="34" charset="0"/>
                <a:ea typeface="Founders Grotesk Medium" pitchFamily="34" charset="-122"/>
                <a:cs typeface="Founders Grotesk Medium" pitchFamily="34" charset="-120"/>
              </a:rPr>
              <a:t>The SubagentStop hook runs</a:t>
            </a:r>
            <a:endParaRPr lang="en-US" sz="1600" dirty="0"/>
          </a:p>
        </p:txBody>
      </p:sp>
      <p:sp>
        <p:nvSpPr>
          <p:cNvPr id="10" name="fluxo-seta-1"/>
          <p:cNvSpPr/>
          <p:nvPr/>
        </p:nvSpPr>
        <p:spPr>
          <a:xfrm>
            <a:off x="4785238" y="3291840"/>
            <a:ext cx="320040" cy="0"/>
          </a:xfrm>
          <a:prstGeom prst="line">
            <a:avLst/>
          </a:prstGeom>
          <a:noFill/>
          <a:ln w="31750">
            <a:solidFill>
              <a:srgbClr val="140920"/>
            </a:solidFill>
            <a:prstDash val="solid"/>
            <a:tailEnd type="triangle"/>
          </a:ln>
        </p:spPr>
      </p:sp>
      <p:sp>
        <p:nvSpPr>
          <p:cNvPr id="11" name="passo-2"/>
          <p:cNvSpPr/>
          <p:nvPr/>
        </p:nvSpPr>
        <p:spPr>
          <a:xfrm>
            <a:off x="5150998" y="2377440"/>
            <a:ext cx="1889699" cy="1828800"/>
          </a:xfrm>
          <a:prstGeom prst="rect">
            <a:avLst/>
          </a:prstGeom>
          <a:solidFill>
            <a:srgbClr val="F4EFFE"/>
          </a:solidFill>
          <a:ln w="12700">
            <a:solidFill>
              <a:srgbClr val="F4EFFE"/>
            </a:solidFill>
            <a:prstDash val="solid"/>
          </a:ln>
        </p:spPr>
      </p:sp>
      <p:sp>
        <p:nvSpPr>
          <p:cNvPr id="12" name="passo-marca-2"/>
          <p:cNvSpPr/>
          <p:nvPr/>
        </p:nvSpPr>
        <p:spPr>
          <a:xfrm>
            <a:off x="5379598" y="2606040"/>
            <a:ext cx="274320" cy="274320"/>
          </a:xfrm>
          <a:prstGeom prst="rect">
            <a:avLst/>
          </a:prstGeom>
          <a:solidFill>
            <a:srgbClr val="F25928"/>
          </a:solidFill>
          <a:ln w="12700">
            <a:solidFill>
              <a:srgbClr val="F25928"/>
            </a:solidFill>
            <a:prstDash val="solid"/>
          </a:ln>
        </p:spPr>
      </p:sp>
      <p:sp>
        <p:nvSpPr>
          <p:cNvPr id="13" name="passo-texto-2"/>
          <p:cNvSpPr txBox="1"/>
          <p:nvPr/>
        </p:nvSpPr>
        <p:spPr>
          <a:xfrm>
            <a:off x="5379598" y="3063240"/>
            <a:ext cx="1432499" cy="1005840"/>
          </a:xfrm>
          <a:prstGeom prst="rect">
            <a:avLst/>
          </a:prstGeom>
          <a:noFill/>
          <a:ln/>
        </p:spPr>
        <p:txBody>
          <a:bodyPr wrap="square" lIns="0" tIns="0" rIns="0" bIns="0" rtlCol="0" anchor="t"/>
          <a:lstStyle/>
          <a:p>
            <a:pPr indent="0" marL="0">
              <a:buNone/>
            </a:pPr>
            <a:r>
              <a:rPr lang="en-US" sz="1600" b="1" dirty="0">
                <a:solidFill>
                  <a:srgbClr val="140920"/>
                </a:solidFill>
                <a:latin typeface="Founders Grotesk Medium" pitchFamily="34" charset="0"/>
                <a:ea typeface="Founders Grotesk Medium" pitchFamily="34" charset="-122"/>
                <a:cs typeface="Founders Grotesk Medium" pitchFamily="34" charset="-120"/>
              </a:rPr>
              <a:t>Transcript tokens × price</a:t>
            </a:r>
            <a:endParaRPr lang="en-US" sz="1600" dirty="0"/>
          </a:p>
        </p:txBody>
      </p:sp>
      <p:sp>
        <p:nvSpPr>
          <p:cNvPr id="14" name="fluxo-seta-2"/>
          <p:cNvSpPr/>
          <p:nvPr/>
        </p:nvSpPr>
        <p:spPr>
          <a:xfrm>
            <a:off x="7086417" y="3291840"/>
            <a:ext cx="320040" cy="0"/>
          </a:xfrm>
          <a:prstGeom prst="line">
            <a:avLst/>
          </a:prstGeom>
          <a:noFill/>
          <a:ln w="31750">
            <a:solidFill>
              <a:srgbClr val="140920"/>
            </a:solidFill>
            <a:prstDash val="solid"/>
            <a:tailEnd type="triangle"/>
          </a:ln>
        </p:spPr>
      </p:sp>
      <p:sp>
        <p:nvSpPr>
          <p:cNvPr id="15" name="passo-3"/>
          <p:cNvSpPr/>
          <p:nvPr/>
        </p:nvSpPr>
        <p:spPr>
          <a:xfrm>
            <a:off x="7452177" y="2377440"/>
            <a:ext cx="1889699" cy="1828800"/>
          </a:xfrm>
          <a:prstGeom prst="rect">
            <a:avLst/>
          </a:prstGeom>
          <a:solidFill>
            <a:srgbClr val="F4EFFE"/>
          </a:solidFill>
          <a:ln w="12700">
            <a:solidFill>
              <a:srgbClr val="F4EFFE"/>
            </a:solidFill>
            <a:prstDash val="solid"/>
          </a:ln>
        </p:spPr>
      </p:sp>
      <p:sp>
        <p:nvSpPr>
          <p:cNvPr id="16" name="passo-marca-3"/>
          <p:cNvSpPr/>
          <p:nvPr/>
        </p:nvSpPr>
        <p:spPr>
          <a:xfrm>
            <a:off x="7680777" y="2606040"/>
            <a:ext cx="274320" cy="274320"/>
          </a:xfrm>
          <a:prstGeom prst="rect">
            <a:avLst/>
          </a:prstGeom>
          <a:solidFill>
            <a:srgbClr val="6B34FD"/>
          </a:solidFill>
          <a:ln w="12700">
            <a:solidFill>
              <a:srgbClr val="6B34FD"/>
            </a:solidFill>
            <a:prstDash val="solid"/>
          </a:ln>
        </p:spPr>
      </p:sp>
      <p:sp>
        <p:nvSpPr>
          <p:cNvPr id="17" name="passo-texto-3"/>
          <p:cNvSpPr txBox="1"/>
          <p:nvPr/>
        </p:nvSpPr>
        <p:spPr>
          <a:xfrm>
            <a:off x="7680777" y="3063240"/>
            <a:ext cx="1432499" cy="1005840"/>
          </a:xfrm>
          <a:prstGeom prst="rect">
            <a:avLst/>
          </a:prstGeom>
          <a:noFill/>
          <a:ln/>
        </p:spPr>
        <p:txBody>
          <a:bodyPr wrap="square" lIns="0" tIns="0" rIns="0" bIns="0" rtlCol="0" anchor="t"/>
          <a:lstStyle/>
          <a:p>
            <a:pPr indent="0" marL="0">
              <a:buNone/>
            </a:pPr>
            <a:r>
              <a:rPr lang="en-US" sz="1600" b="1" dirty="0">
                <a:solidFill>
                  <a:srgbClr val="140920"/>
                </a:solidFill>
                <a:latin typeface="Founders Grotesk Medium" pitchFamily="34" charset="0"/>
                <a:ea typeface="Founders Grotesk Medium" pitchFamily="34" charset="-122"/>
                <a:cs typeface="Founders Grotesk Medium" pitchFamily="34" charset="-120"/>
              </a:rPr>
              <a:t>One line in usage.jsonl</a:t>
            </a:r>
            <a:endParaRPr lang="en-US" sz="1600" dirty="0"/>
          </a:p>
        </p:txBody>
      </p:sp>
      <p:sp>
        <p:nvSpPr>
          <p:cNvPr id="18" name="fluxo-seta-3"/>
          <p:cNvSpPr/>
          <p:nvPr/>
        </p:nvSpPr>
        <p:spPr>
          <a:xfrm>
            <a:off x="9387596" y="3291840"/>
            <a:ext cx="320040" cy="0"/>
          </a:xfrm>
          <a:prstGeom prst="line">
            <a:avLst/>
          </a:prstGeom>
          <a:noFill/>
          <a:ln w="31750">
            <a:solidFill>
              <a:srgbClr val="140920"/>
            </a:solidFill>
            <a:prstDash val="solid"/>
            <a:tailEnd type="triangle"/>
          </a:ln>
        </p:spPr>
      </p:sp>
      <p:sp>
        <p:nvSpPr>
          <p:cNvPr id="19" name="passo-4"/>
          <p:cNvSpPr/>
          <p:nvPr/>
        </p:nvSpPr>
        <p:spPr>
          <a:xfrm>
            <a:off x="9753356" y="2377440"/>
            <a:ext cx="1889699" cy="1828800"/>
          </a:xfrm>
          <a:prstGeom prst="rect">
            <a:avLst/>
          </a:prstGeom>
          <a:solidFill>
            <a:srgbClr val="140920"/>
          </a:solidFill>
          <a:ln w="12700">
            <a:solidFill>
              <a:srgbClr val="140920"/>
            </a:solidFill>
            <a:prstDash val="solid"/>
          </a:ln>
        </p:spPr>
      </p:sp>
      <p:sp>
        <p:nvSpPr>
          <p:cNvPr id="20" name="passo-marca-4"/>
          <p:cNvSpPr/>
          <p:nvPr/>
        </p:nvSpPr>
        <p:spPr>
          <a:xfrm>
            <a:off x="9981956" y="2606040"/>
            <a:ext cx="274320" cy="274320"/>
          </a:xfrm>
          <a:prstGeom prst="rect">
            <a:avLst/>
          </a:prstGeom>
          <a:solidFill>
            <a:srgbClr val="8F23D7"/>
          </a:solidFill>
          <a:ln w="12700">
            <a:solidFill>
              <a:srgbClr val="8F23D7"/>
            </a:solidFill>
            <a:prstDash val="solid"/>
          </a:ln>
        </p:spPr>
      </p:sp>
      <p:sp>
        <p:nvSpPr>
          <p:cNvPr id="21" name="passo-texto-4"/>
          <p:cNvSpPr txBox="1"/>
          <p:nvPr/>
        </p:nvSpPr>
        <p:spPr>
          <a:xfrm>
            <a:off x="9981956" y="3063240"/>
            <a:ext cx="1432499" cy="1005840"/>
          </a:xfrm>
          <a:prstGeom prst="rect">
            <a:avLst/>
          </a:prstGeom>
          <a:noFill/>
          <a:ln/>
        </p:spPr>
        <p:txBody>
          <a:bodyPr wrap="square" lIns="0" tIns="0" rIns="0" bIns="0" rtlCol="0" anchor="t"/>
          <a:lstStyle/>
          <a:p>
            <a:pPr indent="0" marL="0">
              <a:buNone/>
            </a:pPr>
            <a:r>
              <a:rPr lang="en-US" sz="1600" b="1" dirty="0">
                <a:solidFill>
                  <a:srgbClr val="FCF9FE"/>
                </a:solidFill>
                <a:latin typeface="Founders Grotesk Medium" pitchFamily="34" charset="0"/>
                <a:ea typeface="Founders Grotesk Medium" pitchFamily="34" charset="-122"/>
                <a:cs typeface="Founders Grotesk Medium" pitchFamily="34" charset="-120"/>
              </a:rPr>
              <a:t>Statusline and /demo-cost</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cycle of every task</a:t>
            </a:r>
            <a:endParaRPr lang="en-US" sz="3200" dirty="0"/>
          </a:p>
        </p:txBody>
      </p:sp>
      <p:sp>
        <p:nvSpPr>
          <p:cNvPr id="3" name="passo-0"/>
          <p:cNvSpPr/>
          <p:nvPr/>
        </p:nvSpPr>
        <p:spPr>
          <a:xfrm>
            <a:off x="548640" y="2377440"/>
            <a:ext cx="1889699" cy="1828800"/>
          </a:xfrm>
          <a:prstGeom prst="rect">
            <a:avLst/>
          </a:prstGeom>
          <a:solidFill>
            <a:srgbClr val="F4EFFE"/>
          </a:solidFill>
          <a:ln w="12700">
            <a:solidFill>
              <a:srgbClr val="F4EFFE"/>
            </a:solidFill>
            <a:prstDash val="solid"/>
          </a:ln>
        </p:spPr>
      </p:sp>
      <p:sp>
        <p:nvSpPr>
          <p:cNvPr id="4" name="passo-marca-0"/>
          <p:cNvSpPr/>
          <p:nvPr/>
        </p:nvSpPr>
        <p:spPr>
          <a:xfrm>
            <a:off x="777240" y="2606040"/>
            <a:ext cx="274320" cy="274320"/>
          </a:xfrm>
          <a:prstGeom prst="rect">
            <a:avLst/>
          </a:prstGeom>
          <a:solidFill>
            <a:srgbClr val="6B34FD"/>
          </a:solidFill>
          <a:ln w="12700">
            <a:solidFill>
              <a:srgbClr val="6B34FD"/>
            </a:solidFill>
            <a:prstDash val="solid"/>
          </a:ln>
        </p:spPr>
      </p:sp>
      <p:sp>
        <p:nvSpPr>
          <p:cNvPr id="5" name="passo-texto-0"/>
          <p:cNvSpPr txBox="1"/>
          <p:nvPr/>
        </p:nvSpPr>
        <p:spPr>
          <a:xfrm>
            <a:off x="777240" y="3063240"/>
            <a:ext cx="1432499" cy="1005840"/>
          </a:xfrm>
          <a:prstGeom prst="rect">
            <a:avLst/>
          </a:prstGeom>
          <a:noFill/>
          <a:ln/>
        </p:spPr>
        <p:txBody>
          <a:bodyPr wrap="square" lIns="0" tIns="0" rIns="0" bIns="0" rtlCol="0" anchor="t"/>
          <a:lstStyle/>
          <a:p>
            <a:pPr indent="0" marL="0">
              <a:buNone/>
            </a:pPr>
            <a:r>
              <a:rPr lang="en-US" sz="1600" b="1" dirty="0">
                <a:solidFill>
                  <a:srgbClr val="140920"/>
                </a:solidFill>
                <a:latin typeface="Founders Grotesk Medium" pitchFamily="34" charset="0"/>
                <a:ea typeface="Founders Grotesk Medium" pitchFamily="34" charset="-122"/>
                <a:cs typeface="Founders Grotesk Medium" pitchFamily="34" charset="-120"/>
              </a:rPr>
              <a:t>plan</a:t>
            </a:r>
            <a:endParaRPr lang="en-US" sz="1600" dirty="0"/>
          </a:p>
        </p:txBody>
      </p:sp>
      <p:sp>
        <p:nvSpPr>
          <p:cNvPr id="6" name="fluxo-seta-0"/>
          <p:cNvSpPr/>
          <p:nvPr/>
        </p:nvSpPr>
        <p:spPr>
          <a:xfrm>
            <a:off x="2484059" y="3291840"/>
            <a:ext cx="320040" cy="0"/>
          </a:xfrm>
          <a:prstGeom prst="line">
            <a:avLst/>
          </a:prstGeom>
          <a:noFill/>
          <a:ln w="31750">
            <a:solidFill>
              <a:srgbClr val="140920"/>
            </a:solidFill>
            <a:prstDash val="solid"/>
            <a:tailEnd type="triangle"/>
          </a:ln>
        </p:spPr>
      </p:sp>
      <p:sp>
        <p:nvSpPr>
          <p:cNvPr id="7" name="passo-1"/>
          <p:cNvSpPr/>
          <p:nvPr/>
        </p:nvSpPr>
        <p:spPr>
          <a:xfrm>
            <a:off x="2849819" y="2377440"/>
            <a:ext cx="1889699" cy="1828800"/>
          </a:xfrm>
          <a:prstGeom prst="rect">
            <a:avLst/>
          </a:prstGeom>
          <a:solidFill>
            <a:srgbClr val="F4EFFE"/>
          </a:solidFill>
          <a:ln w="12700">
            <a:solidFill>
              <a:srgbClr val="F4EFFE"/>
            </a:solidFill>
            <a:prstDash val="solid"/>
          </a:ln>
        </p:spPr>
      </p:sp>
      <p:sp>
        <p:nvSpPr>
          <p:cNvPr id="8" name="passo-marca-1"/>
          <p:cNvSpPr/>
          <p:nvPr/>
        </p:nvSpPr>
        <p:spPr>
          <a:xfrm>
            <a:off x="3078419" y="2606040"/>
            <a:ext cx="274320" cy="274320"/>
          </a:xfrm>
          <a:prstGeom prst="rect">
            <a:avLst/>
          </a:prstGeom>
          <a:solidFill>
            <a:srgbClr val="8F23D7"/>
          </a:solidFill>
          <a:ln w="12700">
            <a:solidFill>
              <a:srgbClr val="8F23D7"/>
            </a:solidFill>
            <a:prstDash val="solid"/>
          </a:ln>
        </p:spPr>
      </p:sp>
      <p:sp>
        <p:nvSpPr>
          <p:cNvPr id="9" name="passo-texto-1"/>
          <p:cNvSpPr txBox="1"/>
          <p:nvPr/>
        </p:nvSpPr>
        <p:spPr>
          <a:xfrm>
            <a:off x="3078419" y="3063240"/>
            <a:ext cx="1432499" cy="1005840"/>
          </a:xfrm>
          <a:prstGeom prst="rect">
            <a:avLst/>
          </a:prstGeom>
          <a:noFill/>
          <a:ln/>
        </p:spPr>
        <p:txBody>
          <a:bodyPr wrap="square" lIns="0" tIns="0" rIns="0" bIns="0" rtlCol="0" anchor="t"/>
          <a:lstStyle/>
          <a:p>
            <a:pPr indent="0" marL="0">
              <a:buNone/>
            </a:pPr>
            <a:r>
              <a:rPr lang="en-US" sz="1600" b="1" dirty="0">
                <a:solidFill>
                  <a:srgbClr val="140920"/>
                </a:solidFill>
                <a:latin typeface="Founders Grotesk Medium" pitchFamily="34" charset="0"/>
                <a:ea typeface="Founders Grotesk Medium" pitchFamily="34" charset="-122"/>
                <a:cs typeface="Founders Grotesk Medium" pitchFamily="34" charset="-120"/>
              </a:rPr>
              <a:t>swarm</a:t>
            </a:r>
            <a:endParaRPr lang="en-US" sz="1600" dirty="0"/>
          </a:p>
        </p:txBody>
      </p:sp>
      <p:sp>
        <p:nvSpPr>
          <p:cNvPr id="10" name="fluxo-seta-1"/>
          <p:cNvSpPr/>
          <p:nvPr/>
        </p:nvSpPr>
        <p:spPr>
          <a:xfrm>
            <a:off x="4785238" y="3291840"/>
            <a:ext cx="320040" cy="0"/>
          </a:xfrm>
          <a:prstGeom prst="line">
            <a:avLst/>
          </a:prstGeom>
          <a:noFill/>
          <a:ln w="31750">
            <a:solidFill>
              <a:srgbClr val="140920"/>
            </a:solidFill>
            <a:prstDash val="solid"/>
            <a:tailEnd type="triangle"/>
          </a:ln>
        </p:spPr>
      </p:sp>
      <p:sp>
        <p:nvSpPr>
          <p:cNvPr id="11" name="passo-2"/>
          <p:cNvSpPr/>
          <p:nvPr/>
        </p:nvSpPr>
        <p:spPr>
          <a:xfrm>
            <a:off x="5150998" y="2377440"/>
            <a:ext cx="1889699" cy="1828800"/>
          </a:xfrm>
          <a:prstGeom prst="rect">
            <a:avLst/>
          </a:prstGeom>
          <a:solidFill>
            <a:srgbClr val="F4EFFE"/>
          </a:solidFill>
          <a:ln w="12700">
            <a:solidFill>
              <a:srgbClr val="F4EFFE"/>
            </a:solidFill>
            <a:prstDash val="solid"/>
          </a:ln>
        </p:spPr>
      </p:sp>
      <p:sp>
        <p:nvSpPr>
          <p:cNvPr id="12" name="passo-marca-2"/>
          <p:cNvSpPr/>
          <p:nvPr/>
        </p:nvSpPr>
        <p:spPr>
          <a:xfrm>
            <a:off x="5379598" y="2606040"/>
            <a:ext cx="274320" cy="274320"/>
          </a:xfrm>
          <a:prstGeom prst="rect">
            <a:avLst/>
          </a:prstGeom>
          <a:solidFill>
            <a:srgbClr val="F25928"/>
          </a:solidFill>
          <a:ln w="12700">
            <a:solidFill>
              <a:srgbClr val="F25928"/>
            </a:solidFill>
            <a:prstDash val="solid"/>
          </a:ln>
        </p:spPr>
      </p:sp>
      <p:sp>
        <p:nvSpPr>
          <p:cNvPr id="13" name="passo-texto-2"/>
          <p:cNvSpPr txBox="1"/>
          <p:nvPr/>
        </p:nvSpPr>
        <p:spPr>
          <a:xfrm>
            <a:off x="5379598" y="3063240"/>
            <a:ext cx="1432499" cy="1005840"/>
          </a:xfrm>
          <a:prstGeom prst="rect">
            <a:avLst/>
          </a:prstGeom>
          <a:noFill/>
          <a:ln/>
        </p:spPr>
        <p:txBody>
          <a:bodyPr wrap="square" lIns="0" tIns="0" rIns="0" bIns="0" rtlCol="0" anchor="t"/>
          <a:lstStyle/>
          <a:p>
            <a:pPr indent="0" marL="0">
              <a:buNone/>
            </a:pPr>
            <a:r>
              <a:rPr lang="en-US" sz="1600" b="1" dirty="0">
                <a:solidFill>
                  <a:srgbClr val="140920"/>
                </a:solidFill>
                <a:latin typeface="Founders Grotesk Medium" pitchFamily="34" charset="0"/>
                <a:ea typeface="Founders Grotesk Medium" pitchFamily="34" charset="-122"/>
                <a:cs typeface="Founders Grotesk Medium" pitchFamily="34" charset="-120"/>
              </a:rPr>
              <a:t>review</a:t>
            </a:r>
            <a:endParaRPr lang="en-US" sz="1600" dirty="0"/>
          </a:p>
        </p:txBody>
      </p:sp>
      <p:sp>
        <p:nvSpPr>
          <p:cNvPr id="14" name="fluxo-seta-2"/>
          <p:cNvSpPr/>
          <p:nvPr/>
        </p:nvSpPr>
        <p:spPr>
          <a:xfrm>
            <a:off x="7086417" y="3291840"/>
            <a:ext cx="320040" cy="0"/>
          </a:xfrm>
          <a:prstGeom prst="line">
            <a:avLst/>
          </a:prstGeom>
          <a:noFill/>
          <a:ln w="31750">
            <a:solidFill>
              <a:srgbClr val="140920"/>
            </a:solidFill>
            <a:prstDash val="solid"/>
            <a:tailEnd type="triangle"/>
          </a:ln>
        </p:spPr>
      </p:sp>
      <p:sp>
        <p:nvSpPr>
          <p:cNvPr id="15" name="passo-3"/>
          <p:cNvSpPr/>
          <p:nvPr/>
        </p:nvSpPr>
        <p:spPr>
          <a:xfrm>
            <a:off x="7452177" y="2377440"/>
            <a:ext cx="1889699" cy="1828800"/>
          </a:xfrm>
          <a:prstGeom prst="rect">
            <a:avLst/>
          </a:prstGeom>
          <a:solidFill>
            <a:srgbClr val="F4EFFE"/>
          </a:solidFill>
          <a:ln w="12700">
            <a:solidFill>
              <a:srgbClr val="F4EFFE"/>
            </a:solidFill>
            <a:prstDash val="solid"/>
          </a:ln>
        </p:spPr>
      </p:sp>
      <p:sp>
        <p:nvSpPr>
          <p:cNvPr id="16" name="passo-marca-3"/>
          <p:cNvSpPr/>
          <p:nvPr/>
        </p:nvSpPr>
        <p:spPr>
          <a:xfrm>
            <a:off x="7680777" y="2606040"/>
            <a:ext cx="274320" cy="274320"/>
          </a:xfrm>
          <a:prstGeom prst="rect">
            <a:avLst/>
          </a:prstGeom>
          <a:solidFill>
            <a:srgbClr val="6B34FD"/>
          </a:solidFill>
          <a:ln w="12700">
            <a:solidFill>
              <a:srgbClr val="6B34FD"/>
            </a:solidFill>
            <a:prstDash val="solid"/>
          </a:ln>
        </p:spPr>
      </p:sp>
      <p:sp>
        <p:nvSpPr>
          <p:cNvPr id="17" name="passo-texto-3"/>
          <p:cNvSpPr txBox="1"/>
          <p:nvPr/>
        </p:nvSpPr>
        <p:spPr>
          <a:xfrm>
            <a:off x="7680777" y="3063240"/>
            <a:ext cx="1432499" cy="1005840"/>
          </a:xfrm>
          <a:prstGeom prst="rect">
            <a:avLst/>
          </a:prstGeom>
          <a:noFill/>
          <a:ln/>
        </p:spPr>
        <p:txBody>
          <a:bodyPr wrap="square" lIns="0" tIns="0" rIns="0" bIns="0" rtlCol="0" anchor="t"/>
          <a:lstStyle/>
          <a:p>
            <a:pPr indent="0" marL="0">
              <a:buNone/>
            </a:pPr>
            <a:r>
              <a:rPr lang="en-US" sz="1600" b="1" dirty="0">
                <a:solidFill>
                  <a:srgbClr val="140920"/>
                </a:solidFill>
                <a:latin typeface="Founders Grotesk Medium" pitchFamily="34" charset="0"/>
                <a:ea typeface="Founders Grotesk Medium" pitchFamily="34" charset="-122"/>
                <a:cs typeface="Founders Grotesk Medium" pitchFamily="34" charset="-120"/>
              </a:rPr>
              <a:t>cost</a:t>
            </a:r>
            <a:endParaRPr lang="en-US" sz="1600" dirty="0"/>
          </a:p>
        </p:txBody>
      </p:sp>
      <p:sp>
        <p:nvSpPr>
          <p:cNvPr id="18" name="fluxo-seta-3"/>
          <p:cNvSpPr/>
          <p:nvPr/>
        </p:nvSpPr>
        <p:spPr>
          <a:xfrm>
            <a:off x="9387596" y="3291840"/>
            <a:ext cx="320040" cy="0"/>
          </a:xfrm>
          <a:prstGeom prst="line">
            <a:avLst/>
          </a:prstGeom>
          <a:noFill/>
          <a:ln w="31750">
            <a:solidFill>
              <a:srgbClr val="140920"/>
            </a:solidFill>
            <a:prstDash val="solid"/>
            <a:tailEnd type="triangle"/>
          </a:ln>
        </p:spPr>
      </p:sp>
      <p:sp>
        <p:nvSpPr>
          <p:cNvPr id="19" name="passo-4"/>
          <p:cNvSpPr/>
          <p:nvPr/>
        </p:nvSpPr>
        <p:spPr>
          <a:xfrm>
            <a:off x="9753356" y="2377440"/>
            <a:ext cx="1889699" cy="1828800"/>
          </a:xfrm>
          <a:prstGeom prst="rect">
            <a:avLst/>
          </a:prstGeom>
          <a:solidFill>
            <a:srgbClr val="140920"/>
          </a:solidFill>
          <a:ln w="12700">
            <a:solidFill>
              <a:srgbClr val="140920"/>
            </a:solidFill>
            <a:prstDash val="solid"/>
          </a:ln>
        </p:spPr>
      </p:sp>
      <p:sp>
        <p:nvSpPr>
          <p:cNvPr id="20" name="passo-marca-4"/>
          <p:cNvSpPr/>
          <p:nvPr/>
        </p:nvSpPr>
        <p:spPr>
          <a:xfrm>
            <a:off x="9981956" y="2606040"/>
            <a:ext cx="274320" cy="274320"/>
          </a:xfrm>
          <a:prstGeom prst="rect">
            <a:avLst/>
          </a:prstGeom>
          <a:solidFill>
            <a:srgbClr val="8F23D7"/>
          </a:solidFill>
          <a:ln w="12700">
            <a:solidFill>
              <a:srgbClr val="8F23D7"/>
            </a:solidFill>
            <a:prstDash val="solid"/>
          </a:ln>
        </p:spPr>
      </p:sp>
      <p:sp>
        <p:nvSpPr>
          <p:cNvPr id="21" name="passo-texto-4"/>
          <p:cNvSpPr txBox="1"/>
          <p:nvPr/>
        </p:nvSpPr>
        <p:spPr>
          <a:xfrm>
            <a:off x="9981956" y="3063240"/>
            <a:ext cx="1432499" cy="1005840"/>
          </a:xfrm>
          <a:prstGeom prst="rect">
            <a:avLst/>
          </a:prstGeom>
          <a:noFill/>
          <a:ln/>
        </p:spPr>
        <p:txBody>
          <a:bodyPr wrap="square" lIns="0" tIns="0" rIns="0" bIns="0" rtlCol="0" anchor="t"/>
          <a:lstStyle/>
          <a:p>
            <a:pPr indent="0" marL="0">
              <a:buNone/>
            </a:pPr>
            <a:r>
              <a:rPr lang="en-US" sz="1600" b="1" dirty="0">
                <a:solidFill>
                  <a:srgbClr val="FCF9FE"/>
                </a:solidFill>
                <a:latin typeface="Founders Grotesk Medium" pitchFamily="34" charset="0"/>
                <a:ea typeface="Founders Grotesk Medium" pitchFamily="34" charset="-122"/>
                <a:cs typeface="Founders Grotesk Medium" pitchFamily="34" charset="-120"/>
              </a:rPr>
              <a:t>memory</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The swarm in action</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Before you run yours: the same cycle, recorded with 100 cards</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100 agents building the Arena</a:t>
            </a:r>
            <a:endParaRPr lang="en-US" sz="3200" dirty="0"/>
          </a:p>
        </p:txBody>
      </p:sp>
      <p:pic>
        <p:nvPicPr>
          <p:cNvPr id="3" name="video-enxame">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1878124"/>
            <a:ext cx="11094415" cy="3513231"/>
          </a:xfrm>
          <a:prstGeom prst="rect">
            <a:avLst/>
          </a:prstGeom>
        </p:spPr>
      </p:pic>
      <p:sp>
        <p:nvSpPr>
          <p:cNvPr id="4" name="legenda"/>
          <p:cNvSpPr txBox="1"/>
          <p:nvPr/>
        </p:nvSpPr>
        <p:spPr>
          <a:xfrm>
            <a:off x="548640" y="5943600"/>
            <a:ext cx="11094415" cy="36576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Real recorded run: 6.9 min · US$ 2.55 · 107 agents</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result: a game to play</a:t>
            </a:r>
            <a:endParaRPr lang="en-US" sz="3200" dirty="0"/>
          </a:p>
        </p:txBody>
      </p:sp>
      <p:pic>
        <p:nvPicPr>
          <p:cNvPr id="3" name="video-jogo">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2235048" y="1463040"/>
            <a:ext cx="7721600" cy="4343400"/>
          </a:xfrm>
          <a:prstGeom prst="rect">
            <a:avLst/>
          </a:prstGeom>
        </p:spPr>
      </p:pic>
      <p:sp>
        <p:nvSpPr>
          <p:cNvPr id="4" name="legenda"/>
          <p:cNvSpPr txBox="1"/>
          <p:nvPr/>
        </p:nvSpPr>
        <p:spPr>
          <a:xfrm>
            <a:off x="548640" y="5943600"/>
            <a:ext cx="11094415" cy="36576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The Arena the swarm built: security challenges in 4 formats, to play in the browser.</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Project 1</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The Security Arena</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is ready and what is missing</a:t>
            </a:r>
            <a:endParaRPr lang="en-US" sz="3200" dirty="0"/>
          </a:p>
        </p:txBody>
      </p:sp>
      <p:sp>
        <p:nvSpPr>
          <p:cNvPr id="3" name="coluna-0"/>
          <p:cNvSpPr/>
          <p:nvPr/>
        </p:nvSpPr>
        <p:spPr>
          <a:xfrm>
            <a:off x="548640" y="1691640"/>
            <a:ext cx="3484778" cy="3566160"/>
          </a:xfrm>
          <a:prstGeom prst="rect">
            <a:avLst/>
          </a:prstGeom>
          <a:solidFill>
            <a:srgbClr val="F4EFFE"/>
          </a:solidFill>
          <a:ln w="12700">
            <a:solidFill>
              <a:srgbClr val="F4EFFE"/>
            </a:solidFill>
            <a:prstDash val="solid"/>
          </a:ln>
        </p:spPr>
      </p:sp>
      <p:sp>
        <p:nvSpPr>
          <p:cNvPr id="4" name="marca-0"/>
          <p:cNvSpPr/>
          <p:nvPr/>
        </p:nvSpPr>
        <p:spPr>
          <a:xfrm>
            <a:off x="868680" y="2011680"/>
            <a:ext cx="384048" cy="384048"/>
          </a:xfrm>
          <a:prstGeom prst="rect">
            <a:avLst/>
          </a:prstGeom>
          <a:solidFill>
            <a:srgbClr val="1E9E57"/>
          </a:solidFill>
          <a:ln w="12700">
            <a:solidFill>
              <a:srgbClr val="1E9E57"/>
            </a:solidFill>
            <a:prstDash val="solid"/>
          </a:ln>
        </p:spPr>
      </p:sp>
      <p:sp>
        <p:nvSpPr>
          <p:cNvPr id="5" name="coluna-titulo-0"/>
          <p:cNvSpPr txBox="1"/>
          <p:nvPr/>
        </p:nvSpPr>
        <p:spPr>
          <a:xfrm>
            <a:off x="868680" y="2697480"/>
            <a:ext cx="2844698" cy="91440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Ready</a:t>
            </a:r>
            <a:endParaRPr lang="en-US" sz="2600" dirty="0"/>
          </a:p>
        </p:txBody>
      </p:sp>
      <p:sp>
        <p:nvSpPr>
          <p:cNvPr id="6" name="coluna-texto-0"/>
          <p:cNvSpPr txBox="1"/>
          <p:nvPr/>
        </p:nvSpPr>
        <p:spPr>
          <a:xfrm>
            <a:off x="868680" y="3657600"/>
            <a:ext cx="2844698" cy="146304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the app shell, 4 card templates and one test for each card</a:t>
            </a:r>
            <a:endParaRPr lang="en-US" sz="2000" dirty="0"/>
          </a:p>
        </p:txBody>
      </p:sp>
      <p:sp>
        <p:nvSpPr>
          <p:cNvPr id="7" name="coluna-1"/>
          <p:cNvSpPr/>
          <p:nvPr/>
        </p:nvSpPr>
        <p:spPr>
          <a:xfrm>
            <a:off x="4353458" y="1691640"/>
            <a:ext cx="3484778" cy="3566160"/>
          </a:xfrm>
          <a:prstGeom prst="rect">
            <a:avLst/>
          </a:prstGeom>
          <a:solidFill>
            <a:srgbClr val="F4EFFE"/>
          </a:solidFill>
          <a:ln w="12700">
            <a:solidFill>
              <a:srgbClr val="F4EFFE"/>
            </a:solidFill>
            <a:prstDash val="solid"/>
          </a:ln>
        </p:spPr>
      </p:sp>
      <p:sp>
        <p:nvSpPr>
          <p:cNvPr id="8" name="marca-1"/>
          <p:cNvSpPr/>
          <p:nvPr/>
        </p:nvSpPr>
        <p:spPr>
          <a:xfrm>
            <a:off x="4673498" y="2011680"/>
            <a:ext cx="384048" cy="384048"/>
          </a:xfrm>
          <a:prstGeom prst="rect">
            <a:avLst/>
          </a:prstGeom>
          <a:solidFill>
            <a:srgbClr val="C4C7C1"/>
          </a:solidFill>
          <a:ln w="12700">
            <a:solidFill>
              <a:srgbClr val="C4C7C1"/>
            </a:solidFill>
            <a:prstDash val="solid"/>
          </a:ln>
        </p:spPr>
      </p:sp>
      <p:sp>
        <p:nvSpPr>
          <p:cNvPr id="9" name="coluna-titulo-1"/>
          <p:cNvSpPr txBox="1"/>
          <p:nvPr/>
        </p:nvSpPr>
        <p:spPr>
          <a:xfrm>
            <a:off x="4673498" y="2697480"/>
            <a:ext cx="2844698" cy="91440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To do</a:t>
            </a:r>
            <a:endParaRPr lang="en-US" sz="2600" dirty="0"/>
          </a:p>
        </p:txBody>
      </p:sp>
      <p:sp>
        <p:nvSpPr>
          <p:cNvPr id="10" name="coluna-texto-1"/>
          <p:cNvSpPr txBox="1"/>
          <p:nvPr/>
        </p:nvSpPr>
        <p:spPr>
          <a:xfrm>
            <a:off x="4673498" y="3657600"/>
            <a:ext cx="2844698" cy="146304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15 cards, lib/hash and two pages</a:t>
            </a:r>
            <a:endParaRPr lang="en-US" sz="2000" dirty="0"/>
          </a:p>
        </p:txBody>
      </p:sp>
      <p:sp>
        <p:nvSpPr>
          <p:cNvPr id="11" name="coluna-2"/>
          <p:cNvSpPr/>
          <p:nvPr/>
        </p:nvSpPr>
        <p:spPr>
          <a:xfrm>
            <a:off x="8158277" y="1691640"/>
            <a:ext cx="3484778" cy="3566160"/>
          </a:xfrm>
          <a:prstGeom prst="rect">
            <a:avLst/>
          </a:prstGeom>
          <a:solidFill>
            <a:srgbClr val="F4EFFE"/>
          </a:solidFill>
          <a:ln w="12700">
            <a:solidFill>
              <a:srgbClr val="F4EFFE"/>
            </a:solidFill>
            <a:prstDash val="solid"/>
          </a:ln>
        </p:spPr>
      </p:sp>
      <p:sp>
        <p:nvSpPr>
          <p:cNvPr id="12" name="marca-2"/>
          <p:cNvSpPr/>
          <p:nvPr/>
        </p:nvSpPr>
        <p:spPr>
          <a:xfrm>
            <a:off x="8478317" y="2011680"/>
            <a:ext cx="384048" cy="384048"/>
          </a:xfrm>
          <a:prstGeom prst="rect">
            <a:avLst/>
          </a:prstGeom>
          <a:solidFill>
            <a:srgbClr val="F1C232"/>
          </a:solidFill>
          <a:ln w="12700">
            <a:solidFill>
              <a:srgbClr val="F1C232"/>
            </a:solidFill>
            <a:prstDash val="solid"/>
          </a:ln>
        </p:spPr>
      </p:sp>
      <p:sp>
        <p:nvSpPr>
          <p:cNvPr id="13" name="coluna-titulo-2"/>
          <p:cNvSpPr txBox="1"/>
          <p:nvPr/>
        </p:nvSpPr>
        <p:spPr>
          <a:xfrm>
            <a:off x="8478317" y="2697480"/>
            <a:ext cx="2844698" cy="91440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Who does it</a:t>
            </a:r>
            <a:endParaRPr lang="en-US" sz="2600" dirty="0"/>
          </a:p>
        </p:txBody>
      </p:sp>
      <p:sp>
        <p:nvSpPr>
          <p:cNvPr id="14" name="coluna-texto-2"/>
          <p:cNvSpPr txBox="1"/>
          <p:nvPr/>
        </p:nvSpPr>
        <p:spPr>
          <a:xfrm>
            <a:off x="8478317" y="3657600"/>
            <a:ext cx="2844698" cy="146304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your swarm: Haiku, Sonnet and Opus</a:t>
            </a:r>
            <a:endParaRPr lang="en-US" sz="20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/demo-plan does</a:t>
            </a:r>
            <a:endParaRPr lang="en-US" sz="3200" dirty="0"/>
          </a:p>
        </p:txBody>
      </p:sp>
      <p:sp>
        <p:nvSpPr>
          <p:cNvPr id="3" name="codigo-fundo"/>
          <p:cNvSpPr/>
          <p:nvPr/>
        </p:nvSpPr>
        <p:spPr>
          <a:xfrm>
            <a:off x="548640" y="1508760"/>
            <a:ext cx="5760720" cy="3149194"/>
          </a:xfrm>
          <a:prstGeom prst="rect">
            <a:avLst/>
          </a:prstGeom>
          <a:solidFill>
            <a:srgbClr val="140920"/>
          </a:solidFill>
          <a:ln w="12700">
            <a:solidFill>
              <a:srgbClr val="140920"/>
            </a:solidFill>
            <a:prstDash val="solid"/>
          </a:ln>
        </p:spPr>
      </p:sp>
      <p:sp>
        <p:nvSpPr>
          <p:cNvPr id="4" name="codigo-rotulo"/>
          <p:cNvSpPr txBox="1"/>
          <p:nvPr/>
        </p:nvSpPr>
        <p:spPr>
          <a:xfrm>
            <a:off x="777240" y="1691640"/>
            <a:ext cx="5303520"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.claude/skills/demo-plan/SKILL.md (summary)</a:t>
            </a:r>
            <a:endParaRPr lang="en-US" sz="1300" dirty="0"/>
          </a:p>
        </p:txBody>
      </p:sp>
      <p:sp>
        <p:nvSpPr>
          <p:cNvPr id="5" name="codigo"/>
          <p:cNvSpPr txBox="1"/>
          <p:nvPr/>
        </p:nvSpPr>
        <p:spPr>
          <a:xfrm>
            <a:off x="777240" y="2039112"/>
            <a:ext cx="5303520" cy="2481682"/>
          </a:xfrm>
          <a:prstGeom prst="rect">
            <a:avLst/>
          </a:prstGeom>
          <a:noFill/>
          <a:ln/>
        </p:spPr>
        <p:txBody>
          <a:bodyPr wrap="square" lIns="0" tIns="0" rIns="0" bIns="0" rtlCol="0" anchor="t"/>
          <a:lstStyle/>
          <a:p>
            <a:pPr indent="0" marL="0">
              <a:buNone/>
            </a:pPr>
            <a:r>
              <a:rPr lang="en-US" sz="1600" dirty="0">
                <a:solidFill>
                  <a:srgbClr val="FCF9FE"/>
                </a:solidFill>
                <a:latin typeface="Courier New" pitchFamily="34" charset="0"/>
                <a:ea typeface="Courier New" pitchFamily="34" charset="-122"/>
                <a:cs typeface="Courier New" pitchFamily="34" charset="-120"/>
              </a:rPr>
              <a:t>---</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name: demo-plan</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model: sonnet</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allowed-tools: node tools/*, Agent</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1. Look up lessons in the memory</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2. node tools/plan.mjs  → the graph</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3. The planner agent (Opus) reviews it</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4. Show the waves, the diagram and the cost</a:t>
            </a:r>
            <a:endParaRPr lang="en-US" sz="1600" dirty="0"/>
          </a:p>
        </p:txBody>
      </p:sp>
      <p:sp>
        <p:nvSpPr>
          <p:cNvPr id="6" name="anatomia-marca-0"/>
          <p:cNvSpPr/>
          <p:nvPr/>
        </p:nvSpPr>
        <p:spPr>
          <a:xfrm>
            <a:off x="6766560" y="1572768"/>
            <a:ext cx="274320" cy="274320"/>
          </a:xfrm>
          <a:prstGeom prst="rect">
            <a:avLst/>
          </a:prstGeom>
          <a:solidFill>
            <a:srgbClr val="6B34FD"/>
          </a:solidFill>
          <a:ln w="12700">
            <a:solidFill>
              <a:srgbClr val="6B34FD"/>
            </a:solidFill>
            <a:prstDash val="solid"/>
          </a:ln>
        </p:spPr>
      </p:sp>
      <p:sp>
        <p:nvSpPr>
          <p:cNvPr id="7" name="anatomia-titulo-0"/>
          <p:cNvSpPr txBox="1"/>
          <p:nvPr/>
        </p:nvSpPr>
        <p:spPr>
          <a:xfrm>
            <a:off x="7223760" y="1508760"/>
            <a:ext cx="4419295" cy="411480"/>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It is a skill</a:t>
            </a:r>
            <a:endParaRPr lang="en-US" sz="2000" dirty="0"/>
          </a:p>
        </p:txBody>
      </p:sp>
      <p:sp>
        <p:nvSpPr>
          <p:cNvPr id="8" name="anatomia-texto-0"/>
          <p:cNvSpPr txBox="1"/>
          <p:nvPr/>
        </p:nvSpPr>
        <p:spPr>
          <a:xfrm>
            <a:off x="7223760" y="1920240"/>
            <a:ext cx="441929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A Markdown file with steps. You type /demo-plan and Claude follows the recipe, the same way every time.</a:t>
            </a:r>
            <a:endParaRPr lang="en-US" sz="1500" dirty="0"/>
          </a:p>
        </p:txBody>
      </p:sp>
      <p:sp>
        <p:nvSpPr>
          <p:cNvPr id="9" name="anatomia-marca-1"/>
          <p:cNvSpPr/>
          <p:nvPr/>
        </p:nvSpPr>
        <p:spPr>
          <a:xfrm>
            <a:off x="6766560" y="3020568"/>
            <a:ext cx="274320" cy="274320"/>
          </a:xfrm>
          <a:prstGeom prst="rect">
            <a:avLst/>
          </a:prstGeom>
          <a:solidFill>
            <a:srgbClr val="8F23D7"/>
          </a:solidFill>
          <a:ln w="12700">
            <a:solidFill>
              <a:srgbClr val="8F23D7"/>
            </a:solidFill>
            <a:prstDash val="solid"/>
          </a:ln>
        </p:spPr>
      </p:sp>
      <p:sp>
        <p:nvSpPr>
          <p:cNvPr id="10" name="anatomia-titulo-1"/>
          <p:cNvSpPr txBox="1"/>
          <p:nvPr/>
        </p:nvSpPr>
        <p:spPr>
          <a:xfrm>
            <a:off x="7223760" y="2956560"/>
            <a:ext cx="4419295" cy="411480"/>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What goes in and out</a:t>
            </a:r>
            <a:endParaRPr lang="en-US" sz="2000" dirty="0"/>
          </a:p>
        </p:txBody>
      </p:sp>
      <p:sp>
        <p:nvSpPr>
          <p:cNvPr id="11" name="anatomia-texto-1"/>
          <p:cNvSpPr txBox="1"/>
          <p:nvPr/>
        </p:nvSpPr>
        <p:spPr>
          <a:xfrm>
            <a:off x="7223760" y="3368040"/>
            <a:ext cx="441929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In: TASKS.md, the Arena tasks. Out: plan.json and PLANO.md, the graph with the dependencies, the waves and the cost estimate.</a:t>
            </a:r>
            <a:endParaRPr lang="en-US" sz="1500" dirty="0"/>
          </a:p>
        </p:txBody>
      </p:sp>
      <p:sp>
        <p:nvSpPr>
          <p:cNvPr id="12" name="anatomia-marca-2"/>
          <p:cNvSpPr/>
          <p:nvPr/>
        </p:nvSpPr>
        <p:spPr>
          <a:xfrm>
            <a:off x="6766560" y="4468368"/>
            <a:ext cx="274320" cy="274320"/>
          </a:xfrm>
          <a:prstGeom prst="rect">
            <a:avLst/>
          </a:prstGeom>
          <a:solidFill>
            <a:srgbClr val="F25928"/>
          </a:solidFill>
          <a:ln w="12700">
            <a:solidFill>
              <a:srgbClr val="F25928"/>
            </a:solidFill>
            <a:prstDash val="solid"/>
          </a:ln>
        </p:spPr>
      </p:sp>
      <p:sp>
        <p:nvSpPr>
          <p:cNvPr id="13" name="anatomia-titulo-2"/>
          <p:cNvSpPr txBox="1"/>
          <p:nvPr/>
        </p:nvSpPr>
        <p:spPr>
          <a:xfrm>
            <a:off x="7223760" y="4404360"/>
            <a:ext cx="4419295" cy="411480"/>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In your project</a:t>
            </a:r>
            <a:endParaRPr lang="en-US" sz="2000" dirty="0"/>
          </a:p>
        </p:txBody>
      </p:sp>
      <p:sp>
        <p:nvSpPr>
          <p:cNvPr id="14" name="anatomia-texto-2"/>
          <p:cNvSpPr txBox="1"/>
          <p:nvPr/>
        </p:nvSpPr>
        <p:spPr>
          <a:xfrm>
            <a:off x="7223760" y="4815840"/>
            <a:ext cx="441929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/task-plan does the same for one of your Jira or GitHub issues.</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Plan the swarm</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Go to the Arena folder</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Claude Code and trust the folder</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/demo-plan</a:t>
            </a:r>
            <a:endParaRPr lang="en-US" sz="2000" dirty="0"/>
          </a:p>
        </p:txBody>
      </p:sp>
      <p:sp>
        <p:nvSpPr>
          <p:cNvPr id="6" name="codigo-fundo"/>
          <p:cNvSpPr/>
          <p:nvPr/>
        </p:nvSpPr>
        <p:spPr>
          <a:xfrm>
            <a:off x="4937760" y="1920240"/>
            <a:ext cx="6705295" cy="1728216"/>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igo"/>
          <p:cNvSpPr txBox="1"/>
          <p:nvPr/>
        </p:nvSpPr>
        <p:spPr>
          <a:xfrm>
            <a:off x="5166360" y="2450592"/>
            <a:ext cx="6248095" cy="1060704"/>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cd ~/workshop-claude/demo-project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claude</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/demo-plan</a:t>
            </a:r>
            <a:endParaRPr lang="en-US" sz="2000" dirty="0"/>
          </a:p>
        </p:txBody>
      </p:sp>
      <p:sp>
        <p:nvSpPr>
          <p:cNvPr id="9" name="esperado-marca"/>
          <p:cNvSpPr/>
          <p:nvPr/>
        </p:nvSpPr>
        <p:spPr>
          <a:xfrm>
            <a:off x="548640" y="5650992"/>
            <a:ext cx="292608" cy="292608"/>
          </a:xfrm>
          <a:prstGeom prst="rect">
            <a:avLst/>
          </a:prstGeom>
          <a:solidFill>
            <a:srgbClr val="6B34FD"/>
          </a:solidFill>
          <a:ln w="12700">
            <a:solidFill>
              <a:srgbClr val="6B34FD"/>
            </a:solidFill>
            <a:prstDash val="solid"/>
          </a:ln>
        </p:spPr>
      </p:sp>
      <p:sp>
        <p:nvSpPr>
          <p:cNvPr id="10" name="faca-esperado"/>
          <p:cNvSpPr txBox="1"/>
          <p:nvPr/>
        </p:nvSpPr>
        <p:spPr>
          <a:xfrm>
            <a:off x="100584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A Mermaid diagram, 4 waves and an estimate close to US$ 1.00</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Your plan: 4 waves</a:t>
            </a:r>
            <a:endParaRPr lang="en-US" sz="3200" dirty="0"/>
          </a:p>
        </p:txBody>
      </p:sp>
      <p:sp>
        <p:nvSpPr>
          <p:cNvPr id="3" name="onda-0"/>
          <p:cNvSpPr/>
          <p:nvPr/>
        </p:nvSpPr>
        <p:spPr>
          <a:xfrm>
            <a:off x="548640" y="1691640"/>
            <a:ext cx="4114800" cy="4023360"/>
          </a:xfrm>
          <a:prstGeom prst="rect">
            <a:avLst/>
          </a:prstGeom>
          <a:solidFill>
            <a:srgbClr val="F4EFFE"/>
          </a:solidFill>
          <a:ln w="12700">
            <a:solidFill>
              <a:srgbClr val="F4EFFE"/>
            </a:solidFill>
            <a:prstDash val="solid"/>
          </a:ln>
        </p:spPr>
      </p:sp>
      <p:sp>
        <p:nvSpPr>
          <p:cNvPr id="4" name="onda-nome-0"/>
          <p:cNvSpPr txBox="1"/>
          <p:nvPr/>
        </p:nvSpPr>
        <p:spPr>
          <a:xfrm>
            <a:off x="822960" y="1920240"/>
            <a:ext cx="356616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1</a:t>
            </a:r>
            <a:endParaRPr lang="en-US" sz="2400" dirty="0"/>
          </a:p>
        </p:txBody>
      </p:sp>
      <p:sp>
        <p:nvSpPr>
          <p:cNvPr id="5" name="onda-cor-0"/>
          <p:cNvSpPr/>
          <p:nvPr/>
        </p:nvSpPr>
        <p:spPr>
          <a:xfrm>
            <a:off x="822960" y="2487168"/>
            <a:ext cx="201168" cy="201168"/>
          </a:xfrm>
          <a:prstGeom prst="rect">
            <a:avLst/>
          </a:prstGeom>
          <a:solidFill>
            <a:srgbClr val="F1C232"/>
          </a:solidFill>
          <a:ln w="12700">
            <a:solidFill>
              <a:srgbClr val="F1C232"/>
            </a:solidFill>
            <a:prstDash val="solid"/>
          </a:ln>
        </p:spPr>
      </p:sp>
      <p:sp>
        <p:nvSpPr>
          <p:cNvPr id="6" name="onda-modelo-0"/>
          <p:cNvSpPr txBox="1"/>
          <p:nvPr/>
        </p:nvSpPr>
        <p:spPr>
          <a:xfrm>
            <a:off x="1115568" y="2432304"/>
            <a:ext cx="3291840" cy="320040"/>
          </a:xfrm>
          <a:prstGeom prst="rect">
            <a:avLst/>
          </a:prstGeom>
          <a:noFill/>
          <a:ln/>
        </p:spPr>
        <p:txBody>
          <a:bodyPr wrap="square" lIns="0" tIns="0" rIns="0" bIns="0" rtlCol="0" anchor="t"/>
          <a:lstStyle/>
          <a:p>
            <a:pPr indent="0" marL="0">
              <a:buNone/>
            </a:pPr>
            <a:r>
              <a:rPr lang="en-US" sz="1600" b="1" dirty="0">
                <a:solidFill>
                  <a:srgbClr val="140920"/>
                </a:solidFill>
                <a:latin typeface="Arial" pitchFamily="34" charset="0"/>
                <a:ea typeface="Arial" pitchFamily="34" charset="-122"/>
                <a:cs typeface="Arial" pitchFamily="34" charset="-120"/>
              </a:rPr>
              <a:t>Haiku</a:t>
            </a:r>
            <a:endParaRPr lang="en-US" sz="1600" dirty="0"/>
          </a:p>
        </p:txBody>
      </p:sp>
      <p:sp>
        <p:nvSpPr>
          <p:cNvPr id="7" name="onda-sub-0"/>
          <p:cNvSpPr txBox="1"/>
          <p:nvPr/>
        </p:nvSpPr>
        <p:spPr>
          <a:xfrm>
            <a:off x="822960" y="2834640"/>
            <a:ext cx="356616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lib-hash and 15 cards</a:t>
            </a:r>
            <a:endParaRPr lang="en-US" sz="1500" dirty="0"/>
          </a:p>
        </p:txBody>
      </p:sp>
      <p:sp>
        <p:nvSpPr>
          <p:cNvPr id="8" name="hash"/>
          <p:cNvSpPr/>
          <p:nvPr/>
        </p:nvSpPr>
        <p:spPr>
          <a:xfrm>
            <a:off x="822960" y="3474720"/>
            <a:ext cx="411480" cy="411480"/>
          </a:xfrm>
          <a:prstGeom prst="rect">
            <a:avLst/>
          </a:prstGeom>
          <a:solidFill>
            <a:srgbClr val="6B34FD"/>
          </a:solidFill>
          <a:ln w="12700">
            <a:solidFill>
              <a:srgbClr val="6B34FD"/>
            </a:solidFill>
            <a:prstDash val="solid"/>
          </a:ln>
        </p:spPr>
      </p:sp>
      <p:sp>
        <p:nvSpPr>
          <p:cNvPr id="9" name="hash-rotulo"/>
          <p:cNvSpPr txBox="1"/>
          <p:nvPr/>
        </p:nvSpPr>
        <p:spPr>
          <a:xfrm>
            <a:off x="1325880" y="3547872"/>
            <a:ext cx="1463040" cy="320040"/>
          </a:xfrm>
          <a:prstGeom prst="rect">
            <a:avLst/>
          </a:prstGeom>
          <a:noFill/>
          <a:ln/>
        </p:spPr>
        <p:txBody>
          <a:bodyPr wrap="square" lIns="0" tIns="0" rIns="0" bIns="0" rtlCol="0" anchor="t"/>
          <a:lstStyle/>
          <a:p>
            <a:pPr indent="0" marL="0">
              <a:buNone/>
            </a:pPr>
            <a:r>
              <a:rPr lang="en-US" sz="1400" b="1" dirty="0">
                <a:solidFill>
                  <a:srgbClr val="140920"/>
                </a:solidFill>
                <a:latin typeface="Arial" pitchFamily="34" charset="0"/>
                <a:ea typeface="Arial" pitchFamily="34" charset="-122"/>
                <a:cs typeface="Arial" pitchFamily="34" charset="-120"/>
              </a:rPr>
              <a:t>lib-hash</a:t>
            </a:r>
            <a:endParaRPr lang="en-US" sz="1400" dirty="0"/>
          </a:p>
        </p:txBody>
      </p:sp>
      <p:sp>
        <p:nvSpPr>
          <p:cNvPr id="10" name="cartao-0"/>
          <p:cNvSpPr/>
          <p:nvPr/>
        </p:nvSpPr>
        <p:spPr>
          <a:xfrm>
            <a:off x="822960" y="4069080"/>
            <a:ext cx="384048" cy="384048"/>
          </a:xfrm>
          <a:prstGeom prst="rect">
            <a:avLst/>
          </a:prstGeom>
          <a:solidFill>
            <a:srgbClr val="1E9E57"/>
          </a:solidFill>
          <a:ln w="12700">
            <a:solidFill>
              <a:srgbClr val="1E9E57"/>
            </a:solidFill>
            <a:prstDash val="solid"/>
          </a:ln>
        </p:spPr>
      </p:sp>
      <p:sp>
        <p:nvSpPr>
          <p:cNvPr id="11" name="cartao-1"/>
          <p:cNvSpPr/>
          <p:nvPr/>
        </p:nvSpPr>
        <p:spPr>
          <a:xfrm>
            <a:off x="1426464" y="4069080"/>
            <a:ext cx="384048" cy="384048"/>
          </a:xfrm>
          <a:prstGeom prst="rect">
            <a:avLst/>
          </a:prstGeom>
          <a:solidFill>
            <a:srgbClr val="F1C232"/>
          </a:solidFill>
          <a:ln w="12700">
            <a:solidFill>
              <a:srgbClr val="F1C232"/>
            </a:solidFill>
            <a:prstDash val="solid"/>
          </a:ln>
        </p:spPr>
      </p:sp>
      <p:sp>
        <p:nvSpPr>
          <p:cNvPr id="12" name="cartao-2"/>
          <p:cNvSpPr/>
          <p:nvPr/>
        </p:nvSpPr>
        <p:spPr>
          <a:xfrm>
            <a:off x="2029968" y="4069080"/>
            <a:ext cx="384048" cy="384048"/>
          </a:xfrm>
          <a:prstGeom prst="rect">
            <a:avLst/>
          </a:prstGeom>
          <a:solidFill>
            <a:srgbClr val="1E9E57"/>
          </a:solidFill>
          <a:ln w="12700">
            <a:solidFill>
              <a:srgbClr val="1E9E57"/>
            </a:solidFill>
            <a:prstDash val="solid"/>
          </a:ln>
        </p:spPr>
      </p:sp>
      <p:sp>
        <p:nvSpPr>
          <p:cNvPr id="13" name="cartao-3"/>
          <p:cNvSpPr/>
          <p:nvPr/>
        </p:nvSpPr>
        <p:spPr>
          <a:xfrm>
            <a:off x="2633472" y="4069080"/>
            <a:ext cx="384048" cy="384048"/>
          </a:xfrm>
          <a:prstGeom prst="rect">
            <a:avLst/>
          </a:prstGeom>
          <a:solidFill>
            <a:srgbClr val="1E9E57"/>
          </a:solidFill>
          <a:ln w="12700">
            <a:solidFill>
              <a:srgbClr val="1E9E57"/>
            </a:solidFill>
            <a:prstDash val="solid"/>
          </a:ln>
        </p:spPr>
      </p:sp>
      <p:sp>
        <p:nvSpPr>
          <p:cNvPr id="14" name="cartao-4"/>
          <p:cNvSpPr/>
          <p:nvPr/>
        </p:nvSpPr>
        <p:spPr>
          <a:xfrm>
            <a:off x="3236976" y="4069080"/>
            <a:ext cx="384048" cy="384048"/>
          </a:xfrm>
          <a:prstGeom prst="rect">
            <a:avLst/>
          </a:prstGeom>
          <a:solidFill>
            <a:srgbClr val="1E9E57"/>
          </a:solidFill>
          <a:ln w="12700">
            <a:solidFill>
              <a:srgbClr val="1E9E57"/>
            </a:solidFill>
            <a:prstDash val="solid"/>
          </a:ln>
        </p:spPr>
      </p:sp>
      <p:sp>
        <p:nvSpPr>
          <p:cNvPr id="15" name="cartao-5"/>
          <p:cNvSpPr/>
          <p:nvPr/>
        </p:nvSpPr>
        <p:spPr>
          <a:xfrm>
            <a:off x="822960" y="4526280"/>
            <a:ext cx="384048" cy="384048"/>
          </a:xfrm>
          <a:prstGeom prst="rect">
            <a:avLst/>
          </a:prstGeom>
          <a:solidFill>
            <a:srgbClr val="1E9E57"/>
          </a:solidFill>
          <a:ln w="12700">
            <a:solidFill>
              <a:srgbClr val="1E9E57"/>
            </a:solidFill>
            <a:prstDash val="solid"/>
          </a:ln>
        </p:spPr>
      </p:sp>
      <p:sp>
        <p:nvSpPr>
          <p:cNvPr id="16" name="cartao-6"/>
          <p:cNvSpPr/>
          <p:nvPr/>
        </p:nvSpPr>
        <p:spPr>
          <a:xfrm>
            <a:off x="1426464" y="4526280"/>
            <a:ext cx="384048" cy="384048"/>
          </a:xfrm>
          <a:prstGeom prst="rect">
            <a:avLst/>
          </a:prstGeom>
          <a:solidFill>
            <a:srgbClr val="F1C232"/>
          </a:solidFill>
          <a:ln w="12700">
            <a:solidFill>
              <a:srgbClr val="F1C232"/>
            </a:solidFill>
            <a:prstDash val="solid"/>
          </a:ln>
        </p:spPr>
      </p:sp>
      <p:sp>
        <p:nvSpPr>
          <p:cNvPr id="17" name="cartao-7"/>
          <p:cNvSpPr/>
          <p:nvPr/>
        </p:nvSpPr>
        <p:spPr>
          <a:xfrm>
            <a:off x="2029968" y="4526280"/>
            <a:ext cx="384048" cy="384048"/>
          </a:xfrm>
          <a:prstGeom prst="rect">
            <a:avLst/>
          </a:prstGeom>
          <a:solidFill>
            <a:srgbClr val="1E9E57"/>
          </a:solidFill>
          <a:ln w="12700">
            <a:solidFill>
              <a:srgbClr val="1E9E57"/>
            </a:solidFill>
            <a:prstDash val="solid"/>
          </a:ln>
        </p:spPr>
      </p:sp>
      <p:sp>
        <p:nvSpPr>
          <p:cNvPr id="18" name="cartao-8"/>
          <p:cNvSpPr/>
          <p:nvPr/>
        </p:nvSpPr>
        <p:spPr>
          <a:xfrm>
            <a:off x="2633472" y="4526280"/>
            <a:ext cx="384048" cy="384048"/>
          </a:xfrm>
          <a:prstGeom prst="rect">
            <a:avLst/>
          </a:prstGeom>
          <a:solidFill>
            <a:srgbClr val="1E9E57"/>
          </a:solidFill>
          <a:ln w="12700">
            <a:solidFill>
              <a:srgbClr val="1E9E57"/>
            </a:solidFill>
            <a:prstDash val="solid"/>
          </a:ln>
        </p:spPr>
      </p:sp>
      <p:sp>
        <p:nvSpPr>
          <p:cNvPr id="19" name="cartao-9"/>
          <p:cNvSpPr/>
          <p:nvPr/>
        </p:nvSpPr>
        <p:spPr>
          <a:xfrm>
            <a:off x="3236976" y="4526280"/>
            <a:ext cx="384048" cy="384048"/>
          </a:xfrm>
          <a:prstGeom prst="rect">
            <a:avLst/>
          </a:prstGeom>
          <a:solidFill>
            <a:srgbClr val="1E9E57"/>
          </a:solidFill>
          <a:ln w="12700">
            <a:solidFill>
              <a:srgbClr val="1E9E57"/>
            </a:solidFill>
            <a:prstDash val="solid"/>
          </a:ln>
        </p:spPr>
      </p:sp>
      <p:sp>
        <p:nvSpPr>
          <p:cNvPr id="20" name="cartao-10"/>
          <p:cNvSpPr/>
          <p:nvPr/>
        </p:nvSpPr>
        <p:spPr>
          <a:xfrm>
            <a:off x="822960" y="4983480"/>
            <a:ext cx="384048" cy="384048"/>
          </a:xfrm>
          <a:prstGeom prst="rect">
            <a:avLst/>
          </a:prstGeom>
          <a:solidFill>
            <a:srgbClr val="1E9E57"/>
          </a:solidFill>
          <a:ln w="12700">
            <a:solidFill>
              <a:srgbClr val="1E9E57"/>
            </a:solidFill>
            <a:prstDash val="solid"/>
          </a:ln>
        </p:spPr>
      </p:sp>
      <p:sp>
        <p:nvSpPr>
          <p:cNvPr id="21" name="cartao-11"/>
          <p:cNvSpPr/>
          <p:nvPr/>
        </p:nvSpPr>
        <p:spPr>
          <a:xfrm>
            <a:off x="1426464" y="4983480"/>
            <a:ext cx="384048" cy="384048"/>
          </a:xfrm>
          <a:prstGeom prst="rect">
            <a:avLst/>
          </a:prstGeom>
          <a:solidFill>
            <a:srgbClr val="F1C232"/>
          </a:solidFill>
          <a:ln w="12700">
            <a:solidFill>
              <a:srgbClr val="F1C232"/>
            </a:solidFill>
            <a:prstDash val="solid"/>
          </a:ln>
        </p:spPr>
      </p:sp>
      <p:sp>
        <p:nvSpPr>
          <p:cNvPr id="22" name="cartao-12"/>
          <p:cNvSpPr/>
          <p:nvPr/>
        </p:nvSpPr>
        <p:spPr>
          <a:xfrm>
            <a:off x="2029968" y="4983480"/>
            <a:ext cx="384048" cy="384048"/>
          </a:xfrm>
          <a:prstGeom prst="rect">
            <a:avLst/>
          </a:prstGeom>
          <a:solidFill>
            <a:srgbClr val="C4C7C1"/>
          </a:solidFill>
          <a:ln w="12700">
            <a:solidFill>
              <a:srgbClr val="C4C7C1"/>
            </a:solidFill>
            <a:prstDash val="solid"/>
          </a:ln>
        </p:spPr>
      </p:sp>
      <p:sp>
        <p:nvSpPr>
          <p:cNvPr id="23" name="cartao-13"/>
          <p:cNvSpPr/>
          <p:nvPr/>
        </p:nvSpPr>
        <p:spPr>
          <a:xfrm>
            <a:off x="2633472" y="4983480"/>
            <a:ext cx="384048" cy="384048"/>
          </a:xfrm>
          <a:prstGeom prst="rect">
            <a:avLst/>
          </a:prstGeom>
          <a:solidFill>
            <a:srgbClr val="C4C7C1"/>
          </a:solidFill>
          <a:ln w="12700">
            <a:solidFill>
              <a:srgbClr val="C4C7C1"/>
            </a:solidFill>
            <a:prstDash val="solid"/>
          </a:ln>
        </p:spPr>
      </p:sp>
      <p:sp>
        <p:nvSpPr>
          <p:cNvPr id="24" name="cartao-14"/>
          <p:cNvSpPr/>
          <p:nvPr/>
        </p:nvSpPr>
        <p:spPr>
          <a:xfrm>
            <a:off x="3236976" y="4983480"/>
            <a:ext cx="384048" cy="384048"/>
          </a:xfrm>
          <a:prstGeom prst="rect">
            <a:avLst/>
          </a:prstGeom>
          <a:solidFill>
            <a:srgbClr val="C4C7C1"/>
          </a:solidFill>
          <a:ln w="12700">
            <a:solidFill>
              <a:srgbClr val="C4C7C1"/>
            </a:solidFill>
            <a:prstDash val="solid"/>
          </a:ln>
        </p:spPr>
      </p:sp>
      <p:sp>
        <p:nvSpPr>
          <p:cNvPr id="25" name="seta-0"/>
          <p:cNvSpPr/>
          <p:nvPr/>
        </p:nvSpPr>
        <p:spPr>
          <a:xfrm>
            <a:off x="4718304" y="3703320"/>
            <a:ext cx="22250" cy="0"/>
          </a:xfrm>
          <a:prstGeom prst="line">
            <a:avLst/>
          </a:prstGeom>
          <a:noFill/>
          <a:ln w="31750">
            <a:solidFill>
              <a:srgbClr val="140920"/>
            </a:solidFill>
            <a:prstDash val="solid"/>
            <a:tailEnd type="triangle"/>
          </a:ln>
        </p:spPr>
      </p:sp>
      <p:sp>
        <p:nvSpPr>
          <p:cNvPr id="26" name="onda-1"/>
          <p:cNvSpPr/>
          <p:nvPr/>
        </p:nvSpPr>
        <p:spPr>
          <a:xfrm>
            <a:off x="4795418" y="1691640"/>
            <a:ext cx="2194560" cy="4023360"/>
          </a:xfrm>
          <a:prstGeom prst="rect">
            <a:avLst/>
          </a:prstGeom>
          <a:solidFill>
            <a:srgbClr val="F4EFFE"/>
          </a:solidFill>
          <a:ln w="12700">
            <a:solidFill>
              <a:srgbClr val="F4EFFE"/>
            </a:solidFill>
            <a:prstDash val="solid"/>
          </a:ln>
        </p:spPr>
      </p:sp>
      <p:sp>
        <p:nvSpPr>
          <p:cNvPr id="27" name="onda-nome-1"/>
          <p:cNvSpPr txBox="1"/>
          <p:nvPr/>
        </p:nvSpPr>
        <p:spPr>
          <a:xfrm>
            <a:off x="5069738" y="1920240"/>
            <a:ext cx="164592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2</a:t>
            </a:r>
            <a:endParaRPr lang="en-US" sz="2400" dirty="0"/>
          </a:p>
        </p:txBody>
      </p:sp>
      <p:sp>
        <p:nvSpPr>
          <p:cNvPr id="28" name="onda-cor-1"/>
          <p:cNvSpPr/>
          <p:nvPr/>
        </p:nvSpPr>
        <p:spPr>
          <a:xfrm>
            <a:off x="5069738" y="2487168"/>
            <a:ext cx="201168" cy="201168"/>
          </a:xfrm>
          <a:prstGeom prst="rect">
            <a:avLst/>
          </a:prstGeom>
          <a:solidFill>
            <a:srgbClr val="1E9E57"/>
          </a:solidFill>
          <a:ln w="12700">
            <a:solidFill>
              <a:srgbClr val="1E9E57"/>
            </a:solidFill>
            <a:prstDash val="solid"/>
          </a:ln>
        </p:spPr>
      </p:sp>
      <p:sp>
        <p:nvSpPr>
          <p:cNvPr id="29" name="onda-modelo-1"/>
          <p:cNvSpPr txBox="1"/>
          <p:nvPr/>
        </p:nvSpPr>
        <p:spPr>
          <a:xfrm>
            <a:off x="5362346" y="2432304"/>
            <a:ext cx="1371600" cy="320040"/>
          </a:xfrm>
          <a:prstGeom prst="rect">
            <a:avLst/>
          </a:prstGeom>
          <a:noFill/>
          <a:ln/>
        </p:spPr>
        <p:txBody>
          <a:bodyPr wrap="square" lIns="0" tIns="0" rIns="0" bIns="0" rtlCol="0" anchor="t"/>
          <a:lstStyle/>
          <a:p>
            <a:pPr indent="0" marL="0">
              <a:buNone/>
            </a:pPr>
            <a:r>
              <a:rPr lang="en-US" sz="1600" b="1" dirty="0">
                <a:solidFill>
                  <a:srgbClr val="140920"/>
                </a:solidFill>
                <a:latin typeface="Arial" pitchFamily="34" charset="0"/>
                <a:ea typeface="Arial" pitchFamily="34" charset="-122"/>
                <a:cs typeface="Arial" pitchFamily="34" charset="-120"/>
              </a:rPr>
              <a:t>Sonnet</a:t>
            </a:r>
            <a:endParaRPr lang="en-US" sz="1600" dirty="0"/>
          </a:p>
        </p:txBody>
      </p:sp>
      <p:sp>
        <p:nvSpPr>
          <p:cNvPr id="30" name="onda-sub-1"/>
          <p:cNvSpPr txBox="1"/>
          <p:nvPr/>
        </p:nvSpPr>
        <p:spPr>
          <a:xfrm>
            <a:off x="5069738" y="2834640"/>
            <a:ext cx="164592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categories and scoring</a:t>
            </a:r>
            <a:endParaRPr lang="en-US" sz="1500" dirty="0"/>
          </a:p>
        </p:txBody>
      </p:sp>
      <p:sp>
        <p:nvSpPr>
          <p:cNvPr id="31" name="onda1-0"/>
          <p:cNvSpPr/>
          <p:nvPr/>
        </p:nvSpPr>
        <p:spPr>
          <a:xfrm>
            <a:off x="5069738" y="3474720"/>
            <a:ext cx="502920" cy="502920"/>
          </a:xfrm>
          <a:prstGeom prst="rect">
            <a:avLst/>
          </a:prstGeom>
          <a:solidFill>
            <a:srgbClr val="C4C7C1"/>
          </a:solidFill>
          <a:ln w="12700">
            <a:solidFill>
              <a:srgbClr val="C4C7C1"/>
            </a:solidFill>
            <a:prstDash val="solid"/>
          </a:ln>
        </p:spPr>
      </p:sp>
      <p:sp>
        <p:nvSpPr>
          <p:cNvPr id="32" name="onda1-1"/>
          <p:cNvSpPr/>
          <p:nvPr/>
        </p:nvSpPr>
        <p:spPr>
          <a:xfrm>
            <a:off x="5709818" y="3474720"/>
            <a:ext cx="502920" cy="502920"/>
          </a:xfrm>
          <a:prstGeom prst="rect">
            <a:avLst/>
          </a:prstGeom>
          <a:solidFill>
            <a:srgbClr val="C4C7C1"/>
          </a:solidFill>
          <a:ln w="12700">
            <a:solidFill>
              <a:srgbClr val="C4C7C1"/>
            </a:solidFill>
            <a:prstDash val="solid"/>
          </a:ln>
        </p:spPr>
      </p:sp>
      <p:sp>
        <p:nvSpPr>
          <p:cNvPr id="33" name="seta-1"/>
          <p:cNvSpPr/>
          <p:nvPr/>
        </p:nvSpPr>
        <p:spPr>
          <a:xfrm>
            <a:off x="7044842" y="3703320"/>
            <a:ext cx="22250" cy="0"/>
          </a:xfrm>
          <a:prstGeom prst="line">
            <a:avLst/>
          </a:prstGeom>
          <a:noFill/>
          <a:ln w="31750">
            <a:solidFill>
              <a:srgbClr val="140920"/>
            </a:solidFill>
            <a:prstDash val="solid"/>
            <a:tailEnd type="triangle"/>
          </a:ln>
        </p:spPr>
      </p:sp>
      <p:sp>
        <p:nvSpPr>
          <p:cNvPr id="34" name="onda-2"/>
          <p:cNvSpPr/>
          <p:nvPr/>
        </p:nvSpPr>
        <p:spPr>
          <a:xfrm>
            <a:off x="7121957" y="1691640"/>
            <a:ext cx="2194560" cy="4023360"/>
          </a:xfrm>
          <a:prstGeom prst="rect">
            <a:avLst/>
          </a:prstGeom>
          <a:solidFill>
            <a:srgbClr val="F4EFFE"/>
          </a:solidFill>
          <a:ln w="12700">
            <a:solidFill>
              <a:srgbClr val="F4EFFE"/>
            </a:solidFill>
            <a:prstDash val="solid"/>
          </a:ln>
        </p:spPr>
      </p:sp>
      <p:sp>
        <p:nvSpPr>
          <p:cNvPr id="35" name="onda-nome-2"/>
          <p:cNvSpPr txBox="1"/>
          <p:nvPr/>
        </p:nvSpPr>
        <p:spPr>
          <a:xfrm>
            <a:off x="7396277" y="1920240"/>
            <a:ext cx="164592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3</a:t>
            </a:r>
            <a:endParaRPr lang="en-US" sz="2400" dirty="0"/>
          </a:p>
        </p:txBody>
      </p:sp>
      <p:sp>
        <p:nvSpPr>
          <p:cNvPr id="36" name="onda-cor-2"/>
          <p:cNvSpPr/>
          <p:nvPr/>
        </p:nvSpPr>
        <p:spPr>
          <a:xfrm>
            <a:off x="7396277" y="2487168"/>
            <a:ext cx="201168" cy="201168"/>
          </a:xfrm>
          <a:prstGeom prst="rect">
            <a:avLst/>
          </a:prstGeom>
          <a:solidFill>
            <a:srgbClr val="1E9E57"/>
          </a:solidFill>
          <a:ln w="12700">
            <a:solidFill>
              <a:srgbClr val="1E9E57"/>
            </a:solidFill>
            <a:prstDash val="solid"/>
          </a:ln>
        </p:spPr>
      </p:sp>
      <p:sp>
        <p:nvSpPr>
          <p:cNvPr id="37" name="onda-modelo-2"/>
          <p:cNvSpPr txBox="1"/>
          <p:nvPr/>
        </p:nvSpPr>
        <p:spPr>
          <a:xfrm>
            <a:off x="7688885" y="2432304"/>
            <a:ext cx="1371600" cy="320040"/>
          </a:xfrm>
          <a:prstGeom prst="rect">
            <a:avLst/>
          </a:prstGeom>
          <a:noFill/>
          <a:ln/>
        </p:spPr>
        <p:txBody>
          <a:bodyPr wrap="square" lIns="0" tIns="0" rIns="0" bIns="0" rtlCol="0" anchor="t"/>
          <a:lstStyle/>
          <a:p>
            <a:pPr indent="0" marL="0">
              <a:buNone/>
            </a:pPr>
            <a:r>
              <a:rPr lang="en-US" sz="1600" b="1" dirty="0">
                <a:solidFill>
                  <a:srgbClr val="140920"/>
                </a:solidFill>
                <a:latin typeface="Arial" pitchFamily="34" charset="0"/>
                <a:ea typeface="Arial" pitchFamily="34" charset="-122"/>
                <a:cs typeface="Arial" pitchFamily="34" charset="-120"/>
              </a:rPr>
              <a:t>Sonnet</a:t>
            </a:r>
            <a:endParaRPr lang="en-US" sz="1600" dirty="0"/>
          </a:p>
        </p:txBody>
      </p:sp>
      <p:sp>
        <p:nvSpPr>
          <p:cNvPr id="38" name="onda-sub-2"/>
          <p:cNvSpPr txBox="1"/>
          <p:nvPr/>
        </p:nvSpPr>
        <p:spPr>
          <a:xfrm>
            <a:off x="7396277" y="2834640"/>
            <a:ext cx="164592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integration and suite</a:t>
            </a:r>
            <a:endParaRPr lang="en-US" sz="1500" dirty="0"/>
          </a:p>
        </p:txBody>
      </p:sp>
      <p:sp>
        <p:nvSpPr>
          <p:cNvPr id="39" name="onda2-0"/>
          <p:cNvSpPr/>
          <p:nvPr/>
        </p:nvSpPr>
        <p:spPr>
          <a:xfrm>
            <a:off x="7396277" y="3474720"/>
            <a:ext cx="502920" cy="502920"/>
          </a:xfrm>
          <a:prstGeom prst="rect">
            <a:avLst/>
          </a:prstGeom>
          <a:solidFill>
            <a:srgbClr val="C4C7C1"/>
          </a:solidFill>
          <a:ln w="12700">
            <a:solidFill>
              <a:srgbClr val="C4C7C1"/>
            </a:solidFill>
            <a:prstDash val="solid"/>
          </a:ln>
        </p:spPr>
      </p:sp>
      <p:sp>
        <p:nvSpPr>
          <p:cNvPr id="40" name="seta-2"/>
          <p:cNvSpPr/>
          <p:nvPr/>
        </p:nvSpPr>
        <p:spPr>
          <a:xfrm>
            <a:off x="9371381" y="3703320"/>
            <a:ext cx="22250" cy="0"/>
          </a:xfrm>
          <a:prstGeom prst="line">
            <a:avLst/>
          </a:prstGeom>
          <a:noFill/>
          <a:ln w="31750">
            <a:solidFill>
              <a:srgbClr val="140920"/>
            </a:solidFill>
            <a:prstDash val="solid"/>
            <a:tailEnd type="triangle"/>
          </a:ln>
        </p:spPr>
      </p:sp>
      <p:sp>
        <p:nvSpPr>
          <p:cNvPr id="41" name="onda-3"/>
          <p:cNvSpPr/>
          <p:nvPr/>
        </p:nvSpPr>
        <p:spPr>
          <a:xfrm>
            <a:off x="9448495" y="1691640"/>
            <a:ext cx="2194560" cy="4023360"/>
          </a:xfrm>
          <a:prstGeom prst="rect">
            <a:avLst/>
          </a:prstGeom>
          <a:solidFill>
            <a:srgbClr val="F4EFFE"/>
          </a:solidFill>
          <a:ln w="12700">
            <a:solidFill>
              <a:srgbClr val="F4EFFE"/>
            </a:solidFill>
            <a:prstDash val="solid"/>
          </a:ln>
        </p:spPr>
      </p:sp>
      <p:sp>
        <p:nvSpPr>
          <p:cNvPr id="42" name="onda-nome-3"/>
          <p:cNvSpPr txBox="1"/>
          <p:nvPr/>
        </p:nvSpPr>
        <p:spPr>
          <a:xfrm>
            <a:off x="9722815" y="1920240"/>
            <a:ext cx="164592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4</a:t>
            </a:r>
            <a:endParaRPr lang="en-US" sz="2400" dirty="0"/>
          </a:p>
        </p:txBody>
      </p:sp>
      <p:sp>
        <p:nvSpPr>
          <p:cNvPr id="43" name="onda-cor-3"/>
          <p:cNvSpPr/>
          <p:nvPr/>
        </p:nvSpPr>
        <p:spPr>
          <a:xfrm>
            <a:off x="9722815" y="2487168"/>
            <a:ext cx="201168" cy="201168"/>
          </a:xfrm>
          <a:prstGeom prst="rect">
            <a:avLst/>
          </a:prstGeom>
          <a:solidFill>
            <a:srgbClr val="6B34FD"/>
          </a:solidFill>
          <a:ln w="12700">
            <a:solidFill>
              <a:srgbClr val="6B34FD"/>
            </a:solidFill>
            <a:prstDash val="solid"/>
          </a:ln>
        </p:spPr>
      </p:sp>
      <p:sp>
        <p:nvSpPr>
          <p:cNvPr id="44" name="onda-modelo-3"/>
          <p:cNvSpPr txBox="1"/>
          <p:nvPr/>
        </p:nvSpPr>
        <p:spPr>
          <a:xfrm>
            <a:off x="10015423" y="2432304"/>
            <a:ext cx="1371600" cy="320040"/>
          </a:xfrm>
          <a:prstGeom prst="rect">
            <a:avLst/>
          </a:prstGeom>
          <a:noFill/>
          <a:ln/>
        </p:spPr>
        <p:txBody>
          <a:bodyPr wrap="square" lIns="0" tIns="0" rIns="0" bIns="0" rtlCol="0" anchor="t"/>
          <a:lstStyle/>
          <a:p>
            <a:pPr indent="0" marL="0">
              <a:buNone/>
            </a:pPr>
            <a:r>
              <a:rPr lang="en-US" sz="1600" b="1" dirty="0">
                <a:solidFill>
                  <a:srgbClr val="140920"/>
                </a:solidFill>
                <a:latin typeface="Arial" pitchFamily="34" charset="0"/>
                <a:ea typeface="Arial" pitchFamily="34" charset="-122"/>
                <a:cs typeface="Arial" pitchFamily="34" charset="-120"/>
              </a:rPr>
              <a:t>Opus</a:t>
            </a:r>
            <a:endParaRPr lang="en-US" sz="1600" dirty="0"/>
          </a:p>
        </p:txBody>
      </p:sp>
      <p:sp>
        <p:nvSpPr>
          <p:cNvPr id="45" name="onda-sub-3"/>
          <p:cNvSpPr txBox="1"/>
          <p:nvPr/>
        </p:nvSpPr>
        <p:spPr>
          <a:xfrm>
            <a:off x="9722815" y="2834640"/>
            <a:ext cx="164592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review and verdict</a:t>
            </a:r>
            <a:endParaRPr lang="en-US" sz="1500" dirty="0"/>
          </a:p>
        </p:txBody>
      </p:sp>
      <p:sp>
        <p:nvSpPr>
          <p:cNvPr id="46" name="onda3-0"/>
          <p:cNvSpPr/>
          <p:nvPr/>
        </p:nvSpPr>
        <p:spPr>
          <a:xfrm>
            <a:off x="9722815" y="3474720"/>
            <a:ext cx="502920" cy="502920"/>
          </a:xfrm>
          <a:prstGeom prst="rect">
            <a:avLst/>
          </a:prstGeom>
          <a:solidFill>
            <a:srgbClr val="C4C7C1"/>
          </a:solidFill>
          <a:ln w="12700">
            <a:solidFill>
              <a:srgbClr val="C4C7C1"/>
            </a:solidFill>
            <a:prstDash val="solid"/>
          </a:ln>
        </p:spPr>
      </p:sp>
      <p:sp>
        <p:nvSpPr>
          <p:cNvPr id="47" name="legenda-dag"/>
          <p:cNvSpPr txBox="1"/>
          <p:nvPr/>
        </p:nvSpPr>
        <p:spPr>
          <a:xfrm>
            <a:off x="548640" y="5852160"/>
            <a:ext cx="11094415" cy="36576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Grey: waiting. The 3 cryptography cards start when lib-hash turns green.</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/demo-swarm does</a:t>
            </a:r>
            <a:endParaRPr lang="en-US" sz="3200" dirty="0"/>
          </a:p>
        </p:txBody>
      </p:sp>
      <p:sp>
        <p:nvSpPr>
          <p:cNvPr id="3" name="codigo-fundo"/>
          <p:cNvSpPr/>
          <p:nvPr/>
        </p:nvSpPr>
        <p:spPr>
          <a:xfrm>
            <a:off x="548640" y="1508760"/>
            <a:ext cx="5760720" cy="3250692"/>
          </a:xfrm>
          <a:prstGeom prst="rect">
            <a:avLst/>
          </a:prstGeom>
          <a:solidFill>
            <a:srgbClr val="140920"/>
          </a:solidFill>
          <a:ln w="12700">
            <a:solidFill>
              <a:srgbClr val="140920"/>
            </a:solidFill>
            <a:prstDash val="solid"/>
          </a:ln>
        </p:spPr>
      </p:sp>
      <p:sp>
        <p:nvSpPr>
          <p:cNvPr id="4" name="codigo-rotulo"/>
          <p:cNvSpPr txBox="1"/>
          <p:nvPr/>
        </p:nvSpPr>
        <p:spPr>
          <a:xfrm>
            <a:off x="777240" y="1691640"/>
            <a:ext cx="5303520"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.claude/skills/demo-swarm/SKILL.md (summary)</a:t>
            </a:r>
            <a:endParaRPr lang="en-US" sz="1300" dirty="0"/>
          </a:p>
        </p:txBody>
      </p:sp>
      <p:sp>
        <p:nvSpPr>
          <p:cNvPr id="5" name="codigo"/>
          <p:cNvSpPr txBox="1"/>
          <p:nvPr/>
        </p:nvSpPr>
        <p:spPr>
          <a:xfrm>
            <a:off x="777240" y="2039112"/>
            <a:ext cx="5303520" cy="2583180"/>
          </a:xfrm>
          <a:prstGeom prst="rect">
            <a:avLst/>
          </a:prstGeom>
          <a:noFill/>
          <a:ln/>
        </p:spPr>
        <p:txBody>
          <a:bodyPr wrap="square" lIns="0" tIns="0" rIns="0" bIns="0" rtlCol="0" anchor="t"/>
          <a:lstStyle/>
          <a:p>
            <a:pPr indent="0" marL="0">
              <a:buNone/>
            </a:pPr>
            <a:r>
              <a:rPr lang="en-US" sz="1500" dirty="0">
                <a:solidFill>
                  <a:srgbClr val="FCF9FE"/>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name: demo-swarm</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model: sonnet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allowed-tools: node tools/*, Agent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Repeat until ESTADO: FIM</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1. next-wave.mjs → the next batch</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2. Launch the batch agents, in parallel</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3. Each agent does 1 card and runs its test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4. Show the table: agent, model, cost</a:t>
            </a:r>
            <a:endParaRPr lang="en-US" sz="1500" dirty="0"/>
          </a:p>
        </p:txBody>
      </p:sp>
      <p:sp>
        <p:nvSpPr>
          <p:cNvPr id="6" name="anatomia-marca-0"/>
          <p:cNvSpPr/>
          <p:nvPr/>
        </p:nvSpPr>
        <p:spPr>
          <a:xfrm>
            <a:off x="6766560" y="1572768"/>
            <a:ext cx="274320" cy="274320"/>
          </a:xfrm>
          <a:prstGeom prst="rect">
            <a:avLst/>
          </a:prstGeom>
          <a:solidFill>
            <a:srgbClr val="6B34FD"/>
          </a:solidFill>
          <a:ln w="12700">
            <a:solidFill>
              <a:srgbClr val="6B34FD"/>
            </a:solidFill>
            <a:prstDash val="solid"/>
          </a:ln>
        </p:spPr>
      </p:sp>
      <p:sp>
        <p:nvSpPr>
          <p:cNvPr id="7" name="anatomia-titulo-0"/>
          <p:cNvSpPr txBox="1"/>
          <p:nvPr/>
        </p:nvSpPr>
        <p:spPr>
          <a:xfrm>
            <a:off x="7223760" y="1508760"/>
            <a:ext cx="4419295" cy="411480"/>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The script decides</a:t>
            </a:r>
            <a:endParaRPr lang="en-US" sz="2000" dirty="0"/>
          </a:p>
        </p:txBody>
      </p:sp>
      <p:sp>
        <p:nvSpPr>
          <p:cNvPr id="8" name="anatomia-texto-0"/>
          <p:cNvSpPr txBox="1"/>
          <p:nvPr/>
        </p:nvSpPr>
        <p:spPr>
          <a:xfrm>
            <a:off x="7223760" y="1920240"/>
            <a:ext cx="441929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The graph says what can run now. Claude only launches the batch the script hands it: no improvising.</a:t>
            </a:r>
            <a:endParaRPr lang="en-US" sz="1500" dirty="0"/>
          </a:p>
        </p:txBody>
      </p:sp>
      <p:sp>
        <p:nvSpPr>
          <p:cNvPr id="9" name="anatomia-marca-1"/>
          <p:cNvSpPr/>
          <p:nvPr/>
        </p:nvSpPr>
        <p:spPr>
          <a:xfrm>
            <a:off x="6766560" y="3020568"/>
            <a:ext cx="274320" cy="274320"/>
          </a:xfrm>
          <a:prstGeom prst="rect">
            <a:avLst/>
          </a:prstGeom>
          <a:solidFill>
            <a:srgbClr val="8F23D7"/>
          </a:solidFill>
          <a:ln w="12700">
            <a:solidFill>
              <a:srgbClr val="8F23D7"/>
            </a:solidFill>
            <a:prstDash val="solid"/>
          </a:ln>
        </p:spPr>
      </p:sp>
      <p:sp>
        <p:nvSpPr>
          <p:cNvPr id="10" name="anatomia-titulo-1"/>
          <p:cNvSpPr txBox="1"/>
          <p:nvPr/>
        </p:nvSpPr>
        <p:spPr>
          <a:xfrm>
            <a:off x="7223760" y="2956560"/>
            <a:ext cx="4419295" cy="411480"/>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One agent, one task</a:t>
            </a:r>
            <a:endParaRPr lang="en-US" sz="2000" dirty="0"/>
          </a:p>
        </p:txBody>
      </p:sp>
      <p:sp>
        <p:nvSpPr>
          <p:cNvPr id="11" name="anatomia-texto-1"/>
          <p:cNvSpPr txBox="1"/>
          <p:nvPr/>
        </p:nvSpPr>
        <p:spPr>
          <a:xfrm>
            <a:off x="7223760" y="3368040"/>
            <a:ext cx="441929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Each agent starts with a clean context, gets one card and that card's test, and uses the right model: Haiku for the bulk.</a:t>
            </a:r>
            <a:endParaRPr lang="en-US" sz="1500" dirty="0"/>
          </a:p>
        </p:txBody>
      </p:sp>
      <p:sp>
        <p:nvSpPr>
          <p:cNvPr id="12" name="anatomia-marca-2"/>
          <p:cNvSpPr/>
          <p:nvPr/>
        </p:nvSpPr>
        <p:spPr>
          <a:xfrm>
            <a:off x="6766560" y="4468368"/>
            <a:ext cx="274320" cy="274320"/>
          </a:xfrm>
          <a:prstGeom prst="rect">
            <a:avLst/>
          </a:prstGeom>
          <a:solidFill>
            <a:srgbClr val="F25928"/>
          </a:solidFill>
          <a:ln w="12700">
            <a:solidFill>
              <a:srgbClr val="F25928"/>
            </a:solidFill>
            <a:prstDash val="solid"/>
          </a:ln>
        </p:spPr>
      </p:sp>
      <p:sp>
        <p:nvSpPr>
          <p:cNvPr id="13" name="anatomia-titulo-2"/>
          <p:cNvSpPr txBox="1"/>
          <p:nvPr/>
        </p:nvSpPr>
        <p:spPr>
          <a:xfrm>
            <a:off x="7223760" y="4404360"/>
            <a:ext cx="4419295" cy="411480"/>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In your project</a:t>
            </a:r>
            <a:endParaRPr lang="en-US" sz="2000" dirty="0"/>
          </a:p>
        </p:txBody>
      </p:sp>
      <p:sp>
        <p:nvSpPr>
          <p:cNvPr id="14" name="anatomia-texto-2"/>
          <p:cNvSpPr txBox="1"/>
          <p:nvPr/>
        </p:nvSpPr>
        <p:spPr>
          <a:xfrm>
            <a:off x="7223760" y="4815840"/>
            <a:ext cx="441929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/task-swarm does the same with the subtasks of your issue.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Release the swarm</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/demo-swarm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a second terminal</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Start the server and open /estado</a:t>
            </a:r>
            <a:endParaRPr lang="en-US" sz="2000" dirty="0"/>
          </a:p>
        </p:txBody>
      </p:sp>
      <p:sp>
        <p:nvSpPr>
          <p:cNvPr id="6" name="codigo-fundo"/>
          <p:cNvSpPr/>
          <p:nvPr/>
        </p:nvSpPr>
        <p:spPr>
          <a:xfrm>
            <a:off x="4937760" y="1920240"/>
            <a:ext cx="6705295" cy="1051560"/>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igo"/>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/demo-swarm</a:t>
            </a:r>
            <a:endParaRPr lang="en-US" sz="2000" dirty="0"/>
          </a:p>
        </p:txBody>
      </p:sp>
      <p:sp>
        <p:nvSpPr>
          <p:cNvPr id="9" name="codigo-fundo"/>
          <p:cNvSpPr/>
          <p:nvPr/>
        </p:nvSpPr>
        <p:spPr>
          <a:xfrm>
            <a:off x="4937760" y="3200400"/>
            <a:ext cx="6705295" cy="1389888"/>
          </a:xfrm>
          <a:prstGeom prst="rect">
            <a:avLst/>
          </a:prstGeom>
          <a:solidFill>
            <a:srgbClr val="140920"/>
          </a:solidFill>
          <a:ln w="12700">
            <a:solidFill>
              <a:srgbClr val="140920"/>
            </a:solidFill>
            <a:prstDash val="solid"/>
          </a:ln>
        </p:spPr>
      </p:sp>
      <p:sp>
        <p:nvSpPr>
          <p:cNvPr id="10" name="codigo-rotulo"/>
          <p:cNvSpPr txBox="1"/>
          <p:nvPr/>
        </p:nvSpPr>
        <p:spPr>
          <a:xfrm>
            <a:off x="5166360" y="338328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2</a:t>
            </a:r>
            <a:endParaRPr lang="en-US" sz="1300" dirty="0"/>
          </a:p>
        </p:txBody>
      </p:sp>
      <p:sp>
        <p:nvSpPr>
          <p:cNvPr id="11" name="codigo"/>
          <p:cNvSpPr txBox="1"/>
          <p:nvPr/>
        </p:nvSpPr>
        <p:spPr>
          <a:xfrm>
            <a:off x="5166360" y="3730752"/>
            <a:ext cx="6248095" cy="722376"/>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cd ~/workshop-claude/demo-project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node server.js</a:t>
            </a:r>
            <a:endParaRPr lang="en-US" sz="2000" dirty="0"/>
          </a:p>
        </p:txBody>
      </p:sp>
      <p:sp>
        <p:nvSpPr>
          <p:cNvPr id="12" name="esperado-marca"/>
          <p:cNvSpPr/>
          <p:nvPr/>
        </p:nvSpPr>
        <p:spPr>
          <a:xfrm>
            <a:off x="548640" y="5650992"/>
            <a:ext cx="292608" cy="292608"/>
          </a:xfrm>
          <a:prstGeom prst="rect">
            <a:avLst/>
          </a:prstGeom>
          <a:solidFill>
            <a:srgbClr val="6B34FD"/>
          </a:solidFill>
          <a:ln w="12700">
            <a:solidFill>
              <a:srgbClr val="6B34FD"/>
            </a:solidFill>
            <a:prstDash val="solid"/>
          </a:ln>
        </p:spPr>
      </p:sp>
      <p:sp>
        <p:nvSpPr>
          <p:cNvPr id="13" name="faca-esperado"/>
          <p:cNvSpPr txBox="1"/>
          <p:nvPr/>
        </p:nvSpPr>
        <p:spPr>
          <a:xfrm>
            <a:off x="100584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http://localhost:3000/estado: the squares turn yellow and then green</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Ask without interrupting</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While the swarm works, in Terminal 1</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Use /btw for a side question</a:t>
            </a:r>
            <a:endParaRPr lang="en-US" sz="2000" dirty="0"/>
          </a:p>
        </p:txBody>
      </p:sp>
      <p:sp>
        <p:nvSpPr>
          <p:cNvPr id="6" name="codigo-fundo"/>
          <p:cNvSpPr/>
          <p:nvPr/>
        </p:nvSpPr>
        <p:spPr>
          <a:xfrm>
            <a:off x="4937760" y="1920240"/>
            <a:ext cx="6705295" cy="1051560"/>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igo"/>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/btw why does cr-01 wait for lib-hash?</a:t>
            </a:r>
            <a:endParaRPr lang="en-US" sz="2000" dirty="0"/>
          </a:p>
        </p:txBody>
      </p:sp>
      <p:sp>
        <p:nvSpPr>
          <p:cNvPr id="9" name="esperado-marca"/>
          <p:cNvSpPr/>
          <p:nvPr/>
        </p:nvSpPr>
        <p:spPr>
          <a:xfrm>
            <a:off x="548640" y="5650992"/>
            <a:ext cx="292608" cy="292608"/>
          </a:xfrm>
          <a:prstGeom prst="rect">
            <a:avLst/>
          </a:prstGeom>
          <a:solidFill>
            <a:srgbClr val="6B34FD"/>
          </a:solidFill>
          <a:ln w="12700">
            <a:solidFill>
              <a:srgbClr val="6B34FD"/>
            </a:solidFill>
            <a:prstDash val="solid"/>
          </a:ln>
        </p:spPr>
      </p:sp>
      <p:sp>
        <p:nvSpPr>
          <p:cNvPr id="10" name="faca-esperado"/>
          <p:cNvSpPr txBox="1"/>
          <p:nvPr/>
        </p:nvSpPr>
        <p:spPr>
          <a:xfrm>
            <a:off x="100584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An answer that does not enter the conversation or stop the swarm</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Hooks: Claude signals, a script reacts</a:t>
            </a:r>
            <a:endParaRPr lang="en-US" sz="3200" dirty="0"/>
          </a:p>
        </p:txBody>
      </p:sp>
      <p:sp>
        <p:nvSpPr>
          <p:cNvPr id="3" name="codigo-fundo"/>
          <p:cNvSpPr/>
          <p:nvPr/>
        </p:nvSpPr>
        <p:spPr>
          <a:xfrm>
            <a:off x="548640" y="1508760"/>
            <a:ext cx="5760720" cy="2371039"/>
          </a:xfrm>
          <a:prstGeom prst="rect">
            <a:avLst/>
          </a:prstGeom>
          <a:solidFill>
            <a:srgbClr val="140920"/>
          </a:solidFill>
          <a:ln w="12700">
            <a:solidFill>
              <a:srgbClr val="140920"/>
            </a:solidFill>
            <a:prstDash val="solid"/>
          </a:ln>
        </p:spPr>
      </p:sp>
      <p:sp>
        <p:nvSpPr>
          <p:cNvPr id="4" name="codigo-rotulo"/>
          <p:cNvSpPr txBox="1"/>
          <p:nvPr/>
        </p:nvSpPr>
        <p:spPr>
          <a:xfrm>
            <a:off x="777240" y="1691640"/>
            <a:ext cx="5303520"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Event → command, in .claude/settings.json</a:t>
            </a:r>
            <a:endParaRPr lang="en-US" sz="1300" dirty="0"/>
          </a:p>
        </p:txBody>
      </p:sp>
      <p:sp>
        <p:nvSpPr>
          <p:cNvPr id="5" name="codigo"/>
          <p:cNvSpPr txBox="1"/>
          <p:nvPr/>
        </p:nvSpPr>
        <p:spPr>
          <a:xfrm>
            <a:off x="777240" y="2039112"/>
            <a:ext cx="5303520" cy="1703527"/>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SubagentStop      ← an agent finished</a:t>
            </a:r>
            <a:endParaRPr lang="en-US" sz="1400" dirty="0"/>
          </a:p>
          <a:p>
            <a:pPr indent="0" marL="0">
              <a:buNone/>
            </a:pPr>
            <a:r>
              <a:rPr lang="en-US" sz="1400" dirty="0">
                <a:solidFill>
                  <a:srgbClr val="FCF9FE"/>
                </a:solidFill>
                <a:latin typeface="Courier New" pitchFamily="34" charset="0"/>
                <a:ea typeface="Courier New" pitchFamily="34" charset="-122"/>
                <a:cs typeface="Courier New" pitchFamily="34" charset="-120"/>
              </a:rPr>
              <a:t>  └─ node hooks/subagent-stop.mjs</a:t>
            </a:r>
            <a:endParaRPr lang="en-US" sz="1400" dirty="0"/>
          </a:p>
          <a:p>
            <a:pPr indent="0" marL="0">
              <a:buNone/>
            </a:pPr>
            <a:r>
              <a:rPr lang="en-US" sz="1400" dirty="0">
                <a:solidFill>
                  <a:srgbClr val="FCF9FE"/>
                </a:solidFill>
                <a:latin typeface="Courier New" pitchFamily="34" charset="0"/>
                <a:ea typeface="Courier New" pitchFamily="34" charset="-122"/>
                <a:cs typeface="Courier New" pitchFamily="34" charset="-120"/>
              </a:rPr>
              <a:t>       reads the tokens that agent used</a:t>
            </a:r>
            <a:endParaRPr lang="en-US" sz="1400" dirty="0"/>
          </a:p>
          <a:p>
            <a:pPr indent="0" marL="0">
              <a:buNone/>
            </a:pPr>
            <a:r>
              <a:rPr lang="en-US" sz="1400" dirty="0">
                <a:solidFill>
                  <a:srgbClr val="FCF9FE"/>
                </a:solidFill>
                <a:latin typeface="Courier New" pitchFamily="34" charset="0"/>
                <a:ea typeface="Courier New" pitchFamily="34" charset="-122"/>
                <a:cs typeface="Courier New" pitchFamily="34" charset="-120"/>
              </a:rPr>
              <a:t>       writes the cost to .workshop/usage.jsonl</a:t>
            </a:r>
            <a:endParaRPr lang="en-US" sz="1400" dirty="0"/>
          </a:p>
          <a:p>
            <a:pPr indent="0" marL="0">
              <a:buNone/>
            </a:pPr>
            <a:endParaRPr lang="en-US" sz="1400" dirty="0"/>
          </a:p>
          <a:p>
            <a:pPr indent="0" marL="0">
              <a:buNone/>
            </a:pPr>
            <a:r>
              <a:rPr lang="en-US" sz="1400" dirty="0">
                <a:solidFill>
                  <a:srgbClr val="FCF9FE"/>
                </a:solidFill>
                <a:latin typeface="Courier New" pitchFamily="34" charset="0"/>
                <a:ea typeface="Courier New" pitchFamily="34" charset="-122"/>
                <a:cs typeface="Courier New" pitchFamily="34" charset="-120"/>
              </a:rPr>
              <a:t>Other events: PreToolUse, PostToolUse,</a:t>
            </a:r>
            <a:endParaRPr lang="en-US" sz="1400" dirty="0"/>
          </a:p>
          <a:p>
            <a:pPr indent="0" marL="0">
              <a:buNone/>
            </a:pPr>
            <a:r>
              <a:rPr lang="en-US" sz="1400" dirty="0">
                <a:solidFill>
                  <a:srgbClr val="FCF9FE"/>
                </a:solidFill>
                <a:latin typeface="Courier New" pitchFamily="34" charset="0"/>
                <a:ea typeface="Courier New" pitchFamily="34" charset="-122"/>
                <a:cs typeface="Courier New" pitchFamily="34" charset="-120"/>
              </a:rPr>
              <a:t>UserPromptSubmit, Stop, SessionStart</a:t>
            </a:r>
            <a:endParaRPr lang="en-US" sz="1400" dirty="0"/>
          </a:p>
        </p:txBody>
      </p:sp>
      <p:sp>
        <p:nvSpPr>
          <p:cNvPr id="6" name="anatomia-marca-0"/>
          <p:cNvSpPr/>
          <p:nvPr/>
        </p:nvSpPr>
        <p:spPr>
          <a:xfrm>
            <a:off x="6766560" y="1572768"/>
            <a:ext cx="274320" cy="274320"/>
          </a:xfrm>
          <a:prstGeom prst="rect">
            <a:avLst/>
          </a:prstGeom>
          <a:solidFill>
            <a:srgbClr val="6B34FD"/>
          </a:solidFill>
          <a:ln w="12700">
            <a:solidFill>
              <a:srgbClr val="6B34FD"/>
            </a:solidFill>
            <a:prstDash val="solid"/>
          </a:ln>
        </p:spPr>
      </p:sp>
      <p:sp>
        <p:nvSpPr>
          <p:cNvPr id="7" name="anatomia-titulo-0"/>
          <p:cNvSpPr txBox="1"/>
          <p:nvPr/>
        </p:nvSpPr>
        <p:spPr>
          <a:xfrm>
            <a:off x="7223760" y="1508760"/>
            <a:ext cx="4419295" cy="411480"/>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What it is</a:t>
            </a:r>
            <a:endParaRPr lang="en-US" sz="2000" dirty="0"/>
          </a:p>
        </p:txBody>
      </p:sp>
      <p:sp>
        <p:nvSpPr>
          <p:cNvPr id="8" name="anatomia-texto-0"/>
          <p:cNvSpPr txBox="1"/>
          <p:nvPr/>
        </p:nvSpPr>
        <p:spPr>
          <a:xfrm>
            <a:off x="7223760" y="1920240"/>
            <a:ext cx="441929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A command Claude Code runs on its own at the right moment: before or after a tool, when an agent finishes, at the end of the session.</a:t>
            </a:r>
            <a:endParaRPr lang="en-US" sz="1500" dirty="0"/>
          </a:p>
        </p:txBody>
      </p:sp>
      <p:sp>
        <p:nvSpPr>
          <p:cNvPr id="9" name="anatomia-marca-1"/>
          <p:cNvSpPr/>
          <p:nvPr/>
        </p:nvSpPr>
        <p:spPr>
          <a:xfrm>
            <a:off x="6766560" y="3020568"/>
            <a:ext cx="274320" cy="274320"/>
          </a:xfrm>
          <a:prstGeom prst="rect">
            <a:avLst/>
          </a:prstGeom>
          <a:solidFill>
            <a:srgbClr val="8F23D7"/>
          </a:solidFill>
          <a:ln w="12700">
            <a:solidFill>
              <a:srgbClr val="8F23D7"/>
            </a:solidFill>
            <a:prstDash val="solid"/>
          </a:ln>
        </p:spPr>
      </p:sp>
      <p:sp>
        <p:nvSpPr>
          <p:cNvPr id="10" name="anatomia-titulo-1"/>
          <p:cNvSpPr txBox="1"/>
          <p:nvPr/>
        </p:nvSpPr>
        <p:spPr>
          <a:xfrm>
            <a:off x="7223760" y="2956560"/>
            <a:ext cx="4419295" cy="411480"/>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What it is for</a:t>
            </a:r>
            <a:endParaRPr lang="en-US" sz="2000" dirty="0"/>
          </a:p>
        </p:txBody>
      </p:sp>
      <p:sp>
        <p:nvSpPr>
          <p:cNvPr id="11" name="anatomia-texto-1"/>
          <p:cNvSpPr txBox="1"/>
          <p:nvPr/>
        </p:nvSpPr>
        <p:spPr>
          <a:xfrm>
            <a:off x="7223760" y="3368040"/>
            <a:ext cx="441929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Measuring, checking, formatting or blocking, every time, without relying on the model to remember. Here it measures the cost of each agent.</a:t>
            </a:r>
            <a:endParaRPr lang="en-US" sz="1500" dirty="0"/>
          </a:p>
        </p:txBody>
      </p:sp>
      <p:sp>
        <p:nvSpPr>
          <p:cNvPr id="12" name="anatomia-marca-2"/>
          <p:cNvSpPr/>
          <p:nvPr/>
        </p:nvSpPr>
        <p:spPr>
          <a:xfrm>
            <a:off x="6766560" y="4468368"/>
            <a:ext cx="274320" cy="274320"/>
          </a:xfrm>
          <a:prstGeom prst="rect">
            <a:avLst/>
          </a:prstGeom>
          <a:solidFill>
            <a:srgbClr val="F25928"/>
          </a:solidFill>
          <a:ln w="12700">
            <a:solidFill>
              <a:srgbClr val="F25928"/>
            </a:solidFill>
            <a:prstDash val="solid"/>
          </a:ln>
        </p:spPr>
      </p:sp>
      <p:sp>
        <p:nvSpPr>
          <p:cNvPr id="13" name="anatomia-titulo-2"/>
          <p:cNvSpPr txBox="1"/>
          <p:nvPr/>
        </p:nvSpPr>
        <p:spPr>
          <a:xfrm>
            <a:off x="7223760" y="4404360"/>
            <a:ext cx="4419295" cy="411480"/>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Make your own</a:t>
            </a:r>
            <a:endParaRPr lang="en-US" sz="2000" dirty="0"/>
          </a:p>
        </p:txBody>
      </p:sp>
      <p:sp>
        <p:nvSpPr>
          <p:cNvPr id="14" name="anatomia-texto-2"/>
          <p:cNvSpPr txBox="1"/>
          <p:nvPr/>
        </p:nvSpPr>
        <p:spPr>
          <a:xfrm>
            <a:off x="7223760" y="4815840"/>
            <a:ext cx="441929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Ask Claude: "Create a PostToolUse hook that runs prettier on every file you edit." It writes it into settings.json; you review and approve it in /hooks.</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Statusline: the status line is a script</a:t>
            </a:r>
            <a:endParaRPr lang="en-US" sz="3200" dirty="0"/>
          </a:p>
        </p:txBody>
      </p:sp>
      <p:sp>
        <p:nvSpPr>
          <p:cNvPr id="3" name="codigo-fundo"/>
          <p:cNvSpPr/>
          <p:nvPr/>
        </p:nvSpPr>
        <p:spPr>
          <a:xfrm>
            <a:off x="548640" y="1508760"/>
            <a:ext cx="5760720" cy="2194560"/>
          </a:xfrm>
          <a:prstGeom prst="rect">
            <a:avLst/>
          </a:prstGeom>
          <a:solidFill>
            <a:srgbClr val="140920"/>
          </a:solidFill>
          <a:ln w="12700">
            <a:solidFill>
              <a:srgbClr val="140920"/>
            </a:solidFill>
            <a:prstDash val="solid"/>
          </a:ln>
        </p:spPr>
      </p:sp>
      <p:sp>
        <p:nvSpPr>
          <p:cNvPr id="4" name="codigo-rotulo"/>
          <p:cNvSpPr txBox="1"/>
          <p:nvPr/>
        </p:nvSpPr>
        <p:spPr>
          <a:xfrm>
            <a:off x="777240" y="1691640"/>
            <a:ext cx="5303520"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The line under the input box</a:t>
            </a:r>
            <a:endParaRPr lang="en-US" sz="1300" dirty="0"/>
          </a:p>
        </p:txBody>
      </p:sp>
      <p:sp>
        <p:nvSpPr>
          <p:cNvPr id="5" name="codigo"/>
          <p:cNvSpPr txBox="1"/>
          <p:nvPr/>
        </p:nvSpPr>
        <p:spPr>
          <a:xfrm>
            <a:off x="777240" y="2039112"/>
            <a:ext cx="5303520" cy="1527048"/>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Claude Code ── session JSON ──▶ statusline.mjs</a:t>
            </a:r>
            <a:endParaRPr lang="en-US" sz="1400" dirty="0"/>
          </a:p>
          <a:p>
            <a:pPr indent="0" marL="0">
              <a:buNone/>
            </a:pPr>
            <a:r>
              <a:rPr lang="en-US" sz="1400" dirty="0">
                <a:solidFill>
                  <a:srgbClr val="FCF9FE"/>
                </a:solidFill>
                <a:latin typeface="Courier New" pitchFamily="34" charset="0"/>
                <a:ea typeface="Courier New" pitchFamily="34" charset="-122"/>
                <a:cs typeface="Courier New" pitchFamily="34" charset="-120"/>
              </a:rPr>
              <a:t>statusline.mjs ──── one line ────▶ screen</a:t>
            </a:r>
            <a:endParaRPr lang="en-US" sz="1400" dirty="0"/>
          </a:p>
          <a:p>
            <a:pPr indent="0" marL="0">
              <a:buNone/>
            </a:pPr>
            <a:endParaRPr lang="en-US" sz="1400" dirty="0"/>
          </a:p>
          <a:p>
            <a:pPr indent="0" marL="0">
              <a:buNone/>
            </a:pPr>
            <a:r>
              <a:rPr lang="en-US" sz="1400" dirty="0">
                <a:solidFill>
                  <a:srgbClr val="FCF9FE"/>
                </a:solidFill>
                <a:latin typeface="Courier New" pitchFamily="34" charset="0"/>
                <a:ea typeface="Courier New" pitchFamily="34" charset="-122"/>
                <a:cs typeface="Courier New" pitchFamily="34" charset="-120"/>
              </a:rPr>
              <a:t>Sonnet · session US$ 0.42 · project US$ 1.10 / 5</a:t>
            </a:r>
            <a:endParaRPr lang="en-US" sz="1400" dirty="0"/>
          </a:p>
          <a:p>
            <a:pPr indent="0" marL="0">
              <a:buNone/>
            </a:pPr>
            <a:r>
              <a:rPr lang="en-US" sz="1400" dirty="0">
                <a:solidFill>
                  <a:srgbClr val="FCF9FE"/>
                </a:solidFill>
                <a:latin typeface="Courier New" pitchFamily="34" charset="0"/>
                <a:ea typeface="Courier New" pitchFamily="34" charset="-122"/>
                <a:cs typeface="Courier New" pitchFamily="34" charset="-120"/>
              </a:rPr>
              <a:t>· 3 min · swarm 12/15</a:t>
            </a:r>
            <a:endParaRPr lang="en-US" sz="1400" dirty="0"/>
          </a:p>
        </p:txBody>
      </p:sp>
      <p:sp>
        <p:nvSpPr>
          <p:cNvPr id="6" name="anatomia-marca-0"/>
          <p:cNvSpPr/>
          <p:nvPr/>
        </p:nvSpPr>
        <p:spPr>
          <a:xfrm>
            <a:off x="6766560" y="1572768"/>
            <a:ext cx="274320" cy="274320"/>
          </a:xfrm>
          <a:prstGeom prst="rect">
            <a:avLst/>
          </a:prstGeom>
          <a:solidFill>
            <a:srgbClr val="6B34FD"/>
          </a:solidFill>
          <a:ln w="12700">
            <a:solidFill>
              <a:srgbClr val="6B34FD"/>
            </a:solidFill>
            <a:prstDash val="solid"/>
          </a:ln>
        </p:spPr>
      </p:sp>
      <p:sp>
        <p:nvSpPr>
          <p:cNvPr id="7" name="anatomia-titulo-0"/>
          <p:cNvSpPr txBox="1"/>
          <p:nvPr/>
        </p:nvSpPr>
        <p:spPr>
          <a:xfrm>
            <a:off x="7223760" y="1508760"/>
            <a:ext cx="4419295" cy="411480"/>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What it is</a:t>
            </a:r>
            <a:endParaRPr lang="en-US" sz="2000" dirty="0"/>
          </a:p>
        </p:txBody>
      </p:sp>
      <p:sp>
        <p:nvSpPr>
          <p:cNvPr id="8" name="anatomia-texto-0"/>
          <p:cNvSpPr txBox="1"/>
          <p:nvPr/>
        </p:nvSpPr>
        <p:spPr>
          <a:xfrm>
            <a:off x="7223760" y="1920240"/>
            <a:ext cx="441929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A script that receives the session state (model, folder, cost) and returns one line of text.</a:t>
            </a:r>
            <a:endParaRPr lang="en-US" sz="1500" dirty="0"/>
          </a:p>
        </p:txBody>
      </p:sp>
      <p:sp>
        <p:nvSpPr>
          <p:cNvPr id="9" name="anatomia-marca-1"/>
          <p:cNvSpPr/>
          <p:nvPr/>
        </p:nvSpPr>
        <p:spPr>
          <a:xfrm>
            <a:off x="6766560" y="3020568"/>
            <a:ext cx="274320" cy="274320"/>
          </a:xfrm>
          <a:prstGeom prst="rect">
            <a:avLst/>
          </a:prstGeom>
          <a:solidFill>
            <a:srgbClr val="8F23D7"/>
          </a:solidFill>
          <a:ln w="12700">
            <a:solidFill>
              <a:srgbClr val="8F23D7"/>
            </a:solidFill>
            <a:prstDash val="solid"/>
          </a:ln>
        </p:spPr>
      </p:sp>
      <p:sp>
        <p:nvSpPr>
          <p:cNvPr id="10" name="anatomia-titulo-1"/>
          <p:cNvSpPr txBox="1"/>
          <p:nvPr/>
        </p:nvSpPr>
        <p:spPr>
          <a:xfrm>
            <a:off x="7223760" y="2956560"/>
            <a:ext cx="4419295" cy="411480"/>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In the kit</a:t>
            </a:r>
            <a:endParaRPr lang="en-US" sz="2000" dirty="0"/>
          </a:p>
        </p:txBody>
      </p:sp>
      <p:sp>
        <p:nvSpPr>
          <p:cNvPr id="11" name="anatomia-texto-1"/>
          <p:cNvSpPr txBox="1"/>
          <p:nvPr/>
        </p:nvSpPr>
        <p:spPr>
          <a:xfrm>
            <a:off x="7223760" y="3368040"/>
            <a:ext cx="441929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It reads what the hook recorded and shows the session and project cost, live, against the US$ 5 target.</a:t>
            </a:r>
            <a:endParaRPr lang="en-US" sz="1500" dirty="0"/>
          </a:p>
        </p:txBody>
      </p:sp>
      <p:sp>
        <p:nvSpPr>
          <p:cNvPr id="12" name="anatomia-marca-2"/>
          <p:cNvSpPr/>
          <p:nvPr/>
        </p:nvSpPr>
        <p:spPr>
          <a:xfrm>
            <a:off x="6766560" y="4468368"/>
            <a:ext cx="274320" cy="274320"/>
          </a:xfrm>
          <a:prstGeom prst="rect">
            <a:avLst/>
          </a:prstGeom>
          <a:solidFill>
            <a:srgbClr val="F25928"/>
          </a:solidFill>
          <a:ln w="12700">
            <a:solidFill>
              <a:srgbClr val="F25928"/>
            </a:solidFill>
            <a:prstDash val="solid"/>
          </a:ln>
        </p:spPr>
      </p:sp>
      <p:sp>
        <p:nvSpPr>
          <p:cNvPr id="13" name="anatomia-titulo-2"/>
          <p:cNvSpPr txBox="1"/>
          <p:nvPr/>
        </p:nvSpPr>
        <p:spPr>
          <a:xfrm>
            <a:off x="7223760" y="4404360"/>
            <a:ext cx="4419295" cy="411480"/>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Make your own</a:t>
            </a:r>
            <a:endParaRPr lang="en-US" sz="2000" dirty="0"/>
          </a:p>
        </p:txBody>
      </p:sp>
      <p:sp>
        <p:nvSpPr>
          <p:cNvPr id="14" name="anatomia-texto-2"/>
          <p:cNvSpPr txBox="1"/>
          <p:nvPr/>
        </p:nvSpPr>
        <p:spPr>
          <a:xfrm>
            <a:off x="7223760" y="4815840"/>
            <a:ext cx="441929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Type /statusline and say what you want to see, for example "the git branch and the session cost". Claude writes the script.</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In Terminal 2: three features</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Plan mode: Shift+Tab until "plan mode"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Headless: a question without opening a session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Rewind: Esc Esc to go back</a:t>
            </a:r>
            <a:endParaRPr lang="en-US" sz="2000" dirty="0"/>
          </a:p>
        </p:txBody>
      </p:sp>
      <p:sp>
        <p:nvSpPr>
          <p:cNvPr id="6" name="codigo-fundo"/>
          <p:cNvSpPr/>
          <p:nvPr/>
        </p:nvSpPr>
        <p:spPr>
          <a:xfrm>
            <a:off x="4937760" y="1920240"/>
            <a:ext cx="6705295" cy="1288390"/>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Plan mode</a:t>
            </a:r>
            <a:endParaRPr lang="en-US" sz="1300" dirty="0"/>
          </a:p>
        </p:txBody>
      </p:sp>
      <p:sp>
        <p:nvSpPr>
          <p:cNvPr id="8" name="codigo"/>
          <p:cNvSpPr txBox="1"/>
          <p:nvPr/>
        </p:nvSpPr>
        <p:spPr>
          <a:xfrm>
            <a:off x="5166360" y="2450592"/>
            <a:ext cx="6248095" cy="620878"/>
          </a:xfrm>
          <a:prstGeom prst="rect">
            <a:avLst/>
          </a:prstGeom>
          <a:noFill/>
          <a:ln/>
        </p:spPr>
        <p:txBody>
          <a:bodyPr wrap="square" lIns="0" tIns="0" rIns="0" bIns="0" rtlCol="0" anchor="t"/>
          <a:lstStyle/>
          <a:p>
            <a:pPr indent="0" marL="0">
              <a:buNone/>
            </a:pPr>
            <a:r>
              <a:rPr lang="en-US" sz="1700" dirty="0">
                <a:solidFill>
                  <a:srgbClr val="FCF9FE"/>
                </a:solidFill>
                <a:latin typeface="Courier New" pitchFamily="34" charset="0"/>
                <a:ea typeface="Courier New" pitchFamily="34" charset="-122"/>
                <a:cs typeface="Courier New" pitchFamily="34" charset="-120"/>
              </a:rPr>
              <a:t>claude</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(Shift+Tab) How would you add an 11th category?</a:t>
            </a:r>
            <a:endParaRPr lang="en-US" sz="1700" dirty="0"/>
          </a:p>
        </p:txBody>
      </p:sp>
      <p:sp>
        <p:nvSpPr>
          <p:cNvPr id="9" name="codigo-fundo"/>
          <p:cNvSpPr/>
          <p:nvPr/>
        </p:nvSpPr>
        <p:spPr>
          <a:xfrm>
            <a:off x="4937760" y="3437230"/>
            <a:ext cx="6705295" cy="1423721"/>
          </a:xfrm>
          <a:prstGeom prst="rect">
            <a:avLst/>
          </a:prstGeom>
          <a:solidFill>
            <a:srgbClr val="140920"/>
          </a:solidFill>
          <a:ln w="12700">
            <a:solidFill>
              <a:srgbClr val="140920"/>
            </a:solidFill>
            <a:prstDash val="solid"/>
          </a:ln>
        </p:spPr>
      </p:sp>
      <p:sp>
        <p:nvSpPr>
          <p:cNvPr id="10" name="codigo-rotulo"/>
          <p:cNvSpPr txBox="1"/>
          <p:nvPr/>
        </p:nvSpPr>
        <p:spPr>
          <a:xfrm>
            <a:off x="5166360" y="362011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Headless</a:t>
            </a:r>
            <a:endParaRPr lang="en-US" sz="1300" dirty="0"/>
          </a:p>
        </p:txBody>
      </p:sp>
      <p:sp>
        <p:nvSpPr>
          <p:cNvPr id="11" name="codigo"/>
          <p:cNvSpPr txBox="1"/>
          <p:nvPr/>
        </p:nvSpPr>
        <p:spPr>
          <a:xfrm>
            <a:off x="5166360" y="3967582"/>
            <a:ext cx="6248095" cy="756209"/>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claude -p "Summarise PLANO.md in one sentence" --model claude-haiku-5-5</a:t>
            </a:r>
            <a:endParaRPr lang="en-US" sz="1400" dirty="0"/>
          </a:p>
        </p:txBody>
      </p:sp>
      <p:sp>
        <p:nvSpPr>
          <p:cNvPr id="12" name="esperado-marca"/>
          <p:cNvSpPr/>
          <p:nvPr/>
        </p:nvSpPr>
        <p:spPr>
          <a:xfrm>
            <a:off x="548640" y="5650992"/>
            <a:ext cx="292608" cy="292608"/>
          </a:xfrm>
          <a:prstGeom prst="rect">
            <a:avLst/>
          </a:prstGeom>
          <a:solidFill>
            <a:srgbClr val="6B34FD"/>
          </a:solidFill>
          <a:ln w="12700">
            <a:solidFill>
              <a:srgbClr val="6B34FD"/>
            </a:solidFill>
            <a:prstDash val="solid"/>
          </a:ln>
        </p:spPr>
      </p:sp>
      <p:sp>
        <p:nvSpPr>
          <p:cNvPr id="13" name="faca-esperado"/>
          <p:cNvSpPr txBox="1"/>
          <p:nvPr/>
        </p:nvSpPr>
        <p:spPr>
          <a:xfrm>
            <a:off x="100584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No changes made, one sentence in the terminal and a checkpoint to rewind to</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Worktrees and routines</a:t>
            </a:r>
            <a:endParaRPr lang="en-US" sz="3200" dirty="0"/>
          </a:p>
        </p:txBody>
      </p:sp>
      <p:sp>
        <p:nvSpPr>
          <p:cNvPr id="3" name="coluna-0"/>
          <p:cNvSpPr/>
          <p:nvPr/>
        </p:nvSpPr>
        <p:spPr>
          <a:xfrm>
            <a:off x="548640" y="1691640"/>
            <a:ext cx="3484778" cy="3566160"/>
          </a:xfrm>
          <a:prstGeom prst="rect">
            <a:avLst/>
          </a:prstGeom>
          <a:solidFill>
            <a:srgbClr val="F4EFFE"/>
          </a:solidFill>
          <a:ln w="12700">
            <a:solidFill>
              <a:srgbClr val="F4EFFE"/>
            </a:solidFill>
            <a:prstDash val="solid"/>
          </a:ln>
        </p:spPr>
      </p:sp>
      <p:sp>
        <p:nvSpPr>
          <p:cNvPr id="4" name="marca-0"/>
          <p:cNvSpPr/>
          <p:nvPr/>
        </p:nvSpPr>
        <p:spPr>
          <a:xfrm>
            <a:off x="868680" y="2011680"/>
            <a:ext cx="384048" cy="384048"/>
          </a:xfrm>
          <a:prstGeom prst="rect">
            <a:avLst/>
          </a:prstGeom>
          <a:solidFill>
            <a:srgbClr val="6B34FD"/>
          </a:solidFill>
          <a:ln w="12700">
            <a:solidFill>
              <a:srgbClr val="6B34FD"/>
            </a:solidFill>
            <a:prstDash val="solid"/>
          </a:ln>
        </p:spPr>
      </p:sp>
      <p:sp>
        <p:nvSpPr>
          <p:cNvPr id="5" name="coluna-titulo-0"/>
          <p:cNvSpPr txBox="1"/>
          <p:nvPr/>
        </p:nvSpPr>
        <p:spPr>
          <a:xfrm>
            <a:off x="868680" y="2697480"/>
            <a:ext cx="2844698" cy="91440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claude -w experiment</a:t>
            </a:r>
            <a:endParaRPr lang="en-US" sz="2600" dirty="0"/>
          </a:p>
        </p:txBody>
      </p:sp>
      <p:sp>
        <p:nvSpPr>
          <p:cNvPr id="6" name="coluna-texto-0"/>
          <p:cNvSpPr txBox="1"/>
          <p:nvPr/>
        </p:nvSpPr>
        <p:spPr>
          <a:xfrm>
            <a:off x="868680" y="3657600"/>
            <a:ext cx="2844698" cy="146304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an isolated copy of the repository, on its own branch, to work in parallel</a:t>
            </a:r>
            <a:endParaRPr lang="en-US" sz="2000" dirty="0"/>
          </a:p>
        </p:txBody>
      </p:sp>
      <p:sp>
        <p:nvSpPr>
          <p:cNvPr id="7" name="coluna-1"/>
          <p:cNvSpPr/>
          <p:nvPr/>
        </p:nvSpPr>
        <p:spPr>
          <a:xfrm>
            <a:off x="4353458" y="1691640"/>
            <a:ext cx="3484778" cy="3566160"/>
          </a:xfrm>
          <a:prstGeom prst="rect">
            <a:avLst/>
          </a:prstGeom>
          <a:solidFill>
            <a:srgbClr val="F4EFFE"/>
          </a:solidFill>
          <a:ln w="12700">
            <a:solidFill>
              <a:srgbClr val="F4EFFE"/>
            </a:solidFill>
            <a:prstDash val="solid"/>
          </a:ln>
        </p:spPr>
      </p:sp>
      <p:sp>
        <p:nvSpPr>
          <p:cNvPr id="8" name="marca-1"/>
          <p:cNvSpPr/>
          <p:nvPr/>
        </p:nvSpPr>
        <p:spPr>
          <a:xfrm>
            <a:off x="4673498" y="2011680"/>
            <a:ext cx="384048" cy="384048"/>
          </a:xfrm>
          <a:prstGeom prst="rect">
            <a:avLst/>
          </a:prstGeom>
          <a:solidFill>
            <a:srgbClr val="8F23D7"/>
          </a:solidFill>
          <a:ln w="12700">
            <a:solidFill>
              <a:srgbClr val="8F23D7"/>
            </a:solidFill>
            <a:prstDash val="solid"/>
          </a:ln>
        </p:spPr>
      </p:sp>
      <p:sp>
        <p:nvSpPr>
          <p:cNvPr id="9" name="coluna-titulo-1"/>
          <p:cNvSpPr txBox="1"/>
          <p:nvPr/>
        </p:nvSpPr>
        <p:spPr>
          <a:xfrm>
            <a:off x="4673498" y="2697480"/>
            <a:ext cx="2844698" cy="91440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isolation: worktree</a:t>
            </a:r>
            <a:endParaRPr lang="en-US" sz="2600" dirty="0"/>
          </a:p>
        </p:txBody>
      </p:sp>
      <p:sp>
        <p:nvSpPr>
          <p:cNvPr id="10" name="coluna-texto-1"/>
          <p:cNvSpPr txBox="1"/>
          <p:nvPr/>
        </p:nvSpPr>
        <p:spPr>
          <a:xfrm>
            <a:off x="4673498" y="3657600"/>
            <a:ext cx="2844698" cy="146304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a subagent in its own worktree, when the tasks touch the same files</a:t>
            </a:r>
            <a:endParaRPr lang="en-US" sz="2000" dirty="0"/>
          </a:p>
        </p:txBody>
      </p:sp>
      <p:sp>
        <p:nvSpPr>
          <p:cNvPr id="11" name="coluna-2"/>
          <p:cNvSpPr/>
          <p:nvPr/>
        </p:nvSpPr>
        <p:spPr>
          <a:xfrm>
            <a:off x="8158277" y="1691640"/>
            <a:ext cx="3484778" cy="3566160"/>
          </a:xfrm>
          <a:prstGeom prst="rect">
            <a:avLst/>
          </a:prstGeom>
          <a:solidFill>
            <a:srgbClr val="F4EFFE"/>
          </a:solidFill>
          <a:ln w="12700">
            <a:solidFill>
              <a:srgbClr val="F4EFFE"/>
            </a:solidFill>
            <a:prstDash val="solid"/>
          </a:ln>
        </p:spPr>
      </p:sp>
      <p:sp>
        <p:nvSpPr>
          <p:cNvPr id="12" name="marca-2"/>
          <p:cNvSpPr/>
          <p:nvPr/>
        </p:nvSpPr>
        <p:spPr>
          <a:xfrm>
            <a:off x="8478317" y="2011680"/>
            <a:ext cx="384048" cy="384048"/>
          </a:xfrm>
          <a:prstGeom prst="rect">
            <a:avLst/>
          </a:prstGeom>
          <a:solidFill>
            <a:srgbClr val="F25928"/>
          </a:solidFill>
          <a:ln w="12700">
            <a:solidFill>
              <a:srgbClr val="F25928"/>
            </a:solidFill>
            <a:prstDash val="solid"/>
          </a:ln>
        </p:spPr>
      </p:sp>
      <p:sp>
        <p:nvSpPr>
          <p:cNvPr id="13" name="coluna-titulo-2"/>
          <p:cNvSpPr txBox="1"/>
          <p:nvPr/>
        </p:nvSpPr>
        <p:spPr>
          <a:xfrm>
            <a:off x="8478317" y="2697480"/>
            <a:ext cx="2844698" cy="91440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Local routine</a:t>
            </a:r>
            <a:endParaRPr lang="en-US" sz="2600" dirty="0"/>
          </a:p>
        </p:txBody>
      </p:sp>
      <p:sp>
        <p:nvSpPr>
          <p:cNvPr id="14" name="coluna-texto-2"/>
          <p:cNvSpPr txBox="1"/>
          <p:nvPr/>
        </p:nvSpPr>
        <p:spPr>
          <a:xfrm>
            <a:off x="8478317" y="3657600"/>
            <a:ext cx="2844698" cy="146304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the system scheduler runs claude -p every day. The cloud /schedule needs a subscription</a:t>
            </a:r>
            <a:endParaRPr lang="en-US" sz="20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Until everything is green</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If there are red squares at the end</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Let a /loop work for you</a:t>
            </a:r>
            <a:endParaRPr lang="en-US" sz="2000" dirty="0"/>
          </a:p>
        </p:txBody>
      </p:sp>
      <p:sp>
        <p:nvSpPr>
          <p:cNvPr id="6" name="codigo-fundo"/>
          <p:cNvSpPr/>
          <p:nvPr/>
        </p:nvSpPr>
        <p:spPr>
          <a:xfrm>
            <a:off x="4937760" y="1920240"/>
            <a:ext cx="6705295" cy="1660550"/>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igo"/>
          <p:cNvSpPr txBox="1"/>
          <p:nvPr/>
        </p:nvSpPr>
        <p:spPr>
          <a:xfrm>
            <a:off x="5166360" y="2450592"/>
            <a:ext cx="6248095" cy="993038"/>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/loop 2m run node tools/check-integracao.mjs and fix the first red test with the implementer; stop when everything is green</a:t>
            </a:r>
            <a:endParaRPr lang="en-US" sz="1400" dirty="0"/>
          </a:p>
        </p:txBody>
      </p:sp>
      <p:sp>
        <p:nvSpPr>
          <p:cNvPr id="9" name="esperado-marca"/>
          <p:cNvSpPr/>
          <p:nvPr/>
        </p:nvSpPr>
        <p:spPr>
          <a:xfrm>
            <a:off x="548640" y="5650992"/>
            <a:ext cx="292608" cy="292608"/>
          </a:xfrm>
          <a:prstGeom prst="rect">
            <a:avLst/>
          </a:prstGeom>
          <a:solidFill>
            <a:srgbClr val="6B34FD"/>
          </a:solidFill>
          <a:ln w="12700">
            <a:solidFill>
              <a:srgbClr val="6B34FD"/>
            </a:solidFill>
            <a:prstDash val="solid"/>
          </a:ln>
        </p:spPr>
      </p:sp>
      <p:sp>
        <p:nvSpPr>
          <p:cNvPr id="10" name="faca-esperado"/>
          <p:cNvSpPr txBox="1"/>
          <p:nvPr/>
        </p:nvSpPr>
        <p:spPr>
          <a:xfrm>
            <a:off x="100584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The loop stops by itself when the suite is green</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The security gate</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/demo-review</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the verdict of the reviewer (Opus)</a:t>
            </a:r>
            <a:endParaRPr lang="en-US" sz="2000" dirty="0"/>
          </a:p>
        </p:txBody>
      </p:sp>
      <p:sp>
        <p:nvSpPr>
          <p:cNvPr id="6" name="codigo-fundo"/>
          <p:cNvSpPr/>
          <p:nvPr/>
        </p:nvSpPr>
        <p:spPr>
          <a:xfrm>
            <a:off x="4937760" y="1920240"/>
            <a:ext cx="6705295" cy="1051560"/>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igo"/>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/demo-review</a:t>
            </a:r>
            <a:endParaRPr lang="en-US" sz="2000" dirty="0"/>
          </a:p>
        </p:txBody>
      </p:sp>
      <p:sp>
        <p:nvSpPr>
          <p:cNvPr id="9" name="esperado-marca"/>
          <p:cNvSpPr/>
          <p:nvPr/>
        </p:nvSpPr>
        <p:spPr>
          <a:xfrm>
            <a:off x="548640" y="5650992"/>
            <a:ext cx="292608" cy="292608"/>
          </a:xfrm>
          <a:prstGeom prst="rect">
            <a:avLst/>
          </a:prstGeom>
          <a:solidFill>
            <a:srgbClr val="6B34FD"/>
          </a:solidFill>
          <a:ln w="12700">
            <a:solidFill>
              <a:srgbClr val="6B34FD"/>
            </a:solidFill>
            <a:prstDash val="solid"/>
          </a:ln>
        </p:spPr>
      </p:sp>
      <p:sp>
        <p:nvSpPr>
          <p:cNvPr id="10" name="faca-esperado"/>
          <p:cNvSpPr txBox="1"/>
          <p:nvPr/>
        </p:nvSpPr>
        <p:spPr>
          <a:xfrm>
            <a:off x="100584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GATE: APROVADO, with tests, CSP, no eval or innerHTML, no secrets</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How much did it cost?</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/demo-cost</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Compare Haiku with the orchestrator</a:t>
            </a:r>
            <a:endParaRPr lang="en-US" sz="2000" dirty="0"/>
          </a:p>
        </p:txBody>
      </p:sp>
      <p:sp>
        <p:nvSpPr>
          <p:cNvPr id="6" name="codigo-fundo"/>
          <p:cNvSpPr/>
          <p:nvPr/>
        </p:nvSpPr>
        <p:spPr>
          <a:xfrm>
            <a:off x="4937760" y="1920240"/>
            <a:ext cx="6705295" cy="1051560"/>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igo"/>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/demo-cost</a:t>
            </a:r>
            <a:endParaRPr lang="en-US" sz="2000" dirty="0"/>
          </a:p>
        </p:txBody>
      </p:sp>
      <p:sp>
        <p:nvSpPr>
          <p:cNvPr id="9" name="esperado-marca"/>
          <p:cNvSpPr/>
          <p:nvPr/>
        </p:nvSpPr>
        <p:spPr>
          <a:xfrm>
            <a:off x="548640" y="5650992"/>
            <a:ext cx="292608" cy="292608"/>
          </a:xfrm>
          <a:prstGeom prst="rect">
            <a:avLst/>
          </a:prstGeom>
          <a:solidFill>
            <a:srgbClr val="6B34FD"/>
          </a:solidFill>
          <a:ln w="12700">
            <a:solidFill>
              <a:srgbClr val="6B34FD"/>
            </a:solidFill>
            <a:prstDash val="solid"/>
          </a:ln>
        </p:spPr>
      </p:sp>
      <p:sp>
        <p:nvSpPr>
          <p:cNvPr id="10" name="faca-esperado"/>
          <p:cNvSpPr txBox="1"/>
          <p:nvPr/>
        </p:nvSpPr>
        <p:spPr>
          <a:xfrm>
            <a:off x="100584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Cost per agent, model and wave, close to US$ 1.02</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Play what the swarm built</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the gallery</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Pick a card and play</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Click "Run tests"</a:t>
            </a:r>
            <a:endParaRPr lang="en-US" sz="2000" dirty="0"/>
          </a:p>
        </p:txBody>
      </p:sp>
      <p:sp>
        <p:nvSpPr>
          <p:cNvPr id="6" name="codigo-fundo"/>
          <p:cNvSpPr/>
          <p:nvPr/>
        </p:nvSpPr>
        <p:spPr>
          <a:xfrm>
            <a:off x="4937760" y="1920240"/>
            <a:ext cx="6705295" cy="1051560"/>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Browser</a:t>
            </a:r>
            <a:endParaRPr lang="en-US" sz="1300" dirty="0"/>
          </a:p>
        </p:txBody>
      </p:sp>
      <p:sp>
        <p:nvSpPr>
          <p:cNvPr id="8" name="codigo"/>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http://localhost:3000</a:t>
            </a:r>
            <a:endParaRPr lang="en-US" sz="2000" dirty="0"/>
          </a:p>
        </p:txBody>
      </p:sp>
      <p:sp>
        <p:nvSpPr>
          <p:cNvPr id="9" name="esperado-marca"/>
          <p:cNvSpPr/>
          <p:nvPr/>
        </p:nvSpPr>
        <p:spPr>
          <a:xfrm>
            <a:off x="548640" y="5650992"/>
            <a:ext cx="292608" cy="292608"/>
          </a:xfrm>
          <a:prstGeom prst="rect">
            <a:avLst/>
          </a:prstGeom>
          <a:solidFill>
            <a:srgbClr val="6B34FD"/>
          </a:solidFill>
          <a:ln w="12700">
            <a:solidFill>
              <a:srgbClr val="6B34FD"/>
            </a:solidFill>
            <a:prstDash val="solid"/>
          </a:ln>
        </p:spPr>
      </p:sp>
      <p:sp>
        <p:nvSpPr>
          <p:cNvPr id="10" name="faca-esperado"/>
          <p:cNvSpPr txBox="1"/>
          <p:nvPr/>
        </p:nvSpPr>
        <p:spPr>
          <a:xfrm>
            <a:off x="100584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Green cards you can play; the red ones show why they failed</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memory of what you did</a:t>
            </a:r>
            <a:endParaRPr lang="en-US" sz="3200" dirty="0"/>
          </a:p>
        </p:txBody>
      </p:sp>
      <p:pic>
        <p:nvPicPr>
          <p:cNvPr id="3" name="imagem" descr="Search by ticket or epic (e.g. ARENA-1): lessons, do, don't and history linked to projects, epics, tasks and files">    </p:cNvPr>
          <p:cNvPicPr>
            <a:picLocks noChangeAspect="1"/>
          </p:cNvPicPr>
          <p:nvPr/>
        </p:nvPicPr>
        <p:blipFill>
          <a:blip r:embed="rId1"/>
          <a:stretch>
            <a:fillRect/>
          </a:stretch>
        </p:blipFill>
        <p:spPr>
          <a:xfrm>
            <a:off x="2235048" y="1463040"/>
            <a:ext cx="7721600" cy="4343400"/>
          </a:xfrm>
          <a:prstGeom prst="rect">
            <a:avLst/>
          </a:prstGeom>
        </p:spPr>
      </p:pic>
      <p:sp>
        <p:nvSpPr>
          <p:cNvPr id="4" name="legenda"/>
          <p:cNvSpPr txBox="1"/>
          <p:nvPr/>
        </p:nvSpPr>
        <p:spPr>
          <a:xfrm>
            <a:off x="548640" y="5943600"/>
            <a:ext cx="11094415" cy="36576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Search by ticket or epic (e.g. ARENA-1): lessons, do, don't and history linked to projects, epics, tasks and files</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Open your first graph</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the Memória app</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Click a node to read the lesson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Drag the time slider</a:t>
            </a:r>
            <a:endParaRPr lang="en-US" sz="2000" dirty="0"/>
          </a:p>
        </p:txBody>
      </p:sp>
      <p:sp>
        <p:nvSpPr>
          <p:cNvPr id="6" name="codigo-fundo"/>
          <p:cNvSpPr/>
          <p:nvPr/>
        </p:nvSpPr>
        <p:spPr>
          <a:xfrm>
            <a:off x="4937760" y="1920240"/>
            <a:ext cx="6705295" cy="1000811"/>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Mac</a:t>
            </a:r>
            <a:endParaRPr lang="en-US" sz="1300" dirty="0"/>
          </a:p>
        </p:txBody>
      </p:sp>
      <p:sp>
        <p:nvSpPr>
          <p:cNvPr id="8" name="codigo"/>
          <p:cNvSpPr txBox="1"/>
          <p:nvPr/>
        </p:nvSpPr>
        <p:spPr>
          <a:xfrm>
            <a:off x="5166360" y="2450592"/>
            <a:ext cx="6248095" cy="333299"/>
          </a:xfrm>
          <a:prstGeom prst="rect">
            <a:avLst/>
          </a:prstGeom>
          <a:noFill/>
          <a:ln/>
        </p:spPr>
        <p:txBody>
          <a:bodyPr wrap="square" lIns="0" tIns="0" rIns="0" bIns="0" rtlCol="0" anchor="t"/>
          <a:lstStyle/>
          <a:p>
            <a:pPr indent="0" marL="0">
              <a:buNone/>
            </a:pPr>
            <a:r>
              <a:rPr lang="en-US" sz="1700" dirty="0">
                <a:solidFill>
                  <a:srgbClr val="FCF9FE"/>
                </a:solidFill>
                <a:latin typeface="Courier New" pitchFamily="34" charset="0"/>
                <a:ea typeface="Courier New" pitchFamily="34" charset="-122"/>
                <a:cs typeface="Courier New" pitchFamily="34" charset="-120"/>
              </a:rPr>
              <a:t>open ~/Applications/Memória.app   (or: memoria)</a:t>
            </a:r>
            <a:endParaRPr lang="en-US" sz="1700" dirty="0"/>
          </a:p>
        </p:txBody>
      </p:sp>
      <p:sp>
        <p:nvSpPr>
          <p:cNvPr id="9" name="codigo-fundo"/>
          <p:cNvSpPr/>
          <p:nvPr/>
        </p:nvSpPr>
        <p:spPr>
          <a:xfrm>
            <a:off x="4937760" y="3149651"/>
            <a:ext cx="6705295" cy="1051560"/>
          </a:xfrm>
          <a:prstGeom prst="rect">
            <a:avLst/>
          </a:prstGeom>
          <a:solidFill>
            <a:srgbClr val="140920"/>
          </a:solidFill>
          <a:ln w="12700">
            <a:solidFill>
              <a:srgbClr val="140920"/>
            </a:solidFill>
            <a:prstDash val="solid"/>
          </a:ln>
        </p:spPr>
      </p:sp>
      <p:sp>
        <p:nvSpPr>
          <p:cNvPr id="10" name="codigo-rotulo"/>
          <p:cNvSpPr txBox="1"/>
          <p:nvPr/>
        </p:nvSpPr>
        <p:spPr>
          <a:xfrm>
            <a:off x="5166360" y="3332531"/>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Windows</a:t>
            </a:r>
            <a:endParaRPr lang="en-US" sz="1300" dirty="0"/>
          </a:p>
        </p:txBody>
      </p:sp>
      <p:sp>
        <p:nvSpPr>
          <p:cNvPr id="11" name="codigo"/>
          <p:cNvSpPr txBox="1"/>
          <p:nvPr/>
        </p:nvSpPr>
        <p:spPr>
          <a:xfrm>
            <a:off x="5166360" y="3680003"/>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Start menu → Memória   (or: memoria)</a:t>
            </a:r>
            <a:endParaRPr lang="en-US" sz="2000" dirty="0"/>
          </a:p>
        </p:txBody>
      </p:sp>
      <p:sp>
        <p:nvSpPr>
          <p:cNvPr id="12" name="esperado-marca"/>
          <p:cNvSpPr/>
          <p:nvPr/>
        </p:nvSpPr>
        <p:spPr>
          <a:xfrm>
            <a:off x="548640" y="5650992"/>
            <a:ext cx="292608" cy="292608"/>
          </a:xfrm>
          <a:prstGeom prst="rect">
            <a:avLst/>
          </a:prstGeom>
          <a:solidFill>
            <a:srgbClr val="6B34FD"/>
          </a:solidFill>
          <a:ln w="12700">
            <a:solidFill>
              <a:srgbClr val="6B34FD"/>
            </a:solidFill>
            <a:prstDash val="solid"/>
          </a:ln>
        </p:spPr>
      </p:sp>
      <p:sp>
        <p:nvSpPr>
          <p:cNvPr id="13" name="faca-esperado"/>
          <p:cNvSpPr txBox="1"/>
          <p:nvPr/>
        </p:nvSpPr>
        <p:spPr>
          <a:xfrm>
            <a:off x="100584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The Arena session graph, with the lessons linked to the project</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Project 2</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Your real task</a:t>
            </a:r>
            <a:endParaRPr lang="en-US" sz="2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same cycle, in your repository</a:t>
            </a:r>
            <a:endParaRPr lang="en-US" sz="3200" dirty="0"/>
          </a:p>
        </p:txBody>
      </p:sp>
      <p:sp>
        <p:nvSpPr>
          <p:cNvPr id="3" name="passo-0"/>
          <p:cNvSpPr/>
          <p:nvPr/>
        </p:nvSpPr>
        <p:spPr>
          <a:xfrm>
            <a:off x="548640" y="2377440"/>
            <a:ext cx="1889699" cy="1828800"/>
          </a:xfrm>
          <a:prstGeom prst="rect">
            <a:avLst/>
          </a:prstGeom>
          <a:solidFill>
            <a:srgbClr val="F4EFFE"/>
          </a:solidFill>
          <a:ln w="12700">
            <a:solidFill>
              <a:srgbClr val="F4EFFE"/>
            </a:solidFill>
            <a:prstDash val="solid"/>
          </a:ln>
        </p:spPr>
      </p:sp>
      <p:sp>
        <p:nvSpPr>
          <p:cNvPr id="4" name="passo-marca-0"/>
          <p:cNvSpPr/>
          <p:nvPr/>
        </p:nvSpPr>
        <p:spPr>
          <a:xfrm>
            <a:off x="777240" y="2606040"/>
            <a:ext cx="274320" cy="274320"/>
          </a:xfrm>
          <a:prstGeom prst="rect">
            <a:avLst/>
          </a:prstGeom>
          <a:solidFill>
            <a:srgbClr val="6B34FD"/>
          </a:solidFill>
          <a:ln w="12700">
            <a:solidFill>
              <a:srgbClr val="6B34FD"/>
            </a:solidFill>
            <a:prstDash val="solid"/>
          </a:ln>
        </p:spPr>
      </p:sp>
      <p:sp>
        <p:nvSpPr>
          <p:cNvPr id="5" name="passo-texto-0"/>
          <p:cNvSpPr txBox="1"/>
          <p:nvPr/>
        </p:nvSpPr>
        <p:spPr>
          <a:xfrm>
            <a:off x="777240" y="3063240"/>
            <a:ext cx="1432499" cy="1005840"/>
          </a:xfrm>
          <a:prstGeom prst="rect">
            <a:avLst/>
          </a:prstGeom>
          <a:noFill/>
          <a:ln/>
        </p:spPr>
        <p:txBody>
          <a:bodyPr wrap="square" lIns="0" tIns="0" rIns="0" bIns="0" rtlCol="0" anchor="t"/>
          <a:lstStyle/>
          <a:p>
            <a:pPr indent="0" marL="0">
              <a:buNone/>
            </a:pPr>
            <a:r>
              <a:rPr lang="en-US" sz="1600" b="1" dirty="0">
                <a:solidFill>
                  <a:srgbClr val="140920"/>
                </a:solidFill>
                <a:latin typeface="Founders Grotesk Medium" pitchFamily="34" charset="0"/>
                <a:ea typeface="Founders Grotesk Medium" pitchFamily="34" charset="-122"/>
                <a:cs typeface="Founders Grotesk Medium" pitchFamily="34" charset="-120"/>
              </a:rPr>
              <a:t>/task-intake</a:t>
            </a:r>
            <a:endParaRPr lang="en-US" sz="1600" dirty="0"/>
          </a:p>
        </p:txBody>
      </p:sp>
      <p:sp>
        <p:nvSpPr>
          <p:cNvPr id="6" name="fluxo-seta-0"/>
          <p:cNvSpPr/>
          <p:nvPr/>
        </p:nvSpPr>
        <p:spPr>
          <a:xfrm>
            <a:off x="2484059" y="3291840"/>
            <a:ext cx="320040" cy="0"/>
          </a:xfrm>
          <a:prstGeom prst="line">
            <a:avLst/>
          </a:prstGeom>
          <a:noFill/>
          <a:ln w="31750">
            <a:solidFill>
              <a:srgbClr val="140920"/>
            </a:solidFill>
            <a:prstDash val="solid"/>
            <a:tailEnd type="triangle"/>
          </a:ln>
        </p:spPr>
      </p:sp>
      <p:sp>
        <p:nvSpPr>
          <p:cNvPr id="7" name="passo-1"/>
          <p:cNvSpPr/>
          <p:nvPr/>
        </p:nvSpPr>
        <p:spPr>
          <a:xfrm>
            <a:off x="2849819" y="2377440"/>
            <a:ext cx="1889699" cy="1828800"/>
          </a:xfrm>
          <a:prstGeom prst="rect">
            <a:avLst/>
          </a:prstGeom>
          <a:solidFill>
            <a:srgbClr val="F4EFFE"/>
          </a:solidFill>
          <a:ln w="12700">
            <a:solidFill>
              <a:srgbClr val="F4EFFE"/>
            </a:solidFill>
            <a:prstDash val="solid"/>
          </a:ln>
        </p:spPr>
      </p:sp>
      <p:sp>
        <p:nvSpPr>
          <p:cNvPr id="8" name="passo-marca-1"/>
          <p:cNvSpPr/>
          <p:nvPr/>
        </p:nvSpPr>
        <p:spPr>
          <a:xfrm>
            <a:off x="3078419" y="2606040"/>
            <a:ext cx="274320" cy="274320"/>
          </a:xfrm>
          <a:prstGeom prst="rect">
            <a:avLst/>
          </a:prstGeom>
          <a:solidFill>
            <a:srgbClr val="8F23D7"/>
          </a:solidFill>
          <a:ln w="12700">
            <a:solidFill>
              <a:srgbClr val="8F23D7"/>
            </a:solidFill>
            <a:prstDash val="solid"/>
          </a:ln>
        </p:spPr>
      </p:sp>
      <p:sp>
        <p:nvSpPr>
          <p:cNvPr id="9" name="passo-texto-1"/>
          <p:cNvSpPr txBox="1"/>
          <p:nvPr/>
        </p:nvSpPr>
        <p:spPr>
          <a:xfrm>
            <a:off x="3078419" y="3063240"/>
            <a:ext cx="1432499" cy="1005840"/>
          </a:xfrm>
          <a:prstGeom prst="rect">
            <a:avLst/>
          </a:prstGeom>
          <a:noFill/>
          <a:ln/>
        </p:spPr>
        <p:txBody>
          <a:bodyPr wrap="square" lIns="0" tIns="0" rIns="0" bIns="0" rtlCol="0" anchor="t"/>
          <a:lstStyle/>
          <a:p>
            <a:pPr indent="0" marL="0">
              <a:buNone/>
            </a:pPr>
            <a:r>
              <a:rPr lang="en-US" sz="1600" b="1" dirty="0">
                <a:solidFill>
                  <a:srgbClr val="140920"/>
                </a:solidFill>
                <a:latin typeface="Founders Grotesk Medium" pitchFamily="34" charset="0"/>
                <a:ea typeface="Founders Grotesk Medium" pitchFamily="34" charset="-122"/>
                <a:cs typeface="Founders Grotesk Medium" pitchFamily="34" charset="-120"/>
              </a:rPr>
              <a:t>/task-plan</a:t>
            </a:r>
            <a:endParaRPr lang="en-US" sz="1600" dirty="0"/>
          </a:p>
        </p:txBody>
      </p:sp>
      <p:sp>
        <p:nvSpPr>
          <p:cNvPr id="10" name="fluxo-seta-1"/>
          <p:cNvSpPr/>
          <p:nvPr/>
        </p:nvSpPr>
        <p:spPr>
          <a:xfrm>
            <a:off x="4785238" y="3291840"/>
            <a:ext cx="320040" cy="0"/>
          </a:xfrm>
          <a:prstGeom prst="line">
            <a:avLst/>
          </a:prstGeom>
          <a:noFill/>
          <a:ln w="31750">
            <a:solidFill>
              <a:srgbClr val="140920"/>
            </a:solidFill>
            <a:prstDash val="solid"/>
            <a:tailEnd type="triangle"/>
          </a:ln>
        </p:spPr>
      </p:sp>
      <p:sp>
        <p:nvSpPr>
          <p:cNvPr id="11" name="passo-2"/>
          <p:cNvSpPr/>
          <p:nvPr/>
        </p:nvSpPr>
        <p:spPr>
          <a:xfrm>
            <a:off x="5150998" y="2377440"/>
            <a:ext cx="1889699" cy="1828800"/>
          </a:xfrm>
          <a:prstGeom prst="rect">
            <a:avLst/>
          </a:prstGeom>
          <a:solidFill>
            <a:srgbClr val="F4EFFE"/>
          </a:solidFill>
          <a:ln w="12700">
            <a:solidFill>
              <a:srgbClr val="F4EFFE"/>
            </a:solidFill>
            <a:prstDash val="solid"/>
          </a:ln>
        </p:spPr>
      </p:sp>
      <p:sp>
        <p:nvSpPr>
          <p:cNvPr id="12" name="passo-marca-2"/>
          <p:cNvSpPr/>
          <p:nvPr/>
        </p:nvSpPr>
        <p:spPr>
          <a:xfrm>
            <a:off x="5379598" y="2606040"/>
            <a:ext cx="274320" cy="274320"/>
          </a:xfrm>
          <a:prstGeom prst="rect">
            <a:avLst/>
          </a:prstGeom>
          <a:solidFill>
            <a:srgbClr val="F25928"/>
          </a:solidFill>
          <a:ln w="12700">
            <a:solidFill>
              <a:srgbClr val="F25928"/>
            </a:solidFill>
            <a:prstDash val="solid"/>
          </a:ln>
        </p:spPr>
      </p:sp>
      <p:sp>
        <p:nvSpPr>
          <p:cNvPr id="13" name="passo-texto-2"/>
          <p:cNvSpPr txBox="1"/>
          <p:nvPr/>
        </p:nvSpPr>
        <p:spPr>
          <a:xfrm>
            <a:off x="5379598" y="3063240"/>
            <a:ext cx="1432499" cy="1005840"/>
          </a:xfrm>
          <a:prstGeom prst="rect">
            <a:avLst/>
          </a:prstGeom>
          <a:noFill/>
          <a:ln/>
        </p:spPr>
        <p:txBody>
          <a:bodyPr wrap="square" lIns="0" tIns="0" rIns="0" bIns="0" rtlCol="0" anchor="t"/>
          <a:lstStyle/>
          <a:p>
            <a:pPr indent="0" marL="0">
              <a:buNone/>
            </a:pPr>
            <a:r>
              <a:rPr lang="en-US" sz="1600" b="1" dirty="0">
                <a:solidFill>
                  <a:srgbClr val="140920"/>
                </a:solidFill>
                <a:latin typeface="Founders Grotesk Medium" pitchFamily="34" charset="0"/>
                <a:ea typeface="Founders Grotesk Medium" pitchFamily="34" charset="-122"/>
                <a:cs typeface="Founders Grotesk Medium" pitchFamily="34" charset="-120"/>
              </a:rPr>
              <a:t>/task-swarm</a:t>
            </a:r>
            <a:endParaRPr lang="en-US" sz="1600" dirty="0"/>
          </a:p>
        </p:txBody>
      </p:sp>
      <p:sp>
        <p:nvSpPr>
          <p:cNvPr id="14" name="fluxo-seta-2"/>
          <p:cNvSpPr/>
          <p:nvPr/>
        </p:nvSpPr>
        <p:spPr>
          <a:xfrm>
            <a:off x="7086417" y="3291840"/>
            <a:ext cx="320040" cy="0"/>
          </a:xfrm>
          <a:prstGeom prst="line">
            <a:avLst/>
          </a:prstGeom>
          <a:noFill/>
          <a:ln w="31750">
            <a:solidFill>
              <a:srgbClr val="140920"/>
            </a:solidFill>
            <a:prstDash val="solid"/>
            <a:tailEnd type="triangle"/>
          </a:ln>
        </p:spPr>
      </p:sp>
      <p:sp>
        <p:nvSpPr>
          <p:cNvPr id="15" name="passo-3"/>
          <p:cNvSpPr/>
          <p:nvPr/>
        </p:nvSpPr>
        <p:spPr>
          <a:xfrm>
            <a:off x="7452177" y="2377440"/>
            <a:ext cx="1889699" cy="1828800"/>
          </a:xfrm>
          <a:prstGeom prst="rect">
            <a:avLst/>
          </a:prstGeom>
          <a:solidFill>
            <a:srgbClr val="F4EFFE"/>
          </a:solidFill>
          <a:ln w="12700">
            <a:solidFill>
              <a:srgbClr val="F4EFFE"/>
            </a:solidFill>
            <a:prstDash val="solid"/>
          </a:ln>
        </p:spPr>
      </p:sp>
      <p:sp>
        <p:nvSpPr>
          <p:cNvPr id="16" name="passo-marca-3"/>
          <p:cNvSpPr/>
          <p:nvPr/>
        </p:nvSpPr>
        <p:spPr>
          <a:xfrm>
            <a:off x="7680777" y="2606040"/>
            <a:ext cx="274320" cy="274320"/>
          </a:xfrm>
          <a:prstGeom prst="rect">
            <a:avLst/>
          </a:prstGeom>
          <a:solidFill>
            <a:srgbClr val="6B34FD"/>
          </a:solidFill>
          <a:ln w="12700">
            <a:solidFill>
              <a:srgbClr val="6B34FD"/>
            </a:solidFill>
            <a:prstDash val="solid"/>
          </a:ln>
        </p:spPr>
      </p:sp>
      <p:sp>
        <p:nvSpPr>
          <p:cNvPr id="17" name="passo-texto-3"/>
          <p:cNvSpPr txBox="1"/>
          <p:nvPr/>
        </p:nvSpPr>
        <p:spPr>
          <a:xfrm>
            <a:off x="7680777" y="3063240"/>
            <a:ext cx="1432499" cy="1005840"/>
          </a:xfrm>
          <a:prstGeom prst="rect">
            <a:avLst/>
          </a:prstGeom>
          <a:noFill/>
          <a:ln/>
        </p:spPr>
        <p:txBody>
          <a:bodyPr wrap="square" lIns="0" tIns="0" rIns="0" bIns="0" rtlCol="0" anchor="t"/>
          <a:lstStyle/>
          <a:p>
            <a:pPr indent="0" marL="0">
              <a:buNone/>
            </a:pPr>
            <a:r>
              <a:rPr lang="en-US" sz="1600" b="1" dirty="0">
                <a:solidFill>
                  <a:srgbClr val="140920"/>
                </a:solidFill>
                <a:latin typeface="Founders Grotesk Medium" pitchFamily="34" charset="0"/>
                <a:ea typeface="Founders Grotesk Medium" pitchFamily="34" charset="-122"/>
                <a:cs typeface="Founders Grotesk Medium" pitchFamily="34" charset="-120"/>
              </a:rPr>
              <a:t>/task-gate</a:t>
            </a:r>
            <a:endParaRPr lang="en-US" sz="1600" dirty="0"/>
          </a:p>
        </p:txBody>
      </p:sp>
      <p:sp>
        <p:nvSpPr>
          <p:cNvPr id="18" name="fluxo-seta-3"/>
          <p:cNvSpPr/>
          <p:nvPr/>
        </p:nvSpPr>
        <p:spPr>
          <a:xfrm>
            <a:off x="9387596" y="3291840"/>
            <a:ext cx="320040" cy="0"/>
          </a:xfrm>
          <a:prstGeom prst="line">
            <a:avLst/>
          </a:prstGeom>
          <a:noFill/>
          <a:ln w="31750">
            <a:solidFill>
              <a:srgbClr val="140920"/>
            </a:solidFill>
            <a:prstDash val="solid"/>
            <a:tailEnd type="triangle"/>
          </a:ln>
        </p:spPr>
      </p:sp>
      <p:sp>
        <p:nvSpPr>
          <p:cNvPr id="19" name="passo-4"/>
          <p:cNvSpPr/>
          <p:nvPr/>
        </p:nvSpPr>
        <p:spPr>
          <a:xfrm>
            <a:off x="9753356" y="2377440"/>
            <a:ext cx="1889699" cy="1828800"/>
          </a:xfrm>
          <a:prstGeom prst="rect">
            <a:avLst/>
          </a:prstGeom>
          <a:solidFill>
            <a:srgbClr val="140920"/>
          </a:solidFill>
          <a:ln w="12700">
            <a:solidFill>
              <a:srgbClr val="140920"/>
            </a:solidFill>
            <a:prstDash val="solid"/>
          </a:ln>
        </p:spPr>
      </p:sp>
      <p:sp>
        <p:nvSpPr>
          <p:cNvPr id="20" name="passo-marca-4"/>
          <p:cNvSpPr/>
          <p:nvPr/>
        </p:nvSpPr>
        <p:spPr>
          <a:xfrm>
            <a:off x="9981956" y="2606040"/>
            <a:ext cx="274320" cy="274320"/>
          </a:xfrm>
          <a:prstGeom prst="rect">
            <a:avLst/>
          </a:prstGeom>
          <a:solidFill>
            <a:srgbClr val="8F23D7"/>
          </a:solidFill>
          <a:ln w="12700">
            <a:solidFill>
              <a:srgbClr val="8F23D7"/>
            </a:solidFill>
            <a:prstDash val="solid"/>
          </a:ln>
        </p:spPr>
      </p:sp>
      <p:sp>
        <p:nvSpPr>
          <p:cNvPr id="21" name="passo-texto-4"/>
          <p:cNvSpPr txBox="1"/>
          <p:nvPr/>
        </p:nvSpPr>
        <p:spPr>
          <a:xfrm>
            <a:off x="9981956" y="3063240"/>
            <a:ext cx="1432499" cy="1005840"/>
          </a:xfrm>
          <a:prstGeom prst="rect">
            <a:avLst/>
          </a:prstGeom>
          <a:noFill/>
          <a:ln/>
        </p:spPr>
        <p:txBody>
          <a:bodyPr wrap="square" lIns="0" tIns="0" rIns="0" bIns="0" rtlCol="0" anchor="t"/>
          <a:lstStyle/>
          <a:p>
            <a:pPr indent="0" marL="0">
              <a:buNone/>
            </a:pPr>
            <a:r>
              <a:rPr lang="en-US" sz="1600" b="1" dirty="0">
                <a:solidFill>
                  <a:srgbClr val="FCF9FE"/>
                </a:solidFill>
                <a:latin typeface="Founders Grotesk Medium" pitchFamily="34" charset="0"/>
                <a:ea typeface="Founders Grotesk Medium" pitchFamily="34" charset="-122"/>
                <a:cs typeface="Founders Grotesk Medium" pitchFamily="34" charset="-120"/>
              </a:rPr>
              <a:t>/task-report</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4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Bring your task</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Claude Code at the root of your project</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Give it the Jira or GitHub issue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No access? Use the practice project</a:t>
            </a:r>
            <a:endParaRPr lang="en-US" sz="2000" dirty="0"/>
          </a:p>
        </p:txBody>
      </p:sp>
      <p:sp>
        <p:nvSpPr>
          <p:cNvPr id="6" name="codigo-fundo"/>
          <p:cNvSpPr/>
          <p:nvPr/>
        </p:nvSpPr>
        <p:spPr>
          <a:xfrm>
            <a:off x="4937760" y="1920240"/>
            <a:ext cx="6705295" cy="1728216"/>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Your project</a:t>
            </a:r>
            <a:endParaRPr lang="en-US" sz="1300" dirty="0"/>
          </a:p>
        </p:txBody>
      </p:sp>
      <p:sp>
        <p:nvSpPr>
          <p:cNvPr id="8" name="codigo"/>
          <p:cNvSpPr txBox="1"/>
          <p:nvPr/>
        </p:nvSpPr>
        <p:spPr>
          <a:xfrm>
            <a:off x="5166360" y="2450592"/>
            <a:ext cx="6248095" cy="1060704"/>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cd &lt;your repository&gt;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claude</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/task-intake ABC-123</a:t>
            </a:r>
            <a:endParaRPr lang="en-US" sz="2000" dirty="0"/>
          </a:p>
        </p:txBody>
      </p:sp>
      <p:sp>
        <p:nvSpPr>
          <p:cNvPr id="9" name="codigo-fundo"/>
          <p:cNvSpPr/>
          <p:nvPr/>
        </p:nvSpPr>
        <p:spPr>
          <a:xfrm>
            <a:off x="4937760" y="3877056"/>
            <a:ext cx="6705295" cy="1728216"/>
          </a:xfrm>
          <a:prstGeom prst="rect">
            <a:avLst/>
          </a:prstGeom>
          <a:solidFill>
            <a:srgbClr val="140920"/>
          </a:solidFill>
          <a:ln w="12700">
            <a:solidFill>
              <a:srgbClr val="140920"/>
            </a:solidFill>
            <a:prstDash val="solid"/>
          </a:ln>
        </p:spPr>
      </p:sp>
      <p:sp>
        <p:nvSpPr>
          <p:cNvPr id="10" name="codigo-rotulo"/>
          <p:cNvSpPr txBox="1"/>
          <p:nvPr/>
        </p:nvSpPr>
        <p:spPr>
          <a:xfrm>
            <a:off x="5166360" y="4059936"/>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Practice project</a:t>
            </a:r>
            <a:endParaRPr lang="en-US" sz="1300" dirty="0"/>
          </a:p>
        </p:txBody>
      </p:sp>
      <p:sp>
        <p:nvSpPr>
          <p:cNvPr id="11" name="codigo"/>
          <p:cNvSpPr txBox="1"/>
          <p:nvPr/>
        </p:nvSpPr>
        <p:spPr>
          <a:xfrm>
            <a:off x="5166360" y="4407408"/>
            <a:ext cx="6248095" cy="1060704"/>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cd ~/workshop-claude/exemplo-projeto-real</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claude</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/task-intake issues/EX-1.json</a:t>
            </a:r>
            <a:endParaRPr lang="en-US" sz="2000" dirty="0"/>
          </a:p>
        </p:txBody>
      </p:sp>
      <p:sp>
        <p:nvSpPr>
          <p:cNvPr id="12" name="esperado-marca"/>
          <p:cNvSpPr/>
          <p:nvPr/>
        </p:nvSpPr>
        <p:spPr>
          <a:xfrm>
            <a:off x="548640" y="5650992"/>
            <a:ext cx="292608" cy="292608"/>
          </a:xfrm>
          <a:prstGeom prst="rect">
            <a:avLst/>
          </a:prstGeom>
          <a:solidFill>
            <a:srgbClr val="6B34FD"/>
          </a:solidFill>
          <a:ln w="12700">
            <a:solidFill>
              <a:srgbClr val="6B34FD"/>
            </a:solidFill>
            <a:prstDash val="solid"/>
          </a:ln>
        </p:spPr>
      </p:sp>
      <p:sp>
        <p:nvSpPr>
          <p:cNvPr id="13" name="faca-esperado"/>
          <p:cNvSpPr txBox="1"/>
          <p:nvPr/>
        </p:nvSpPr>
        <p:spPr>
          <a:xfrm>
            <a:off x="100584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Title, acceptance criteria and the test command of the project</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5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The planner decides how many agents</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/task-plan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why it picked that number of agents</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Approve or adjust</a:t>
            </a:r>
            <a:endParaRPr lang="en-US" sz="2000" dirty="0"/>
          </a:p>
        </p:txBody>
      </p:sp>
      <p:sp>
        <p:nvSpPr>
          <p:cNvPr id="6" name="codigo-fundo"/>
          <p:cNvSpPr/>
          <p:nvPr/>
        </p:nvSpPr>
        <p:spPr>
          <a:xfrm>
            <a:off x="4937760" y="1920240"/>
            <a:ext cx="6705295" cy="1051560"/>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a:t>
            </a:r>
            <a:endParaRPr lang="en-US" sz="1300" dirty="0"/>
          </a:p>
        </p:txBody>
      </p:sp>
      <p:sp>
        <p:nvSpPr>
          <p:cNvPr id="8" name="codigo"/>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/task-plan</a:t>
            </a:r>
            <a:endParaRPr lang="en-US" sz="2000" dirty="0"/>
          </a:p>
        </p:txBody>
      </p:sp>
      <p:sp>
        <p:nvSpPr>
          <p:cNvPr id="9" name="esperado-marca"/>
          <p:cNvSpPr/>
          <p:nvPr/>
        </p:nvSpPr>
        <p:spPr>
          <a:xfrm>
            <a:off x="548640" y="5650992"/>
            <a:ext cx="292608" cy="292608"/>
          </a:xfrm>
          <a:prstGeom prst="rect">
            <a:avLst/>
          </a:prstGeom>
          <a:solidFill>
            <a:srgbClr val="6B34FD"/>
          </a:solidFill>
          <a:ln w="12700">
            <a:solidFill>
              <a:srgbClr val="6B34FD"/>
            </a:solidFill>
            <a:prstDash val="solid"/>
          </a:ln>
        </p:spPr>
      </p:sp>
      <p:sp>
        <p:nvSpPr>
          <p:cNvPr id="10" name="faca-esperado"/>
          <p:cNvSpPr txBox="1"/>
          <p:nvPr/>
        </p:nvSpPr>
        <p:spPr>
          <a:xfrm>
            <a:off x="100584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Small: 1–3 agents. Large: more, with a reason and an estimate</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10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Put the swarm to work</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/task-swarm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Watch the dashboard in another terminal</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Stop with Esc and resume whenever you want</a:t>
            </a:r>
            <a:endParaRPr lang="en-US" sz="2000" dirty="0"/>
          </a:p>
        </p:txBody>
      </p:sp>
      <p:sp>
        <p:nvSpPr>
          <p:cNvPr id="6" name="codigo-fundo"/>
          <p:cNvSpPr/>
          <p:nvPr/>
        </p:nvSpPr>
        <p:spPr>
          <a:xfrm>
            <a:off x="4937760" y="1920240"/>
            <a:ext cx="6705295" cy="1051560"/>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igo"/>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/task-swarm</a:t>
            </a:r>
            <a:endParaRPr lang="en-US" sz="2000" dirty="0"/>
          </a:p>
        </p:txBody>
      </p:sp>
      <p:sp>
        <p:nvSpPr>
          <p:cNvPr id="9" name="codigo-fundo"/>
          <p:cNvSpPr/>
          <p:nvPr/>
        </p:nvSpPr>
        <p:spPr>
          <a:xfrm>
            <a:off x="4937760" y="3200400"/>
            <a:ext cx="6705295" cy="983894"/>
          </a:xfrm>
          <a:prstGeom prst="rect">
            <a:avLst/>
          </a:prstGeom>
          <a:solidFill>
            <a:srgbClr val="140920"/>
          </a:solidFill>
          <a:ln w="12700">
            <a:solidFill>
              <a:srgbClr val="140920"/>
            </a:solidFill>
            <a:prstDash val="solid"/>
          </a:ln>
        </p:spPr>
      </p:sp>
      <p:sp>
        <p:nvSpPr>
          <p:cNvPr id="10" name="codigo-rotulo"/>
          <p:cNvSpPr txBox="1"/>
          <p:nvPr/>
        </p:nvSpPr>
        <p:spPr>
          <a:xfrm>
            <a:off x="5166360" y="338328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2</a:t>
            </a:r>
            <a:endParaRPr lang="en-US" sz="1300" dirty="0"/>
          </a:p>
        </p:txBody>
      </p:sp>
      <p:sp>
        <p:nvSpPr>
          <p:cNvPr id="11" name="codigo"/>
          <p:cNvSpPr txBox="1"/>
          <p:nvPr/>
        </p:nvSpPr>
        <p:spPr>
          <a:xfrm>
            <a:off x="5166360" y="3730752"/>
            <a:ext cx="6248095" cy="316382"/>
          </a:xfrm>
          <a:prstGeom prst="rect">
            <a:avLst/>
          </a:prstGeom>
          <a:noFill/>
          <a:ln/>
        </p:spPr>
        <p:txBody>
          <a:bodyPr wrap="square" lIns="0" tIns="0" rIns="0" bIns="0" rtlCol="0" anchor="t"/>
          <a:lstStyle/>
          <a:p>
            <a:pPr indent="0" marL="0">
              <a:buNone/>
            </a:pPr>
            <a:r>
              <a:rPr lang="en-US" sz="1600" dirty="0">
                <a:solidFill>
                  <a:srgbClr val="FCF9FE"/>
                </a:solidFill>
                <a:latin typeface="Courier New" pitchFamily="34" charset="0"/>
                <a:ea typeface="Courier New" pitchFamily="34" charset="-122"/>
                <a:cs typeface="Courier New" pitchFamily="34" charset="-120"/>
              </a:rPr>
              <a:t>node ~/.workshop-claude/kit/orquestrador/painel.mjs</a:t>
            </a:r>
            <a:endParaRPr lang="en-US" sz="1600" dirty="0"/>
          </a:p>
        </p:txBody>
      </p:sp>
      <p:sp>
        <p:nvSpPr>
          <p:cNvPr id="12" name="esperado-marca"/>
          <p:cNvSpPr/>
          <p:nvPr/>
        </p:nvSpPr>
        <p:spPr>
          <a:xfrm>
            <a:off x="548640" y="5650992"/>
            <a:ext cx="292608" cy="292608"/>
          </a:xfrm>
          <a:prstGeom prst="rect">
            <a:avLst/>
          </a:prstGeom>
          <a:solidFill>
            <a:srgbClr val="6B34FD"/>
          </a:solidFill>
          <a:ln w="12700">
            <a:solidFill>
              <a:srgbClr val="6B34FD"/>
            </a:solidFill>
            <a:prstDash val="solid"/>
          </a:ln>
        </p:spPr>
      </p:sp>
      <p:sp>
        <p:nvSpPr>
          <p:cNvPr id="13" name="faca-esperado"/>
          <p:cNvSpPr txBox="1"/>
          <p:nvPr/>
        </p:nvSpPr>
        <p:spPr>
          <a:xfrm>
            <a:off x="100584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Batches of agents finishing; never two on the same file at the same time</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Jira and GitHub</a:t>
            </a:r>
            <a:endParaRPr lang="en-US" sz="3200" dirty="0"/>
          </a:p>
        </p:txBody>
      </p:sp>
      <p:sp>
        <p:nvSpPr>
          <p:cNvPr id="3" name="coluna-0"/>
          <p:cNvSpPr/>
          <p:nvPr/>
        </p:nvSpPr>
        <p:spPr>
          <a:xfrm>
            <a:off x="548640" y="1691640"/>
            <a:ext cx="3484778" cy="3566160"/>
          </a:xfrm>
          <a:prstGeom prst="rect">
            <a:avLst/>
          </a:prstGeom>
          <a:solidFill>
            <a:srgbClr val="F4EFFE"/>
          </a:solidFill>
          <a:ln w="12700">
            <a:solidFill>
              <a:srgbClr val="F4EFFE"/>
            </a:solidFill>
            <a:prstDash val="solid"/>
          </a:ln>
        </p:spPr>
      </p:sp>
      <p:sp>
        <p:nvSpPr>
          <p:cNvPr id="4" name="marca-0"/>
          <p:cNvSpPr/>
          <p:nvPr/>
        </p:nvSpPr>
        <p:spPr>
          <a:xfrm>
            <a:off x="868680" y="2011680"/>
            <a:ext cx="384048" cy="384048"/>
          </a:xfrm>
          <a:prstGeom prst="rect">
            <a:avLst/>
          </a:prstGeom>
          <a:solidFill>
            <a:srgbClr val="6B34FD"/>
          </a:solidFill>
          <a:ln w="12700">
            <a:solidFill>
              <a:srgbClr val="6B34FD"/>
            </a:solidFill>
            <a:prstDash val="solid"/>
          </a:ln>
        </p:spPr>
      </p:sp>
      <p:sp>
        <p:nvSpPr>
          <p:cNvPr id="5" name="coluna-titulo-0"/>
          <p:cNvSpPr txBox="1"/>
          <p:nvPr/>
        </p:nvSpPr>
        <p:spPr>
          <a:xfrm>
            <a:off x="868680" y="2697480"/>
            <a:ext cx="2844698" cy="91440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Jira (MCP + acli)</a:t>
            </a:r>
            <a:endParaRPr lang="en-US" sz="2600" dirty="0"/>
          </a:p>
        </p:txBody>
      </p:sp>
      <p:sp>
        <p:nvSpPr>
          <p:cNvPr id="6" name="coluna-texto-0"/>
          <p:cNvSpPr txBox="1"/>
          <p:nvPr/>
        </p:nvSpPr>
        <p:spPr>
          <a:xfrm>
            <a:off x="868680" y="3657600"/>
            <a:ext cx="2844698" cy="146304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MCP with login in /mcp; if it fails, the Atlassian CLI (acli auth login)</a:t>
            </a:r>
            <a:endParaRPr lang="en-US" sz="2000" dirty="0"/>
          </a:p>
        </p:txBody>
      </p:sp>
      <p:sp>
        <p:nvSpPr>
          <p:cNvPr id="7" name="coluna-1"/>
          <p:cNvSpPr/>
          <p:nvPr/>
        </p:nvSpPr>
        <p:spPr>
          <a:xfrm>
            <a:off x="4353458" y="1691640"/>
            <a:ext cx="3484778" cy="3566160"/>
          </a:xfrm>
          <a:prstGeom prst="rect">
            <a:avLst/>
          </a:prstGeom>
          <a:solidFill>
            <a:srgbClr val="F4EFFE"/>
          </a:solidFill>
          <a:ln w="12700">
            <a:solidFill>
              <a:srgbClr val="F4EFFE"/>
            </a:solidFill>
            <a:prstDash val="solid"/>
          </a:ln>
        </p:spPr>
      </p:sp>
      <p:sp>
        <p:nvSpPr>
          <p:cNvPr id="8" name="marca-1"/>
          <p:cNvSpPr/>
          <p:nvPr/>
        </p:nvSpPr>
        <p:spPr>
          <a:xfrm>
            <a:off x="4673498" y="2011680"/>
            <a:ext cx="384048" cy="384048"/>
          </a:xfrm>
          <a:prstGeom prst="rect">
            <a:avLst/>
          </a:prstGeom>
          <a:solidFill>
            <a:srgbClr val="8F23D7"/>
          </a:solidFill>
          <a:ln w="12700">
            <a:solidFill>
              <a:srgbClr val="8F23D7"/>
            </a:solidFill>
            <a:prstDash val="solid"/>
          </a:ln>
        </p:spPr>
      </p:sp>
      <p:sp>
        <p:nvSpPr>
          <p:cNvPr id="9" name="coluna-titulo-1"/>
          <p:cNvSpPr txBox="1"/>
          <p:nvPr/>
        </p:nvSpPr>
        <p:spPr>
          <a:xfrm>
            <a:off x="4673498" y="2697480"/>
            <a:ext cx="2844698" cy="91440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GitHub (gh)</a:t>
            </a:r>
            <a:endParaRPr lang="en-US" sz="2600" dirty="0"/>
          </a:p>
        </p:txBody>
      </p:sp>
      <p:sp>
        <p:nvSpPr>
          <p:cNvPr id="10" name="coluna-texto-1"/>
          <p:cNvSpPr txBox="1"/>
          <p:nvPr/>
        </p:nvSpPr>
        <p:spPr>
          <a:xfrm>
            <a:off x="4673498" y="3657600"/>
            <a:ext cx="2844698" cy="146304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gh auth login: less context than an MCP and no shared tokens</a:t>
            </a:r>
            <a:endParaRPr lang="en-US" sz="2000" dirty="0"/>
          </a:p>
        </p:txBody>
      </p:sp>
      <p:sp>
        <p:nvSpPr>
          <p:cNvPr id="11" name="coluna-2"/>
          <p:cNvSpPr/>
          <p:nvPr/>
        </p:nvSpPr>
        <p:spPr>
          <a:xfrm>
            <a:off x="8158277" y="1691640"/>
            <a:ext cx="3484778" cy="3566160"/>
          </a:xfrm>
          <a:prstGeom prst="rect">
            <a:avLst/>
          </a:prstGeom>
          <a:solidFill>
            <a:srgbClr val="F4EFFE"/>
          </a:solidFill>
          <a:ln w="12700">
            <a:solidFill>
              <a:srgbClr val="F4EFFE"/>
            </a:solidFill>
            <a:prstDash val="solid"/>
          </a:ln>
        </p:spPr>
      </p:sp>
      <p:sp>
        <p:nvSpPr>
          <p:cNvPr id="12" name="marca-2"/>
          <p:cNvSpPr/>
          <p:nvPr/>
        </p:nvSpPr>
        <p:spPr>
          <a:xfrm>
            <a:off x="8478317" y="2011680"/>
            <a:ext cx="384048" cy="384048"/>
          </a:xfrm>
          <a:prstGeom prst="rect">
            <a:avLst/>
          </a:prstGeom>
          <a:solidFill>
            <a:srgbClr val="F25928"/>
          </a:solidFill>
          <a:ln w="12700">
            <a:solidFill>
              <a:srgbClr val="F25928"/>
            </a:solidFill>
            <a:prstDash val="solid"/>
          </a:ln>
        </p:spPr>
      </p:sp>
      <p:sp>
        <p:nvSpPr>
          <p:cNvPr id="13" name="coluna-titulo-2"/>
          <p:cNvSpPr txBox="1"/>
          <p:nvPr/>
        </p:nvSpPr>
        <p:spPr>
          <a:xfrm>
            <a:off x="8478317" y="2697480"/>
            <a:ext cx="2844698" cy="91440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Always with confirmation</a:t>
            </a:r>
            <a:endParaRPr lang="en-US" sz="2600" dirty="0"/>
          </a:p>
        </p:txBody>
      </p:sp>
      <p:sp>
        <p:nvSpPr>
          <p:cNvPr id="14" name="coluna-texto-2"/>
          <p:cNvSpPr txBox="1"/>
          <p:nvPr/>
        </p:nvSpPr>
        <p:spPr>
          <a:xfrm>
            <a:off x="8478317" y="3657600"/>
            <a:ext cx="2844698" cy="146304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comments, worklog and PR only after your yes</a:t>
            </a:r>
            <a:endParaRPr lang="en-US" sz="20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After the workshop</a:t>
            </a:r>
            <a:endParaRPr lang="en-US" sz="3200" dirty="0"/>
          </a:p>
        </p:txBody>
      </p:sp>
      <p:sp>
        <p:nvSpPr>
          <p:cNvPr id="3" name="coluna-0"/>
          <p:cNvSpPr/>
          <p:nvPr/>
        </p:nvSpPr>
        <p:spPr>
          <a:xfrm>
            <a:off x="548640" y="1691640"/>
            <a:ext cx="3484778" cy="3566160"/>
          </a:xfrm>
          <a:prstGeom prst="rect">
            <a:avLst/>
          </a:prstGeom>
          <a:solidFill>
            <a:srgbClr val="F4EFFE"/>
          </a:solidFill>
          <a:ln w="12700">
            <a:solidFill>
              <a:srgbClr val="F4EFFE"/>
            </a:solidFill>
            <a:prstDash val="solid"/>
          </a:ln>
        </p:spPr>
      </p:sp>
      <p:sp>
        <p:nvSpPr>
          <p:cNvPr id="4" name="marca-0"/>
          <p:cNvSpPr/>
          <p:nvPr/>
        </p:nvSpPr>
        <p:spPr>
          <a:xfrm>
            <a:off x="868680" y="2011680"/>
            <a:ext cx="384048" cy="384048"/>
          </a:xfrm>
          <a:prstGeom prst="rect">
            <a:avLst/>
          </a:prstGeom>
          <a:solidFill>
            <a:srgbClr val="6B34FD"/>
          </a:solidFill>
          <a:ln w="12700">
            <a:solidFill>
              <a:srgbClr val="6B34FD"/>
            </a:solidFill>
            <a:prstDash val="solid"/>
          </a:ln>
        </p:spPr>
      </p:sp>
      <p:sp>
        <p:nvSpPr>
          <p:cNvPr id="5" name="coluna-titulo-0"/>
          <p:cNvSpPr txBox="1"/>
          <p:nvPr/>
        </p:nvSpPr>
        <p:spPr>
          <a:xfrm>
            <a:off x="868680" y="2697480"/>
            <a:ext cx="2844698" cy="91440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/task-gate</a:t>
            </a:r>
            <a:endParaRPr lang="en-US" sz="2600" dirty="0"/>
          </a:p>
        </p:txBody>
      </p:sp>
      <p:sp>
        <p:nvSpPr>
          <p:cNvPr id="6" name="coluna-texto-0"/>
          <p:cNvSpPr txBox="1"/>
          <p:nvPr/>
        </p:nvSpPr>
        <p:spPr>
          <a:xfrm>
            <a:off x="868680" y="3657600"/>
            <a:ext cx="2844698" cy="146304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tests, secrets, dangerous code and the Opus verdict</a:t>
            </a:r>
            <a:endParaRPr lang="en-US" sz="2000" dirty="0"/>
          </a:p>
        </p:txBody>
      </p:sp>
      <p:sp>
        <p:nvSpPr>
          <p:cNvPr id="7" name="coluna-1"/>
          <p:cNvSpPr/>
          <p:nvPr/>
        </p:nvSpPr>
        <p:spPr>
          <a:xfrm>
            <a:off x="4353458" y="1691640"/>
            <a:ext cx="3484778" cy="3566160"/>
          </a:xfrm>
          <a:prstGeom prst="rect">
            <a:avLst/>
          </a:prstGeom>
          <a:solidFill>
            <a:srgbClr val="F4EFFE"/>
          </a:solidFill>
          <a:ln w="12700">
            <a:solidFill>
              <a:srgbClr val="F4EFFE"/>
            </a:solidFill>
            <a:prstDash val="solid"/>
          </a:ln>
        </p:spPr>
      </p:sp>
      <p:sp>
        <p:nvSpPr>
          <p:cNvPr id="8" name="marca-1"/>
          <p:cNvSpPr/>
          <p:nvPr/>
        </p:nvSpPr>
        <p:spPr>
          <a:xfrm>
            <a:off x="4673498" y="2011680"/>
            <a:ext cx="384048" cy="384048"/>
          </a:xfrm>
          <a:prstGeom prst="rect">
            <a:avLst/>
          </a:prstGeom>
          <a:solidFill>
            <a:srgbClr val="8F23D7"/>
          </a:solidFill>
          <a:ln w="12700">
            <a:solidFill>
              <a:srgbClr val="8F23D7"/>
            </a:solidFill>
            <a:prstDash val="solid"/>
          </a:ln>
        </p:spPr>
      </p:sp>
      <p:sp>
        <p:nvSpPr>
          <p:cNvPr id="9" name="coluna-titulo-1"/>
          <p:cNvSpPr txBox="1"/>
          <p:nvPr/>
        </p:nvSpPr>
        <p:spPr>
          <a:xfrm>
            <a:off x="4673498" y="2697480"/>
            <a:ext cx="2844698" cy="91440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/task-report</a:t>
            </a:r>
            <a:endParaRPr lang="en-US" sz="2600" dirty="0"/>
          </a:p>
        </p:txBody>
      </p:sp>
      <p:sp>
        <p:nvSpPr>
          <p:cNvPr id="10" name="coluna-texto-1"/>
          <p:cNvSpPr txBox="1"/>
          <p:nvPr/>
        </p:nvSpPr>
        <p:spPr>
          <a:xfrm>
            <a:off x="4673498" y="3657600"/>
            <a:ext cx="2844698" cy="146304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Jira: one comment per subtask, with agent, model, time and cost, and the worklog. GitHub: the PR</a:t>
            </a:r>
            <a:endParaRPr lang="en-US" sz="2000" dirty="0"/>
          </a:p>
        </p:txBody>
      </p:sp>
      <p:sp>
        <p:nvSpPr>
          <p:cNvPr id="11" name="coluna-2"/>
          <p:cNvSpPr/>
          <p:nvPr/>
        </p:nvSpPr>
        <p:spPr>
          <a:xfrm>
            <a:off x="8158277" y="1691640"/>
            <a:ext cx="3484778" cy="3566160"/>
          </a:xfrm>
          <a:prstGeom prst="rect">
            <a:avLst/>
          </a:prstGeom>
          <a:solidFill>
            <a:srgbClr val="F4EFFE"/>
          </a:solidFill>
          <a:ln w="12700">
            <a:solidFill>
              <a:srgbClr val="F4EFFE"/>
            </a:solidFill>
            <a:prstDash val="solid"/>
          </a:ln>
        </p:spPr>
      </p:sp>
      <p:sp>
        <p:nvSpPr>
          <p:cNvPr id="12" name="marca-2"/>
          <p:cNvSpPr/>
          <p:nvPr/>
        </p:nvSpPr>
        <p:spPr>
          <a:xfrm>
            <a:off x="8478317" y="2011680"/>
            <a:ext cx="384048" cy="384048"/>
          </a:xfrm>
          <a:prstGeom prst="rect">
            <a:avLst/>
          </a:prstGeom>
          <a:solidFill>
            <a:srgbClr val="F25928"/>
          </a:solidFill>
          <a:ln w="12700">
            <a:solidFill>
              <a:srgbClr val="F25928"/>
            </a:solidFill>
            <a:prstDash val="solid"/>
          </a:ln>
        </p:spPr>
      </p:sp>
      <p:sp>
        <p:nvSpPr>
          <p:cNvPr id="13" name="coluna-titulo-2"/>
          <p:cNvSpPr txBox="1"/>
          <p:nvPr/>
        </p:nvSpPr>
        <p:spPr>
          <a:xfrm>
            <a:off x="8478317" y="2697480"/>
            <a:ext cx="2844698" cy="91440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/memoria</a:t>
            </a:r>
            <a:endParaRPr lang="en-US" sz="2600" dirty="0"/>
          </a:p>
        </p:txBody>
      </p:sp>
      <p:sp>
        <p:nvSpPr>
          <p:cNvPr id="14" name="coluna-texto-2"/>
          <p:cNvSpPr txBox="1"/>
          <p:nvPr/>
        </p:nvSpPr>
        <p:spPr>
          <a:xfrm>
            <a:off x="8478317" y="3657600"/>
            <a:ext cx="2844698" cy="146304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the lessons from this task stay for the next one</a:t>
            </a:r>
            <a:endParaRPr lang="en-US" sz="20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Five ideas to take with you</a:t>
            </a:r>
            <a:endParaRPr lang="en-US" sz="3200" dirty="0"/>
          </a:p>
        </p:txBody>
      </p:sp>
      <p:sp>
        <p:nvSpPr>
          <p:cNvPr id="3" name="lista-marca-0"/>
          <p:cNvSpPr/>
          <p:nvPr/>
        </p:nvSpPr>
        <p:spPr>
          <a:xfrm>
            <a:off x="548640" y="1783080"/>
            <a:ext cx="310896" cy="310896"/>
          </a:xfrm>
          <a:prstGeom prst="rect">
            <a:avLst/>
          </a:prstGeom>
          <a:solidFill>
            <a:srgbClr val="6B34FD"/>
          </a:solidFill>
          <a:ln w="12700">
            <a:solidFill>
              <a:srgbClr val="6B34FD"/>
            </a:solidFill>
            <a:prstDash val="solid"/>
          </a:ln>
        </p:spPr>
      </p:sp>
      <p:sp>
        <p:nvSpPr>
          <p:cNvPr id="4" name="lista-item-0"/>
          <p:cNvSpPr txBox="1"/>
          <p:nvPr/>
        </p:nvSpPr>
        <p:spPr>
          <a:xfrm>
            <a:off x="1097280" y="1691640"/>
            <a:ext cx="10545775" cy="73152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Skills make work repeatable</a:t>
            </a:r>
            <a:endParaRPr lang="en-US" sz="2600" dirty="0"/>
          </a:p>
        </p:txBody>
      </p:sp>
      <p:sp>
        <p:nvSpPr>
          <p:cNvPr id="5" name="lista-marca-1"/>
          <p:cNvSpPr/>
          <p:nvPr/>
        </p:nvSpPr>
        <p:spPr>
          <a:xfrm>
            <a:off x="548640" y="2624328"/>
            <a:ext cx="310896" cy="310896"/>
          </a:xfrm>
          <a:prstGeom prst="rect">
            <a:avLst/>
          </a:prstGeom>
          <a:solidFill>
            <a:srgbClr val="6B34FD"/>
          </a:solidFill>
          <a:ln w="12700">
            <a:solidFill>
              <a:srgbClr val="6B34FD"/>
            </a:solidFill>
            <a:prstDash val="solid"/>
          </a:ln>
        </p:spPr>
      </p:sp>
      <p:sp>
        <p:nvSpPr>
          <p:cNvPr id="6" name="lista-item-1"/>
          <p:cNvSpPr txBox="1"/>
          <p:nvPr/>
        </p:nvSpPr>
        <p:spPr>
          <a:xfrm>
            <a:off x="1097280" y="2532888"/>
            <a:ext cx="10545775" cy="73152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Subagents bring a clean context and the right model per piece</a:t>
            </a:r>
            <a:endParaRPr lang="en-US" sz="2600" dirty="0"/>
          </a:p>
        </p:txBody>
      </p:sp>
      <p:sp>
        <p:nvSpPr>
          <p:cNvPr id="7" name="lista-marca-2"/>
          <p:cNvSpPr/>
          <p:nvPr/>
        </p:nvSpPr>
        <p:spPr>
          <a:xfrm>
            <a:off x="548640" y="3465576"/>
            <a:ext cx="310896" cy="310896"/>
          </a:xfrm>
          <a:prstGeom prst="rect">
            <a:avLst/>
          </a:prstGeom>
          <a:solidFill>
            <a:srgbClr val="6B34FD"/>
          </a:solidFill>
          <a:ln w="12700">
            <a:solidFill>
              <a:srgbClr val="6B34FD"/>
            </a:solidFill>
            <a:prstDash val="solid"/>
          </a:ln>
        </p:spPr>
      </p:sp>
      <p:sp>
        <p:nvSpPr>
          <p:cNvPr id="8" name="lista-item-2"/>
          <p:cNvSpPr txBox="1"/>
          <p:nvPr/>
        </p:nvSpPr>
        <p:spPr>
          <a:xfrm>
            <a:off x="1097280" y="3374136"/>
            <a:ext cx="10545775" cy="73152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A script decides the graph; the model executes</a:t>
            </a:r>
            <a:endParaRPr lang="en-US" sz="2600" dirty="0"/>
          </a:p>
        </p:txBody>
      </p:sp>
      <p:sp>
        <p:nvSpPr>
          <p:cNvPr id="9" name="lista-marca-3"/>
          <p:cNvSpPr/>
          <p:nvPr/>
        </p:nvSpPr>
        <p:spPr>
          <a:xfrm>
            <a:off x="548640" y="4306824"/>
            <a:ext cx="310896" cy="310896"/>
          </a:xfrm>
          <a:prstGeom prst="rect">
            <a:avLst/>
          </a:prstGeom>
          <a:solidFill>
            <a:srgbClr val="6B34FD"/>
          </a:solidFill>
          <a:ln w="12700">
            <a:solidFill>
              <a:srgbClr val="6B34FD"/>
            </a:solidFill>
            <a:prstDash val="solid"/>
          </a:ln>
        </p:spPr>
      </p:sp>
      <p:sp>
        <p:nvSpPr>
          <p:cNvPr id="10" name="lista-item-3"/>
          <p:cNvSpPr txBox="1"/>
          <p:nvPr/>
        </p:nvSpPr>
        <p:spPr>
          <a:xfrm>
            <a:off x="1097280" y="4215384"/>
            <a:ext cx="10545775" cy="73152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Measure with hooks; cost is not guessed</a:t>
            </a:r>
            <a:endParaRPr lang="en-US" sz="2600" dirty="0"/>
          </a:p>
        </p:txBody>
      </p:sp>
      <p:sp>
        <p:nvSpPr>
          <p:cNvPr id="11" name="lista-marca-4"/>
          <p:cNvSpPr/>
          <p:nvPr/>
        </p:nvSpPr>
        <p:spPr>
          <a:xfrm>
            <a:off x="548640" y="5148072"/>
            <a:ext cx="310896" cy="310896"/>
          </a:xfrm>
          <a:prstGeom prst="rect">
            <a:avLst/>
          </a:prstGeom>
          <a:solidFill>
            <a:srgbClr val="6B34FD"/>
          </a:solidFill>
          <a:ln w="12700">
            <a:solidFill>
              <a:srgbClr val="6B34FD"/>
            </a:solidFill>
            <a:prstDash val="solid"/>
          </a:ln>
        </p:spPr>
      </p:sp>
      <p:sp>
        <p:nvSpPr>
          <p:cNvPr id="12" name="lista-item-4"/>
          <p:cNvSpPr txBox="1"/>
          <p:nvPr/>
        </p:nvSpPr>
        <p:spPr>
          <a:xfrm>
            <a:off x="1097280" y="5056632"/>
            <a:ext cx="10545775" cy="73152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Memory makes each task teach the next one</a:t>
            </a:r>
            <a:endParaRPr lang="en-US" sz="2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Where everything is</a:t>
            </a:r>
            <a:endParaRPr lang="en-US" sz="3200" dirty="0"/>
          </a:p>
        </p:txBody>
      </p:sp>
      <p:sp>
        <p:nvSpPr>
          <p:cNvPr id="3" name="intro"/>
          <p:cNvSpPr txBox="1"/>
          <p:nvPr/>
        </p:nvSpPr>
        <p:spPr>
          <a:xfrm>
            <a:off x="548640" y="1463040"/>
            <a:ext cx="11094415" cy="54864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Install on another machine:</a:t>
            </a:r>
            <a:endParaRPr lang="en-US" sz="2000" dirty="0"/>
          </a:p>
        </p:txBody>
      </p:sp>
      <p:sp>
        <p:nvSpPr>
          <p:cNvPr id="4" name="codigo-fundo"/>
          <p:cNvSpPr/>
          <p:nvPr/>
        </p:nvSpPr>
        <p:spPr>
          <a:xfrm>
            <a:off x="548640" y="2148840"/>
            <a:ext cx="11094415" cy="2734056"/>
          </a:xfrm>
          <a:prstGeom prst="rect">
            <a:avLst/>
          </a:prstGeom>
          <a:solidFill>
            <a:srgbClr val="140920"/>
          </a:solidFill>
          <a:ln w="12700">
            <a:solidFill>
              <a:srgbClr val="140920"/>
            </a:solidFill>
            <a:prstDash val="solid"/>
          </a:ln>
        </p:spPr>
      </p:sp>
      <p:sp>
        <p:nvSpPr>
          <p:cNvPr id="5" name="codigo"/>
          <p:cNvSpPr txBox="1"/>
          <p:nvPr/>
        </p:nvSpPr>
        <p:spPr>
          <a:xfrm>
            <a:off x="777240" y="2331720"/>
            <a:ext cx="10637215" cy="2414016"/>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curl -fsSL https://github.com/cx-guilherme-pinto/workshop-claude/releases/download/v1.0.0-rc.1/setup-mac.sh | bash</a:t>
            </a:r>
            <a:endParaRPr lang="en-US" sz="2000" dirty="0"/>
          </a:p>
          <a:p>
            <a:pPr indent="0" marL="0">
              <a:buNone/>
            </a:pP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irm https://github.com/cx-guilherme-pinto/workshop-claude/releases/download/v1.0.0-rc.1/bootstrap-windows.ps1 | iex</a:t>
            </a:r>
            <a:endParaRPr lang="en-US" sz="2000" dirty="0"/>
          </a:p>
        </p:txBody>
      </p:sp>
      <p:sp>
        <p:nvSpPr>
          <p:cNvPr id="6" name="depois"/>
          <p:cNvSpPr txBox="1"/>
          <p:nvPr/>
        </p:nvSpPr>
        <p:spPr>
          <a:xfrm>
            <a:off x="548640" y="5760720"/>
            <a:ext cx="11094415" cy="50292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Repository: https://github.com/cx-guilherme-pinto/workshop-claude · version v1.0.0-rc.1 · update the memory: memoria update</a:t>
            </a:r>
            <a:endParaRPr lang="en-US" sz="1500" dirty="0"/>
          </a:p>
        </p:txBody>
      </p:sp>
      <p:sp>
        <p:nvSpPr>
          <p:cNvPr id="7" name="aviso-fundo"/>
          <p:cNvSpPr/>
          <p:nvPr/>
        </p:nvSpPr>
        <p:spPr>
          <a:xfrm>
            <a:off x="5745175" y="384048"/>
            <a:ext cx="5897880" cy="457200"/>
          </a:xfrm>
          <a:prstGeom prst="rect">
            <a:avLst/>
          </a:prstGeom>
          <a:solidFill>
            <a:srgbClr val="F25928"/>
          </a:solidFill>
          <a:ln w="12700">
            <a:solidFill>
              <a:srgbClr val="F25928"/>
            </a:solidFill>
            <a:prstDash val="solid"/>
          </a:ln>
        </p:spPr>
      </p:sp>
      <p:sp>
        <p:nvSpPr>
          <p:cNvPr id="8" name="aviso"/>
          <p:cNvSpPr txBox="1"/>
          <p:nvPr/>
        </p:nvSpPr>
        <p:spPr>
          <a:xfrm>
            <a:off x="5909767" y="384048"/>
            <a:ext cx="5568696"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commands are in Teams: copy them from there.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Tomorrow</a:t>
            </a:r>
            <a:endParaRPr lang="en-US" sz="3200" dirty="0"/>
          </a:p>
        </p:txBody>
      </p:sp>
      <p:sp>
        <p:nvSpPr>
          <p:cNvPr id="3" name="lista-marca-0"/>
          <p:cNvSpPr/>
          <p:nvPr/>
        </p:nvSpPr>
        <p:spPr>
          <a:xfrm>
            <a:off x="548640" y="1783080"/>
            <a:ext cx="310896" cy="310896"/>
          </a:xfrm>
          <a:prstGeom prst="rect">
            <a:avLst/>
          </a:prstGeom>
          <a:solidFill>
            <a:srgbClr val="6B34FD"/>
          </a:solidFill>
          <a:ln w="12700">
            <a:solidFill>
              <a:srgbClr val="6B34FD"/>
            </a:solidFill>
            <a:prstDash val="solid"/>
          </a:ln>
        </p:spPr>
      </p:sp>
      <p:sp>
        <p:nvSpPr>
          <p:cNvPr id="4" name="lista-item-0"/>
          <p:cNvSpPr txBox="1"/>
          <p:nvPr/>
        </p:nvSpPr>
        <p:spPr>
          <a:xfrm>
            <a:off x="1097280" y="1691640"/>
            <a:ext cx="10545775" cy="73152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Run /task-intake on the next issue assigned to you</a:t>
            </a:r>
            <a:endParaRPr lang="en-US" sz="2600" dirty="0"/>
          </a:p>
        </p:txBody>
      </p:sp>
      <p:sp>
        <p:nvSpPr>
          <p:cNvPr id="5" name="lista-marca-1"/>
          <p:cNvSpPr/>
          <p:nvPr/>
        </p:nvSpPr>
        <p:spPr>
          <a:xfrm>
            <a:off x="548640" y="2624328"/>
            <a:ext cx="310896" cy="310896"/>
          </a:xfrm>
          <a:prstGeom prst="rect">
            <a:avLst/>
          </a:prstGeom>
          <a:solidFill>
            <a:srgbClr val="6B34FD"/>
          </a:solidFill>
          <a:ln w="12700">
            <a:solidFill>
              <a:srgbClr val="6B34FD"/>
            </a:solidFill>
            <a:prstDash val="solid"/>
          </a:ln>
        </p:spPr>
      </p:sp>
      <p:sp>
        <p:nvSpPr>
          <p:cNvPr id="6" name="lista-item-1"/>
          <p:cNvSpPr txBox="1"/>
          <p:nvPr/>
        </p:nvSpPr>
        <p:spPr>
          <a:xfrm>
            <a:off x="1097280" y="2532888"/>
            <a:ext cx="10545775" cy="73152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Write a skill for a task you repeat every week</a:t>
            </a:r>
            <a:endParaRPr lang="en-US" sz="2600" dirty="0"/>
          </a:p>
        </p:txBody>
      </p:sp>
      <p:sp>
        <p:nvSpPr>
          <p:cNvPr id="7" name="lista-marca-2"/>
          <p:cNvSpPr/>
          <p:nvPr/>
        </p:nvSpPr>
        <p:spPr>
          <a:xfrm>
            <a:off x="548640" y="3465576"/>
            <a:ext cx="310896" cy="310896"/>
          </a:xfrm>
          <a:prstGeom prst="rect">
            <a:avLst/>
          </a:prstGeom>
          <a:solidFill>
            <a:srgbClr val="6B34FD"/>
          </a:solidFill>
          <a:ln w="12700">
            <a:solidFill>
              <a:srgbClr val="6B34FD"/>
            </a:solidFill>
            <a:prstDash val="solid"/>
          </a:ln>
        </p:spPr>
      </p:sp>
      <p:sp>
        <p:nvSpPr>
          <p:cNvPr id="8" name="lista-item-2"/>
          <p:cNvSpPr txBox="1"/>
          <p:nvPr/>
        </p:nvSpPr>
        <p:spPr>
          <a:xfrm>
            <a:off x="1097280" y="3374136"/>
            <a:ext cx="10545775" cy="73152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Open Memória before planning</a:t>
            </a:r>
            <a:endParaRPr lang="en-US" sz="2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1" type="title" hasCustomPrompt="1"/>
          </p:nvPr>
        </p:nvSpPr>
        <p:spPr>
          <a:xfrm>
            <a:off x="914400" y="2011680"/>
            <a:ext cx="10362895" cy="1463040"/>
          </a:xfrm>
          <a:prstGeom prst="rect">
            <a:avLst/>
          </a:prstGeom>
          <a:noFill/>
          <a:ln/>
        </p:spPr>
        <p:txBody>
          <a:bodyPr wrap="square" lIns="0" tIns="0" rIns="0" bIns="0" rtlCol="0" anchor="b"/>
          <a:lstStyle/>
          <a:p>
            <a:pPr algn="ctr" indent="0" marL="0">
              <a:buNone/>
            </a:pPr>
            <a:r>
              <a:rPr lang="en-US" sz="6000" dirty="0">
                <a:solidFill>
                  <a:srgbClr val="FCF9FE"/>
                </a:solidFill>
                <a:latin typeface="Founders Grotesk Medium" pitchFamily="34" charset="0"/>
                <a:ea typeface="Founders Grotesk Medium" pitchFamily="34" charset="-122"/>
                <a:cs typeface="Founders Grotesk Medium" pitchFamily="34" charset="-120"/>
              </a:rPr>
              <a:t>Questions</a:t>
            </a:r>
            <a:endParaRPr lang="en-US" sz="6000" dirty="0"/>
          </a:p>
        </p:txBody>
      </p:sp>
      <p:sp>
        <p:nvSpPr>
          <p:cNvPr id="3" name="Text 0"/>
          <p:cNvSpPr/>
          <p:nvPr>
            <p:ph idx="102" type="body" hasCustomPrompt="1"/>
          </p:nvPr>
        </p:nvSpPr>
        <p:spPr>
          <a:xfrm>
            <a:off x="914400" y="3566160"/>
            <a:ext cx="10362895" cy="822960"/>
          </a:xfrm>
          <a:prstGeom prst="rect">
            <a:avLst/>
          </a:prstGeom>
          <a:noFill/>
          <a:ln/>
        </p:spPr>
        <p:txBody>
          <a:bodyPr wrap="square" lIns="0" tIns="0" rIns="0" bIns="0" rtlCol="0" anchor="t"/>
          <a:lstStyle/>
          <a:p>
            <a:pPr algn="ctr" indent="0" marL="0">
              <a:buNone/>
            </a:pPr>
            <a:r>
              <a:rPr lang="en-US" sz="2800" dirty="0">
                <a:solidFill>
                  <a:srgbClr val="F25928"/>
                </a:solidFill>
                <a:latin typeface="Founders Grotesk Medium" pitchFamily="34" charset="0"/>
                <a:ea typeface="Founders Grotesk Medium" pitchFamily="34" charset="-122"/>
                <a:cs typeface="Founders Grotesk Medium" pitchFamily="34" charset="-120"/>
              </a:rPr>
              <a:t>No time limit</a:t>
            </a:r>
            <a:endParaRPr lang="en-US" sz="2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Founders Grotesk Medium"/>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 orchestration with Claude</dc:title>
  <dc:subject>PptxGenJS Presentation</dc:subject>
  <dc:creator>Workshop Claude</dc:creator>
  <cp:lastModifiedBy>Workshop Claude</cp:lastModifiedBy>
  <cp:revision>1</cp:revision>
  <dcterms:created xsi:type="dcterms:W3CDTF">2026-10-16T18:13:21Z</dcterms:created>
  <dcterms:modified xsi:type="dcterms:W3CDTF">2026-10-16T18:13:21Z</dcterms:modified>
</cp:coreProperties>
</file>