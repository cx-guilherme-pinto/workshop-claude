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fd1fb0-ef92-8a34-2caf-35b5a2d99df9}">
          <p14:sldIdLst>
            <p14:sldId id="256"/>
            <p14:sldId id="257"/>
            <p14:sldId id="258"/>
            <p14:sldId id="259"/>
          </p14:sldIdLst>
        </p14:section>
        <p14:section name="Check" id="{04befded-8a9f-3c24-44d4-c67624ec9219}">
          <p14:sldIdLst>
            <p14:sldId id="260"/>
            <p14:sldId id="261"/>
          </p14:sldIdLst>
        </p14:section>
        <p14:section name="Concepts" id="{d44f57d2-a095-8e30-f08b-16e9659be0c0}">
          <p14:sldIdLst>
            <p14:sldId id="262"/>
            <p14:sldId id="263"/>
            <p14:sldId id="264"/>
            <p14:sldId id="265"/>
            <p14:sldId id="266"/>
            <p14:sldId id="267"/>
            <p14:sldId id="268"/>
            <p14:sldId id="269"/>
            <p14:sldId id="270"/>
            <p14:sldId id="271"/>
          </p14:sldIdLst>
        </p14:section>
        <p14:section name="Preview" id="{23fd3037-50a5-2d2d-6411-031acf9137d5}">
          <p14:sldIdLst>
            <p14:sldId id="272"/>
            <p14:sldId id="273"/>
          </p14:sldIdLst>
        </p14:section>
        <p14:section name="Project 1" id="{88b87997-deec-9160-bf97-0689e1e30399}">
          <p14:sldIdLst>
            <p14:sldId id="274"/>
            <p14:sldId id="275"/>
            <p14:sldId id="276"/>
            <p14:sldId id="277"/>
            <p14:sldId id="278"/>
            <p14:sldId id="279"/>
            <p14:sldId id="280"/>
            <p14:sldId id="281"/>
            <p14:sldId id="282"/>
            <p14:sldId id="283"/>
            <p14:sldId id="284"/>
            <p14:sldId id="285"/>
            <p14:sldId id="286"/>
          </p14:sldIdLst>
        </p14:section>
        <p14:section name="Memory" id="{052a76bd-98cd-ca81-6d2a-f0da96ad06a8}">
          <p14:sldIdLst>
            <p14:sldId id="287"/>
            <p14:sldId id="288"/>
          </p14:sldIdLst>
        </p14:section>
        <p14:section name="Project 2" id="{2070cef5-8e20-28be-186a-7a757160a527}">
          <p14:sldIdLst>
            <p14:sldId id="289"/>
            <p14:sldId id="290"/>
            <p14:sldId id="291"/>
            <p14:sldId id="292"/>
            <p14:sldId id="293"/>
            <p14:sldId id="294"/>
            <p14:sldId id="295"/>
            <p14:sldId id="296"/>
          </p14:sldIdLst>
        </p14:section>
        <p14:section name="Closing" id="{82405bff-c84a-ca44-d742-ecaf1a73ac83}">
          <p14:sldIdLst>
            <p14:sldId id="297"/>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3:30] 1 min · you should be here at 3 min
The clock is in the notes of each slide. Questions are at the end, with no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5:00] 1.5 min · you should be here at 4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8:00] 3 min · you should be here at 5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10:00] 2 min · you should be here at 8 min
Claude reads only the log excerpt for that step, with no secrets, and suggests commands. It never runs anything without confirmation. If Claude is not installed yet, the pre-written message from TROUBLESHOOTING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10:30] 0.5 min · you should be here at 10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14:00] 2 min · you should be here at 12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16:00] 2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 → 18:00] 2 min · you should be here at 16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20:00] 2 min · you should be here at 18 min
The plan is a dependency graph. We run it in waves: everything that is ready runs in parallel. The three cryptography cards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 → 21:30] 1.5 min · you should be here at 20 min
With 15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[21:30 → 23:00]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24:00] 1 min · you should be here at 23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 → 25:00] 1 min · CAN SKIP · you should be here at 24 min
Skip if running late. Claude Code refuses a 21st concurrent subagent. API rate limits are per organisation. That is why we work in batches.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 → 29:00] 4 min · you should be here at 25 min
Sped-up video of a real run in presenter mode. The time and cost on screen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[29:00 → 30:00] 1 min · you should be here at 29 min
Open the final Arena in the browser and play a card. It is a static app, with no risk. The game comes in Portuguese or English, depending on the machine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30:30] 0.5 min · you should be here at 30 min
25 minutes of hands-on. In the benchmark, the 15-card swarm took 4 to 6 minutes;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[30:30 → 31:30] 1 min · you should be here at 31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[31:30 → 34:30] 3 min · you should be here at 32 min
The trust dialog matters: without it, the project permissions stay off.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 → 36:00] 1.5 min · you should be here at 35 min
Show someone's plan on the projector. In wave 1, lib/hash and the cards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[36:00 → 38:00] 2 min · you should be here at 36 min
From here the swarm works for a few minutes (4 to 6 in the benchmark).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[38:00 → 40:00] 2 min · you should be here at 38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 42:00] 2 min · you should be here at 40 min
Show the statusline changing as the agents finish. Explain why /usage can show more: versions that do not know the latest prices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 → 45:00] 3 min · you should be here at 42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47:00] 2 min · CAN SKIP · you should be here at 45 min
Skip if running late. Example routine: a daily security review with node tools/rotina.mjs --instalar,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[47:00 → 49:00] 2 min · you should be here at 47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[49:00 → 51:00] 2 min · you should be here at 49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[51:00 → 53:00] 2 min · you should be here at 51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57:00] 2 min · you should be here at 55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[57:00 → 60:00] 3 min · you should be here at 57 min
The app opens in your native language and has a language selector. Routines, worktrees and headless mode were already covered during the waiting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60:30] 0.5 min · you should be here at 60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[60:30 → 62:00] 1.5 min · you should be here at 61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66:00] 4 min · you should be here at 62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[66:00 → 71:00] 5 min · you should be here at 66 min
The planner (Opus) proposes the graph and a script validates it: cycles, shared files, known agents.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[71:00 → 81:00] 10 min · you should be here at 71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[81:00 → 82:00] 1 min · CAN SKIP · you should be here at 81 min
Skip if running late. The Atlassian MCP spends the company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[82:00 → 84:00] 2 min · you should be here at 82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[84:00 → 85:00] 1 min · CAN SKIP · you should be here at 84 min
Skip if running late. With a subscription, the same session can continue on the phone and routines run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The commands are generated from repos.conf: they are always right for the published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0F13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rtlCol="0"/>
          <a:lstStyle>
            <a:lvl1pPr algn="l" indent="0" marL="0">
              <a:buNone/>
              <a:defRPr lang="en-US" sz="5200" b="1" dirty="0">
                <a:solidFill>
                  <a:srgbClr val="E8EDE9"/>
                </a:solidFill>
                <a:latin typeface="Bricolage Grotesque" pitchFamily="34" charset="0"/>
                <a:ea typeface="Bricolage Grotesque" pitchFamily="34" charset="-122"/>
                <a:cs typeface="Bricolage Grotesque" pitchFamily="34" charset="-120"/>
              </a:defRPr>
            </a:lvl1pPr>
          </a:lstStyle>
          <a:p>
            <a:pPr algn="l" indent="0" marL="0">
              <a:buNone/>
            </a:pP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rtlCol="0"/>
          <a:lstStyle>
            <a:lvl1pPr algn="l" indent="0" marL="0">
              <a:buNone/>
              <a:defRPr lang="en-US" sz="2200" dirty="0">
                <a:solidFill>
                  <a:srgbClr val="9BA59F"/>
                </a:solidFill>
                <a:latin typeface="Arial" pitchFamily="34" charset="0"/>
                <a:ea typeface="Arial" pitchFamily="34" charset="-122"/>
                <a:cs typeface="Arial"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AO">
    <p:bg>
      <p:bgPr>
        <a:solidFill>
          <a:srgbClr val="0F13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rtlCol="0"/>
          <a:lstStyle>
            <a:lvl1pPr algn="l" indent="0" marL="0">
              <a:buNone/>
              <a:defRPr lang="en-US" sz="6000" b="1" dirty="0">
                <a:solidFill>
                  <a:srgbClr val="E8EDE9"/>
                </a:solidFill>
                <a:latin typeface="Bricolage Grotesque" pitchFamily="34" charset="0"/>
                <a:ea typeface="Bricolage Grotesque" pitchFamily="34" charset="-122"/>
                <a:cs typeface="Bricolage Grotesque" pitchFamily="34" charset="-120"/>
              </a:defRPr>
            </a:lvl1pPr>
          </a:lstStyle>
          <a:p>
            <a:pPr algn="l" indent="0" marL="0">
              <a:buNone/>
            </a:pP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rtlCol="0"/>
          <a:lstStyle>
            <a:lvl1pPr algn="l" indent="0" marL="0">
              <a:buNone/>
              <a:defRPr lang="en-US" sz="2400" dirty="0">
                <a:solidFill>
                  <a:srgbClr val="9BA59F"/>
                </a:solidFill>
                <a:latin typeface="Arial" pitchFamily="34" charset="0"/>
                <a:ea typeface="Arial" pitchFamily="34" charset="-122"/>
                <a:cs typeface="Arial" pitchFamily="34" charset="-120"/>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UDO">
    <p:bg>
      <p:bgPr>
        <a:solidFill>
          <a:srgbClr val="F2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rtlCol="0"/>
          <a:lstStyle>
            <a:lvl1pPr algn="l" indent="0" marL="0">
              <a:buNone/>
              <a:defRPr lang="en-US" sz="3600" b="1" dirty="0">
                <a:solidFill>
                  <a:srgbClr val="121614"/>
                </a:solidFill>
                <a:latin typeface="Bricolage Grotesque" pitchFamily="34" charset="0"/>
                <a:ea typeface="Bricolage Grotesque" pitchFamily="34" charset="-122"/>
                <a:cs typeface="Bricolage Grotesque" pitchFamily="34" charset="-120"/>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45C57"/>
                </a:solidFill>
                <a:latin typeface="Arial" pitchFamily="34" charset="0"/>
                <a:ea typeface="Arial" pitchFamily="34" charset="-122"/>
                <a:cs typeface="Arial" pitchFamily="34" charset="-120"/>
              </a:rPr>
              <a:t>Agent orchestration with Claude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ACA">
    <p:bg>
      <p:bgPr>
        <a:solidFill>
          <a:srgbClr val="F1C23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94415" cy="868680"/>
          </a:xfrm>
          <a:prstGeom prst="rect">
            <a:avLst/>
          </a:prstGeom>
          <a:noFill/>
          <a:ln/>
        </p:spPr>
        <p:txBody>
          <a:bodyPr wrap="square" rtlCol="0"/>
          <a:lstStyle>
            <a:lvl1pPr algn="l" indent="0" marL="0">
              <a:buNone/>
              <a:defRPr lang="en-US" sz="3800" b="1" dirty="0">
                <a:solidFill>
                  <a:srgbClr val="121614"/>
                </a:solidFill>
                <a:latin typeface="Bricolage Grotesque" pitchFamily="34" charset="0"/>
                <a:ea typeface="Bricolage Grotesque" pitchFamily="34" charset="-122"/>
                <a:cs typeface="Bricolage Grotesque" pitchFamily="34" charset="-120"/>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lIns="0" tIns="0" rIns="0" bIns="0" rtlCol="0" anchor="b"/>
          <a:lstStyle/>
          <a:p>
            <a:pPr algn="l" indent="0" marL="0">
              <a:buNone/>
            </a:pPr>
            <a:r>
              <a:rPr lang="en-US" sz="5200" b="1" dirty="0">
                <a:solidFill>
                  <a:srgbClr val="E8EDE9"/>
                </a:solidFill>
                <a:latin typeface="Bricolage Grotesque" pitchFamily="34" charset="0"/>
                <a:ea typeface="Bricolage Grotesque" pitchFamily="34" charset="-122"/>
                <a:cs typeface="Bricolage Grotesque" pitchFamily="34" charset="-120"/>
              </a:rPr>
              <a:t>Agent orchestration with Claude</a:t>
            </a: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lIns="0" tIns="0" rIns="0" bIns="0" rtlCol="0" anchor="t"/>
          <a:lstStyle/>
          <a:p>
            <a:pPr algn="l" indent="0" marL="0">
              <a:buNone/>
            </a:pPr>
            <a:r>
              <a:rPr lang="en-US" sz="2200" dirty="0">
                <a:solidFill>
                  <a:srgbClr val="9BA59F"/>
                </a:solidFill>
                <a:latin typeface="Arial" pitchFamily="34" charset="0"/>
                <a:ea typeface="Arial" pitchFamily="34" charset="-122"/>
                <a:cs typeface="Arial" pitchFamily="34" charset="-120"/>
              </a:rPr>
              <a:t>Skills, subagents and parallel swarms, with measured cost</a:t>
            </a:r>
            <a:endParaRPr lang="en-US" sz="2200" dirty="0"/>
          </a:p>
        </p:txBody>
      </p:sp>
      <p:sp>
        <p:nvSpPr>
          <p:cNvPr id="4" name="estado-0-0"/>
          <p:cNvSpPr/>
          <p:nvPr/>
        </p:nvSpPr>
        <p:spPr>
          <a:xfrm>
            <a:off x="9052560" y="1463040"/>
            <a:ext cx="384048" cy="384048"/>
          </a:xfrm>
          <a:prstGeom prst="rect">
            <a:avLst/>
          </a:prstGeom>
          <a:solidFill>
            <a:srgbClr val="1E9E57"/>
          </a:solidFill>
          <a:ln w="12700">
            <a:solidFill>
              <a:srgbClr val="1E9E57"/>
            </a:solidFill>
            <a:prstDash val="solid"/>
          </a:ln>
        </p:spPr>
      </p:sp>
      <p:sp>
        <p:nvSpPr>
          <p:cNvPr id="5" name="estado-0-1"/>
          <p:cNvSpPr/>
          <p:nvPr/>
        </p:nvSpPr>
        <p:spPr>
          <a:xfrm>
            <a:off x="9546336" y="1463040"/>
            <a:ext cx="384048" cy="384048"/>
          </a:xfrm>
          <a:prstGeom prst="rect">
            <a:avLst/>
          </a:prstGeom>
          <a:solidFill>
            <a:srgbClr val="1E9E57"/>
          </a:solidFill>
          <a:ln w="12700">
            <a:solidFill>
              <a:srgbClr val="1E9E57"/>
            </a:solidFill>
            <a:prstDash val="solid"/>
          </a:ln>
        </p:spPr>
      </p:sp>
      <p:sp>
        <p:nvSpPr>
          <p:cNvPr id="6" name="estado-0-2"/>
          <p:cNvSpPr/>
          <p:nvPr/>
        </p:nvSpPr>
        <p:spPr>
          <a:xfrm>
            <a:off x="10040112" y="1463040"/>
            <a:ext cx="384048" cy="384048"/>
          </a:xfrm>
          <a:prstGeom prst="rect">
            <a:avLst/>
          </a:prstGeom>
          <a:solidFill>
            <a:srgbClr val="D2463F"/>
          </a:solidFill>
          <a:ln w="12700">
            <a:solidFill>
              <a:srgbClr val="D2463F"/>
            </a:solidFill>
            <a:prstDash val="solid"/>
          </a:ln>
        </p:spPr>
      </p:sp>
      <p:sp>
        <p:nvSpPr>
          <p:cNvPr id="7" name="estado-0-3"/>
          <p:cNvSpPr/>
          <p:nvPr/>
        </p:nvSpPr>
        <p:spPr>
          <a:xfrm>
            <a:off x="10533888" y="1463040"/>
            <a:ext cx="384048" cy="384048"/>
          </a:xfrm>
          <a:prstGeom prst="rect">
            <a:avLst/>
          </a:prstGeom>
          <a:solidFill>
            <a:srgbClr val="C4C7C1"/>
          </a:solidFill>
          <a:ln w="12700">
            <a:solidFill>
              <a:srgbClr val="C4C7C1"/>
            </a:solidFill>
            <a:prstDash val="solid"/>
          </a:ln>
        </p:spPr>
      </p:sp>
      <p:sp>
        <p:nvSpPr>
          <p:cNvPr id="8" name="estado-0-4"/>
          <p:cNvSpPr/>
          <p:nvPr/>
        </p:nvSpPr>
        <p:spPr>
          <a:xfrm>
            <a:off x="11027664" y="1463040"/>
            <a:ext cx="384048" cy="384048"/>
          </a:xfrm>
          <a:prstGeom prst="rect">
            <a:avLst/>
          </a:prstGeom>
          <a:solidFill>
            <a:srgbClr val="F1C232"/>
          </a:solidFill>
          <a:ln w="12700">
            <a:solidFill>
              <a:srgbClr val="F1C232"/>
            </a:solidFill>
            <a:prstDash val="solid"/>
          </a:ln>
        </p:spPr>
      </p:sp>
      <p:sp>
        <p:nvSpPr>
          <p:cNvPr id="9" name="estado-1-0"/>
          <p:cNvSpPr/>
          <p:nvPr/>
        </p:nvSpPr>
        <p:spPr>
          <a:xfrm>
            <a:off x="9052560" y="1956816"/>
            <a:ext cx="384048" cy="384048"/>
          </a:xfrm>
          <a:prstGeom prst="rect">
            <a:avLst/>
          </a:prstGeom>
          <a:solidFill>
            <a:srgbClr val="1E9E57"/>
          </a:solidFill>
          <a:ln w="12700">
            <a:solidFill>
              <a:srgbClr val="1E9E57"/>
            </a:solidFill>
            <a:prstDash val="solid"/>
          </a:ln>
        </p:spPr>
      </p:sp>
      <p:sp>
        <p:nvSpPr>
          <p:cNvPr id="10" name="estado-1-1"/>
          <p:cNvSpPr/>
          <p:nvPr/>
        </p:nvSpPr>
        <p:spPr>
          <a:xfrm>
            <a:off x="9546336" y="1956816"/>
            <a:ext cx="384048" cy="384048"/>
          </a:xfrm>
          <a:prstGeom prst="rect">
            <a:avLst/>
          </a:prstGeom>
          <a:solidFill>
            <a:srgbClr val="1E9E57"/>
          </a:solidFill>
          <a:ln w="12700">
            <a:solidFill>
              <a:srgbClr val="1E9E57"/>
            </a:solidFill>
            <a:prstDash val="solid"/>
          </a:ln>
        </p:spPr>
      </p:sp>
      <p:sp>
        <p:nvSpPr>
          <p:cNvPr id="11" name="estado-1-2"/>
          <p:cNvSpPr/>
          <p:nvPr/>
        </p:nvSpPr>
        <p:spPr>
          <a:xfrm>
            <a:off x="10040112" y="1956816"/>
            <a:ext cx="384048" cy="384048"/>
          </a:xfrm>
          <a:prstGeom prst="rect">
            <a:avLst/>
          </a:prstGeom>
          <a:solidFill>
            <a:srgbClr val="1E9E57"/>
          </a:solidFill>
          <a:ln w="12700">
            <a:solidFill>
              <a:srgbClr val="1E9E57"/>
            </a:solidFill>
            <a:prstDash val="solid"/>
          </a:ln>
        </p:spPr>
      </p:sp>
      <p:sp>
        <p:nvSpPr>
          <p:cNvPr id="12" name="estado-1-3"/>
          <p:cNvSpPr/>
          <p:nvPr/>
        </p:nvSpPr>
        <p:spPr>
          <a:xfrm>
            <a:off x="10533888" y="1956816"/>
            <a:ext cx="384048" cy="384048"/>
          </a:xfrm>
          <a:prstGeom prst="rect">
            <a:avLst/>
          </a:prstGeom>
          <a:solidFill>
            <a:srgbClr val="D2463F"/>
          </a:solidFill>
          <a:ln w="12700">
            <a:solidFill>
              <a:srgbClr val="D2463F"/>
            </a:solidFill>
            <a:prstDash val="solid"/>
          </a:ln>
        </p:spPr>
      </p:sp>
      <p:sp>
        <p:nvSpPr>
          <p:cNvPr id="13" name="estado-1-4"/>
          <p:cNvSpPr/>
          <p:nvPr/>
        </p:nvSpPr>
        <p:spPr>
          <a:xfrm>
            <a:off x="11027664" y="1956816"/>
            <a:ext cx="384048" cy="384048"/>
          </a:xfrm>
          <a:prstGeom prst="rect">
            <a:avLst/>
          </a:prstGeom>
          <a:solidFill>
            <a:srgbClr val="C4C7C1"/>
          </a:solidFill>
          <a:ln w="12700">
            <a:solidFill>
              <a:srgbClr val="C4C7C1"/>
            </a:solidFill>
            <a:prstDash val="solid"/>
          </a:ln>
        </p:spPr>
      </p:sp>
      <p:sp>
        <p:nvSpPr>
          <p:cNvPr id="14" name="estado-2-0"/>
          <p:cNvSpPr/>
          <p:nvPr/>
        </p:nvSpPr>
        <p:spPr>
          <a:xfrm>
            <a:off x="9052560" y="2450592"/>
            <a:ext cx="384048" cy="384048"/>
          </a:xfrm>
          <a:prstGeom prst="rect">
            <a:avLst/>
          </a:prstGeom>
          <a:solidFill>
            <a:srgbClr val="C4C7C1"/>
          </a:solidFill>
          <a:ln w="12700">
            <a:solidFill>
              <a:srgbClr val="C4C7C1"/>
            </a:solidFill>
            <a:prstDash val="solid"/>
          </a:ln>
        </p:spPr>
      </p:sp>
      <p:sp>
        <p:nvSpPr>
          <p:cNvPr id="15" name="estado-2-1"/>
          <p:cNvSpPr/>
          <p:nvPr/>
        </p:nvSpPr>
        <p:spPr>
          <a:xfrm>
            <a:off x="9546336" y="2450592"/>
            <a:ext cx="384048" cy="384048"/>
          </a:xfrm>
          <a:prstGeom prst="rect">
            <a:avLst/>
          </a:prstGeom>
          <a:solidFill>
            <a:srgbClr val="1E9E57"/>
          </a:solidFill>
          <a:ln w="12700">
            <a:solidFill>
              <a:srgbClr val="1E9E57"/>
            </a:solidFill>
            <a:prstDash val="solid"/>
          </a:ln>
        </p:spPr>
      </p:sp>
      <p:sp>
        <p:nvSpPr>
          <p:cNvPr id="16" name="estado-2-2"/>
          <p:cNvSpPr/>
          <p:nvPr/>
        </p:nvSpPr>
        <p:spPr>
          <a:xfrm>
            <a:off x="10040112" y="2450592"/>
            <a:ext cx="384048" cy="384048"/>
          </a:xfrm>
          <a:prstGeom prst="rect">
            <a:avLst/>
          </a:prstGeom>
          <a:solidFill>
            <a:srgbClr val="1E9E57"/>
          </a:solidFill>
          <a:ln w="12700">
            <a:solidFill>
              <a:srgbClr val="1E9E57"/>
            </a:solidFill>
            <a:prstDash val="solid"/>
          </a:ln>
        </p:spPr>
      </p:sp>
      <p:sp>
        <p:nvSpPr>
          <p:cNvPr id="17" name="estado-2-3"/>
          <p:cNvSpPr/>
          <p:nvPr/>
        </p:nvSpPr>
        <p:spPr>
          <a:xfrm>
            <a:off x="10533888" y="2450592"/>
            <a:ext cx="384048" cy="384048"/>
          </a:xfrm>
          <a:prstGeom prst="rect">
            <a:avLst/>
          </a:prstGeom>
          <a:solidFill>
            <a:srgbClr val="1E9E57"/>
          </a:solidFill>
          <a:ln w="12700">
            <a:solidFill>
              <a:srgbClr val="1E9E57"/>
            </a:solidFill>
            <a:prstDash val="solid"/>
          </a:ln>
        </p:spPr>
      </p:sp>
      <p:sp>
        <p:nvSpPr>
          <p:cNvPr id="18" name="estado-2-4"/>
          <p:cNvSpPr/>
          <p:nvPr/>
        </p:nvSpPr>
        <p:spPr>
          <a:xfrm>
            <a:off x="11027664" y="2450592"/>
            <a:ext cx="384048" cy="384048"/>
          </a:xfrm>
          <a:prstGeom prst="rect">
            <a:avLst/>
          </a:prstGeom>
          <a:solidFill>
            <a:srgbClr val="D2463F"/>
          </a:solidFill>
          <a:ln w="12700">
            <a:solidFill>
              <a:srgbClr val="D2463F"/>
            </a:solidFill>
            <a:prstDash val="solid"/>
          </a:ln>
        </p:spPr>
      </p:sp>
      <p:sp>
        <p:nvSpPr>
          <p:cNvPr id="19" name="estado-3-0"/>
          <p:cNvSpPr/>
          <p:nvPr/>
        </p:nvSpPr>
        <p:spPr>
          <a:xfrm>
            <a:off x="9052560" y="2944368"/>
            <a:ext cx="384048" cy="384048"/>
          </a:xfrm>
          <a:prstGeom prst="rect">
            <a:avLst/>
          </a:prstGeom>
          <a:solidFill>
            <a:srgbClr val="1E9E57"/>
          </a:solidFill>
          <a:ln w="12700">
            <a:solidFill>
              <a:srgbClr val="1E9E57"/>
            </a:solidFill>
            <a:prstDash val="solid"/>
          </a:ln>
        </p:spPr>
      </p:sp>
      <p:sp>
        <p:nvSpPr>
          <p:cNvPr id="20" name="estado-3-1"/>
          <p:cNvSpPr/>
          <p:nvPr/>
        </p:nvSpPr>
        <p:spPr>
          <a:xfrm>
            <a:off x="9546336" y="2944368"/>
            <a:ext cx="384048" cy="384048"/>
          </a:xfrm>
          <a:prstGeom prst="rect">
            <a:avLst/>
          </a:prstGeom>
          <a:solidFill>
            <a:srgbClr val="C4C7C1"/>
          </a:solidFill>
          <a:ln w="12700">
            <a:solidFill>
              <a:srgbClr val="C4C7C1"/>
            </a:solidFill>
            <a:prstDash val="solid"/>
          </a:ln>
        </p:spPr>
      </p:sp>
      <p:sp>
        <p:nvSpPr>
          <p:cNvPr id="21" name="estado-3-2"/>
          <p:cNvSpPr/>
          <p:nvPr/>
        </p:nvSpPr>
        <p:spPr>
          <a:xfrm>
            <a:off x="10040112" y="2944368"/>
            <a:ext cx="384048" cy="384048"/>
          </a:xfrm>
          <a:prstGeom prst="rect">
            <a:avLst/>
          </a:prstGeom>
          <a:solidFill>
            <a:srgbClr val="1E9E57"/>
          </a:solidFill>
          <a:ln w="12700">
            <a:solidFill>
              <a:srgbClr val="1E9E57"/>
            </a:solidFill>
            <a:prstDash val="solid"/>
          </a:ln>
        </p:spPr>
      </p:sp>
      <p:sp>
        <p:nvSpPr>
          <p:cNvPr id="22" name="estado-3-3"/>
          <p:cNvSpPr/>
          <p:nvPr/>
        </p:nvSpPr>
        <p:spPr>
          <a:xfrm>
            <a:off x="10533888" y="2944368"/>
            <a:ext cx="384048" cy="384048"/>
          </a:xfrm>
          <a:prstGeom prst="rect">
            <a:avLst/>
          </a:prstGeom>
          <a:solidFill>
            <a:srgbClr val="1E9E57"/>
          </a:solidFill>
          <a:ln w="12700">
            <a:solidFill>
              <a:srgbClr val="1E9E57"/>
            </a:solidFill>
            <a:prstDash val="solid"/>
          </a:ln>
        </p:spPr>
      </p:sp>
      <p:sp>
        <p:nvSpPr>
          <p:cNvPr id="23" name="estado-3-4"/>
          <p:cNvSpPr/>
          <p:nvPr/>
        </p:nvSpPr>
        <p:spPr>
          <a:xfrm>
            <a:off x="11027664" y="2944368"/>
            <a:ext cx="384048" cy="384048"/>
          </a:xfrm>
          <a:prstGeom prst="rect">
            <a:avLst/>
          </a:prstGeom>
          <a:solidFill>
            <a:srgbClr val="1E9E57"/>
          </a:solidFill>
          <a:ln w="12700">
            <a:solidFill>
              <a:srgbClr val="1E9E57"/>
            </a:solidFill>
            <a:prstDash val="solid"/>
          </a:ln>
        </p:spPr>
      </p:sp>
      <p:sp>
        <p:nvSpPr>
          <p:cNvPr id="24" name="estado-4-0"/>
          <p:cNvSpPr/>
          <p:nvPr/>
        </p:nvSpPr>
        <p:spPr>
          <a:xfrm>
            <a:off x="9052560" y="3438144"/>
            <a:ext cx="384048" cy="384048"/>
          </a:xfrm>
          <a:prstGeom prst="rect">
            <a:avLst/>
          </a:prstGeom>
          <a:solidFill>
            <a:srgbClr val="F1C232"/>
          </a:solidFill>
          <a:ln w="12700">
            <a:solidFill>
              <a:srgbClr val="F1C232"/>
            </a:solidFill>
            <a:prstDash val="solid"/>
          </a:ln>
        </p:spPr>
      </p:sp>
      <p:sp>
        <p:nvSpPr>
          <p:cNvPr id="25" name="estado-4-1"/>
          <p:cNvSpPr/>
          <p:nvPr/>
        </p:nvSpPr>
        <p:spPr>
          <a:xfrm>
            <a:off x="9546336" y="3438144"/>
            <a:ext cx="384048" cy="384048"/>
          </a:xfrm>
          <a:prstGeom prst="rect">
            <a:avLst/>
          </a:prstGeom>
          <a:solidFill>
            <a:srgbClr val="1E9E57"/>
          </a:solidFill>
          <a:ln w="12700">
            <a:solidFill>
              <a:srgbClr val="1E9E57"/>
            </a:solidFill>
            <a:prstDash val="solid"/>
          </a:ln>
        </p:spPr>
      </p:sp>
      <p:sp>
        <p:nvSpPr>
          <p:cNvPr id="26" name="estado-4-2"/>
          <p:cNvSpPr/>
          <p:nvPr/>
        </p:nvSpPr>
        <p:spPr>
          <a:xfrm>
            <a:off x="10040112" y="3438144"/>
            <a:ext cx="384048" cy="384048"/>
          </a:xfrm>
          <a:prstGeom prst="rect">
            <a:avLst/>
          </a:prstGeom>
          <a:solidFill>
            <a:srgbClr val="C4C7C1"/>
          </a:solidFill>
          <a:ln w="12700">
            <a:solidFill>
              <a:srgbClr val="C4C7C1"/>
            </a:solidFill>
            <a:prstDash val="solid"/>
          </a:ln>
        </p:spPr>
      </p:sp>
      <p:sp>
        <p:nvSpPr>
          <p:cNvPr id="27" name="estado-4-3"/>
          <p:cNvSpPr/>
          <p:nvPr/>
        </p:nvSpPr>
        <p:spPr>
          <a:xfrm>
            <a:off x="10533888" y="3438144"/>
            <a:ext cx="384048" cy="384048"/>
          </a:xfrm>
          <a:prstGeom prst="rect">
            <a:avLst/>
          </a:prstGeom>
          <a:solidFill>
            <a:srgbClr val="1E9E57"/>
          </a:solidFill>
          <a:ln w="12700">
            <a:solidFill>
              <a:srgbClr val="1E9E57"/>
            </a:solidFill>
            <a:prstDash val="solid"/>
          </a:ln>
        </p:spPr>
      </p:sp>
      <p:sp>
        <p:nvSpPr>
          <p:cNvPr id="28" name="estado-4-4"/>
          <p:cNvSpPr/>
          <p:nvPr/>
        </p:nvSpPr>
        <p:spPr>
          <a:xfrm>
            <a:off x="11027664" y="3438144"/>
            <a:ext cx="384048" cy="384048"/>
          </a:xfrm>
          <a:prstGeom prst="rect">
            <a:avLst/>
          </a:prstGeom>
          <a:solidFill>
            <a:srgbClr val="1E9E57"/>
          </a:solidFill>
          <a:ln w="12700">
            <a:solidFill>
              <a:srgbClr val="1E9E57"/>
            </a:solidFill>
            <a:prstDash val="solid"/>
          </a:ln>
        </p:spPr>
      </p:sp>
      <p:sp>
        <p:nvSpPr>
          <p:cNvPr id="29" name="estado-5-0"/>
          <p:cNvSpPr/>
          <p:nvPr/>
        </p:nvSpPr>
        <p:spPr>
          <a:xfrm>
            <a:off x="9052560" y="3931920"/>
            <a:ext cx="384048" cy="384048"/>
          </a:xfrm>
          <a:prstGeom prst="rect">
            <a:avLst/>
          </a:prstGeom>
          <a:solidFill>
            <a:srgbClr val="1E9E57"/>
          </a:solidFill>
          <a:ln w="12700">
            <a:solidFill>
              <a:srgbClr val="1E9E57"/>
            </a:solidFill>
            <a:prstDash val="solid"/>
          </a:ln>
        </p:spPr>
      </p:sp>
      <p:sp>
        <p:nvSpPr>
          <p:cNvPr id="30" name="estado-5-1"/>
          <p:cNvSpPr/>
          <p:nvPr/>
        </p:nvSpPr>
        <p:spPr>
          <a:xfrm>
            <a:off x="9546336" y="3931920"/>
            <a:ext cx="384048" cy="384048"/>
          </a:xfrm>
          <a:prstGeom prst="rect">
            <a:avLst/>
          </a:prstGeom>
          <a:solidFill>
            <a:srgbClr val="F1C232"/>
          </a:solidFill>
          <a:ln w="12700">
            <a:solidFill>
              <a:srgbClr val="F1C232"/>
            </a:solidFill>
            <a:prstDash val="solid"/>
          </a:ln>
        </p:spPr>
      </p:sp>
      <p:sp>
        <p:nvSpPr>
          <p:cNvPr id="31" name="estado-5-2"/>
          <p:cNvSpPr/>
          <p:nvPr/>
        </p:nvSpPr>
        <p:spPr>
          <a:xfrm>
            <a:off x="10040112" y="3931920"/>
            <a:ext cx="384048" cy="384048"/>
          </a:xfrm>
          <a:prstGeom prst="rect">
            <a:avLst/>
          </a:prstGeom>
          <a:solidFill>
            <a:srgbClr val="1E9E57"/>
          </a:solidFill>
          <a:ln w="12700">
            <a:solidFill>
              <a:srgbClr val="1E9E57"/>
            </a:solidFill>
            <a:prstDash val="solid"/>
          </a:ln>
        </p:spPr>
      </p:sp>
      <p:sp>
        <p:nvSpPr>
          <p:cNvPr id="32" name="estado-5-3"/>
          <p:cNvSpPr/>
          <p:nvPr/>
        </p:nvSpPr>
        <p:spPr>
          <a:xfrm>
            <a:off x="10533888" y="3931920"/>
            <a:ext cx="384048" cy="384048"/>
          </a:xfrm>
          <a:prstGeom prst="rect">
            <a:avLst/>
          </a:prstGeom>
          <a:solidFill>
            <a:srgbClr val="C4C7C1"/>
          </a:solidFill>
          <a:ln w="12700">
            <a:solidFill>
              <a:srgbClr val="C4C7C1"/>
            </a:solidFill>
            <a:prstDash val="solid"/>
          </a:ln>
        </p:spPr>
      </p:sp>
      <p:sp>
        <p:nvSpPr>
          <p:cNvPr id="33" name="estado-5-4"/>
          <p:cNvSpPr/>
          <p:nvPr/>
        </p:nvSpPr>
        <p:spPr>
          <a:xfrm>
            <a:off x="11027664" y="3931920"/>
            <a:ext cx="384048" cy="384048"/>
          </a:xfrm>
          <a:prstGeom prst="rect">
            <a:avLst/>
          </a:prstGeom>
          <a:solidFill>
            <a:srgbClr val="1E9E57"/>
          </a:solidFill>
          <a:ln w="12700">
            <a:solidFill>
              <a:srgbClr val="1E9E57"/>
            </a:solidFill>
            <a:prstDash val="solid"/>
          </a:ln>
        </p:spPr>
      </p:sp>
      <p:sp>
        <p:nvSpPr>
          <p:cNvPr id="34" name="estado-6-0"/>
          <p:cNvSpPr/>
          <p:nvPr/>
        </p:nvSpPr>
        <p:spPr>
          <a:xfrm>
            <a:off x="9052560" y="4425696"/>
            <a:ext cx="384048" cy="384048"/>
          </a:xfrm>
          <a:prstGeom prst="rect">
            <a:avLst/>
          </a:prstGeom>
          <a:solidFill>
            <a:srgbClr val="F1C232"/>
          </a:solidFill>
          <a:ln w="12700">
            <a:solidFill>
              <a:srgbClr val="F1C232"/>
            </a:solidFill>
            <a:prstDash val="solid"/>
          </a:ln>
        </p:spPr>
      </p:sp>
      <p:sp>
        <p:nvSpPr>
          <p:cNvPr id="35" name="estado-6-1"/>
          <p:cNvSpPr/>
          <p:nvPr/>
        </p:nvSpPr>
        <p:spPr>
          <a:xfrm>
            <a:off x="9546336" y="4425696"/>
            <a:ext cx="384048" cy="384048"/>
          </a:xfrm>
          <a:prstGeom prst="rect">
            <a:avLst/>
          </a:prstGeom>
          <a:solidFill>
            <a:srgbClr val="1E9E57"/>
          </a:solidFill>
          <a:ln w="12700">
            <a:solidFill>
              <a:srgbClr val="1E9E57"/>
            </a:solidFill>
            <a:prstDash val="solid"/>
          </a:ln>
        </p:spPr>
      </p:sp>
      <p:sp>
        <p:nvSpPr>
          <p:cNvPr id="36" name="estado-6-2"/>
          <p:cNvSpPr/>
          <p:nvPr/>
        </p:nvSpPr>
        <p:spPr>
          <a:xfrm>
            <a:off x="10040112" y="4425696"/>
            <a:ext cx="384048" cy="384048"/>
          </a:xfrm>
          <a:prstGeom prst="rect">
            <a:avLst/>
          </a:prstGeom>
          <a:solidFill>
            <a:srgbClr val="F1C232"/>
          </a:solidFill>
          <a:ln w="12700">
            <a:solidFill>
              <a:srgbClr val="F1C232"/>
            </a:solidFill>
            <a:prstDash val="solid"/>
          </a:ln>
        </p:spPr>
      </p:sp>
      <p:sp>
        <p:nvSpPr>
          <p:cNvPr id="37" name="estado-6-3"/>
          <p:cNvSpPr/>
          <p:nvPr/>
        </p:nvSpPr>
        <p:spPr>
          <a:xfrm>
            <a:off x="10533888" y="4425696"/>
            <a:ext cx="384048" cy="384048"/>
          </a:xfrm>
          <a:prstGeom prst="rect">
            <a:avLst/>
          </a:prstGeom>
          <a:solidFill>
            <a:srgbClr val="1E9E57"/>
          </a:solidFill>
          <a:ln w="12700">
            <a:solidFill>
              <a:srgbClr val="1E9E57"/>
            </a:solidFill>
            <a:prstDash val="solid"/>
          </a:ln>
        </p:spPr>
      </p:sp>
      <p:sp>
        <p:nvSpPr>
          <p:cNvPr id="38" name="estado-6-4"/>
          <p:cNvSpPr/>
          <p:nvPr/>
        </p:nvSpPr>
        <p:spPr>
          <a:xfrm>
            <a:off x="11027664" y="4425696"/>
            <a:ext cx="384048" cy="384048"/>
          </a:xfrm>
          <a:prstGeom prst="rect">
            <a:avLst/>
          </a:prstGeom>
          <a:solidFill>
            <a:srgbClr val="C4C7C1"/>
          </a:solidFill>
          <a:ln w="12700">
            <a:solidFill>
              <a:srgbClr val="C4C7C1"/>
            </a:solidFill>
            <a:prstDash val="solid"/>
          </a:ln>
        </p:spPr>
      </p:sp>
      <p:sp>
        <p:nvSpPr>
          <p:cNvPr id="39" name="estado-7-0"/>
          <p:cNvSpPr/>
          <p:nvPr/>
        </p:nvSpPr>
        <p:spPr>
          <a:xfrm>
            <a:off x="9052560" y="4919472"/>
            <a:ext cx="384048" cy="384048"/>
          </a:xfrm>
          <a:prstGeom prst="rect">
            <a:avLst/>
          </a:prstGeom>
          <a:solidFill>
            <a:srgbClr val="C4C7C1"/>
          </a:solidFill>
          <a:ln w="12700">
            <a:solidFill>
              <a:srgbClr val="C4C7C1"/>
            </a:solidFill>
            <a:prstDash val="solid"/>
          </a:ln>
        </p:spPr>
      </p:sp>
      <p:sp>
        <p:nvSpPr>
          <p:cNvPr id="40" name="estado-7-1"/>
          <p:cNvSpPr/>
          <p:nvPr/>
        </p:nvSpPr>
        <p:spPr>
          <a:xfrm>
            <a:off x="9546336" y="4919472"/>
            <a:ext cx="384048" cy="384048"/>
          </a:xfrm>
          <a:prstGeom prst="rect">
            <a:avLst/>
          </a:prstGeom>
          <a:solidFill>
            <a:srgbClr val="F1C232"/>
          </a:solidFill>
          <a:ln w="12700">
            <a:solidFill>
              <a:srgbClr val="F1C232"/>
            </a:solidFill>
            <a:prstDash val="solid"/>
          </a:ln>
        </p:spPr>
      </p:sp>
      <p:sp>
        <p:nvSpPr>
          <p:cNvPr id="41" name="estado-7-2"/>
          <p:cNvSpPr/>
          <p:nvPr/>
        </p:nvSpPr>
        <p:spPr>
          <a:xfrm>
            <a:off x="10040112" y="4919472"/>
            <a:ext cx="384048" cy="384048"/>
          </a:xfrm>
          <a:prstGeom prst="rect">
            <a:avLst/>
          </a:prstGeom>
          <a:solidFill>
            <a:srgbClr val="1E9E57"/>
          </a:solidFill>
          <a:ln w="12700">
            <a:solidFill>
              <a:srgbClr val="1E9E57"/>
            </a:solidFill>
            <a:prstDash val="solid"/>
          </a:ln>
        </p:spPr>
      </p:sp>
      <p:sp>
        <p:nvSpPr>
          <p:cNvPr id="42" name="estado-7-3"/>
          <p:cNvSpPr/>
          <p:nvPr/>
        </p:nvSpPr>
        <p:spPr>
          <a:xfrm>
            <a:off x="10533888" y="4919472"/>
            <a:ext cx="384048" cy="384048"/>
          </a:xfrm>
          <a:prstGeom prst="rect">
            <a:avLst/>
          </a:prstGeom>
          <a:solidFill>
            <a:srgbClr val="F1C232"/>
          </a:solidFill>
          <a:ln w="12700">
            <a:solidFill>
              <a:srgbClr val="F1C232"/>
            </a:solidFill>
            <a:prstDash val="solid"/>
          </a:ln>
        </p:spPr>
      </p:sp>
      <p:sp>
        <p:nvSpPr>
          <p:cNvPr id="43" name="estado-7-4"/>
          <p:cNvSpPr/>
          <p:nvPr/>
        </p:nvSpPr>
        <p:spPr>
          <a:xfrm>
            <a:off x="11027664" y="4919472"/>
            <a:ext cx="384048" cy="384048"/>
          </a:xfrm>
          <a:prstGeom prst="rect">
            <a:avLst/>
          </a:prstGeom>
          <a:solidFill>
            <a:srgbClr val="1E9E57"/>
          </a:solidFill>
          <a:ln w="12700">
            <a:solidFill>
              <a:srgbClr val="1E9E57"/>
            </a:solidFill>
            <a:prstDash val="solid"/>
          </a:ln>
        </p:spPr>
      </p:sp>
      <p:sp>
        <p:nvSpPr>
          <p:cNvPr id="44" name="estado-8-0"/>
          <p:cNvSpPr/>
          <p:nvPr/>
        </p:nvSpPr>
        <p:spPr>
          <a:xfrm>
            <a:off x="9052560" y="5413248"/>
            <a:ext cx="384048" cy="384048"/>
          </a:xfrm>
          <a:prstGeom prst="rect">
            <a:avLst/>
          </a:prstGeom>
          <a:solidFill>
            <a:srgbClr val="D2463F"/>
          </a:solidFill>
          <a:ln w="12700">
            <a:solidFill>
              <a:srgbClr val="D2463F"/>
            </a:solidFill>
            <a:prstDash val="solid"/>
          </a:ln>
        </p:spPr>
      </p:sp>
      <p:sp>
        <p:nvSpPr>
          <p:cNvPr id="45" name="estado-8-1"/>
          <p:cNvSpPr/>
          <p:nvPr/>
        </p:nvSpPr>
        <p:spPr>
          <a:xfrm>
            <a:off x="9546336" y="5413248"/>
            <a:ext cx="384048" cy="384048"/>
          </a:xfrm>
          <a:prstGeom prst="rect">
            <a:avLst/>
          </a:prstGeom>
          <a:solidFill>
            <a:srgbClr val="C4C7C1"/>
          </a:solidFill>
          <a:ln w="12700">
            <a:solidFill>
              <a:srgbClr val="C4C7C1"/>
            </a:solidFill>
            <a:prstDash val="solid"/>
          </a:ln>
        </p:spPr>
      </p:sp>
      <p:sp>
        <p:nvSpPr>
          <p:cNvPr id="46" name="estado-8-2"/>
          <p:cNvSpPr/>
          <p:nvPr/>
        </p:nvSpPr>
        <p:spPr>
          <a:xfrm>
            <a:off x="10040112" y="5413248"/>
            <a:ext cx="384048" cy="384048"/>
          </a:xfrm>
          <a:prstGeom prst="rect">
            <a:avLst/>
          </a:prstGeom>
          <a:solidFill>
            <a:srgbClr val="F1C232"/>
          </a:solidFill>
          <a:ln w="12700">
            <a:solidFill>
              <a:srgbClr val="F1C232"/>
            </a:solidFill>
            <a:prstDash val="solid"/>
          </a:ln>
        </p:spPr>
      </p:sp>
      <p:sp>
        <p:nvSpPr>
          <p:cNvPr id="47" name="estado-8-3"/>
          <p:cNvSpPr/>
          <p:nvPr/>
        </p:nvSpPr>
        <p:spPr>
          <a:xfrm>
            <a:off x="10533888" y="5413248"/>
            <a:ext cx="384048" cy="384048"/>
          </a:xfrm>
          <a:prstGeom prst="rect">
            <a:avLst/>
          </a:prstGeom>
          <a:solidFill>
            <a:srgbClr val="1E9E57"/>
          </a:solidFill>
          <a:ln w="12700">
            <a:solidFill>
              <a:srgbClr val="1E9E57"/>
            </a:solidFill>
            <a:prstDash val="solid"/>
          </a:ln>
        </p:spPr>
      </p:sp>
      <p:sp>
        <p:nvSpPr>
          <p:cNvPr id="48" name="estado-8-4"/>
          <p:cNvSpPr/>
          <p:nvPr/>
        </p:nvSpPr>
        <p:spPr>
          <a:xfrm>
            <a:off x="11027664" y="5413248"/>
            <a:ext cx="384048" cy="384048"/>
          </a:xfrm>
          <a:prstGeom prst="rect">
            <a:avLst/>
          </a:prstGeom>
          <a:solidFill>
            <a:srgbClr val="F1C232"/>
          </a:solidFill>
          <a:ln w="12700">
            <a:solidFill>
              <a:srgbClr val="F1C2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What you take home</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swarm</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that builds a security game with 15 agents in parallel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Your task</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real one, from Jira or GitHub, broken down and running</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memory</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90 minutes</a:t>
            </a:r>
            <a:endParaRPr lang="en-US" sz="3600" dirty="0"/>
          </a:p>
        </p:txBody>
      </p:sp>
      <p:sp>
        <p:nvSpPr>
          <p:cNvPr id="3" name="bloco-0"/>
          <p:cNvSpPr/>
          <p:nvPr/>
        </p:nvSpPr>
        <p:spPr>
          <a:xfrm>
            <a:off x="548640" y="2011680"/>
            <a:ext cx="570636" cy="1463040"/>
          </a:xfrm>
          <a:prstGeom prst="rect">
            <a:avLst/>
          </a:prstGeom>
          <a:solidFill>
            <a:srgbClr val="D9DAD3"/>
          </a:solidFill>
          <a:ln w="12700">
            <a:solidFill>
              <a:srgbClr val="D9DAD3"/>
            </a:solidFill>
            <a:prstDash val="solid"/>
          </a:ln>
        </p:spPr>
      </p:sp>
      <p:sp>
        <p:nvSpPr>
          <p:cNvPr id="4" name="bloco-min-0"/>
          <p:cNvSpPr txBox="1"/>
          <p:nvPr/>
        </p:nvSpPr>
        <p:spPr>
          <a:xfrm>
            <a:off x="548640"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0′</a:t>
            </a:r>
            <a:endParaRPr lang="en-US" sz="1400" dirty="0"/>
          </a:p>
        </p:txBody>
      </p:sp>
      <p:sp>
        <p:nvSpPr>
          <p:cNvPr id="5" name="bloco-nome-0"/>
          <p:cNvSpPr txBox="1"/>
          <p:nvPr/>
        </p:nvSpPr>
        <p:spPr>
          <a:xfrm>
            <a:off x="548640"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Opening</a:t>
            </a:r>
            <a:endParaRPr lang="en-US" sz="1800" dirty="0"/>
          </a:p>
        </p:txBody>
      </p:sp>
      <p:sp>
        <p:nvSpPr>
          <p:cNvPr id="6" name="bloco-1"/>
          <p:cNvSpPr/>
          <p:nvPr/>
        </p:nvSpPr>
        <p:spPr>
          <a:xfrm>
            <a:off x="1164996" y="2011680"/>
            <a:ext cx="570636" cy="1463040"/>
          </a:xfrm>
          <a:prstGeom prst="rect">
            <a:avLst/>
          </a:prstGeom>
          <a:solidFill>
            <a:srgbClr val="F1C232"/>
          </a:solidFill>
          <a:ln w="12700">
            <a:solidFill>
              <a:srgbClr val="F1C232"/>
            </a:solidFill>
            <a:prstDash val="solid"/>
          </a:ln>
        </p:spPr>
      </p:sp>
      <p:sp>
        <p:nvSpPr>
          <p:cNvPr id="7" name="bloco-min-1"/>
          <p:cNvSpPr txBox="1"/>
          <p:nvPr/>
        </p:nvSpPr>
        <p:spPr>
          <a:xfrm>
            <a:off x="1164996"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5′</a:t>
            </a:r>
            <a:endParaRPr lang="en-US" sz="1400" dirty="0"/>
          </a:p>
        </p:txBody>
      </p:sp>
      <p:sp>
        <p:nvSpPr>
          <p:cNvPr id="8" name="bloco-nome-1"/>
          <p:cNvSpPr txBox="1"/>
          <p:nvPr/>
        </p:nvSpPr>
        <p:spPr>
          <a:xfrm>
            <a:off x="1164996"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Check</a:t>
            </a:r>
            <a:endParaRPr lang="en-US" sz="1800" dirty="0"/>
          </a:p>
        </p:txBody>
      </p:sp>
      <p:sp>
        <p:nvSpPr>
          <p:cNvPr id="9" name="bloco-2"/>
          <p:cNvSpPr/>
          <p:nvPr/>
        </p:nvSpPr>
        <p:spPr>
          <a:xfrm>
            <a:off x="1781353" y="2011680"/>
            <a:ext cx="1803349" cy="1463040"/>
          </a:xfrm>
          <a:prstGeom prst="rect">
            <a:avLst/>
          </a:prstGeom>
          <a:solidFill>
            <a:srgbClr val="D9DAD3"/>
          </a:solidFill>
          <a:ln w="12700">
            <a:solidFill>
              <a:srgbClr val="D9DAD3"/>
            </a:solidFill>
            <a:prstDash val="solid"/>
          </a:ln>
        </p:spPr>
      </p:sp>
      <p:sp>
        <p:nvSpPr>
          <p:cNvPr id="10" name="bloco-min-2"/>
          <p:cNvSpPr txBox="1"/>
          <p:nvPr/>
        </p:nvSpPr>
        <p:spPr>
          <a:xfrm>
            <a:off x="1781353"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10′</a:t>
            </a:r>
            <a:endParaRPr lang="en-US" sz="1400" dirty="0"/>
          </a:p>
        </p:txBody>
      </p:sp>
      <p:sp>
        <p:nvSpPr>
          <p:cNvPr id="11" name="bloco-nome-2"/>
          <p:cNvSpPr txBox="1"/>
          <p:nvPr/>
        </p:nvSpPr>
        <p:spPr>
          <a:xfrm>
            <a:off x="1781353"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Concepts</a:t>
            </a:r>
            <a:endParaRPr lang="en-US" sz="1800" dirty="0"/>
          </a:p>
        </p:txBody>
      </p:sp>
      <p:sp>
        <p:nvSpPr>
          <p:cNvPr id="12" name="bloco-3"/>
          <p:cNvSpPr/>
          <p:nvPr/>
        </p:nvSpPr>
        <p:spPr>
          <a:xfrm>
            <a:off x="3630422" y="2011680"/>
            <a:ext cx="570636" cy="1463040"/>
          </a:xfrm>
          <a:prstGeom prst="rect">
            <a:avLst/>
          </a:prstGeom>
          <a:solidFill>
            <a:srgbClr val="121614"/>
          </a:solidFill>
          <a:ln w="12700">
            <a:solidFill>
              <a:srgbClr val="121614"/>
            </a:solidFill>
            <a:prstDash val="solid"/>
          </a:ln>
        </p:spPr>
      </p:sp>
      <p:sp>
        <p:nvSpPr>
          <p:cNvPr id="13" name="bloco-min-3"/>
          <p:cNvSpPr txBox="1"/>
          <p:nvPr/>
        </p:nvSpPr>
        <p:spPr>
          <a:xfrm>
            <a:off x="3630422"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25′</a:t>
            </a:r>
            <a:endParaRPr lang="en-US" sz="1400" dirty="0"/>
          </a:p>
        </p:txBody>
      </p:sp>
      <p:sp>
        <p:nvSpPr>
          <p:cNvPr id="14" name="bloco-nome-3"/>
          <p:cNvSpPr txBox="1"/>
          <p:nvPr/>
        </p:nvSpPr>
        <p:spPr>
          <a:xfrm>
            <a:off x="3630422"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Preview</a:t>
            </a:r>
            <a:endParaRPr lang="en-US" sz="1800" dirty="0"/>
          </a:p>
        </p:txBody>
      </p:sp>
      <p:sp>
        <p:nvSpPr>
          <p:cNvPr id="15" name="bloco-4"/>
          <p:cNvSpPr/>
          <p:nvPr/>
        </p:nvSpPr>
        <p:spPr>
          <a:xfrm>
            <a:off x="4246778" y="2011680"/>
            <a:ext cx="3036062" cy="1463040"/>
          </a:xfrm>
          <a:prstGeom prst="rect">
            <a:avLst/>
          </a:prstGeom>
          <a:solidFill>
            <a:srgbClr val="1E9E57"/>
          </a:solidFill>
          <a:ln w="12700">
            <a:solidFill>
              <a:srgbClr val="1E9E57"/>
            </a:solidFill>
            <a:prstDash val="solid"/>
          </a:ln>
        </p:spPr>
      </p:sp>
      <p:sp>
        <p:nvSpPr>
          <p:cNvPr id="16" name="bloco-min-4"/>
          <p:cNvSpPr txBox="1"/>
          <p:nvPr/>
        </p:nvSpPr>
        <p:spPr>
          <a:xfrm>
            <a:off x="4246778"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30′</a:t>
            </a:r>
            <a:endParaRPr lang="en-US" sz="1400" dirty="0"/>
          </a:p>
        </p:txBody>
      </p:sp>
      <p:sp>
        <p:nvSpPr>
          <p:cNvPr id="17" name="bloco-nome-4"/>
          <p:cNvSpPr txBox="1"/>
          <p:nvPr/>
        </p:nvSpPr>
        <p:spPr>
          <a:xfrm>
            <a:off x="4246778"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Project 1</a:t>
            </a:r>
            <a:endParaRPr lang="en-US" sz="1800" dirty="0"/>
          </a:p>
        </p:txBody>
      </p:sp>
      <p:sp>
        <p:nvSpPr>
          <p:cNvPr id="18" name="bloco-5"/>
          <p:cNvSpPr/>
          <p:nvPr/>
        </p:nvSpPr>
        <p:spPr>
          <a:xfrm>
            <a:off x="7328560" y="2011680"/>
            <a:ext cx="570636" cy="1463040"/>
          </a:xfrm>
          <a:prstGeom prst="rect">
            <a:avLst/>
          </a:prstGeom>
          <a:solidFill>
            <a:srgbClr val="D9DAD3"/>
          </a:solidFill>
          <a:ln w="12700">
            <a:solidFill>
              <a:srgbClr val="D9DAD3"/>
            </a:solidFill>
            <a:prstDash val="solid"/>
          </a:ln>
        </p:spPr>
      </p:sp>
      <p:sp>
        <p:nvSpPr>
          <p:cNvPr id="19" name="bloco-min-5"/>
          <p:cNvSpPr txBox="1"/>
          <p:nvPr/>
        </p:nvSpPr>
        <p:spPr>
          <a:xfrm>
            <a:off x="7328560"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55′</a:t>
            </a:r>
            <a:endParaRPr lang="en-US" sz="1400" dirty="0"/>
          </a:p>
        </p:txBody>
      </p:sp>
      <p:sp>
        <p:nvSpPr>
          <p:cNvPr id="20" name="bloco-nome-5"/>
          <p:cNvSpPr txBox="1"/>
          <p:nvPr/>
        </p:nvSpPr>
        <p:spPr>
          <a:xfrm>
            <a:off x="7328560"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Memory</a:t>
            </a:r>
            <a:endParaRPr lang="en-US" sz="1800" dirty="0"/>
          </a:p>
        </p:txBody>
      </p:sp>
      <p:sp>
        <p:nvSpPr>
          <p:cNvPr id="21" name="bloco-6"/>
          <p:cNvSpPr/>
          <p:nvPr/>
        </p:nvSpPr>
        <p:spPr>
          <a:xfrm>
            <a:off x="7944917" y="2011680"/>
            <a:ext cx="3036062" cy="1463040"/>
          </a:xfrm>
          <a:prstGeom prst="rect">
            <a:avLst/>
          </a:prstGeom>
          <a:solidFill>
            <a:srgbClr val="1A4BE0"/>
          </a:solidFill>
          <a:ln w="12700">
            <a:solidFill>
              <a:srgbClr val="1A4BE0"/>
            </a:solidFill>
            <a:prstDash val="solid"/>
          </a:ln>
        </p:spPr>
      </p:sp>
      <p:sp>
        <p:nvSpPr>
          <p:cNvPr id="22" name="bloco-min-6"/>
          <p:cNvSpPr txBox="1"/>
          <p:nvPr/>
        </p:nvSpPr>
        <p:spPr>
          <a:xfrm>
            <a:off x="7944917"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60′</a:t>
            </a:r>
            <a:endParaRPr lang="en-US" sz="1400" dirty="0"/>
          </a:p>
        </p:txBody>
      </p:sp>
      <p:sp>
        <p:nvSpPr>
          <p:cNvPr id="23" name="bloco-nome-6"/>
          <p:cNvSpPr txBox="1"/>
          <p:nvPr/>
        </p:nvSpPr>
        <p:spPr>
          <a:xfrm>
            <a:off x="7944917"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Project 2</a:t>
            </a:r>
            <a:endParaRPr lang="en-US" sz="1800" dirty="0"/>
          </a:p>
        </p:txBody>
      </p:sp>
      <p:sp>
        <p:nvSpPr>
          <p:cNvPr id="24" name="bloco-7"/>
          <p:cNvSpPr/>
          <p:nvPr/>
        </p:nvSpPr>
        <p:spPr>
          <a:xfrm>
            <a:off x="11026699" y="2011680"/>
            <a:ext cx="570636" cy="1463040"/>
          </a:xfrm>
          <a:prstGeom prst="rect">
            <a:avLst/>
          </a:prstGeom>
          <a:solidFill>
            <a:srgbClr val="D9DAD3"/>
          </a:solidFill>
          <a:ln w="12700">
            <a:solidFill>
              <a:srgbClr val="D9DAD3"/>
            </a:solidFill>
            <a:prstDash val="solid"/>
          </a:ln>
        </p:spPr>
      </p:sp>
      <p:sp>
        <p:nvSpPr>
          <p:cNvPr id="25" name="bloco-min-7"/>
          <p:cNvSpPr txBox="1"/>
          <p:nvPr/>
        </p:nvSpPr>
        <p:spPr>
          <a:xfrm>
            <a:off x="11026699"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85′</a:t>
            </a:r>
            <a:endParaRPr lang="en-US" sz="1400" dirty="0"/>
          </a:p>
        </p:txBody>
      </p:sp>
      <p:sp>
        <p:nvSpPr>
          <p:cNvPr id="26" name="bloco-nome-7"/>
          <p:cNvSpPr txBox="1"/>
          <p:nvPr/>
        </p:nvSpPr>
        <p:spPr>
          <a:xfrm>
            <a:off x="11026699"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Wrap-up</a:t>
            </a:r>
            <a:endParaRPr lang="en-US" sz="1800" dirty="0"/>
          </a:p>
        </p:txBody>
      </p:sp>
      <p:sp>
        <p:nvSpPr>
          <p:cNvPr id="27" name="agenda-fim"/>
          <p:cNvSpPr txBox="1"/>
          <p:nvPr/>
        </p:nvSpPr>
        <p:spPr>
          <a:xfrm>
            <a:off x="7528255" y="5669280"/>
            <a:ext cx="4114800" cy="365760"/>
          </a:xfrm>
          <a:prstGeom prst="rect">
            <a:avLst/>
          </a:prstGeom>
          <a:noFill/>
          <a:ln/>
        </p:spPr>
        <p:txBody>
          <a:bodyPr wrap="square" lIns="0" tIns="0" rIns="0" bIns="0" rtlCol="0" anchor="t"/>
          <a:lstStyle/>
          <a:p>
            <a:pPr algn="r" indent="0" marL="0">
              <a:buNone/>
            </a:pPr>
            <a:r>
              <a:rPr lang="en-US" sz="1400" dirty="0">
                <a:solidFill>
                  <a:srgbClr val="545C57"/>
                </a:solidFill>
                <a:latin typeface="Arial" pitchFamily="34" charset="0"/>
                <a:ea typeface="Arial" pitchFamily="34" charset="-122"/>
                <a:cs typeface="Arial" pitchFamily="34" charset="-120"/>
              </a:rPr>
              <a:t>90′, then questions, no time limit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cost rules</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21614"/>
                </a:solidFill>
                <a:latin typeface="Arial" pitchFamily="34" charset="0"/>
                <a:ea typeface="Arial" pitchFamily="34" charset="-122"/>
                <a:cs typeface="Arial" pitchFamily="34" charset="-120"/>
              </a:rPr>
              <a:t>Measured over 16 real runs: average US$ 1.02, maximum US$ 1.12.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Check your installation</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Wait for the summary table</a:t>
            </a:r>
            <a:endParaRPr lang="en-US" sz="2000" dirty="0"/>
          </a:p>
        </p:txBody>
      </p:sp>
      <p:sp>
        <p:nvSpPr>
          <p:cNvPr id="5" name="codigo-fundo"/>
          <p:cNvSpPr/>
          <p:nvPr/>
        </p:nvSpPr>
        <p:spPr>
          <a:xfrm>
            <a:off x="4937760" y="1920240"/>
            <a:ext cx="6705295" cy="1017727"/>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bash ~/.workshop-claude/setup-mac.sh --check</a:t>
            </a:r>
            <a:endParaRPr lang="en-US" sz="1800" dirty="0"/>
          </a:p>
        </p:txBody>
      </p:sp>
      <p:sp>
        <p:nvSpPr>
          <p:cNvPr id="8" name="codigo-fundo"/>
          <p:cNvSpPr/>
          <p:nvPr/>
        </p:nvSpPr>
        <p:spPr>
          <a:xfrm>
            <a:off x="4937760" y="3166567"/>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96919"/>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"Everything is ready for the workshop"</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Did a step fail?</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Accept the analysis by Claude (under US$ 0.01)</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Confirm the commands one by one</a:t>
            </a:r>
            <a:endParaRPr lang="en-US" sz="2000" dirty="0"/>
          </a:p>
        </p:txBody>
      </p:sp>
      <p:sp>
        <p:nvSpPr>
          <p:cNvPr id="5" name="codigo-fundo"/>
          <p:cNvSpPr/>
          <p:nvPr/>
        </p:nvSpPr>
        <p:spPr>
          <a:xfrm>
            <a:off x="4937760" y="1920240"/>
            <a:ext cx="6705295" cy="1017727"/>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8" name="codigo-fundo"/>
          <p:cNvSpPr/>
          <p:nvPr/>
        </p:nvSpPr>
        <p:spPr>
          <a:xfrm>
            <a:off x="4937760" y="3166567"/>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96919"/>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failed step runs again and gets done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Concepts</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Skills, agents, graphs and money</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Claude Code works in your project</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Reads and writes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project files, with permissions you control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Runs commands</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tests, git, scripts: it sees the result and fixes it</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Connects to tools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Jira, GitHub and your memory, via MCP</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 skill is a recipe with a name</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290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3108960"/>
          </a:xfrm>
          <a:prstGeom prst="rect">
            <a:avLst/>
          </a:prstGeom>
          <a:noFill/>
          <a:ln/>
        </p:spPr>
        <p:txBody>
          <a:bodyPr wrap="square" lIns="0" tIns="0" rIns="0" bIns="0" rtlCol="0" anchor="t"/>
          <a:lstStyle/>
          <a:p>
            <a:pPr indent="0" marL="0">
              <a:buNone/>
            </a:pPr>
            <a:r>
              <a:rPr lang="en-US" sz="1500" dirty="0">
                <a:solidFill>
                  <a:srgbClr val="E8EDE9"/>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Subagents: their own context and model</a:t>
            </a:r>
            <a:endParaRPr lang="en-US" sz="3600" dirty="0"/>
          </a:p>
        </p:txBody>
      </p:sp>
      <p:sp>
        <p:nvSpPr>
          <p:cNvPr id="3" name="modelo-0"/>
          <p:cNvSpPr/>
          <p:nvPr/>
        </p:nvSpPr>
        <p:spPr>
          <a:xfrm>
            <a:off x="548640" y="1691640"/>
            <a:ext cx="3484778" cy="3749040"/>
          </a:xfrm>
          <a:prstGeom prst="rect">
            <a:avLst/>
          </a:prstGeom>
          <a:solidFill>
            <a:srgbClr val="E6E6E1"/>
          </a:solidFill>
          <a:ln w="12700">
            <a:solidFill>
              <a:srgbClr val="E6E6E1"/>
            </a:solidFill>
            <a:prstDash val="solid"/>
          </a:ln>
        </p:spPr>
      </p:sp>
      <p:sp>
        <p:nvSpPr>
          <p:cNvPr id="4" name="modelo-marca-0"/>
          <p:cNvSpPr/>
          <p:nvPr/>
        </p:nvSpPr>
        <p:spPr>
          <a:xfrm>
            <a:off x="868680" y="2011680"/>
            <a:ext cx="384048" cy="384048"/>
          </a:xfrm>
          <a:prstGeom prst="rect">
            <a:avLst/>
          </a:prstGeom>
          <a:solidFill>
            <a:srgbClr val="1A4BE0"/>
          </a:solidFill>
          <a:ln w="12700">
            <a:solidFill>
              <a:srgbClr val="1A4BE0"/>
            </a:solidFill>
            <a:prstDash val="solid"/>
          </a:ln>
        </p:spPr>
      </p:sp>
      <p:sp>
        <p:nvSpPr>
          <p:cNvPr id="5" name="modelo-nome-0"/>
          <p:cNvSpPr txBox="1"/>
          <p:nvPr/>
        </p:nvSpPr>
        <p:spPr>
          <a:xfrm>
            <a:off x="868680"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Opus</a:t>
            </a:r>
            <a:endParaRPr lang="en-US" sz="4800" dirty="0"/>
          </a:p>
        </p:txBody>
      </p:sp>
      <p:sp>
        <p:nvSpPr>
          <p:cNvPr id="6"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plan and review</a:t>
            </a:r>
            <a:endParaRPr lang="en-US" sz="2000" dirty="0"/>
          </a:p>
        </p:txBody>
      </p:sp>
      <p:sp>
        <p:nvSpPr>
          <p:cNvPr id="7"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US$ 4 / 20</a:t>
            </a:r>
            <a:endParaRPr lang="en-US" sz="1800" dirty="0"/>
          </a:p>
        </p:txBody>
      </p:sp>
      <p:sp>
        <p:nvSpPr>
          <p:cNvPr id="8" name="modelo-1"/>
          <p:cNvSpPr/>
          <p:nvPr/>
        </p:nvSpPr>
        <p:spPr>
          <a:xfrm>
            <a:off x="4353458" y="1691640"/>
            <a:ext cx="3484778" cy="3749040"/>
          </a:xfrm>
          <a:prstGeom prst="rect">
            <a:avLst/>
          </a:prstGeom>
          <a:solidFill>
            <a:srgbClr val="E6E6E1"/>
          </a:solidFill>
          <a:ln w="12700">
            <a:solidFill>
              <a:srgbClr val="E6E6E1"/>
            </a:solidFill>
            <a:prstDash val="solid"/>
          </a:ln>
        </p:spPr>
      </p:sp>
      <p:sp>
        <p:nvSpPr>
          <p:cNvPr id="9" name="modelo-marca-1"/>
          <p:cNvSpPr/>
          <p:nvPr/>
        </p:nvSpPr>
        <p:spPr>
          <a:xfrm>
            <a:off x="4673498" y="2011680"/>
            <a:ext cx="384048" cy="384048"/>
          </a:xfrm>
          <a:prstGeom prst="rect">
            <a:avLst/>
          </a:prstGeom>
          <a:solidFill>
            <a:srgbClr val="1E9E57"/>
          </a:solidFill>
          <a:ln w="12700">
            <a:solidFill>
              <a:srgbClr val="1E9E57"/>
            </a:solidFill>
            <a:prstDash val="solid"/>
          </a:ln>
        </p:spPr>
      </p:sp>
      <p:sp>
        <p:nvSpPr>
          <p:cNvPr id="10" name="modelo-nome-1"/>
          <p:cNvSpPr txBox="1"/>
          <p:nvPr/>
        </p:nvSpPr>
        <p:spPr>
          <a:xfrm>
            <a:off x="4673498"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Sonnet</a:t>
            </a:r>
            <a:endParaRPr lang="en-US" sz="4800" dirty="0"/>
          </a:p>
        </p:txBody>
      </p:sp>
      <p:sp>
        <p:nvSpPr>
          <p:cNvPr id="11"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integration and hard logic</a:t>
            </a:r>
            <a:endParaRPr lang="en-US" sz="2000" dirty="0"/>
          </a:p>
        </p:txBody>
      </p:sp>
      <p:sp>
        <p:nvSpPr>
          <p:cNvPr id="12"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US$ 2 / 10</a:t>
            </a:r>
            <a:endParaRPr lang="en-US" sz="1800" dirty="0"/>
          </a:p>
        </p:txBody>
      </p:sp>
      <p:sp>
        <p:nvSpPr>
          <p:cNvPr id="13" name="modelo-2"/>
          <p:cNvSpPr/>
          <p:nvPr/>
        </p:nvSpPr>
        <p:spPr>
          <a:xfrm>
            <a:off x="8158277" y="1691640"/>
            <a:ext cx="3484778" cy="3749040"/>
          </a:xfrm>
          <a:prstGeom prst="rect">
            <a:avLst/>
          </a:prstGeom>
          <a:solidFill>
            <a:srgbClr val="E6E6E1"/>
          </a:solidFill>
          <a:ln w="12700">
            <a:solidFill>
              <a:srgbClr val="E6E6E1"/>
            </a:solidFill>
            <a:prstDash val="solid"/>
          </a:ln>
        </p:spPr>
      </p:sp>
      <p:sp>
        <p:nvSpPr>
          <p:cNvPr id="14" name="modelo-marca-2"/>
          <p:cNvSpPr/>
          <p:nvPr/>
        </p:nvSpPr>
        <p:spPr>
          <a:xfrm>
            <a:off x="8478317" y="2011680"/>
            <a:ext cx="384048" cy="384048"/>
          </a:xfrm>
          <a:prstGeom prst="rect">
            <a:avLst/>
          </a:prstGeom>
          <a:solidFill>
            <a:srgbClr val="F1C232"/>
          </a:solidFill>
          <a:ln w="12700">
            <a:solidFill>
              <a:srgbClr val="F1C232"/>
            </a:solidFill>
            <a:prstDash val="solid"/>
          </a:ln>
        </p:spPr>
      </p:sp>
      <p:sp>
        <p:nvSpPr>
          <p:cNvPr id="15" name="modelo-nome-2"/>
          <p:cNvSpPr txBox="1"/>
          <p:nvPr/>
        </p:nvSpPr>
        <p:spPr>
          <a:xfrm>
            <a:off x="8478317"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Haiku</a:t>
            </a:r>
            <a:endParaRPr lang="en-US" sz="4800" dirty="0"/>
          </a:p>
        </p:txBody>
      </p:sp>
      <p:sp>
        <p:nvSpPr>
          <p:cNvPr id="16"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bulk of the swarm</a:t>
            </a:r>
            <a:endParaRPr lang="en-US" sz="2000" dirty="0"/>
          </a:p>
        </p:txBody>
      </p:sp>
      <p:sp>
        <p:nvSpPr>
          <p:cNvPr id="17"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US$ 0.10 / 0.50</a:t>
            </a:r>
            <a:endParaRPr lang="en-US" sz="1800" dirty="0"/>
          </a:p>
        </p:txBody>
      </p:sp>
      <p:sp>
        <p:nvSpPr>
          <p:cNvPr id="18"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Price per million tokens: input / output. Source: pricing.json (2026-10-16).</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economic rule</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21614"/>
                </a:solidFill>
                <a:latin typeface="Bricolage Grotesque" pitchFamily="34" charset="0"/>
                <a:ea typeface="Bricolage Grotesque" pitchFamily="34" charset="-122"/>
                <a:cs typeface="Bricolage Grotesque"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average cost of one card built by a Haiku agent</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21614"/>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Task → graph → waves</a:t>
            </a:r>
            <a:endParaRPr lang="en-US" sz="3600" dirty="0"/>
          </a:p>
        </p:txBody>
      </p:sp>
      <p:sp>
        <p:nvSpPr>
          <p:cNvPr id="3" name="onda-0"/>
          <p:cNvSpPr/>
          <p:nvPr/>
        </p:nvSpPr>
        <p:spPr>
          <a:xfrm>
            <a:off x="548640" y="1691640"/>
            <a:ext cx="4114800" cy="4023360"/>
          </a:xfrm>
          <a:prstGeom prst="rect">
            <a:avLst/>
          </a:prstGeom>
          <a:solidFill>
            <a:srgbClr val="E6E6E1"/>
          </a:solidFill>
          <a:ln w="12700">
            <a:solidFill>
              <a:srgbClr val="E6E6E1"/>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1A4BE0"/>
          </a:solidFill>
          <a:ln w="12700">
            <a:solidFill>
              <a:srgbClr val="1A4BE0"/>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21614"/>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21614"/>
            </a:solidFill>
            <a:prstDash val="solid"/>
            <a:tailEnd type="triangle"/>
          </a:ln>
        </p:spPr>
      </p:sp>
      <p:sp>
        <p:nvSpPr>
          <p:cNvPr id="26" name="onda-1"/>
          <p:cNvSpPr/>
          <p:nvPr/>
        </p:nvSpPr>
        <p:spPr>
          <a:xfrm>
            <a:off x="4795418" y="1691640"/>
            <a:ext cx="2194560" cy="4023360"/>
          </a:xfrm>
          <a:prstGeom prst="rect">
            <a:avLst/>
          </a:prstGeom>
          <a:solidFill>
            <a:srgbClr val="E6E6E1"/>
          </a:solidFill>
          <a:ln w="12700">
            <a:solidFill>
              <a:srgbClr val="E6E6E1"/>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21614"/>
            </a:solidFill>
            <a:prstDash val="solid"/>
            <a:tailEnd type="triangle"/>
          </a:ln>
        </p:spPr>
      </p:sp>
      <p:sp>
        <p:nvSpPr>
          <p:cNvPr id="34" name="onda-2"/>
          <p:cNvSpPr/>
          <p:nvPr/>
        </p:nvSpPr>
        <p:spPr>
          <a:xfrm>
            <a:off x="7121957" y="1691640"/>
            <a:ext cx="2194560" cy="4023360"/>
          </a:xfrm>
          <a:prstGeom prst="rect">
            <a:avLst/>
          </a:prstGeom>
          <a:solidFill>
            <a:srgbClr val="E6E6E1"/>
          </a:solidFill>
          <a:ln w="12700">
            <a:solidFill>
              <a:srgbClr val="E6E6E1"/>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21614"/>
            </a:solidFill>
            <a:prstDash val="solid"/>
            <a:tailEnd type="triangle"/>
          </a:ln>
        </p:spPr>
      </p:sp>
      <p:sp>
        <p:nvSpPr>
          <p:cNvPr id="41" name="onda-3"/>
          <p:cNvSpPr/>
          <p:nvPr/>
        </p:nvSpPr>
        <p:spPr>
          <a:xfrm>
            <a:off x="9448495" y="1691640"/>
            <a:ext cx="2194560" cy="4023360"/>
          </a:xfrm>
          <a:prstGeom prst="rect">
            <a:avLst/>
          </a:prstGeom>
          <a:solidFill>
            <a:srgbClr val="E6E6E1"/>
          </a:solidFill>
          <a:ln w="12700">
            <a:solidFill>
              <a:srgbClr val="E6E6E1"/>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4</a:t>
            </a:r>
            <a:endParaRPr lang="en-US" sz="2400" dirty="0"/>
          </a:p>
        </p:txBody>
      </p:sp>
      <p:sp>
        <p:nvSpPr>
          <p:cNvPr id="43" name="onda-cor-3"/>
          <p:cNvSpPr/>
          <p:nvPr/>
        </p:nvSpPr>
        <p:spPr>
          <a:xfrm>
            <a:off x="9722815" y="2487168"/>
            <a:ext cx="201168" cy="201168"/>
          </a:xfrm>
          <a:prstGeom prst="rect">
            <a:avLst/>
          </a:prstGeom>
          <a:solidFill>
            <a:srgbClr val="1A4BE0"/>
          </a:solidFill>
          <a:ln w="12700">
            <a:solidFill>
              <a:srgbClr val="1A4BE0"/>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 script decides the graph</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next-wave.mjs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reads the plan and the state and returns the next batch of calls</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the model</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launches exactly those calls, all in the same message</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grade.mjs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runs the test of each task and decides: green or red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Measure, don't guess</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The subagent finishes</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The SubagentStop hook runs</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Transcript tokens × price</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One line in usage.jsonl</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Statusline and /demo-cost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cycle of every task</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plan</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swarm</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review</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cost</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memory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Limits we respect</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subagents at the same time, at most, per session</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8</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in parallel by default today, for new accounts</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16</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in presenter mode (100 agents in batches)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100 agents building the Arena</a:t>
            </a:r>
            <a:endParaRPr lang="en-US" sz="36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Real recorded run: 6.9 min · US$ 2.55 · 107 agents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result: a game to play</a:t>
            </a:r>
            <a:endParaRPr lang="en-US" sz="3600" dirty="0"/>
          </a:p>
        </p:txBody>
      </p:sp>
      <p:pic>
        <p:nvPicPr>
          <p:cNvPr id="3" name="imagem" descr="Green: the test passed · red: it failed. What did not work is visible too.">    </p:cNvPr>
          <p:cNvPicPr>
            <a:picLocks noChangeAspect="1"/>
          </p:cNvPicPr>
          <p:nvPr/>
        </p:nvPicPr>
        <p:blipFill>
          <a:blip r:embed="rId1"/>
          <a:srcRect l="0" r="0" t="0" b="0"/>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Green: the test passed · red: it failed. What did not work is visible too.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Project 1</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The Security Arena</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What is ready and what is missing</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Ready</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app shell, 4 card templates and one test for each card</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C4C7C1"/>
          </a:solidFill>
          <a:ln w="12700">
            <a:solidFill>
              <a:srgbClr val="C4C7C1"/>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To do</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15 cards, lib/hash and two pages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Who does it</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Plan the swarm</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Claude Code and trust the folder</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/demo-plan</a:t>
            </a:r>
            <a:endParaRPr lang="en-US" sz="2000" dirty="0"/>
          </a:p>
        </p:txBody>
      </p:sp>
      <p:sp>
        <p:nvSpPr>
          <p:cNvPr id="5" name="codigo-fundo"/>
          <p:cNvSpPr/>
          <p:nvPr/>
        </p:nvSpPr>
        <p:spPr>
          <a:xfrm>
            <a:off x="4937760" y="1920240"/>
            <a:ext cx="6705295" cy="1728216"/>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/demo-plan</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Your plan: 4 waves</a:t>
            </a:r>
            <a:endParaRPr lang="en-US" sz="3600" dirty="0"/>
          </a:p>
        </p:txBody>
      </p:sp>
      <p:sp>
        <p:nvSpPr>
          <p:cNvPr id="3" name="onda-0"/>
          <p:cNvSpPr/>
          <p:nvPr/>
        </p:nvSpPr>
        <p:spPr>
          <a:xfrm>
            <a:off x="548640" y="1691640"/>
            <a:ext cx="4114800" cy="4023360"/>
          </a:xfrm>
          <a:prstGeom prst="rect">
            <a:avLst/>
          </a:prstGeom>
          <a:solidFill>
            <a:srgbClr val="E6E6E1"/>
          </a:solidFill>
          <a:ln w="12700">
            <a:solidFill>
              <a:srgbClr val="E6E6E1"/>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1A4BE0"/>
          </a:solidFill>
          <a:ln w="12700">
            <a:solidFill>
              <a:srgbClr val="1A4BE0"/>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21614"/>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21614"/>
            </a:solidFill>
            <a:prstDash val="solid"/>
            <a:tailEnd type="triangle"/>
          </a:ln>
        </p:spPr>
      </p:sp>
      <p:sp>
        <p:nvSpPr>
          <p:cNvPr id="26" name="onda-1"/>
          <p:cNvSpPr/>
          <p:nvPr/>
        </p:nvSpPr>
        <p:spPr>
          <a:xfrm>
            <a:off x="4795418" y="1691640"/>
            <a:ext cx="2194560" cy="4023360"/>
          </a:xfrm>
          <a:prstGeom prst="rect">
            <a:avLst/>
          </a:prstGeom>
          <a:solidFill>
            <a:srgbClr val="E6E6E1"/>
          </a:solidFill>
          <a:ln w="12700">
            <a:solidFill>
              <a:srgbClr val="E6E6E1"/>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21614"/>
            </a:solidFill>
            <a:prstDash val="solid"/>
            <a:tailEnd type="triangle"/>
          </a:ln>
        </p:spPr>
      </p:sp>
      <p:sp>
        <p:nvSpPr>
          <p:cNvPr id="34" name="onda-2"/>
          <p:cNvSpPr/>
          <p:nvPr/>
        </p:nvSpPr>
        <p:spPr>
          <a:xfrm>
            <a:off x="7121957" y="1691640"/>
            <a:ext cx="2194560" cy="4023360"/>
          </a:xfrm>
          <a:prstGeom prst="rect">
            <a:avLst/>
          </a:prstGeom>
          <a:solidFill>
            <a:srgbClr val="E6E6E1"/>
          </a:solidFill>
          <a:ln w="12700">
            <a:solidFill>
              <a:srgbClr val="E6E6E1"/>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21614"/>
            </a:solidFill>
            <a:prstDash val="solid"/>
            <a:tailEnd type="triangle"/>
          </a:ln>
        </p:spPr>
      </p:sp>
      <p:sp>
        <p:nvSpPr>
          <p:cNvPr id="41" name="onda-3"/>
          <p:cNvSpPr/>
          <p:nvPr/>
        </p:nvSpPr>
        <p:spPr>
          <a:xfrm>
            <a:off x="9448495" y="1691640"/>
            <a:ext cx="2194560" cy="4023360"/>
          </a:xfrm>
          <a:prstGeom prst="rect">
            <a:avLst/>
          </a:prstGeom>
          <a:solidFill>
            <a:srgbClr val="E6E6E1"/>
          </a:solidFill>
          <a:ln w="12700">
            <a:solidFill>
              <a:srgbClr val="E6E6E1"/>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4</a:t>
            </a:r>
            <a:endParaRPr lang="en-US" sz="2400" dirty="0"/>
          </a:p>
        </p:txBody>
      </p:sp>
      <p:sp>
        <p:nvSpPr>
          <p:cNvPr id="43" name="onda-cor-3"/>
          <p:cNvSpPr/>
          <p:nvPr/>
        </p:nvSpPr>
        <p:spPr>
          <a:xfrm>
            <a:off x="9722815" y="2487168"/>
            <a:ext cx="201168" cy="201168"/>
          </a:xfrm>
          <a:prstGeom prst="rect">
            <a:avLst/>
          </a:prstGeom>
          <a:solidFill>
            <a:srgbClr val="1A4BE0"/>
          </a:solidFill>
          <a:ln w="12700">
            <a:solidFill>
              <a:srgbClr val="1A4BE0"/>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Release the swarm</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Start the server and open /estado</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/demo-swarm</a:t>
            </a:r>
            <a:endParaRPr lang="en-US" sz="2000" dirty="0"/>
          </a:p>
        </p:txBody>
      </p:sp>
      <p:sp>
        <p:nvSpPr>
          <p:cNvPr id="8" name="codigo-fundo"/>
          <p:cNvSpPr/>
          <p:nvPr/>
        </p:nvSpPr>
        <p:spPr>
          <a:xfrm>
            <a:off x="4937760" y="3200400"/>
            <a:ext cx="6705295" cy="1389888"/>
          </a:xfrm>
          <a:prstGeom prst="rect">
            <a:avLst/>
          </a:prstGeom>
          <a:solidFill>
            <a:srgbClr val="121614"/>
          </a:solidFill>
          <a:ln w="12700">
            <a:solidFill>
              <a:srgbClr val="121614"/>
            </a:solidFill>
            <a:prstDash val="solid"/>
          </a:ln>
        </p:spPr>
      </p:sp>
      <p:sp>
        <p:nvSpPr>
          <p:cNvPr id="9"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2</a:t>
            </a:r>
            <a:endParaRPr lang="en-US" sz="1300" dirty="0"/>
          </a:p>
        </p:txBody>
      </p:sp>
      <p:sp>
        <p:nvSpPr>
          <p:cNvPr id="10"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node server.js</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Ask without interrupting</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While the swarm works, in Terminal 1</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Use /btw for a side question</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/btw why does cr-01 wait for lib-hash?</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statusline and the hook that feeds it</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At the bottom: model · session · project against the target · time · swarm.</a:t>
            </a:r>
            <a:endParaRPr lang="en-US" sz="2000" dirty="0"/>
          </a:p>
        </p:txBody>
      </p:sp>
      <p:sp>
        <p:nvSpPr>
          <p:cNvPr id="4" name="codigo-fundo"/>
          <p:cNvSpPr/>
          <p:nvPr/>
        </p:nvSpPr>
        <p:spPr>
          <a:xfrm>
            <a:off x="548640" y="2148840"/>
            <a:ext cx="11094415" cy="34290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3108960"/>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"hooks":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"SubagentStop": [{ "hooks":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"type": "command",</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"command": "node tools/workshop/hooks/subagent-stop.mjs"</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"statusLine":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"type": "command",</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"command": "node tools/workshop/statusline/statusline.mjs"</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a:t>
            </a:r>
            <a:endParaRPr lang="en-US" sz="18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The Arena .claude/settings.json. The Claude Code /usage gives another estimate; /demo-cost uses the published prices.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In Terminal 2: three features</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Rewind: Esc Esc to go back</a:t>
            </a:r>
            <a:endParaRPr lang="en-US" sz="2000" dirty="0"/>
          </a:p>
        </p:txBody>
      </p:sp>
      <p:sp>
        <p:nvSpPr>
          <p:cNvPr id="5" name="codigo-fundo"/>
          <p:cNvSpPr/>
          <p:nvPr/>
        </p:nvSpPr>
        <p:spPr>
          <a:xfrm>
            <a:off x="4937760" y="1920240"/>
            <a:ext cx="6705295" cy="128839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Plan mode</a:t>
            </a:r>
            <a:endParaRPr lang="en-US" sz="1300" dirty="0"/>
          </a:p>
        </p:txBody>
      </p:sp>
      <p:sp>
        <p:nvSpPr>
          <p:cNvPr id="7"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E8EDE9"/>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E8EDE9"/>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8" name="codigo-fundo"/>
          <p:cNvSpPr/>
          <p:nvPr/>
        </p:nvSpPr>
        <p:spPr>
          <a:xfrm>
            <a:off x="4937760" y="3437230"/>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Headless</a:t>
            </a:r>
            <a:endParaRPr lang="en-US" sz="1300" dirty="0"/>
          </a:p>
        </p:txBody>
      </p:sp>
      <p:sp>
        <p:nvSpPr>
          <p:cNvPr id="10" name="codigo"/>
          <p:cNvSpPr txBox="1"/>
          <p:nvPr/>
        </p:nvSpPr>
        <p:spPr>
          <a:xfrm>
            <a:off x="5166360" y="3967582"/>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No changes made,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Worktrees and routines</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claude -w experiment</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an isolated copy of the repository, on its own branch, to work in parallel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isolation: worktree</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subagent in its own worktree, when the tasks touch the same files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Local routine</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system scheduler runs claude -p every day. The cloud /schedule needs a subscription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Until everything is green</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If there are red squares at the end</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Let a /loop work for you</a:t>
            </a:r>
            <a:endParaRPr lang="en-US" sz="2000" dirty="0"/>
          </a:p>
        </p:txBody>
      </p:sp>
      <p:sp>
        <p:nvSpPr>
          <p:cNvPr id="5" name="codigo-fundo"/>
          <p:cNvSpPr/>
          <p:nvPr/>
        </p:nvSpPr>
        <p:spPr>
          <a:xfrm>
            <a:off x="4937760" y="1920240"/>
            <a:ext cx="6705295" cy="1423721"/>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/loop 2m run node tools/check-integracao.mjs and fix the first red test with the implementer; stop when everything is green</a:t>
            </a:r>
            <a:endParaRPr lang="en-US" sz="14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loop stops by itself when the suite is green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The security gate</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Read the verdict of the reviewer (Opus)</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/demo-review</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GATE: APROVADO, with tests, CSP, no eval or innerHTML, no secrets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How much did it cost?</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Compare Haiku with the orchestrator</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/demo-cost</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Cost per agent, model and wave, close to US$ 1.02</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Play what the swarm built</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Pick a card and play</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Click "Run tests"</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Browser</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http://localhost:3000</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Green cards you can play; the red ones show why they failed</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memory of what you did</a:t>
            </a:r>
            <a:endParaRPr lang="en-US" sz="3600" dirty="0"/>
          </a:p>
        </p:txBody>
      </p:sp>
      <p:pic>
        <p:nvPicPr>
          <p:cNvPr id="3" name="imagem" descr="Search by ticket or epic (e.g. ARENA-1): lessons, do, don't and history linked to projects, epics, tasks and files">    </p:cNvPr>
          <p:cNvPicPr>
            <a:picLocks noChangeAspect="1"/>
          </p:cNvPicPr>
          <p:nvPr/>
        </p:nvPicPr>
        <p:blipFill>
          <a:blip r:embed="rId1"/>
          <a:srcRect l="0" r="0" t="0" b="0"/>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Search by ticket or epic (e.g. ARENA-1):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Open your first graph</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Drag the time slider</a:t>
            </a:r>
            <a:endParaRPr lang="en-US" sz="2000" dirty="0"/>
          </a:p>
        </p:txBody>
      </p:sp>
      <p:sp>
        <p:nvSpPr>
          <p:cNvPr id="5" name="codigo-fundo"/>
          <p:cNvSpPr/>
          <p:nvPr/>
        </p:nvSpPr>
        <p:spPr>
          <a:xfrm>
            <a:off x="4937760" y="1920240"/>
            <a:ext cx="6705295" cy="1000811"/>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33299"/>
          </a:xfrm>
          <a:prstGeom prst="rect">
            <a:avLst/>
          </a:prstGeom>
          <a:noFill/>
          <a:ln/>
        </p:spPr>
        <p:txBody>
          <a:bodyPr wrap="square" lIns="0" tIns="0" rIns="0" bIns="0" rtlCol="0" anchor="t"/>
          <a:lstStyle/>
          <a:p>
            <a:pPr indent="0" marL="0">
              <a:buNone/>
            </a:pPr>
            <a:r>
              <a:rPr lang="en-US" sz="1700" dirty="0">
                <a:solidFill>
                  <a:srgbClr val="E8EDE9"/>
                </a:solidFill>
                <a:latin typeface="Courier New" pitchFamily="34" charset="0"/>
                <a:ea typeface="Courier New" pitchFamily="34" charset="-122"/>
                <a:cs typeface="Courier New" pitchFamily="34" charset="-120"/>
              </a:rPr>
              <a:t>open ~/Applications/Memória.app   (or: memoria)</a:t>
            </a:r>
            <a:endParaRPr lang="en-US" sz="1700" dirty="0"/>
          </a:p>
        </p:txBody>
      </p:sp>
      <p:sp>
        <p:nvSpPr>
          <p:cNvPr id="8" name="codigo-fundo"/>
          <p:cNvSpPr/>
          <p:nvPr/>
        </p:nvSpPr>
        <p:spPr>
          <a:xfrm>
            <a:off x="4937760" y="3149651"/>
            <a:ext cx="6705295" cy="1051560"/>
          </a:xfrm>
          <a:prstGeom prst="rect">
            <a:avLst/>
          </a:prstGeom>
          <a:solidFill>
            <a:srgbClr val="121614"/>
          </a:solidFill>
          <a:ln w="12700">
            <a:solidFill>
              <a:srgbClr val="121614"/>
            </a:solidFill>
            <a:prstDash val="solid"/>
          </a:ln>
        </p:spPr>
      </p:sp>
      <p:sp>
        <p:nvSpPr>
          <p:cNvPr id="9" name="codigo-rotulo"/>
          <p:cNvSpPr txBox="1"/>
          <p:nvPr/>
        </p:nvSpPr>
        <p:spPr>
          <a:xfrm>
            <a:off x="5166360" y="3332531"/>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80003"/>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Start menu → Memória   (or: memoria)</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Project 2</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Your real task</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same cycle, in your repository</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/task-intake</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/task-plan</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/task-swarm</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/task-gate</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/task-report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4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Bring your task</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Give it the Jira or GitHub issue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No access? Use the practice project</a:t>
            </a:r>
            <a:endParaRPr lang="en-US" sz="2000" dirty="0"/>
          </a:p>
        </p:txBody>
      </p:sp>
      <p:sp>
        <p:nvSpPr>
          <p:cNvPr id="5" name="codigo-fundo"/>
          <p:cNvSpPr/>
          <p:nvPr/>
        </p:nvSpPr>
        <p:spPr>
          <a:xfrm>
            <a:off x="4937760" y="1920240"/>
            <a:ext cx="6705295" cy="1728216"/>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Your project</a:t>
            </a:r>
            <a:endParaRPr lang="en-US" sz="1300" dirty="0"/>
          </a:p>
        </p:txBody>
      </p:sp>
      <p:sp>
        <p:nvSpPr>
          <p:cNvPr id="7"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&lt;your repository&gt;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/task-intake ABC-123</a:t>
            </a:r>
            <a:endParaRPr lang="en-US" sz="2000" dirty="0"/>
          </a:p>
        </p:txBody>
      </p:sp>
      <p:sp>
        <p:nvSpPr>
          <p:cNvPr id="8" name="codigo-fundo"/>
          <p:cNvSpPr/>
          <p:nvPr/>
        </p:nvSpPr>
        <p:spPr>
          <a:xfrm>
            <a:off x="4937760" y="3877056"/>
            <a:ext cx="6705295" cy="1728216"/>
          </a:xfrm>
          <a:prstGeom prst="rect">
            <a:avLst/>
          </a:prstGeom>
          <a:solidFill>
            <a:srgbClr val="121614"/>
          </a:solidFill>
          <a:ln w="12700">
            <a:solidFill>
              <a:srgbClr val="121614"/>
            </a:solidFill>
            <a:prstDash val="solid"/>
          </a:ln>
        </p:spPr>
      </p:sp>
      <p:sp>
        <p:nvSpPr>
          <p:cNvPr id="9" name="codigo-rotulo"/>
          <p:cNvSpPr txBox="1"/>
          <p:nvPr/>
        </p:nvSpPr>
        <p:spPr>
          <a:xfrm>
            <a:off x="5166360" y="4059936"/>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Practice project</a:t>
            </a:r>
            <a:endParaRPr lang="en-US" sz="1300" dirty="0"/>
          </a:p>
        </p:txBody>
      </p:sp>
      <p:sp>
        <p:nvSpPr>
          <p:cNvPr id="10" name="codigo"/>
          <p:cNvSpPr txBox="1"/>
          <p:nvPr/>
        </p:nvSpPr>
        <p:spPr>
          <a:xfrm>
            <a:off x="5166360" y="4407408"/>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~/workshop-claude/exemplo-projeto-real</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/task-intake issues/EX-1.json</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5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The planner decides how many agents</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Approve or adjust</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/task-plan</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10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Put the swarm to work</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Watch the dashboard in another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Stop with Esc and resume whenever you want</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/task-swarm</a:t>
            </a:r>
            <a:endParaRPr lang="en-US" sz="2000" dirty="0"/>
          </a:p>
        </p:txBody>
      </p:sp>
      <p:sp>
        <p:nvSpPr>
          <p:cNvPr id="8" name="codigo-fundo"/>
          <p:cNvSpPr/>
          <p:nvPr/>
        </p:nvSpPr>
        <p:spPr>
          <a:xfrm>
            <a:off x="4937760" y="3200400"/>
            <a:ext cx="6705295" cy="983894"/>
          </a:xfrm>
          <a:prstGeom prst="rect">
            <a:avLst/>
          </a:prstGeom>
          <a:solidFill>
            <a:srgbClr val="121614"/>
          </a:solidFill>
          <a:ln w="12700">
            <a:solidFill>
              <a:srgbClr val="121614"/>
            </a:solidFill>
            <a:prstDash val="solid"/>
          </a:ln>
        </p:spPr>
      </p:sp>
      <p:sp>
        <p:nvSpPr>
          <p:cNvPr id="9"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2</a:t>
            </a:r>
            <a:endParaRPr lang="en-US" sz="1300" dirty="0"/>
          </a:p>
        </p:txBody>
      </p:sp>
      <p:sp>
        <p:nvSpPr>
          <p:cNvPr id="10" name="codigo"/>
          <p:cNvSpPr txBox="1"/>
          <p:nvPr/>
        </p:nvSpPr>
        <p:spPr>
          <a:xfrm>
            <a:off x="5166360" y="3730752"/>
            <a:ext cx="6248095" cy="316382"/>
          </a:xfrm>
          <a:prstGeom prst="rect">
            <a:avLst/>
          </a:prstGeom>
          <a:noFill/>
          <a:ln/>
        </p:spPr>
        <p:txBody>
          <a:bodyPr wrap="square" lIns="0" tIns="0" rIns="0" bIns="0" rtlCol="0" anchor="t"/>
          <a:lstStyle/>
          <a:p>
            <a:pPr indent="0" marL="0">
              <a:buNone/>
            </a:pPr>
            <a:r>
              <a:rPr lang="en-US" sz="1600" dirty="0">
                <a:solidFill>
                  <a:srgbClr val="E8EDE9"/>
                </a:solidFill>
                <a:latin typeface="Courier New" pitchFamily="34" charset="0"/>
                <a:ea typeface="Courier New" pitchFamily="34" charset="-122"/>
                <a:cs typeface="Courier New" pitchFamily="34" charset="-120"/>
              </a:rPr>
              <a:t>node ~/.workshop-claude/kit/orquestrador/painel.mjs</a:t>
            </a:r>
            <a:endParaRPr lang="en-US" sz="16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Jira and GitHub</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Jira (MCP + acli)</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MCP with login in /mcp; if it fails, the Atlassian CLI (acli auth login)</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GitHub (gh)</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gh auth login: less context than an MCP and no shared tokens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Always with confirmation</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comments, worklog and PR only after your yes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After the workshop</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/task-gate</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tests, secrets, dangerous code and the Opus verdict</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/task-report</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Jira: one comment per subtask, with agent, model, time and cost, and the worklog. GitHub: the PR</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/memoria</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Claude Desktop and mobile</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Desktop</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for chatting, with a claude.ai account; the Code tab needs a subscription</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Mobile</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Remote Control needs a subscription and does not accept API keys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Today</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everything in Claude Code, with your Console account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Five ideas to take with you</a:t>
            </a:r>
            <a:endParaRPr lang="en-US" sz="3600" dirty="0"/>
          </a:p>
        </p:txBody>
      </p:sp>
      <p:sp>
        <p:nvSpPr>
          <p:cNvPr id="3" name="lista-marca-0"/>
          <p:cNvSpPr/>
          <p:nvPr/>
        </p:nvSpPr>
        <p:spPr>
          <a:xfrm>
            <a:off x="548640" y="1783080"/>
            <a:ext cx="310896" cy="310896"/>
          </a:xfrm>
          <a:prstGeom prst="rect">
            <a:avLst/>
          </a:prstGeom>
          <a:solidFill>
            <a:srgbClr val="1E9E57"/>
          </a:solidFill>
          <a:ln w="12700">
            <a:solidFill>
              <a:srgbClr val="1E9E57"/>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Skills make work repeatable</a:t>
            </a:r>
            <a:endParaRPr lang="en-US" sz="2600" dirty="0"/>
          </a:p>
        </p:txBody>
      </p:sp>
      <p:sp>
        <p:nvSpPr>
          <p:cNvPr id="5" name="lista-marca-1"/>
          <p:cNvSpPr/>
          <p:nvPr/>
        </p:nvSpPr>
        <p:spPr>
          <a:xfrm>
            <a:off x="548640" y="2624328"/>
            <a:ext cx="310896" cy="310896"/>
          </a:xfrm>
          <a:prstGeom prst="rect">
            <a:avLst/>
          </a:prstGeom>
          <a:solidFill>
            <a:srgbClr val="1E9E57"/>
          </a:solidFill>
          <a:ln w="12700">
            <a:solidFill>
              <a:srgbClr val="1E9E57"/>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Subagents bring a clean context and the right model per piece</a:t>
            </a:r>
            <a:endParaRPr lang="en-US" sz="2600" dirty="0"/>
          </a:p>
        </p:txBody>
      </p:sp>
      <p:sp>
        <p:nvSpPr>
          <p:cNvPr id="7" name="lista-marca-2"/>
          <p:cNvSpPr/>
          <p:nvPr/>
        </p:nvSpPr>
        <p:spPr>
          <a:xfrm>
            <a:off x="548640" y="3465576"/>
            <a:ext cx="310896" cy="310896"/>
          </a:xfrm>
          <a:prstGeom prst="rect">
            <a:avLst/>
          </a:prstGeom>
          <a:solidFill>
            <a:srgbClr val="1E9E57"/>
          </a:solidFill>
          <a:ln w="12700">
            <a:solidFill>
              <a:srgbClr val="1E9E57"/>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script decides the graph; the model executes</a:t>
            </a:r>
            <a:endParaRPr lang="en-US" sz="2600" dirty="0"/>
          </a:p>
        </p:txBody>
      </p:sp>
      <p:sp>
        <p:nvSpPr>
          <p:cNvPr id="9" name="lista-marca-3"/>
          <p:cNvSpPr/>
          <p:nvPr/>
        </p:nvSpPr>
        <p:spPr>
          <a:xfrm>
            <a:off x="548640" y="4306824"/>
            <a:ext cx="310896" cy="310896"/>
          </a:xfrm>
          <a:prstGeom prst="rect">
            <a:avLst/>
          </a:prstGeom>
          <a:solidFill>
            <a:srgbClr val="1E9E57"/>
          </a:solidFill>
          <a:ln w="12700">
            <a:solidFill>
              <a:srgbClr val="1E9E57"/>
            </a:solidFill>
            <a:prstDash val="solid"/>
          </a:ln>
        </p:spPr>
      </p:sp>
      <p:sp>
        <p:nvSpPr>
          <p:cNvPr id="10" name="lista-item-3"/>
          <p:cNvSpPr txBox="1"/>
          <p:nvPr/>
        </p:nvSpPr>
        <p:spPr>
          <a:xfrm>
            <a:off x="1097280" y="4215384"/>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Measure with hooks; cost is not guessed</a:t>
            </a:r>
            <a:endParaRPr lang="en-US" sz="2600" dirty="0"/>
          </a:p>
        </p:txBody>
      </p:sp>
      <p:sp>
        <p:nvSpPr>
          <p:cNvPr id="11" name="lista-marca-4"/>
          <p:cNvSpPr/>
          <p:nvPr/>
        </p:nvSpPr>
        <p:spPr>
          <a:xfrm>
            <a:off x="548640" y="5148072"/>
            <a:ext cx="310896" cy="310896"/>
          </a:xfrm>
          <a:prstGeom prst="rect">
            <a:avLst/>
          </a:prstGeom>
          <a:solidFill>
            <a:srgbClr val="1E9E57"/>
          </a:solidFill>
          <a:ln w="12700">
            <a:solidFill>
              <a:srgbClr val="1E9E57"/>
            </a:solidFill>
            <a:prstDash val="solid"/>
          </a:ln>
        </p:spPr>
      </p:sp>
      <p:sp>
        <p:nvSpPr>
          <p:cNvPr id="12" name="lista-item-4"/>
          <p:cNvSpPr txBox="1"/>
          <p:nvPr/>
        </p:nvSpPr>
        <p:spPr>
          <a:xfrm>
            <a:off x="1097280" y="5056632"/>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Memory makes each task teach the next one</a:t>
            </a:r>
            <a:endParaRPr lang="en-US" sz="2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Where everything is</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Install on another machine:</a:t>
            </a:r>
            <a:endParaRPr lang="en-US" sz="2000" dirty="0"/>
          </a:p>
        </p:txBody>
      </p:sp>
      <p:sp>
        <p:nvSpPr>
          <p:cNvPr id="4" name="codigo-fundo"/>
          <p:cNvSpPr/>
          <p:nvPr/>
        </p:nvSpPr>
        <p:spPr>
          <a:xfrm>
            <a:off x="548640" y="2148840"/>
            <a:ext cx="11094415" cy="20574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1737360"/>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2000" dirty="0"/>
          </a:p>
          <a:p>
            <a:pPr indent="0" marL="0">
              <a:buNone/>
            </a:pP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20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Repository: https://github.com/cx-guilherme-pinto/workshop-claude · version v1.0.0-rc.1 · update the memory: memoria update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Tomorrow</a:t>
            </a:r>
            <a:endParaRPr lang="en-US" sz="3600" dirty="0"/>
          </a:p>
        </p:txBody>
      </p:sp>
      <p:sp>
        <p:nvSpPr>
          <p:cNvPr id="3" name="lista-marca-0"/>
          <p:cNvSpPr/>
          <p:nvPr/>
        </p:nvSpPr>
        <p:spPr>
          <a:xfrm>
            <a:off x="548640" y="1783080"/>
            <a:ext cx="310896" cy="310896"/>
          </a:xfrm>
          <a:prstGeom prst="rect">
            <a:avLst/>
          </a:prstGeom>
          <a:solidFill>
            <a:srgbClr val="1E9E57"/>
          </a:solidFill>
          <a:ln w="12700">
            <a:solidFill>
              <a:srgbClr val="1E9E57"/>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Run /task-intake on the next issue assigned to you</a:t>
            </a:r>
            <a:endParaRPr lang="en-US" sz="2600" dirty="0"/>
          </a:p>
        </p:txBody>
      </p:sp>
      <p:sp>
        <p:nvSpPr>
          <p:cNvPr id="5" name="lista-marca-1"/>
          <p:cNvSpPr/>
          <p:nvPr/>
        </p:nvSpPr>
        <p:spPr>
          <a:xfrm>
            <a:off x="548640" y="2624328"/>
            <a:ext cx="310896" cy="310896"/>
          </a:xfrm>
          <a:prstGeom prst="rect">
            <a:avLst/>
          </a:prstGeom>
          <a:solidFill>
            <a:srgbClr val="1E9E57"/>
          </a:solidFill>
          <a:ln w="12700">
            <a:solidFill>
              <a:srgbClr val="1E9E57"/>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Write a skill for a task you repeat every week</a:t>
            </a:r>
            <a:endParaRPr lang="en-US" sz="2600" dirty="0"/>
          </a:p>
        </p:txBody>
      </p:sp>
      <p:sp>
        <p:nvSpPr>
          <p:cNvPr id="7" name="lista-marca-2"/>
          <p:cNvSpPr/>
          <p:nvPr/>
        </p:nvSpPr>
        <p:spPr>
          <a:xfrm>
            <a:off x="548640" y="3465576"/>
            <a:ext cx="310896" cy="310896"/>
          </a:xfrm>
          <a:prstGeom prst="rect">
            <a:avLst/>
          </a:prstGeom>
          <a:solidFill>
            <a:srgbClr val="1E9E57"/>
          </a:solidFill>
          <a:ln w="12700">
            <a:solidFill>
              <a:srgbClr val="1E9E57"/>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Open Memória before planning</a:t>
            </a:r>
            <a:endParaRPr lang="en-US" sz="2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lIns="0" tIns="0" rIns="0" bIns="0" rtlCol="0" anchor="b"/>
          <a:lstStyle/>
          <a:p>
            <a:pPr algn="l" indent="0" marL="0">
              <a:buNone/>
            </a:pPr>
            <a:r>
              <a:rPr lang="en-US" sz="5200" b="1" dirty="0">
                <a:solidFill>
                  <a:srgbClr val="E8EDE9"/>
                </a:solidFill>
                <a:latin typeface="Bricolage Grotesque" pitchFamily="34" charset="0"/>
                <a:ea typeface="Bricolage Grotesque" pitchFamily="34" charset="-122"/>
                <a:cs typeface="Bricolage Grotesque" pitchFamily="34" charset="-120"/>
              </a:rPr>
              <a:t>Questions</a:t>
            </a: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lIns="0" tIns="0" rIns="0" bIns="0" rtlCol="0" anchor="t"/>
          <a:lstStyle/>
          <a:p>
            <a:pPr algn="l" indent="0" marL="0">
              <a:buNone/>
            </a:pPr>
            <a:r>
              <a:rPr lang="en-US" sz="2200" dirty="0">
                <a:solidFill>
                  <a:srgbClr val="9BA59F"/>
                </a:solidFill>
                <a:latin typeface="Arial" pitchFamily="34" charset="0"/>
                <a:ea typeface="Arial" pitchFamily="34" charset="-122"/>
                <a:cs typeface="Arial" pitchFamily="34" charset="-120"/>
              </a:rPr>
              <a:t>No time limit</a:t>
            </a:r>
            <a:endParaRPr lang="en-US" sz="2200" dirty="0"/>
          </a:p>
        </p:txBody>
      </p:sp>
      <p:sp>
        <p:nvSpPr>
          <p:cNvPr id="4" name="estado-0-0"/>
          <p:cNvSpPr/>
          <p:nvPr/>
        </p:nvSpPr>
        <p:spPr>
          <a:xfrm>
            <a:off x="9052560" y="1463040"/>
            <a:ext cx="384048" cy="384048"/>
          </a:xfrm>
          <a:prstGeom prst="rect">
            <a:avLst/>
          </a:prstGeom>
          <a:solidFill>
            <a:srgbClr val="1E9E57"/>
          </a:solidFill>
          <a:ln w="12700">
            <a:solidFill>
              <a:srgbClr val="1E9E57"/>
            </a:solidFill>
            <a:prstDash val="solid"/>
          </a:ln>
        </p:spPr>
      </p:sp>
      <p:sp>
        <p:nvSpPr>
          <p:cNvPr id="5" name="estado-0-1"/>
          <p:cNvSpPr/>
          <p:nvPr/>
        </p:nvSpPr>
        <p:spPr>
          <a:xfrm>
            <a:off x="9546336" y="1463040"/>
            <a:ext cx="384048" cy="384048"/>
          </a:xfrm>
          <a:prstGeom prst="rect">
            <a:avLst/>
          </a:prstGeom>
          <a:solidFill>
            <a:srgbClr val="1E9E57"/>
          </a:solidFill>
          <a:ln w="12700">
            <a:solidFill>
              <a:srgbClr val="1E9E57"/>
            </a:solidFill>
            <a:prstDash val="solid"/>
          </a:ln>
        </p:spPr>
      </p:sp>
      <p:sp>
        <p:nvSpPr>
          <p:cNvPr id="6" name="estado-0-2"/>
          <p:cNvSpPr/>
          <p:nvPr/>
        </p:nvSpPr>
        <p:spPr>
          <a:xfrm>
            <a:off x="10040112" y="1463040"/>
            <a:ext cx="384048" cy="384048"/>
          </a:xfrm>
          <a:prstGeom prst="rect">
            <a:avLst/>
          </a:prstGeom>
          <a:solidFill>
            <a:srgbClr val="D2463F"/>
          </a:solidFill>
          <a:ln w="12700">
            <a:solidFill>
              <a:srgbClr val="D2463F"/>
            </a:solidFill>
            <a:prstDash val="solid"/>
          </a:ln>
        </p:spPr>
      </p:sp>
      <p:sp>
        <p:nvSpPr>
          <p:cNvPr id="7" name="estado-0-3"/>
          <p:cNvSpPr/>
          <p:nvPr/>
        </p:nvSpPr>
        <p:spPr>
          <a:xfrm>
            <a:off x="10533888" y="1463040"/>
            <a:ext cx="384048" cy="384048"/>
          </a:xfrm>
          <a:prstGeom prst="rect">
            <a:avLst/>
          </a:prstGeom>
          <a:solidFill>
            <a:srgbClr val="C4C7C1"/>
          </a:solidFill>
          <a:ln w="12700">
            <a:solidFill>
              <a:srgbClr val="C4C7C1"/>
            </a:solidFill>
            <a:prstDash val="solid"/>
          </a:ln>
        </p:spPr>
      </p:sp>
      <p:sp>
        <p:nvSpPr>
          <p:cNvPr id="8" name="estado-0-4"/>
          <p:cNvSpPr/>
          <p:nvPr/>
        </p:nvSpPr>
        <p:spPr>
          <a:xfrm>
            <a:off x="11027664" y="1463040"/>
            <a:ext cx="384048" cy="384048"/>
          </a:xfrm>
          <a:prstGeom prst="rect">
            <a:avLst/>
          </a:prstGeom>
          <a:solidFill>
            <a:srgbClr val="F1C232"/>
          </a:solidFill>
          <a:ln w="12700">
            <a:solidFill>
              <a:srgbClr val="F1C232"/>
            </a:solidFill>
            <a:prstDash val="solid"/>
          </a:ln>
        </p:spPr>
      </p:sp>
      <p:sp>
        <p:nvSpPr>
          <p:cNvPr id="9" name="estado-1-0"/>
          <p:cNvSpPr/>
          <p:nvPr/>
        </p:nvSpPr>
        <p:spPr>
          <a:xfrm>
            <a:off x="9052560" y="1956816"/>
            <a:ext cx="384048" cy="384048"/>
          </a:xfrm>
          <a:prstGeom prst="rect">
            <a:avLst/>
          </a:prstGeom>
          <a:solidFill>
            <a:srgbClr val="1E9E57"/>
          </a:solidFill>
          <a:ln w="12700">
            <a:solidFill>
              <a:srgbClr val="1E9E57"/>
            </a:solidFill>
            <a:prstDash val="solid"/>
          </a:ln>
        </p:spPr>
      </p:sp>
      <p:sp>
        <p:nvSpPr>
          <p:cNvPr id="10" name="estado-1-1"/>
          <p:cNvSpPr/>
          <p:nvPr/>
        </p:nvSpPr>
        <p:spPr>
          <a:xfrm>
            <a:off x="9546336" y="1956816"/>
            <a:ext cx="384048" cy="384048"/>
          </a:xfrm>
          <a:prstGeom prst="rect">
            <a:avLst/>
          </a:prstGeom>
          <a:solidFill>
            <a:srgbClr val="1E9E57"/>
          </a:solidFill>
          <a:ln w="12700">
            <a:solidFill>
              <a:srgbClr val="1E9E57"/>
            </a:solidFill>
            <a:prstDash val="solid"/>
          </a:ln>
        </p:spPr>
      </p:sp>
      <p:sp>
        <p:nvSpPr>
          <p:cNvPr id="11" name="estado-1-2"/>
          <p:cNvSpPr/>
          <p:nvPr/>
        </p:nvSpPr>
        <p:spPr>
          <a:xfrm>
            <a:off x="10040112" y="1956816"/>
            <a:ext cx="384048" cy="384048"/>
          </a:xfrm>
          <a:prstGeom prst="rect">
            <a:avLst/>
          </a:prstGeom>
          <a:solidFill>
            <a:srgbClr val="1E9E57"/>
          </a:solidFill>
          <a:ln w="12700">
            <a:solidFill>
              <a:srgbClr val="1E9E57"/>
            </a:solidFill>
            <a:prstDash val="solid"/>
          </a:ln>
        </p:spPr>
      </p:sp>
      <p:sp>
        <p:nvSpPr>
          <p:cNvPr id="12" name="estado-1-3"/>
          <p:cNvSpPr/>
          <p:nvPr/>
        </p:nvSpPr>
        <p:spPr>
          <a:xfrm>
            <a:off x="10533888" y="1956816"/>
            <a:ext cx="384048" cy="384048"/>
          </a:xfrm>
          <a:prstGeom prst="rect">
            <a:avLst/>
          </a:prstGeom>
          <a:solidFill>
            <a:srgbClr val="D2463F"/>
          </a:solidFill>
          <a:ln w="12700">
            <a:solidFill>
              <a:srgbClr val="D2463F"/>
            </a:solidFill>
            <a:prstDash val="solid"/>
          </a:ln>
        </p:spPr>
      </p:sp>
      <p:sp>
        <p:nvSpPr>
          <p:cNvPr id="13" name="estado-1-4"/>
          <p:cNvSpPr/>
          <p:nvPr/>
        </p:nvSpPr>
        <p:spPr>
          <a:xfrm>
            <a:off x="11027664" y="1956816"/>
            <a:ext cx="384048" cy="384048"/>
          </a:xfrm>
          <a:prstGeom prst="rect">
            <a:avLst/>
          </a:prstGeom>
          <a:solidFill>
            <a:srgbClr val="C4C7C1"/>
          </a:solidFill>
          <a:ln w="12700">
            <a:solidFill>
              <a:srgbClr val="C4C7C1"/>
            </a:solidFill>
            <a:prstDash val="solid"/>
          </a:ln>
        </p:spPr>
      </p:sp>
      <p:sp>
        <p:nvSpPr>
          <p:cNvPr id="14" name="estado-2-0"/>
          <p:cNvSpPr/>
          <p:nvPr/>
        </p:nvSpPr>
        <p:spPr>
          <a:xfrm>
            <a:off x="9052560" y="2450592"/>
            <a:ext cx="384048" cy="384048"/>
          </a:xfrm>
          <a:prstGeom prst="rect">
            <a:avLst/>
          </a:prstGeom>
          <a:solidFill>
            <a:srgbClr val="C4C7C1"/>
          </a:solidFill>
          <a:ln w="12700">
            <a:solidFill>
              <a:srgbClr val="C4C7C1"/>
            </a:solidFill>
            <a:prstDash val="solid"/>
          </a:ln>
        </p:spPr>
      </p:sp>
      <p:sp>
        <p:nvSpPr>
          <p:cNvPr id="15" name="estado-2-1"/>
          <p:cNvSpPr/>
          <p:nvPr/>
        </p:nvSpPr>
        <p:spPr>
          <a:xfrm>
            <a:off x="9546336" y="2450592"/>
            <a:ext cx="384048" cy="384048"/>
          </a:xfrm>
          <a:prstGeom prst="rect">
            <a:avLst/>
          </a:prstGeom>
          <a:solidFill>
            <a:srgbClr val="1E9E57"/>
          </a:solidFill>
          <a:ln w="12700">
            <a:solidFill>
              <a:srgbClr val="1E9E57"/>
            </a:solidFill>
            <a:prstDash val="solid"/>
          </a:ln>
        </p:spPr>
      </p:sp>
      <p:sp>
        <p:nvSpPr>
          <p:cNvPr id="16" name="estado-2-2"/>
          <p:cNvSpPr/>
          <p:nvPr/>
        </p:nvSpPr>
        <p:spPr>
          <a:xfrm>
            <a:off x="10040112" y="2450592"/>
            <a:ext cx="384048" cy="384048"/>
          </a:xfrm>
          <a:prstGeom prst="rect">
            <a:avLst/>
          </a:prstGeom>
          <a:solidFill>
            <a:srgbClr val="1E9E57"/>
          </a:solidFill>
          <a:ln w="12700">
            <a:solidFill>
              <a:srgbClr val="1E9E57"/>
            </a:solidFill>
            <a:prstDash val="solid"/>
          </a:ln>
        </p:spPr>
      </p:sp>
      <p:sp>
        <p:nvSpPr>
          <p:cNvPr id="17" name="estado-2-3"/>
          <p:cNvSpPr/>
          <p:nvPr/>
        </p:nvSpPr>
        <p:spPr>
          <a:xfrm>
            <a:off x="10533888" y="2450592"/>
            <a:ext cx="384048" cy="384048"/>
          </a:xfrm>
          <a:prstGeom prst="rect">
            <a:avLst/>
          </a:prstGeom>
          <a:solidFill>
            <a:srgbClr val="1E9E57"/>
          </a:solidFill>
          <a:ln w="12700">
            <a:solidFill>
              <a:srgbClr val="1E9E57"/>
            </a:solidFill>
            <a:prstDash val="solid"/>
          </a:ln>
        </p:spPr>
      </p:sp>
      <p:sp>
        <p:nvSpPr>
          <p:cNvPr id="18" name="estado-2-4"/>
          <p:cNvSpPr/>
          <p:nvPr/>
        </p:nvSpPr>
        <p:spPr>
          <a:xfrm>
            <a:off x="11027664" y="2450592"/>
            <a:ext cx="384048" cy="384048"/>
          </a:xfrm>
          <a:prstGeom prst="rect">
            <a:avLst/>
          </a:prstGeom>
          <a:solidFill>
            <a:srgbClr val="D2463F"/>
          </a:solidFill>
          <a:ln w="12700">
            <a:solidFill>
              <a:srgbClr val="D2463F"/>
            </a:solidFill>
            <a:prstDash val="solid"/>
          </a:ln>
        </p:spPr>
      </p:sp>
      <p:sp>
        <p:nvSpPr>
          <p:cNvPr id="19" name="estado-3-0"/>
          <p:cNvSpPr/>
          <p:nvPr/>
        </p:nvSpPr>
        <p:spPr>
          <a:xfrm>
            <a:off x="9052560" y="2944368"/>
            <a:ext cx="384048" cy="384048"/>
          </a:xfrm>
          <a:prstGeom prst="rect">
            <a:avLst/>
          </a:prstGeom>
          <a:solidFill>
            <a:srgbClr val="1E9E57"/>
          </a:solidFill>
          <a:ln w="12700">
            <a:solidFill>
              <a:srgbClr val="1E9E57"/>
            </a:solidFill>
            <a:prstDash val="solid"/>
          </a:ln>
        </p:spPr>
      </p:sp>
      <p:sp>
        <p:nvSpPr>
          <p:cNvPr id="20" name="estado-3-1"/>
          <p:cNvSpPr/>
          <p:nvPr/>
        </p:nvSpPr>
        <p:spPr>
          <a:xfrm>
            <a:off x="9546336" y="2944368"/>
            <a:ext cx="384048" cy="384048"/>
          </a:xfrm>
          <a:prstGeom prst="rect">
            <a:avLst/>
          </a:prstGeom>
          <a:solidFill>
            <a:srgbClr val="C4C7C1"/>
          </a:solidFill>
          <a:ln w="12700">
            <a:solidFill>
              <a:srgbClr val="C4C7C1"/>
            </a:solidFill>
            <a:prstDash val="solid"/>
          </a:ln>
        </p:spPr>
      </p:sp>
      <p:sp>
        <p:nvSpPr>
          <p:cNvPr id="21" name="estado-3-2"/>
          <p:cNvSpPr/>
          <p:nvPr/>
        </p:nvSpPr>
        <p:spPr>
          <a:xfrm>
            <a:off x="10040112" y="2944368"/>
            <a:ext cx="384048" cy="384048"/>
          </a:xfrm>
          <a:prstGeom prst="rect">
            <a:avLst/>
          </a:prstGeom>
          <a:solidFill>
            <a:srgbClr val="1E9E57"/>
          </a:solidFill>
          <a:ln w="12700">
            <a:solidFill>
              <a:srgbClr val="1E9E57"/>
            </a:solidFill>
            <a:prstDash val="solid"/>
          </a:ln>
        </p:spPr>
      </p:sp>
      <p:sp>
        <p:nvSpPr>
          <p:cNvPr id="22" name="estado-3-3"/>
          <p:cNvSpPr/>
          <p:nvPr/>
        </p:nvSpPr>
        <p:spPr>
          <a:xfrm>
            <a:off x="10533888" y="2944368"/>
            <a:ext cx="384048" cy="384048"/>
          </a:xfrm>
          <a:prstGeom prst="rect">
            <a:avLst/>
          </a:prstGeom>
          <a:solidFill>
            <a:srgbClr val="1E9E57"/>
          </a:solidFill>
          <a:ln w="12700">
            <a:solidFill>
              <a:srgbClr val="1E9E57"/>
            </a:solidFill>
            <a:prstDash val="solid"/>
          </a:ln>
        </p:spPr>
      </p:sp>
      <p:sp>
        <p:nvSpPr>
          <p:cNvPr id="23" name="estado-3-4"/>
          <p:cNvSpPr/>
          <p:nvPr/>
        </p:nvSpPr>
        <p:spPr>
          <a:xfrm>
            <a:off x="11027664" y="2944368"/>
            <a:ext cx="384048" cy="384048"/>
          </a:xfrm>
          <a:prstGeom prst="rect">
            <a:avLst/>
          </a:prstGeom>
          <a:solidFill>
            <a:srgbClr val="1E9E57"/>
          </a:solidFill>
          <a:ln w="12700">
            <a:solidFill>
              <a:srgbClr val="1E9E57"/>
            </a:solidFill>
            <a:prstDash val="solid"/>
          </a:ln>
        </p:spPr>
      </p:sp>
      <p:sp>
        <p:nvSpPr>
          <p:cNvPr id="24" name="estado-4-0"/>
          <p:cNvSpPr/>
          <p:nvPr/>
        </p:nvSpPr>
        <p:spPr>
          <a:xfrm>
            <a:off x="9052560" y="3438144"/>
            <a:ext cx="384048" cy="384048"/>
          </a:xfrm>
          <a:prstGeom prst="rect">
            <a:avLst/>
          </a:prstGeom>
          <a:solidFill>
            <a:srgbClr val="F1C232"/>
          </a:solidFill>
          <a:ln w="12700">
            <a:solidFill>
              <a:srgbClr val="F1C232"/>
            </a:solidFill>
            <a:prstDash val="solid"/>
          </a:ln>
        </p:spPr>
      </p:sp>
      <p:sp>
        <p:nvSpPr>
          <p:cNvPr id="25" name="estado-4-1"/>
          <p:cNvSpPr/>
          <p:nvPr/>
        </p:nvSpPr>
        <p:spPr>
          <a:xfrm>
            <a:off x="9546336" y="3438144"/>
            <a:ext cx="384048" cy="384048"/>
          </a:xfrm>
          <a:prstGeom prst="rect">
            <a:avLst/>
          </a:prstGeom>
          <a:solidFill>
            <a:srgbClr val="1E9E57"/>
          </a:solidFill>
          <a:ln w="12700">
            <a:solidFill>
              <a:srgbClr val="1E9E57"/>
            </a:solidFill>
            <a:prstDash val="solid"/>
          </a:ln>
        </p:spPr>
      </p:sp>
      <p:sp>
        <p:nvSpPr>
          <p:cNvPr id="26" name="estado-4-2"/>
          <p:cNvSpPr/>
          <p:nvPr/>
        </p:nvSpPr>
        <p:spPr>
          <a:xfrm>
            <a:off x="10040112" y="3438144"/>
            <a:ext cx="384048" cy="384048"/>
          </a:xfrm>
          <a:prstGeom prst="rect">
            <a:avLst/>
          </a:prstGeom>
          <a:solidFill>
            <a:srgbClr val="C4C7C1"/>
          </a:solidFill>
          <a:ln w="12700">
            <a:solidFill>
              <a:srgbClr val="C4C7C1"/>
            </a:solidFill>
            <a:prstDash val="solid"/>
          </a:ln>
        </p:spPr>
      </p:sp>
      <p:sp>
        <p:nvSpPr>
          <p:cNvPr id="27" name="estado-4-3"/>
          <p:cNvSpPr/>
          <p:nvPr/>
        </p:nvSpPr>
        <p:spPr>
          <a:xfrm>
            <a:off x="10533888" y="3438144"/>
            <a:ext cx="384048" cy="384048"/>
          </a:xfrm>
          <a:prstGeom prst="rect">
            <a:avLst/>
          </a:prstGeom>
          <a:solidFill>
            <a:srgbClr val="1E9E57"/>
          </a:solidFill>
          <a:ln w="12700">
            <a:solidFill>
              <a:srgbClr val="1E9E57"/>
            </a:solidFill>
            <a:prstDash val="solid"/>
          </a:ln>
        </p:spPr>
      </p:sp>
      <p:sp>
        <p:nvSpPr>
          <p:cNvPr id="28" name="estado-4-4"/>
          <p:cNvSpPr/>
          <p:nvPr/>
        </p:nvSpPr>
        <p:spPr>
          <a:xfrm>
            <a:off x="11027664" y="3438144"/>
            <a:ext cx="384048" cy="384048"/>
          </a:xfrm>
          <a:prstGeom prst="rect">
            <a:avLst/>
          </a:prstGeom>
          <a:solidFill>
            <a:srgbClr val="1E9E57"/>
          </a:solidFill>
          <a:ln w="12700">
            <a:solidFill>
              <a:srgbClr val="1E9E57"/>
            </a:solidFill>
            <a:prstDash val="solid"/>
          </a:ln>
        </p:spPr>
      </p:sp>
      <p:sp>
        <p:nvSpPr>
          <p:cNvPr id="29" name="estado-5-0"/>
          <p:cNvSpPr/>
          <p:nvPr/>
        </p:nvSpPr>
        <p:spPr>
          <a:xfrm>
            <a:off x="9052560" y="3931920"/>
            <a:ext cx="384048" cy="384048"/>
          </a:xfrm>
          <a:prstGeom prst="rect">
            <a:avLst/>
          </a:prstGeom>
          <a:solidFill>
            <a:srgbClr val="1E9E57"/>
          </a:solidFill>
          <a:ln w="12700">
            <a:solidFill>
              <a:srgbClr val="1E9E57"/>
            </a:solidFill>
            <a:prstDash val="solid"/>
          </a:ln>
        </p:spPr>
      </p:sp>
      <p:sp>
        <p:nvSpPr>
          <p:cNvPr id="30" name="estado-5-1"/>
          <p:cNvSpPr/>
          <p:nvPr/>
        </p:nvSpPr>
        <p:spPr>
          <a:xfrm>
            <a:off x="9546336" y="3931920"/>
            <a:ext cx="384048" cy="384048"/>
          </a:xfrm>
          <a:prstGeom prst="rect">
            <a:avLst/>
          </a:prstGeom>
          <a:solidFill>
            <a:srgbClr val="F1C232"/>
          </a:solidFill>
          <a:ln w="12700">
            <a:solidFill>
              <a:srgbClr val="F1C232"/>
            </a:solidFill>
            <a:prstDash val="solid"/>
          </a:ln>
        </p:spPr>
      </p:sp>
      <p:sp>
        <p:nvSpPr>
          <p:cNvPr id="31" name="estado-5-2"/>
          <p:cNvSpPr/>
          <p:nvPr/>
        </p:nvSpPr>
        <p:spPr>
          <a:xfrm>
            <a:off x="10040112" y="3931920"/>
            <a:ext cx="384048" cy="384048"/>
          </a:xfrm>
          <a:prstGeom prst="rect">
            <a:avLst/>
          </a:prstGeom>
          <a:solidFill>
            <a:srgbClr val="1E9E57"/>
          </a:solidFill>
          <a:ln w="12700">
            <a:solidFill>
              <a:srgbClr val="1E9E57"/>
            </a:solidFill>
            <a:prstDash val="solid"/>
          </a:ln>
        </p:spPr>
      </p:sp>
      <p:sp>
        <p:nvSpPr>
          <p:cNvPr id="32" name="estado-5-3"/>
          <p:cNvSpPr/>
          <p:nvPr/>
        </p:nvSpPr>
        <p:spPr>
          <a:xfrm>
            <a:off x="10533888" y="3931920"/>
            <a:ext cx="384048" cy="384048"/>
          </a:xfrm>
          <a:prstGeom prst="rect">
            <a:avLst/>
          </a:prstGeom>
          <a:solidFill>
            <a:srgbClr val="C4C7C1"/>
          </a:solidFill>
          <a:ln w="12700">
            <a:solidFill>
              <a:srgbClr val="C4C7C1"/>
            </a:solidFill>
            <a:prstDash val="solid"/>
          </a:ln>
        </p:spPr>
      </p:sp>
      <p:sp>
        <p:nvSpPr>
          <p:cNvPr id="33" name="estado-5-4"/>
          <p:cNvSpPr/>
          <p:nvPr/>
        </p:nvSpPr>
        <p:spPr>
          <a:xfrm>
            <a:off x="11027664" y="3931920"/>
            <a:ext cx="384048" cy="384048"/>
          </a:xfrm>
          <a:prstGeom prst="rect">
            <a:avLst/>
          </a:prstGeom>
          <a:solidFill>
            <a:srgbClr val="1E9E57"/>
          </a:solidFill>
          <a:ln w="12700">
            <a:solidFill>
              <a:srgbClr val="1E9E57"/>
            </a:solidFill>
            <a:prstDash val="solid"/>
          </a:ln>
        </p:spPr>
      </p:sp>
      <p:sp>
        <p:nvSpPr>
          <p:cNvPr id="34" name="estado-6-0"/>
          <p:cNvSpPr/>
          <p:nvPr/>
        </p:nvSpPr>
        <p:spPr>
          <a:xfrm>
            <a:off x="9052560" y="4425696"/>
            <a:ext cx="384048" cy="384048"/>
          </a:xfrm>
          <a:prstGeom prst="rect">
            <a:avLst/>
          </a:prstGeom>
          <a:solidFill>
            <a:srgbClr val="F1C232"/>
          </a:solidFill>
          <a:ln w="12700">
            <a:solidFill>
              <a:srgbClr val="F1C232"/>
            </a:solidFill>
            <a:prstDash val="solid"/>
          </a:ln>
        </p:spPr>
      </p:sp>
      <p:sp>
        <p:nvSpPr>
          <p:cNvPr id="35" name="estado-6-1"/>
          <p:cNvSpPr/>
          <p:nvPr/>
        </p:nvSpPr>
        <p:spPr>
          <a:xfrm>
            <a:off x="9546336" y="4425696"/>
            <a:ext cx="384048" cy="384048"/>
          </a:xfrm>
          <a:prstGeom prst="rect">
            <a:avLst/>
          </a:prstGeom>
          <a:solidFill>
            <a:srgbClr val="1E9E57"/>
          </a:solidFill>
          <a:ln w="12700">
            <a:solidFill>
              <a:srgbClr val="1E9E57"/>
            </a:solidFill>
            <a:prstDash val="solid"/>
          </a:ln>
        </p:spPr>
      </p:sp>
      <p:sp>
        <p:nvSpPr>
          <p:cNvPr id="36" name="estado-6-2"/>
          <p:cNvSpPr/>
          <p:nvPr/>
        </p:nvSpPr>
        <p:spPr>
          <a:xfrm>
            <a:off x="10040112" y="4425696"/>
            <a:ext cx="384048" cy="384048"/>
          </a:xfrm>
          <a:prstGeom prst="rect">
            <a:avLst/>
          </a:prstGeom>
          <a:solidFill>
            <a:srgbClr val="F1C232"/>
          </a:solidFill>
          <a:ln w="12700">
            <a:solidFill>
              <a:srgbClr val="F1C232"/>
            </a:solidFill>
            <a:prstDash val="solid"/>
          </a:ln>
        </p:spPr>
      </p:sp>
      <p:sp>
        <p:nvSpPr>
          <p:cNvPr id="37" name="estado-6-3"/>
          <p:cNvSpPr/>
          <p:nvPr/>
        </p:nvSpPr>
        <p:spPr>
          <a:xfrm>
            <a:off x="10533888" y="4425696"/>
            <a:ext cx="384048" cy="384048"/>
          </a:xfrm>
          <a:prstGeom prst="rect">
            <a:avLst/>
          </a:prstGeom>
          <a:solidFill>
            <a:srgbClr val="1E9E57"/>
          </a:solidFill>
          <a:ln w="12700">
            <a:solidFill>
              <a:srgbClr val="1E9E57"/>
            </a:solidFill>
            <a:prstDash val="solid"/>
          </a:ln>
        </p:spPr>
      </p:sp>
      <p:sp>
        <p:nvSpPr>
          <p:cNvPr id="38" name="estado-6-4"/>
          <p:cNvSpPr/>
          <p:nvPr/>
        </p:nvSpPr>
        <p:spPr>
          <a:xfrm>
            <a:off x="11027664" y="4425696"/>
            <a:ext cx="384048" cy="384048"/>
          </a:xfrm>
          <a:prstGeom prst="rect">
            <a:avLst/>
          </a:prstGeom>
          <a:solidFill>
            <a:srgbClr val="C4C7C1"/>
          </a:solidFill>
          <a:ln w="12700">
            <a:solidFill>
              <a:srgbClr val="C4C7C1"/>
            </a:solidFill>
            <a:prstDash val="solid"/>
          </a:ln>
        </p:spPr>
      </p:sp>
      <p:sp>
        <p:nvSpPr>
          <p:cNvPr id="39" name="estado-7-0"/>
          <p:cNvSpPr/>
          <p:nvPr/>
        </p:nvSpPr>
        <p:spPr>
          <a:xfrm>
            <a:off x="9052560" y="4919472"/>
            <a:ext cx="384048" cy="384048"/>
          </a:xfrm>
          <a:prstGeom prst="rect">
            <a:avLst/>
          </a:prstGeom>
          <a:solidFill>
            <a:srgbClr val="C4C7C1"/>
          </a:solidFill>
          <a:ln w="12700">
            <a:solidFill>
              <a:srgbClr val="C4C7C1"/>
            </a:solidFill>
            <a:prstDash val="solid"/>
          </a:ln>
        </p:spPr>
      </p:sp>
      <p:sp>
        <p:nvSpPr>
          <p:cNvPr id="40" name="estado-7-1"/>
          <p:cNvSpPr/>
          <p:nvPr/>
        </p:nvSpPr>
        <p:spPr>
          <a:xfrm>
            <a:off x="9546336" y="4919472"/>
            <a:ext cx="384048" cy="384048"/>
          </a:xfrm>
          <a:prstGeom prst="rect">
            <a:avLst/>
          </a:prstGeom>
          <a:solidFill>
            <a:srgbClr val="F1C232"/>
          </a:solidFill>
          <a:ln w="12700">
            <a:solidFill>
              <a:srgbClr val="F1C232"/>
            </a:solidFill>
            <a:prstDash val="solid"/>
          </a:ln>
        </p:spPr>
      </p:sp>
      <p:sp>
        <p:nvSpPr>
          <p:cNvPr id="41" name="estado-7-2"/>
          <p:cNvSpPr/>
          <p:nvPr/>
        </p:nvSpPr>
        <p:spPr>
          <a:xfrm>
            <a:off x="10040112" y="4919472"/>
            <a:ext cx="384048" cy="384048"/>
          </a:xfrm>
          <a:prstGeom prst="rect">
            <a:avLst/>
          </a:prstGeom>
          <a:solidFill>
            <a:srgbClr val="1E9E57"/>
          </a:solidFill>
          <a:ln w="12700">
            <a:solidFill>
              <a:srgbClr val="1E9E57"/>
            </a:solidFill>
            <a:prstDash val="solid"/>
          </a:ln>
        </p:spPr>
      </p:sp>
      <p:sp>
        <p:nvSpPr>
          <p:cNvPr id="42" name="estado-7-3"/>
          <p:cNvSpPr/>
          <p:nvPr/>
        </p:nvSpPr>
        <p:spPr>
          <a:xfrm>
            <a:off x="10533888" y="4919472"/>
            <a:ext cx="384048" cy="384048"/>
          </a:xfrm>
          <a:prstGeom prst="rect">
            <a:avLst/>
          </a:prstGeom>
          <a:solidFill>
            <a:srgbClr val="F1C232"/>
          </a:solidFill>
          <a:ln w="12700">
            <a:solidFill>
              <a:srgbClr val="F1C232"/>
            </a:solidFill>
            <a:prstDash val="solid"/>
          </a:ln>
        </p:spPr>
      </p:sp>
      <p:sp>
        <p:nvSpPr>
          <p:cNvPr id="43" name="estado-7-4"/>
          <p:cNvSpPr/>
          <p:nvPr/>
        </p:nvSpPr>
        <p:spPr>
          <a:xfrm>
            <a:off x="11027664" y="4919472"/>
            <a:ext cx="384048" cy="384048"/>
          </a:xfrm>
          <a:prstGeom prst="rect">
            <a:avLst/>
          </a:prstGeom>
          <a:solidFill>
            <a:srgbClr val="1E9E57"/>
          </a:solidFill>
          <a:ln w="12700">
            <a:solidFill>
              <a:srgbClr val="1E9E57"/>
            </a:solidFill>
            <a:prstDash val="solid"/>
          </a:ln>
        </p:spPr>
      </p:sp>
      <p:sp>
        <p:nvSpPr>
          <p:cNvPr id="44" name="estado-8-0"/>
          <p:cNvSpPr/>
          <p:nvPr/>
        </p:nvSpPr>
        <p:spPr>
          <a:xfrm>
            <a:off x="9052560" y="5413248"/>
            <a:ext cx="384048" cy="384048"/>
          </a:xfrm>
          <a:prstGeom prst="rect">
            <a:avLst/>
          </a:prstGeom>
          <a:solidFill>
            <a:srgbClr val="D2463F"/>
          </a:solidFill>
          <a:ln w="12700">
            <a:solidFill>
              <a:srgbClr val="D2463F"/>
            </a:solidFill>
            <a:prstDash val="solid"/>
          </a:ln>
        </p:spPr>
      </p:sp>
      <p:sp>
        <p:nvSpPr>
          <p:cNvPr id="45" name="estado-8-1"/>
          <p:cNvSpPr/>
          <p:nvPr/>
        </p:nvSpPr>
        <p:spPr>
          <a:xfrm>
            <a:off x="9546336" y="5413248"/>
            <a:ext cx="384048" cy="384048"/>
          </a:xfrm>
          <a:prstGeom prst="rect">
            <a:avLst/>
          </a:prstGeom>
          <a:solidFill>
            <a:srgbClr val="C4C7C1"/>
          </a:solidFill>
          <a:ln w="12700">
            <a:solidFill>
              <a:srgbClr val="C4C7C1"/>
            </a:solidFill>
            <a:prstDash val="solid"/>
          </a:ln>
        </p:spPr>
      </p:sp>
      <p:sp>
        <p:nvSpPr>
          <p:cNvPr id="46" name="estado-8-2"/>
          <p:cNvSpPr/>
          <p:nvPr/>
        </p:nvSpPr>
        <p:spPr>
          <a:xfrm>
            <a:off x="10040112" y="5413248"/>
            <a:ext cx="384048" cy="384048"/>
          </a:xfrm>
          <a:prstGeom prst="rect">
            <a:avLst/>
          </a:prstGeom>
          <a:solidFill>
            <a:srgbClr val="F1C232"/>
          </a:solidFill>
          <a:ln w="12700">
            <a:solidFill>
              <a:srgbClr val="F1C232"/>
            </a:solidFill>
            <a:prstDash val="solid"/>
          </a:ln>
        </p:spPr>
      </p:sp>
      <p:sp>
        <p:nvSpPr>
          <p:cNvPr id="47" name="estado-8-3"/>
          <p:cNvSpPr/>
          <p:nvPr/>
        </p:nvSpPr>
        <p:spPr>
          <a:xfrm>
            <a:off x="10533888" y="5413248"/>
            <a:ext cx="384048" cy="384048"/>
          </a:xfrm>
          <a:prstGeom prst="rect">
            <a:avLst/>
          </a:prstGeom>
          <a:solidFill>
            <a:srgbClr val="1E9E57"/>
          </a:solidFill>
          <a:ln w="12700">
            <a:solidFill>
              <a:srgbClr val="1E9E57"/>
            </a:solidFill>
            <a:prstDash val="solid"/>
          </a:ln>
        </p:spPr>
      </p:sp>
      <p:sp>
        <p:nvSpPr>
          <p:cNvPr id="48" name="estado-8-4"/>
          <p:cNvSpPr/>
          <p:nvPr/>
        </p:nvSpPr>
        <p:spPr>
          <a:xfrm>
            <a:off x="11027664" y="5413248"/>
            <a:ext cx="384048" cy="384048"/>
          </a:xfrm>
          <a:prstGeom prst="rect">
            <a:avLst/>
          </a:prstGeom>
          <a:solidFill>
            <a:srgbClr val="F1C232"/>
          </a:solidFill>
          <a:ln w="12700">
            <a:solidFill>
              <a:srgbClr val="F1C232"/>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2026-10-16T17:27:56Z</dcterms:created>
  <dcterms:modified xsi:type="dcterms:W3CDTF">2026-10-16T17:27:56Z</dcterms:modified>
</cp:coreProperties>
</file>