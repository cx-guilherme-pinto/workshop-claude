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5af9339-c321-250a-3d37-7fa3c61a86d3}">
          <p14:sldIdLst>
            <p14:sldId id="256"/>
            <p14:sldId id="257"/>
            <p14:sldId id="258"/>
          </p14:sldIdLst>
        </p14:section>
        <p14:section name="Install" id="{0b57ec7e-b4a9-e07f-5301-1c2529a6a6fa}">
          <p14:sldIdLst>
            <p14:sldId id="259"/>
            <p14:sldId id="260"/>
            <p14:sldId id="261"/>
          </p14:sldIdLst>
        </p14:section>
        <p14:section name="Concepts" id="{fc861ad7-1c6c-5921-69ba-60e1f128ac52}">
          <p14:sldIdLst>
            <p14:sldId id="262"/>
            <p14:sldId id="263"/>
            <p14:sldId id="264"/>
            <p14:sldId id="265"/>
            <p14:sldId id="266"/>
            <p14:sldId id="267"/>
          </p14:sldIdLst>
        </p14:section>
        <p14:section name="Preview" id="{ad03dfe0-a63f-25a0-4816-f60f8f815963}">
          <p14:sldIdLst>
            <p14:sldId id="268"/>
            <p14:sldId id="269"/>
            <p14:sldId id="270"/>
            <p14:sldId id="271"/>
          </p14:sldIdLst>
        </p14:section>
        <p14:section name="Project 1" id="{227142c6-4afa-e6d6-8147-73133a056cb0}">
          <p14:sldIdLst>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c264587a-0395-ff03-256a-daf2b6944ad6}">
          <p14:sldIdLst>
            <p14:sldId id="289"/>
            <p14:sldId id="290"/>
          </p14:sldIdLst>
        </p14:section>
        <p14:section name="Project 2" id="{0f6a83ed-1025-0330-b66c-7bf6ef4f7ed2}">
          <p14:sldIdLst>
            <p14:sldId id="291"/>
            <p14:sldId id="292"/>
            <p14:sldId id="293"/>
            <p14:sldId id="294"/>
            <p14:sldId id="295"/>
            <p14:sldId id="296"/>
          </p14:sldIdLst>
        </p14:section>
        <p14:section name="Closing" id="{f3a928fb-47c8-8c1a-0c6d-5253b5416402}">
          <p14:sldIdLst>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in a repository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 The footer numbers come from the Project 1 reference run (8 agents in parallel, as on everyone's laptop): they are the same numbers used in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(v1.0.0-rc.5).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Seven minutes of ideas, one concept per slide. The task graph and cost measurement come later, in Project 1, right where they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14:00] 1.5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1.5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17:00] 1.5 min · you should be here at 16 min
A cheap swarm is many small agents with clear instructions. What costs money is coordination. That is why the orchestrator is a script and the workers answer with one line. Both numbers come from the Project 1 reference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18:00] 1 min · you should be here at 17 min
It is the same cycle in both projects: plan with Opus, run as a swarm, a security gate, measure and save what was learned. Each step shows up again in Project 1, where it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19:00] 1 min · you should be here at 18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19:30] 0.5 min · you should be here at 19 min
Bridge into Project 1. What they are about to see is the cycle from the concepts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[19:30 → 22:00] 2.5 min · you should be here at 20 min
Sped-up video of a real run with 100 tasks, recorded before your own card and the cards that fail on purpose existed (8 agents in parallel), so the footer numbers are not the Project 1 ones (on each laptop, 8 run in parallel; see the cost slide). On the left, the /status page: each square is a task, yellow while an agent works on it and green when its test passes. On the right, the terminal with the agent batches.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37 minutes of hands-on. In the reference run, the 100-task swarm took 7.5 min (the full session, 11.6 min); in interactive mode and with new accounts it can take longer. The slides between "Release the swarm" and "Why did this card fail?" (9 minutes) cover that wait: they are all done while the swarm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The tests already exist: each agent only has to turn its test green. That is what lets Haiku do the bulk of the work safely. That is 105 tasks; with each person's own card,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29:30] 5 min · you should be here at 25 min
The example already has every field: just change the text. The template picks the format: spot-the-flaw (point at the insecure line), choice (pick the answer), order (put the steps in order) or answer (type the answer); each one has its own fields, and the example shows them. gen.mjs writes the card spec and test (cards/my-01/), and /demo-plan adds it to the other tasks: that makes 101 cards. Anyone who would rather not write one skips this step and keeps 100. On Windows, cp works in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31:00] 1.5 min · you should be here at 30 min
Explain before running it. A skill is not magic: it is a Markdown recipe that Claude follows. Here it calls a script that builds the graph (always the same, from the tasks, your card included) and an Opus agent that only reviews it. The result is in files they can open and read (PLAN.md has the waves, the dependencies and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The plan is a dependency graph. We run it in waves: everything that is ready runs in parallel. In wave 1, lib-hash and the challenges start together; the three cryptography tasks wait for lib-hash (a real dependency inside wave 1) and join as soon as it turns green. This is what /demo-plan draws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 Then show someone's plan on the projector. Optional cost decision: with --crypto haiku or --crypto sonnet each person picks the model for the cryptography tasks; at the end, in /demo-cost, they compare cost and green cards with a neighbour who picked the 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Explain before running it. The key point: a script picks what runs, not the model. With 8 calls in parallel, a model forgets dependencies or rewrites prompts; the script is reproducible, and that is what makes the cost predictable and the benchmark comparable. grade.mjs runs the test of each task and decides: green or red.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39:00] 2 min · you should be here at 37 min
Prediction, before pressing Enter: each person writes in Teams how much they think it will cost and how many cards will end up red. From here the swarm works for a few minutes (7.5 min in the reference run; longer with new accounts). The next four slides (9 minutes) happen during that wait;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 → 41:00] 2 min · you should be here at 39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 → 44:00] 3 min · CAN SKIP · you should be here at 41 min
Still during the swarm. Plan mode only reads and proposes. claude -p is the basis for scripts and CI. Esc Esc opens rewind: it restores code and conversation to a checkpoint, but not what was done through Bash nor most of what the subagents did. If someone asks about worktrees: claude -w &lt;name&gt; opens an isolated copy of the repository on its own branch, and isolation: worktree gives a subagent its own worktree when tasks touch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46:00] 2 min · you should be here at 44 min
Still during the swarm, and outside the Arena, so the swarm session is not touched. A hook is "when X happens, run Y", set up in a settings.json; Claude writes hooks very well, just describe what you want. settings.local.json belongs to this folder only and stays out of git. In Project 2 (the practice project) the hook also fires for the /task-swarm agents: open edits.log and watch the files show up. The kit uses SubagentStop to record the cost of each agent (see "Measure, don't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you should be here at 46 min
Still during the swarm. The kit statusline reads what the hook recorded and shows the session and project cost, live, against the US$ 5 target: show the one in Terminal 1 changing as the agents finish. Asking to save it in .claude/settings.local.json matters: otherwise /statusline writes to the user settings and replaces the kit one in every project. To get the kit one back in this project, delete statusLine from settings.local.json.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53:00] 5 min · you should be here at 48 min
The lesson of Project 1: what the spec does not decide, the agent guesses. In the reference run (pt and en), Haiku got 3 of the 4 right and failed pv-07: an ambiguous spec sometimes passes by luck, which is what makes it dangerous. Anyone with no red card opens cards/pv-07/spec.md and looks for the missing rule. In the 4 cards (pv-07, rd-09, cr-07 and sc-08) two answers are plausible and the spec lacks the rule that picks one; the test only keeps a short hash of the right one, so neither the agent nor the message gives it away. The message says what the agent produced and what the spec does not decide; the decision is the person's, from the prompt and the concept. These cards fail at once, with no new attempts. If the person decides wrong, the agent follows the spec and the same message comes back with that value: think again. Whoever finishes repeats it for the other red cards: the gate only approves when everything is green. Compare with the Teams prediction: how many red cards did they expect? Optional extra, for anyone who wants to automate it: /loop 2m run node tools/workshop/orchestrator/grade.mjs --all and fix the first red task with the implementer agent; stop when everything is green (/loop repeats a prompt at each interval;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A security game with security flaws would be the worst example. The gate links each check to the OWASP Top 10. With cards still red, the gate says GATE: REJECTED and lists what is missing: go back to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56:00] 1 min · CAN SKIP · you should be here at 55 min
Before /demo-cost: where the numbers come from. The kit hook is like the one they created, on a different event: it reads the real tokens from the transcript, multiplies them by the published prices and appends one line. It never blocks anything. The statusline and /demo-cost only read those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 report uses real tokens and published prices. At the end it saves the lessons to the memory app. Whoever used --crypto haiku compares with whoever used --crypto sonnet: cost and green cards. Duel: each room collects everyone's cost and green cards in Teams, and the two rooms compare at the end (and against the prediction made before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60:00] 2 min · you should be here at 58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62:00] 2 min · you should be here at 60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65:00] 3 min · you should be here at 62 min
The app opens in your native language and has a language selector. The lesson about the card that failed should be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[65:00 → 65:30] 0.5 min · you should be here at 65 min
22 minutes. Everyone's path is the practice project: the Municipal Library, a small API with tests and the issues EX-1 to EX-3 as JSON, with no Jira login and no MCP. Anyone who already has Jira or GitHub working can bring a task of their own.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[65:30 → 67:00] 1.5 min · you should be here at 66 min
The /task-* skills are installed at user level and work in any repository. Every write to Jira or GitHub asks for confirmation; in the practice project there is nothing to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70:00] 3 min · you should be here at 67 min
Anyone who still has Claude open in Terminal 3 (from the hook) only types the last line. EX-1 is small: validate the ISBN and the email when creating books and readers. Intake only reads; it writes nothing. With your own repository: Jira needs the /mcp login (atlassian) and GitHub uses 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[70:00 → 74:00] 4 min · you should be here at 70 min
The planner (Opus) proposes the graph and a script validates it: ids, dependencies, cycles and known agents. Tasks that touch the same files go in different batches, at swarm time. Integration and review are added automatically. A larger task (EX-2) gets more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 → 85:00] 11 min · you should be here at 74 min
The state lives in .workshop/. Running /task-swarm again resumes. Tasks that touch the same files go in different batches, or in git worktrees if the planner decides so. The Project 1 hook is working: open ~/workshop-claude/edits.log and watch the files the agents edit. Whoever finishes EX-1 moves on to EX-3 (small, security: a reader can see another reader's loans) or EX-2 (medium, more agents), and can run /task-gate.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To use it with your own issues: Jira goes through the Atlassian MCP, logged in via /mcp; if that fails, the Atlassian CLI (acli auth login), which the setup already installed, reads the issue and posts the comments (hours are logged by hand). The Atlassian MCP uses the company's Rovo credits and the admin can limit it. GitHub uses gh (gh auth login): it uses less context than an MCP and shares no tokens.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A summary in five sentences. The third one joins the two lessons of Project 1: the orchestrator is a script, and the card that failed failed because of its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 If there is time: the result of the duel between the two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5.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6.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task</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 a real repository, broken down and running: the practice one or your own</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Reference run: Project 1 US$ 3.37 (110 agents, swarm in 7.5 min); the whole day, with Project 2, US$ 4.02.</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 (Terminal)</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https://github.com/cx-guilherme-pinto/workshop-claude/releases/download/v1.0.0-rc.5/setup-mac.sh | bash</a:t>
            </a:r>
            <a:endParaRPr lang="en-US" sz="14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 (PowerShell)</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https://github.com/cx-guilherme-pinto/workshop-claude/releases/download/v1.0.0-rc.5/bootstrap-windows.ps1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reads the output and fixes what fails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and your memory via MCP; GitHub with gh</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1965960"/>
            <a:ext cx="11094415" cy="3749040"/>
          </a:xfrm>
          <a:prstGeom prst="rect">
            <a:avLst/>
          </a:prstGeom>
          <a:solidFill>
            <a:srgbClr val="140920"/>
          </a:solidFill>
          <a:ln w="12700">
            <a:solidFill>
              <a:srgbClr val="140920"/>
            </a:solidFill>
            <a:prstDash val="solid"/>
          </a:ln>
        </p:spPr>
      </p:sp>
      <p:sp>
        <p:nvSpPr>
          <p:cNvPr id="5" name="code"/>
          <p:cNvSpPr txBox="1"/>
          <p:nvPr/>
        </p:nvSpPr>
        <p:spPr>
          <a:xfrm>
            <a:off x="777240" y="2148840"/>
            <a:ext cx="10637215"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description: Runs the Arena swarm in waves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Bash(node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Run next-wave.mjs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Launch exactly the calls it returns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Answer in the participant's language.</a:t>
            </a:r>
            <a:endParaRPr lang="en-US" sz="2000" dirty="0"/>
          </a:p>
        </p:txBody>
      </p:sp>
      <p:sp>
        <p:nvSpPr>
          <p:cNvPr id="6" name="after"/>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7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00200"/>
            <a:ext cx="3484778" cy="3611880"/>
          </a:xfrm>
          <a:prstGeom prst="rect">
            <a:avLst/>
          </a:prstGeom>
          <a:solidFill>
            <a:srgbClr val="FFFFFF"/>
          </a:solidFill>
          <a:ln w="12700">
            <a:solidFill>
              <a:srgbClr val="FFFFFF"/>
            </a:solidFill>
            <a:prstDash val="solid"/>
          </a:ln>
        </p:spPr>
      </p:sp>
      <p:sp>
        <p:nvSpPr>
          <p:cNvPr id="4" name="model-icon-0-circle"/>
          <p:cNvSpPr/>
          <p:nvPr/>
        </p:nvSpPr>
        <p:spPr>
          <a:xfrm>
            <a:off x="868680" y="187452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1995221"/>
            <a:ext cx="307238" cy="307238"/>
          </a:xfrm>
          <a:prstGeom prst="rect">
            <a:avLst/>
          </a:prstGeom>
        </p:spPr>
      </p:pic>
      <p:sp>
        <p:nvSpPr>
          <p:cNvPr id="6" name="model-name-0"/>
          <p:cNvSpPr txBox="1"/>
          <p:nvPr/>
        </p:nvSpPr>
        <p:spPr>
          <a:xfrm>
            <a:off x="868680"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planning and review</a:t>
            </a:r>
            <a:endParaRPr lang="en-US" sz="2200" dirty="0"/>
          </a:p>
        </p:txBody>
      </p:sp>
      <p:sp>
        <p:nvSpPr>
          <p:cNvPr id="8" name="model-price-0"/>
          <p:cNvSpPr txBox="1"/>
          <p:nvPr/>
        </p:nvSpPr>
        <p:spPr>
          <a:xfrm>
            <a:off x="868680"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US$ 4 / 20</a:t>
            </a:r>
            <a:endParaRPr lang="en-US" sz="2200" dirty="0"/>
          </a:p>
        </p:txBody>
      </p:sp>
      <p:sp>
        <p:nvSpPr>
          <p:cNvPr id="9" name="model-1"/>
          <p:cNvSpPr/>
          <p:nvPr/>
        </p:nvSpPr>
        <p:spPr>
          <a:xfrm>
            <a:off x="4353458" y="1600200"/>
            <a:ext cx="3484778" cy="3611880"/>
          </a:xfrm>
          <a:prstGeom prst="rect">
            <a:avLst/>
          </a:prstGeom>
          <a:solidFill>
            <a:srgbClr val="FFFFFF"/>
          </a:solidFill>
          <a:ln w="12700">
            <a:solidFill>
              <a:srgbClr val="FFFFFF"/>
            </a:solidFill>
            <a:prstDash val="solid"/>
          </a:ln>
        </p:spPr>
      </p:sp>
      <p:sp>
        <p:nvSpPr>
          <p:cNvPr id="10" name="model-icon-1-circle"/>
          <p:cNvSpPr/>
          <p:nvPr/>
        </p:nvSpPr>
        <p:spPr>
          <a:xfrm>
            <a:off x="4673498" y="187452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1995221"/>
            <a:ext cx="307238" cy="307238"/>
          </a:xfrm>
          <a:prstGeom prst="rect">
            <a:avLst/>
          </a:prstGeom>
        </p:spPr>
      </p:pic>
      <p:sp>
        <p:nvSpPr>
          <p:cNvPr id="12" name="model-name-1"/>
          <p:cNvSpPr txBox="1"/>
          <p:nvPr/>
        </p:nvSpPr>
        <p:spPr>
          <a:xfrm>
            <a:off x="4673498"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integration and hard logic</a:t>
            </a:r>
            <a:endParaRPr lang="en-US" sz="2200" dirty="0"/>
          </a:p>
        </p:txBody>
      </p:sp>
      <p:sp>
        <p:nvSpPr>
          <p:cNvPr id="14" name="model-price-1"/>
          <p:cNvSpPr txBox="1"/>
          <p:nvPr/>
        </p:nvSpPr>
        <p:spPr>
          <a:xfrm>
            <a:off x="4673498"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US$ 2 / 10</a:t>
            </a:r>
            <a:endParaRPr lang="en-US" sz="2200" dirty="0"/>
          </a:p>
        </p:txBody>
      </p:sp>
      <p:sp>
        <p:nvSpPr>
          <p:cNvPr id="15" name="model-2"/>
          <p:cNvSpPr/>
          <p:nvPr/>
        </p:nvSpPr>
        <p:spPr>
          <a:xfrm>
            <a:off x="8158277" y="1600200"/>
            <a:ext cx="3484778" cy="3611880"/>
          </a:xfrm>
          <a:prstGeom prst="rect">
            <a:avLst/>
          </a:prstGeom>
          <a:solidFill>
            <a:srgbClr val="FFFFFF"/>
          </a:solidFill>
          <a:ln w="12700">
            <a:solidFill>
              <a:srgbClr val="FFFFFF"/>
            </a:solidFill>
            <a:prstDash val="solid"/>
          </a:ln>
        </p:spPr>
      </p:sp>
      <p:sp>
        <p:nvSpPr>
          <p:cNvPr id="16" name="model-icon-2-circle"/>
          <p:cNvSpPr/>
          <p:nvPr/>
        </p:nvSpPr>
        <p:spPr>
          <a:xfrm>
            <a:off x="8478317" y="187452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1995221"/>
            <a:ext cx="307238" cy="307238"/>
          </a:xfrm>
          <a:prstGeom prst="rect">
            <a:avLst/>
          </a:prstGeom>
        </p:spPr>
      </p:pic>
      <p:sp>
        <p:nvSpPr>
          <p:cNvPr id="18" name="model-name-2"/>
          <p:cNvSpPr txBox="1"/>
          <p:nvPr/>
        </p:nvSpPr>
        <p:spPr>
          <a:xfrm>
            <a:off x="8478317"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the bulk of the swarm</a:t>
            </a:r>
            <a:endParaRPr lang="en-US" sz="2200" dirty="0"/>
          </a:p>
        </p:txBody>
      </p:sp>
      <p:sp>
        <p:nvSpPr>
          <p:cNvPr id="20" name="model-price-2"/>
          <p:cNvSpPr txBox="1"/>
          <p:nvPr/>
        </p:nvSpPr>
        <p:spPr>
          <a:xfrm>
            <a:off x="8478317"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US$ 0.10 / 0.50</a:t>
            </a:r>
            <a:endParaRPr lang="en-US" sz="2200" dirty="0"/>
          </a:p>
        </p:txBody>
      </p:sp>
      <p:sp>
        <p:nvSpPr>
          <p:cNvPr id="21" name="footer"/>
          <p:cNvSpPr txBox="1"/>
          <p:nvPr/>
        </p:nvSpPr>
        <p:spPr>
          <a:xfrm>
            <a:off x="548640" y="5376672"/>
            <a:ext cx="11094415" cy="822960"/>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Price per million tokens: input / output.</a:t>
            </a:r>
            <a:endParaRPr lang="en-US" sz="1800" dirty="0"/>
          </a:p>
          <a:p>
            <a:pPr indent="0" marL="0">
              <a:buNone/>
            </a:pPr>
            <a:r>
              <a:rPr lang="en-US" sz="1800" dirty="0">
                <a:solidFill>
                  <a:srgbClr val="140920"/>
                </a:solidFill>
                <a:latin typeface="Arial" pitchFamily="34" charset="0"/>
                <a:ea typeface="Arial" pitchFamily="34" charset="-122"/>
                <a:cs typeface="Arial" pitchFamily="34" charset="-120"/>
              </a:rPr>
              <a:t>Source: platform.claude.com/docs/en/about-claude/pricing (2026-10-16)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US$ 0.0014</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swarm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A different run, recorded earlier (8 agents in parallel): 8.6 min · US$ 3.36 · 107 agents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challenge formats and one test for each task</a:t>
            </a:r>
            <a:endParaRPr lang="en-US" sz="20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100 challenges plus yours, lib-hash, 2 pages, integration and review</a:t>
            </a:r>
            <a:endParaRPr lang="en-US" sz="20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Write your card</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Before planning, add a challenge of your own to the 100: the swarm builds it too.</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example to specs/my-card.json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your editor, change title, concept, prompt and template: spot-the-flaw, choice, order or answer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Generate the card files</a:t>
            </a:r>
            <a:endParaRPr lang="en-US" sz="2000" dirty="0"/>
          </a:p>
        </p:txBody>
      </p:sp>
      <p:sp>
        <p:nvSpPr>
          <p:cNvPr id="7" name="code-background"/>
          <p:cNvSpPr/>
          <p:nvPr/>
        </p:nvSpPr>
        <p:spPr>
          <a:xfrm>
            <a:off x="4937760" y="2240280"/>
            <a:ext cx="6705295" cy="1900123"/>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9" name="code"/>
          <p:cNvSpPr txBox="1"/>
          <p:nvPr/>
        </p:nvSpPr>
        <p:spPr>
          <a:xfrm>
            <a:off x="5166360" y="2807208"/>
            <a:ext cx="6248095" cy="1196035"/>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~/workshop-claude/demo-project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cp specs/my-card.example.json specs/my-card.json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 edit specs/my-card.json, then: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node tools/gen.mjs</a:t>
            </a:r>
            <a:endParaRPr lang="en-US" sz="17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After the swarm: card my-01 in the gallery and on /status (101 cards), built by a Haiku agent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.claude/skills/demo-plan/SKILL.md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demo-plan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Read,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node tools/*, memory_search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Look up lessons in the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node tools/plan.mjs → the graph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The planner (Opus) reviews it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4. Show waves, diagram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Markdown file with steps: you type /demo-plan and Claude follows the recipe.</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In: the Arena specs. Out: plan.json and PLAN.md, with the graph and the estimate.</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/task-plan does the same for a Jira or GitHub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the challenges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the Arena folder,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64792"/>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code-background"/>
          <p:cNvSpPr/>
          <p:nvPr/>
        </p:nvSpPr>
        <p:spPr>
          <a:xfrm>
            <a:off x="4937760" y="3913632"/>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4096512"/>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you pick the cryptography model</a:t>
            </a:r>
            <a:endParaRPr lang="en-US" sz="1500" dirty="0"/>
          </a:p>
        </p:txBody>
      </p:sp>
      <p:sp>
        <p:nvSpPr>
          <p:cNvPr id="11" name="code"/>
          <p:cNvSpPr txBox="1"/>
          <p:nvPr/>
        </p:nvSpPr>
        <p:spPr>
          <a:xfrm>
            <a:off x="5166360" y="448056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/demo-plan --crypto haiku</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 --crypto sonnet</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US$ 4.16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.claude/skills/demo-swarm/SKILL.md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1. next-wave.mjs → the next batch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2. Launch the batch, in parallel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3. 1 agent = 1 task + its test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4. Show agent, model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A script decides</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next-wave.mjs reads the graph and says what runs now. Claude launches that batch: no improvising.</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clean context, one task, its test and the right model: Haiku for the bulk.</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/task-swarm does the same with the subtasks of your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address it prints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36976"/>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2</a:t>
            </a:r>
            <a:endParaRPr lang="en-US" sz="1500" dirty="0"/>
          </a:p>
        </p:txBody>
      </p:sp>
      <p:sp>
        <p:nvSpPr>
          <p:cNvPr id="11" name="code"/>
          <p:cNvSpPr txBox="1"/>
          <p:nvPr/>
        </p:nvSpPr>
        <p:spPr>
          <a:xfrm>
            <a:off x="5166360" y="3803904"/>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On /status (usually http://localhost:3000/status; if the port is busy, node server.js prints another one):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7122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32496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Plan mode</a:t>
            </a:r>
            <a:endParaRPr lang="en-US" sz="1500" dirty="0"/>
          </a:p>
        </p:txBody>
      </p:sp>
      <p:sp>
        <p:nvSpPr>
          <p:cNvPr id="8" name="code"/>
          <p:cNvSpPr txBox="1"/>
          <p:nvPr/>
        </p:nvSpPr>
        <p:spPr>
          <a:xfrm>
            <a:off x="5166360" y="2487168"/>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73806"/>
            <a:ext cx="6705295" cy="1561795"/>
          </a:xfrm>
          <a:prstGeom prst="rect">
            <a:avLst/>
          </a:prstGeom>
          <a:solidFill>
            <a:srgbClr val="140920"/>
          </a:solidFill>
          <a:ln w="12700">
            <a:solidFill>
              <a:srgbClr val="140920"/>
            </a:solidFill>
            <a:prstDash val="solid"/>
          </a:ln>
        </p:spPr>
      </p:sp>
      <p:sp>
        <p:nvSpPr>
          <p:cNvPr id="10" name="code-label"/>
          <p:cNvSpPr txBox="1"/>
          <p:nvPr/>
        </p:nvSpPr>
        <p:spPr>
          <a:xfrm>
            <a:off x="5166360" y="365668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Headless</a:t>
            </a:r>
            <a:endParaRPr lang="en-US" sz="1500" dirty="0"/>
          </a:p>
        </p:txBody>
      </p:sp>
      <p:sp>
        <p:nvSpPr>
          <p:cNvPr id="11" name="code"/>
          <p:cNvSpPr txBox="1"/>
          <p:nvPr/>
        </p:nvSpPr>
        <p:spPr>
          <a:xfrm>
            <a:off x="5166360" y="4040734"/>
            <a:ext cx="6248095" cy="857707"/>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Create a PostToolUse hook</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A hook is a command Claude Code runs on its own on an event. The kit measures cost this way.</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open Claude in the practice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Ask for the hook in your own words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/hooks and check it is there</a:t>
            </a:r>
            <a:endParaRPr lang="en-US" sz="2000" dirty="0"/>
          </a:p>
        </p:txBody>
      </p:sp>
      <p:sp>
        <p:nvSpPr>
          <p:cNvPr id="7" name="code-background"/>
          <p:cNvSpPr/>
          <p:nvPr/>
        </p:nvSpPr>
        <p:spPr>
          <a:xfrm>
            <a:off x="4937760" y="2240280"/>
            <a:ext cx="6705295" cy="277977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207568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~/workshop-claude/practice-project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&gt; Create a PostToolUse hook in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.claude/settings.local.json: after</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each Edit or Write, append the time and</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the file to ~/workshop-claude/edits.log</a:t>
            </a:r>
            <a:endParaRPr lang="en-US" sz="20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/hooks shows your PostToolUse; in Project 2, every edited file shows up in edits.log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Make your own statusline</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line under the input box is a script: it gets the session as JSON and returns one line.</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Still in Terminal 3, type /statusline and what you want to see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script Claude writes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See the new line under the input box</a:t>
            </a:r>
            <a:endParaRPr lang="en-US" sz="2000" dirty="0"/>
          </a:p>
        </p:txBody>
      </p:sp>
      <p:sp>
        <p:nvSpPr>
          <p:cNvPr id="7" name="code-background"/>
          <p:cNvSpPr/>
          <p:nvPr/>
        </p:nvSpPr>
        <p:spPr>
          <a:xfrm>
            <a:off x="4937760" y="2240280"/>
            <a:ext cx="6705295" cy="2035454"/>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1331366"/>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/statusline show the model, the git branch</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and the session cost; save it only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this project,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.claude/settings.local.json</a:t>
            </a:r>
            <a:endParaRPr lang="en-US" sz="19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Your line in this project; in Terminal 1, the kit statusline still shows the swarm cost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Why did this card fail?</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spec of 4 cards leaves out the rule that decides the answer: the agent guesses, and almost always gets at least one wrong.</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/status and click a red square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what the agent produced and what the spec does not decide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Decide the right value from the prompt and the concept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Write it in cards/&lt;id&gt;/spec.md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 --retry &lt;id&gt;</a:t>
            </a:r>
            <a:endParaRPr lang="en-US" sz="2000" dirty="0"/>
          </a:p>
        </p:txBody>
      </p:sp>
      <p:sp>
        <p:nvSpPr>
          <p:cNvPr id="7" name="code-background"/>
          <p:cNvSpPr/>
          <p:nvPr/>
        </p:nvSpPr>
        <p:spPr>
          <a:xfrm>
            <a:off x="4937760" y="2240280"/>
            <a:ext cx="6705295" cy="108813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9" name="code"/>
          <p:cNvSpPr txBox="1"/>
          <p:nvPr/>
        </p:nvSpPr>
        <p:spPr>
          <a:xfrm>
            <a:off x="5166360" y="280720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http://localhost:3000/status</a:t>
            </a:r>
            <a:endParaRPr lang="en-US" sz="2000" dirty="0"/>
          </a:p>
        </p:txBody>
      </p:sp>
      <p:sp>
        <p:nvSpPr>
          <p:cNvPr id="10" name="code-background"/>
          <p:cNvSpPr/>
          <p:nvPr/>
        </p:nvSpPr>
        <p:spPr>
          <a:xfrm>
            <a:off x="4937760" y="3557016"/>
            <a:ext cx="6705295" cy="1088136"/>
          </a:xfrm>
          <a:prstGeom prst="rect">
            <a:avLst/>
          </a:prstGeom>
          <a:solidFill>
            <a:srgbClr val="140920"/>
          </a:solidFill>
          <a:ln w="12700">
            <a:solidFill>
              <a:srgbClr val="140920"/>
            </a:solidFill>
            <a:prstDash val="solid"/>
          </a:ln>
        </p:spPr>
      </p:sp>
      <p:sp>
        <p:nvSpPr>
          <p:cNvPr id="11" name="code-label"/>
          <p:cNvSpPr txBox="1"/>
          <p:nvPr/>
        </p:nvSpPr>
        <p:spPr>
          <a:xfrm>
            <a:off x="5166360" y="373989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12" name="code"/>
          <p:cNvSpPr txBox="1"/>
          <p:nvPr/>
        </p:nvSpPr>
        <p:spPr>
          <a:xfrm>
            <a:off x="5166360" y="4123944"/>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 --retry &lt;id&gt;</a:t>
            </a:r>
            <a:endParaRPr lang="en-US" sz="2000" dirty="0"/>
          </a:p>
        </p:txBody>
      </p:sp>
      <p:sp>
        <p:nvSpPr>
          <p:cNvPr id="13"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4"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5"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Green; or the same message with your value, if you decided wrong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with your neighbour: cost and green cards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US$ 3.37</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 (yours is my-01)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9263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41471"/>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724351"/>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4108399"/>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A real task: the Municipal Library, or your own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another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issue: a JSON file in the practice project, or Jira or GitHub</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Start with issue EX-1</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in the practice project,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issue EX-1 (no login: it is a JSON file)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Jira or GitHub already working? You can use an issue of your own</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 · practice project</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~/workshop-claude/practice-project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issues/EX-1.json</a:t>
            </a:r>
            <a:endParaRPr lang="en-US" sz="17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 your repository</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&lt;your repository&gt;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ABC-123</a:t>
            </a:r>
            <a:endParaRPr lang="en-US" sz="17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 (npm test)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EX-1 is small: 1 to 3 agents,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11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run /task-swarm again to resume</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36976"/>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Another terminal</a:t>
            </a:r>
            <a:endParaRPr lang="en-US" sz="1500" dirty="0"/>
          </a:p>
        </p:txBody>
      </p:sp>
      <p:sp>
        <p:nvSpPr>
          <p:cNvPr id="11" name="code"/>
          <p:cNvSpPr txBox="1"/>
          <p:nvPr/>
        </p:nvSpPr>
        <p:spPr>
          <a:xfrm>
            <a:off x="5166360" y="3803904"/>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cd ~/workshop-claude/practice-project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and npm test green;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(MCP or acli) or GitHub (gh): comments, worklog and PR, only after you say yes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spec decides the result</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2026-10-19T11:58:02Z</dcterms:created>
  <dcterms:modified xsi:type="dcterms:W3CDTF">2026-10-19T11:58:02Z</dcterms:modified>
</cp:coreProperties>
</file>