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ca10673f-c721-5fc9-621d-92c9baf8b5d5}">
          <p14:sldIdLst>
            <p14:sldId id="256"/>
            <p14:sldId id="257"/>
            <p14:sldId id="258"/>
          </p14:sldIdLst>
        </p14:section>
        <p14:section name="Verificar" id="{e669affd-ea3d-f699-8858-2ba6393ea683}">
          <p14:sldIdLst>
            <p14:sldId id="259"/>
            <p14:sldId id="260"/>
          </p14:sldIdLst>
        </p14:section>
        <p14:section name="Conceitos" id="{856c2720-8b58-a267-d9a3-ddc0de81e10b}">
          <p14:sldIdLst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Preview" id="{03bc9418-fd34-0030-0d9b-9f1ed9666057}">
          <p14:sldIdLst>
            <p14:sldId id="270"/>
            <p14:sldId id="271"/>
            <p14:sldId id="272"/>
          </p14:sldIdLst>
        </p14:section>
        <p14:section name="Projeto 1" id="{8cae86e0-57dd-f473-302b-3ede33d25c26}">
          <p14:sldIdLst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</p14:sldIdLst>
        </p14:section>
        <p14:section name="Memória" id="{95598e0e-099f-3517-8c03-9bfa18da3e24}">
          <p14:sldIdLst>
            <p14:sldId id="289"/>
            <p14:sldId id="290"/>
          </p14:sldIdLst>
        </p14:section>
        <p14:section name="Projeto 2" id="{b6d368c0-190d-bfb1-abee-676744327c06}">
          <p14:sldIdLst>
            <p14:sldId id="291"/>
            <p14:sldId id="292"/>
            <p14:sldId id="293"/>
            <p14:sldId id="294"/>
            <p14:sldId id="295"/>
            <p14:sldId id="296"/>
            <p14:sldId id="297"/>
          </p14:sldIdLst>
        </p14:section>
        <p14:section name="Encerramento" id="{44a26866-16fb-3d37-e97c-bfd3f64574bb}">
          <p14:sldIdLst>
            <p14:sldId id="298"/>
            <p14:sldId id="299"/>
            <p14:sldId id="300"/>
            <p14:sldId id="30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 → 1:00] 1 min · deves estar aqui aos 0 min
Boas-vindas. Em 90 minutos vamos pôr um swarm de agentes a construir um jogo e, depois, a trabalhar numa tarefa real de cada 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 → 2:30] 1.5 min · deves estar aqui aos 1 min
Três resultados concretos. Tudo fica instalado no portátil de cada um e continua a funcionar depois de hoje.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[2:30 → 4:00] 1.5 min · deves estar aqui aos 3 min
O orçamento é garantido pelo benchmark, não por cortes. Se alguém passar o alvo, aparece um aviso e continua a trabalhar.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 → 7:00] 3 min · deves estar aqui aos 4 min
Toda a gente corre o check. Demora 2 a 3 minutos e não instala nada. Quem não fez o setup segue com o vizinho e instala no intervalo das perguntas. O setup fala inglês, mas deteta a língua da máquina e grava a definição language do Claude Code (português, inglês, hindi ou hebraico): as skills respondem nessa língua. A Arena, as tabelas do orquestrador e as docs ficam em português ou inglês (as outras línguas ficam em inglês). Antes deste slide, enviar os comandos no Teams para todos copiarem.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[7:00 → 9:00] 2 min · deves estar aqui aos 7 min
O Claude lê só o excerto do log daquele passo, sem segredos, e propõe comandos. Nunca executa nada sem confirmação. Se o Claude ainda não estiver instalado, aparece a mensagem pré-escrita do TROUBLESHOOTING. Antes deste slide, enviar os comandos no Teams para todos copiarem.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[9:00 → 9:30] 0.5 min · deves estar aqui aos 9 min
Quinze minutos de ideias, um conceito por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[9:30 → 11:00] 1.5 min · deves estar aqui aos 10 min
O Claude Code não é um chat: é um agente que age no repositório. Tudo o que faz passa por permissões. Plan mode (Shift+Tab) faz com que só planeie, sem tocar em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[11:00 → 13:00] 2 min · deves estar aqui aos 11 min
As skills substituíram os slash commands antigos. O frontmatter fixa o modelo e as ferramentas autorizadas. Hoje vamos usar dois sets: os /demo-* na Arena e os /task-* no dia a dia. As skills do kit estão em inglês e mandam o Claude responder na língua do participante.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[13:00 → 15:00] 2 min · deves estar aqui aos 13 min
Um subagente é uma instância do Claude com contexto limpo, ferramentas próprias e o modelo que quisermos. É definido num ficheiro .claude/agents/&lt;nome&gt;.md. O comando /agents já não abre um assistente: edita-se o ficheiro.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[15:00 → 17:00] 2 min · deves estar aqui aos 15 min
O swarm barato é o de muitos agentes pequenos com instruções claras. O que custa é a coordenação. Por isso o orquestrador é um script e os workers respondem com uma linha.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[17:00 → 19:00] 2 min · deves estar aqui aos 17 min
O plano é um grafo de dependências. Executamos por ondas: tudo o que está pronto corre em paralelo. Os três cartões de criptografia esperam pelo lib/hash, uma dependência real dentro da onda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[19:00 → 20:30] 1.5 min · deves estar aqui aos 19 min
Com 15 chamadas em paralelo, um modelo esquece dependências ou reescreve prompts. O script é reproduzível: é isso que torna o custo previsível e o benchmark comparável.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[20:30 → 22:00] 1.5 min · deves estar aqui aos 21 min
Os hooks são comandos que o Claude Code corre em eventos. O nosso só mede: lê os tokens reais do transcript, multiplica pelos preços publicados e acrescenta uma linha. Nunca bloqueia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[22:00 → 23:00] 1 min · deves estar aqui aos 22 min
É o mesmo ciclo nos dois projetos: planear com Opus, executar em swarm, um gate de segurança, medir e guardar o que se aprendeu.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[23:00 → 23:30] 0.5 min · deves estar aqui aos 23 min
Ponte para o Projeto 1. O que vão ver é o ciclo do slide anterior (plan → swarm → review → cost → memória) numa execução real com 100 cartões. Logo a seguir cada pessoa faz o mesmo com 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[23:30 → 26:30] 3 min · deves estar aqui aos 24 min
Vídeo acelerado de uma execução real com 100 cartões. À esquerda, a página /estado: cada quadrado é um cartão, amarelo enquanto um agente trabalha e verde quando o teste passa. À direita, o terminal com os lotes de agentes. O tempo e o custo são os reais. Plano B se o vídeo falhar: abrir /estado?replay=gravacao na Arena gravada.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[26:30 → 27:30] 1 min · deves estar aqui aos 27 min
Gravação a jogar a Arena final: apontar a linha insegura, escolher a resposta certa, ordenar os passos e escrever a resposta. Cada cartão explica o porquê no fim. No fim do Projeto 1 cada pessoa joga a sua.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[27:30 → 28:00] 0.5 min · deves estar aqui aos 28 min
25 minutos de hands-on. No benchmark, o swarm de 15 cartões demorou 4 a 6 minutos; em modo interativo e com contas novas pode demorar mais. Usamos esse tempo para ver funcionalidades.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[28:00 → 29:00] 1 min · deves estar aqui aos 28 min
Os testes já existem: cada agente só tem de pôr o seu teste verde. É isto que deixa o Haiku fazer o grosso do trabalho com segurança.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[29:00 → 30:30] 1.5 min · deves estar aqui aos 29 min
Explicar antes de correr. Uma skill não é magia: é uma receita em Markdown que o Claude segue. Aqui ela chama um script que gera o grafo (sempre o mesmo, a partir das tarefas) e um agente Opus que só o revê. O resultado fica em ficheiros que podem abrir e 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[30:30 → 33:30] 3 min · deves estar aqui aos 31 min
O diálogo de confiança é importante: sem ele, as permissões do projeto ficam desligadas. O /demo-plan consulta a memória, gera o grafo e pede ao planner (Opus) para o rever.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[33:30 → 35:00] 1.5 min · deves estar aqui aos 34 min
Mostrar o plano de alguém no projetor. Na onda 1, o lib/hash e os cartões arrancam juntos; os de criptografia entram assim que o hash fica verde.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[35:00 → 36:30] 1.5 min · deves estar aqui aos 35 min
Explicar antes de correr. O ponto importante: quem escolhe o que corre é um script, não o modelo. Por isso o custo e o tempo são previsíveis. Se um cartão falhar, o script repete-o com a mensagem de erro e, à terceira, com Sonnet.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[36:30 → 38:30] 2 min · deves estar aqui aos 37 min
A partir daqui o swarm trabalha alguns minutos (4 a 6 no benchmark). Os próximos slides usam esse tempo; quem acabar primeiro joga a Arena.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[38:30 → 40:30] 2 min · deves estar aqui aos 39 min
O /btw responde ao lado. É a forma certa de tirar dúvidas durante uma execução longa.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[40:30 → 42:00] 1.5 min · deves estar aqui aos 41 min
Sem entrar no código. A ideia: o hook é um "quando acontecer X, corre Y", configurado no settings.json. O Claude escreve hooks muito bem: basta descrever o que se quer. Mostrar o /hooks para ver os que estão ativos.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[42:00 → 43:00] 1 min · deves estar aqui aos 42 min
Mostrar a statusline a mudar enquanto os agentes terminam. O hook grava, a statusline mostra: as duas peças juntas dão o custo ao vivo. O /usage do Claude Code pode mostrar mais, porque algumas versões ainda não conhecem os preços mais recentes; o /demo-cost usa os preços publicados.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[43:00 → 46:00] 3 min · deves estar aqui aos 43 min
Plan mode só lê e propõe. O claude -p é a base dos scripts e do CI. Esc Esc abre o rewind: repõe código e conversa até um checkpoint, mas não o que foi feito por Bash nem a maior parte do que os subagentes fizeram.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[46:00 → 48:00] 2 min · PODE SALTAR · deves estar aqui aos 46 min
Saltar se houver atraso. Exemplo de rotina: uma revisão de segurança diária com node tools/rotina.mjs --instalar, que regista no launchd ou no Agendador de Tarefas um claude -p "/demo-review --auto".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[48:00 → 50:00] 2 min · deves estar aqui aos 48 min
O /loop repete um prompt a cada intervalo, com a sessão aberta. Esc cancela.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[50:00 → 52:00] 2 min · deves estar aqui aos 50 min
Um jogo de segurança com falhas de segurança seria o pior exemplo. O gate liga cada verificação ao OWASP Top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[52:00 → 54:00] 2 min · deves estar aqui aos 52 min
O relatório usa tokens reais e preços publicados. No fim grava as lições na app de memória.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[54:00 → 56:00] 2 min · deves estar aqui aos 54 min
Os testes também correm no browser. É o mesmo teste que decidiu a cor do quadrado.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[56:00 → 58:00] 2 min · deves estar aqui aos 56 min
São ficheiros Markdown em ~/.memoria, com um índice SQLite. Fica tudo só no teu PC. Cada memória fica ligada ao ticket do Jira ou do GitHub e ao seu épico: procurar ABC-123 traz tudo desse ticket e do épico. O /task-intake e o /task-plan consultam-na antes de planear ("da última vez neste épico, não fazer X").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[58:00 → 61:00] 3 min · deves estar aqui aos 58 min
A app abre na tua língua nativa e tem um seletor de língua. Rotinas, worktrees e o modo headless já ficaram vistos nos momentos de espera.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[61:00 → 61:30] 0.5 min · deves estar aqui aos 61 min
25 minutos. A tarefa pode não terminar aqui: o objetivo é sair com a orquestração a correr e saber continuar.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[61:30 → 63:00] 1.5 min · deves estar aqui aos 62 min
Os /task-* estão instalados ao nível do utilizador e funcionam em qualquer repositório. Toda a escrita no Jira ou no GitHub pede confirmação.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[63:00 → 67:00] 4 min · deves estar aqui aos 63 min
Para o Jira é preciso ter feito login no /mcp (atlassian). O GitHub usa o gh. O intake só lê; não escreve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[67:00 → 72:00] 5 min · deves estar aqui aos 67 min
O planner (Opus) propõe o grafo e um script valida-o: ciclos, ficheiros em comum, agentes conhecidos. A integração e a revisão são acrescentadas sozinhas.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[72:00 → 82:00] 10 min · deves estar aqui aos 72 min
O estado fica em .workshop/. Voltar a correr /task-swarm retoma. Tarefas que mexem nos mesmos ficheiros vão em lotes diferentes, ou em git worktrees se o planner o decidir.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[82:00 → 83:00] 1 min · PODE SALTAR · deves estar aqui aos 82 min
Saltar se houver atraso. O MCP da Atlassian gasta créditos Rovo da empresa e o administrador pode limitá-lo. Se o MCP falhar, as skills usam o Atlassian CLI oficial (acli), que o setup já instalou: lê a issue e publica os comentários; as horas registam-se à mão.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[83:00 → 85:00] 2 min · deves estar aqui aos 83 min
Exemplo de comentário: agente ws-worker-07 · Haiku · 5 s · US$ 0,004.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[85:00 → 87:00] 2 min · deves estar aqui aos 85 min
Resumo em cinco frases.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[87:00 → 88:30] 1.5 min · deves estar aqui aos 87 min
Os comandos são gerados a partir do repos.conf: estão sempre certos para a versão publicada. Antes deste slide, enviar os comandos no Teams para todos copiarem.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[88:30 → 89:30] 1 min · deves estar aqui aos 89 min
Três ações concretas.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[89:30 → 90:00] 0.5 min · deves estar aqui aos 90 min
As perguntas podem passar dos 90 minutos. Quem não fez o setup instala agora.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1.png"/><Relationship Id="rId3" Type="http://schemas.openxmlformats.org/officeDocument/2006/relationships/image" Target="../media/TITULO-image-3.png"/><Relationship Id="rId4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FECHO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SECCAO-image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ULO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guilhermepinto/Github/workshop-claude/slides/modelo/logo-bran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5391" y="611734"/>
            <a:ext cx="2112264" cy="26426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323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4" name="Image 1" descr="/Users/guilhermepinto/Github/workshop-claude/slides/modelo/logo-branc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5" y="6557162"/>
            <a:ext cx="750722" cy="94183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615391" y="1325880"/>
            <a:ext cx="87782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615391" y="3474720"/>
            <a:ext cx="87782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guilhermepinto/Github/workshop-claude/slides/modelo/logo-bran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52848" y="5074920"/>
            <a:ext cx="2286000" cy="28575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14400" y="2011680"/>
            <a:ext cx="1036289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6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6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914400" y="3566160"/>
            <a:ext cx="1036289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8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A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guilhermepinto/Github/workshop-claude/slides/modelo/logo-rox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5975" y="611734"/>
            <a:ext cx="2112264" cy="26426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C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323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3" name="Image 0" descr="/Users/guilhermepinto/Github/workshop-claude/slides/modelo/logo-bran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745" y="6557162"/>
            <a:ext cx="750722" cy="94183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CA">
    <p:bg>
      <p:bgPr>
        <a:solidFill>
          <a:srgbClr val="F4E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323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3" name="Image 0" descr="/Users/guilhermepinto/Github/workshop-claude/slides/modelo/logo-bran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745" y="6557162"/>
            <a:ext cx="750722" cy="94183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6-1.mp4"/><Relationship Id="rId2" Type="http://schemas.microsoft.com/office/2007/relationships/media" Target="../media/media-16-1.mp4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7-1.mp4"/><Relationship Id="rId2" Type="http://schemas.microsoft.com/office/2007/relationships/media" Target="../media/media-17-1.mp4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615391" y="1325880"/>
            <a:ext cx="8778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Orquestração de agentes com Claude</a:t>
            </a:r>
            <a:endParaRPr lang="en-US" sz="48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615391" y="347472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Skills, subagentes e swarms paralelos, com custo medido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levas para casa</a:t>
            </a:r>
            <a:endParaRPr lang="en-US" sz="32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4EFFE"/>
          </a:solidFill>
          <a:ln w="12700">
            <a:solidFill>
              <a:srgbClr val="F4EFFE"/>
            </a:solidFill>
            <a:prstDash val="solid"/>
          </a:ln>
        </p:spPr>
      </p:sp>
      <p:sp>
        <p:nvSpPr>
          <p:cNvPr id="4" name="marca-0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5" name="coluna-titulo-0"/>
          <p:cNvSpPr txBox="1"/>
          <p:nvPr/>
        </p:nvSpPr>
        <p:spPr>
          <a:xfrm>
            <a:off x="868680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swarm</a:t>
            </a:r>
            <a:endParaRPr lang="en-US" sz="2600" dirty="0"/>
          </a:p>
        </p:txBody>
      </p:sp>
      <p:sp>
        <p:nvSpPr>
          <p:cNvPr id="6" name="coluna-texto-0"/>
          <p:cNvSpPr txBox="1"/>
          <p:nvPr/>
        </p:nvSpPr>
        <p:spPr>
          <a:xfrm>
            <a:off x="868680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constrói um jogo de segurança com 15 agentes em paralelo</a:t>
            </a:r>
            <a:endParaRPr lang="en-US" sz="2000" dirty="0"/>
          </a:p>
        </p:txBody>
      </p:sp>
      <p:sp>
        <p:nvSpPr>
          <p:cNvPr id="7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4EFFE"/>
          </a:solidFill>
          <a:ln w="12700">
            <a:solidFill>
              <a:srgbClr val="F4EFFE"/>
            </a:solidFill>
            <a:prstDash val="solid"/>
          </a:ln>
        </p:spPr>
      </p:sp>
      <p:sp>
        <p:nvSpPr>
          <p:cNvPr id="8" name="marca-1"/>
          <p:cNvSpPr/>
          <p:nvPr/>
        </p:nvSpPr>
        <p:spPr>
          <a:xfrm>
            <a:off x="4673498" y="2011680"/>
            <a:ext cx="384048" cy="384048"/>
          </a:xfrm>
          <a:prstGeom prst="rect">
            <a:avLst/>
          </a:prstGeom>
          <a:solidFill>
            <a:srgbClr val="8F23D7"/>
          </a:solidFill>
          <a:ln w="12700">
            <a:solidFill>
              <a:srgbClr val="8F23D7"/>
            </a:solidFill>
            <a:prstDash val="solid"/>
          </a:ln>
        </p:spPr>
      </p:sp>
      <p:sp>
        <p:nvSpPr>
          <p:cNvPr id="9" name="coluna-titulo-1"/>
          <p:cNvSpPr txBox="1"/>
          <p:nvPr/>
        </p:nvSpPr>
        <p:spPr>
          <a:xfrm>
            <a:off x="4673498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tua tarefa</a:t>
            </a:r>
            <a:endParaRPr lang="en-US" sz="2600" dirty="0"/>
          </a:p>
        </p:txBody>
      </p:sp>
      <p:sp>
        <p:nvSpPr>
          <p:cNvPr id="10" name="coluna-texto-1"/>
          <p:cNvSpPr txBox="1"/>
          <p:nvPr/>
        </p:nvSpPr>
        <p:spPr>
          <a:xfrm>
            <a:off x="4673498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real, do Jira ou do GitHub, decomposta e a correr</a:t>
            </a:r>
            <a:endParaRPr lang="en-US" sz="2000" dirty="0"/>
          </a:p>
        </p:txBody>
      </p:sp>
      <p:sp>
        <p:nvSpPr>
          <p:cNvPr id="11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4EFFE"/>
          </a:solidFill>
          <a:ln w="12700">
            <a:solidFill>
              <a:srgbClr val="F4EFFE"/>
            </a:solidFill>
            <a:prstDash val="solid"/>
          </a:ln>
        </p:spPr>
      </p:sp>
      <p:sp>
        <p:nvSpPr>
          <p:cNvPr id="12" name="marca-2"/>
          <p:cNvSpPr/>
          <p:nvPr/>
        </p:nvSpPr>
        <p:spPr>
          <a:xfrm>
            <a:off x="8478317" y="2011680"/>
            <a:ext cx="384048" cy="384048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3" name="coluna-titulo-2"/>
          <p:cNvSpPr txBox="1"/>
          <p:nvPr/>
        </p:nvSpPr>
        <p:spPr>
          <a:xfrm>
            <a:off x="8478317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memória</a:t>
            </a:r>
            <a:endParaRPr lang="en-US" sz="2600" dirty="0"/>
          </a:p>
        </p:txBody>
      </p:sp>
      <p:sp>
        <p:nvSpPr>
          <p:cNvPr id="14" name="coluna-texto-2"/>
          <p:cNvSpPr txBox="1"/>
          <p:nvPr/>
        </p:nvSpPr>
        <p:spPr>
          <a:xfrm>
            <a:off x="8478317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grafo do que aprendeste, para usar amanhã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As regras do custo</a:t>
            </a:r>
            <a:endParaRPr lang="en-US" sz="3200" dirty="0"/>
          </a:p>
        </p:txBody>
      </p:sp>
      <p:sp>
        <p:nvSpPr>
          <p:cNvPr id="3" name="stat-0"/>
          <p:cNvSpPr/>
          <p:nvPr/>
        </p:nvSpPr>
        <p:spPr>
          <a:xfrm>
            <a:off x="548640" y="1737360"/>
            <a:ext cx="3484778" cy="329184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stat-valor-0"/>
          <p:cNvSpPr txBox="1"/>
          <p:nvPr/>
        </p:nvSpPr>
        <p:spPr>
          <a:xfrm>
            <a:off x="868680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US$ 5</a:t>
            </a:r>
            <a:endParaRPr lang="en-US" sz="6000" dirty="0"/>
          </a:p>
        </p:txBody>
      </p:sp>
      <p:sp>
        <p:nvSpPr>
          <p:cNvPr id="5" name="stat-rotulo-0"/>
          <p:cNvSpPr txBox="1"/>
          <p:nvPr/>
        </p:nvSpPr>
        <p:spPr>
          <a:xfrm>
            <a:off x="868680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alvo por pessoa, para tudo o que fizeres hoje</a:t>
            </a:r>
            <a:endParaRPr lang="en-US" sz="1800" dirty="0"/>
          </a:p>
        </p:txBody>
      </p:sp>
      <p:sp>
        <p:nvSpPr>
          <p:cNvPr id="6" name="stat-1"/>
          <p:cNvSpPr/>
          <p:nvPr/>
        </p:nvSpPr>
        <p:spPr>
          <a:xfrm>
            <a:off x="4353458" y="1737360"/>
            <a:ext cx="3484778" cy="3291840"/>
          </a:xfrm>
          <a:prstGeom prst="rect">
            <a:avLst/>
          </a:prstGeom>
          <a:solidFill>
            <a:srgbClr val="F4EFFE"/>
          </a:solidFill>
          <a:ln w="12700">
            <a:solidFill>
              <a:srgbClr val="F4EFFE"/>
            </a:solidFill>
            <a:prstDash val="solid"/>
          </a:ln>
        </p:spPr>
      </p:sp>
      <p:sp>
        <p:nvSpPr>
          <p:cNvPr id="7" name="stat-valor-1"/>
          <p:cNvSpPr txBox="1"/>
          <p:nvPr/>
        </p:nvSpPr>
        <p:spPr>
          <a:xfrm>
            <a:off x="4673498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US$ 10</a:t>
            </a:r>
            <a:endParaRPr lang="en-US" sz="6000" dirty="0"/>
          </a:p>
        </p:txBody>
      </p:sp>
      <p:sp>
        <p:nvSpPr>
          <p:cNvPr id="8" name="stat-rotulo-1"/>
          <p:cNvSpPr txBox="1"/>
          <p:nvPr/>
        </p:nvSpPr>
        <p:spPr>
          <a:xfrm>
            <a:off x="4673498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teto de segurança, nunca o objetivo</a:t>
            </a:r>
            <a:endParaRPr lang="en-US" sz="1800" dirty="0"/>
          </a:p>
        </p:txBody>
      </p:sp>
      <p:sp>
        <p:nvSpPr>
          <p:cNvPr id="9" name="stat-2"/>
          <p:cNvSpPr/>
          <p:nvPr/>
        </p:nvSpPr>
        <p:spPr>
          <a:xfrm>
            <a:off x="8158277" y="1737360"/>
            <a:ext cx="3484778" cy="3291840"/>
          </a:xfrm>
          <a:prstGeom prst="rect">
            <a:avLst/>
          </a:prstGeom>
          <a:solidFill>
            <a:srgbClr val="F4EFFE"/>
          </a:solidFill>
          <a:ln w="12700">
            <a:solidFill>
              <a:srgbClr val="F4EFFE"/>
            </a:solidFill>
            <a:prstDash val="solid"/>
          </a:ln>
        </p:spPr>
      </p:sp>
      <p:sp>
        <p:nvSpPr>
          <p:cNvPr id="10" name="stat-valor-2"/>
          <p:cNvSpPr txBox="1"/>
          <p:nvPr/>
        </p:nvSpPr>
        <p:spPr>
          <a:xfrm>
            <a:off x="8478317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0</a:t>
            </a:r>
            <a:endParaRPr lang="en-US" sz="6000" dirty="0"/>
          </a:p>
        </p:txBody>
      </p:sp>
      <p:sp>
        <p:nvSpPr>
          <p:cNvPr id="11" name="stat-rotulo-2"/>
          <p:cNvSpPr txBox="1"/>
          <p:nvPr/>
        </p:nvSpPr>
        <p:spPr>
          <a:xfrm>
            <a:off x="8478317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sessões interrompidas por custo</a:t>
            </a:r>
            <a:endParaRPr lang="en-US" sz="1800" dirty="0"/>
          </a:p>
        </p:txBody>
      </p:sp>
      <p:sp>
        <p:nvSpPr>
          <p:cNvPr id="12" name="rodape"/>
          <p:cNvSpPr txBox="1"/>
          <p:nvPr/>
        </p:nvSpPr>
        <p:spPr>
          <a:xfrm>
            <a:off x="548640" y="5349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Medido em 16 execuções reais: média US$ 1,02, máximo US$ 1,12.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Faça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Verifica a instalação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um terminal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comando do teu sistema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Espera pela tabela-resumo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017727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350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--check</a:t>
            </a:r>
            <a:endParaRPr lang="en-US" sz="1800" dirty="0"/>
          </a:p>
        </p:txBody>
      </p:sp>
      <p:sp>
        <p:nvSpPr>
          <p:cNvPr id="9" name="codigo-fundo"/>
          <p:cNvSpPr/>
          <p:nvPr/>
        </p:nvSpPr>
        <p:spPr>
          <a:xfrm>
            <a:off x="4937760" y="3166567"/>
            <a:ext cx="6705295" cy="142372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igo-rotulo"/>
          <p:cNvSpPr txBox="1"/>
          <p:nvPr/>
        </p:nvSpPr>
        <p:spPr>
          <a:xfrm>
            <a:off x="5166360" y="3349447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300" dirty="0"/>
          </a:p>
        </p:txBody>
      </p:sp>
      <p:sp>
        <p:nvSpPr>
          <p:cNvPr id="11" name="codigo"/>
          <p:cNvSpPr txBox="1"/>
          <p:nvPr/>
        </p:nvSpPr>
        <p:spPr>
          <a:xfrm>
            <a:off x="5166360" y="3696919"/>
            <a:ext cx="6248095" cy="756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"$HOME\.workshop-claude\setup-windows.ps1" -Check</a:t>
            </a:r>
            <a:endParaRPr lang="en-US" sz="1400" dirty="0"/>
          </a:p>
        </p:txBody>
      </p:sp>
      <p:sp>
        <p:nvSpPr>
          <p:cNvPr id="12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13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"Everything is ready for the workshop" (o setup fala inglês)</a:t>
            </a:r>
            <a:endParaRPr lang="en-US" sz="1800" dirty="0"/>
          </a:p>
        </p:txBody>
      </p:sp>
      <p:sp>
        <p:nvSpPr>
          <p:cNvPr id="14" name="aviso-fundo"/>
          <p:cNvSpPr/>
          <p:nvPr/>
        </p:nvSpPr>
        <p:spPr>
          <a:xfrm>
            <a:off x="6316675" y="384048"/>
            <a:ext cx="5326380" cy="45720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5" name="aviso"/>
          <p:cNvSpPr txBox="1"/>
          <p:nvPr/>
        </p:nvSpPr>
        <p:spPr>
          <a:xfrm>
            <a:off x="6481267" y="384048"/>
            <a:ext cx="49971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comandos estão no Teams: copia-os de lá.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Faça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Algum passo falhou?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modo doctor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Aceita a análise do Claude (menos de US$ 0,01)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 os comandos um a um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017727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350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--doctor</a:t>
            </a:r>
            <a:endParaRPr lang="en-US" sz="1800" dirty="0"/>
          </a:p>
        </p:txBody>
      </p:sp>
      <p:sp>
        <p:nvSpPr>
          <p:cNvPr id="9" name="codigo-fundo"/>
          <p:cNvSpPr/>
          <p:nvPr/>
        </p:nvSpPr>
        <p:spPr>
          <a:xfrm>
            <a:off x="4937760" y="3166567"/>
            <a:ext cx="6705295" cy="142372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igo-rotulo"/>
          <p:cNvSpPr txBox="1"/>
          <p:nvPr/>
        </p:nvSpPr>
        <p:spPr>
          <a:xfrm>
            <a:off x="5166360" y="3349447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300" dirty="0"/>
          </a:p>
        </p:txBody>
      </p:sp>
      <p:sp>
        <p:nvSpPr>
          <p:cNvPr id="11" name="codigo"/>
          <p:cNvSpPr txBox="1"/>
          <p:nvPr/>
        </p:nvSpPr>
        <p:spPr>
          <a:xfrm>
            <a:off x="5166360" y="3696919"/>
            <a:ext cx="6248095" cy="756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"$HOME\.workshop-claude\setup-windows.ps1" -Doctor</a:t>
            </a:r>
            <a:endParaRPr lang="en-US" sz="1400" dirty="0"/>
          </a:p>
        </p:txBody>
      </p:sp>
      <p:sp>
        <p:nvSpPr>
          <p:cNvPr id="12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13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passo que falhou é repetido e fica feito</a:t>
            </a:r>
            <a:endParaRPr lang="en-US" sz="1800" dirty="0"/>
          </a:p>
        </p:txBody>
      </p:sp>
      <p:sp>
        <p:nvSpPr>
          <p:cNvPr id="14" name="aviso-fundo"/>
          <p:cNvSpPr/>
          <p:nvPr/>
        </p:nvSpPr>
        <p:spPr>
          <a:xfrm>
            <a:off x="6316675" y="384048"/>
            <a:ext cx="5326380" cy="45720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5" name="aviso"/>
          <p:cNvSpPr txBox="1"/>
          <p:nvPr/>
        </p:nvSpPr>
        <p:spPr>
          <a:xfrm>
            <a:off x="6481267" y="384048"/>
            <a:ext cx="49971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comandos estão no Teams: copia-os de lá.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Conceitos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Skills, agentes, grafos e dinheiro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Claude Code trabalha no teu projeto</a:t>
            </a:r>
            <a:endParaRPr lang="en-US" sz="32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4EFFE"/>
          </a:solidFill>
          <a:ln w="12700">
            <a:solidFill>
              <a:srgbClr val="F4EFFE"/>
            </a:solidFill>
            <a:prstDash val="solid"/>
          </a:ln>
        </p:spPr>
      </p:sp>
      <p:sp>
        <p:nvSpPr>
          <p:cNvPr id="4" name="marca-0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5" name="coluna-titulo-0"/>
          <p:cNvSpPr txBox="1"/>
          <p:nvPr/>
        </p:nvSpPr>
        <p:spPr>
          <a:xfrm>
            <a:off x="868680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Lê e escreve</a:t>
            </a:r>
            <a:endParaRPr lang="en-US" sz="2600" dirty="0"/>
          </a:p>
        </p:txBody>
      </p:sp>
      <p:sp>
        <p:nvSpPr>
          <p:cNvPr id="6" name="coluna-texto-0"/>
          <p:cNvSpPr txBox="1"/>
          <p:nvPr/>
        </p:nvSpPr>
        <p:spPr>
          <a:xfrm>
            <a:off x="868680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ficheiros do projeto, com permissões que tu controlas</a:t>
            </a:r>
            <a:endParaRPr lang="en-US" sz="2000" dirty="0"/>
          </a:p>
        </p:txBody>
      </p:sp>
      <p:sp>
        <p:nvSpPr>
          <p:cNvPr id="7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4EFFE"/>
          </a:solidFill>
          <a:ln w="12700">
            <a:solidFill>
              <a:srgbClr val="F4EFFE"/>
            </a:solidFill>
            <a:prstDash val="solid"/>
          </a:ln>
        </p:spPr>
      </p:sp>
      <p:sp>
        <p:nvSpPr>
          <p:cNvPr id="8" name="marca-1"/>
          <p:cNvSpPr/>
          <p:nvPr/>
        </p:nvSpPr>
        <p:spPr>
          <a:xfrm>
            <a:off x="4673498" y="2011680"/>
            <a:ext cx="384048" cy="384048"/>
          </a:xfrm>
          <a:prstGeom prst="rect">
            <a:avLst/>
          </a:prstGeom>
          <a:solidFill>
            <a:srgbClr val="8F23D7"/>
          </a:solidFill>
          <a:ln w="12700">
            <a:solidFill>
              <a:srgbClr val="8F23D7"/>
            </a:solidFill>
            <a:prstDash val="solid"/>
          </a:ln>
        </p:spPr>
      </p:sp>
      <p:sp>
        <p:nvSpPr>
          <p:cNvPr id="9" name="coluna-titulo-1"/>
          <p:cNvSpPr txBox="1"/>
          <p:nvPr/>
        </p:nvSpPr>
        <p:spPr>
          <a:xfrm>
            <a:off x="4673498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Corre comandos</a:t>
            </a:r>
            <a:endParaRPr lang="en-US" sz="2600" dirty="0"/>
          </a:p>
        </p:txBody>
      </p:sp>
      <p:sp>
        <p:nvSpPr>
          <p:cNvPr id="10" name="coluna-texto-1"/>
          <p:cNvSpPr txBox="1"/>
          <p:nvPr/>
        </p:nvSpPr>
        <p:spPr>
          <a:xfrm>
            <a:off x="4673498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testes, git, scripts: vê o resultado e corrige</a:t>
            </a:r>
            <a:endParaRPr lang="en-US" sz="2000" dirty="0"/>
          </a:p>
        </p:txBody>
      </p:sp>
      <p:sp>
        <p:nvSpPr>
          <p:cNvPr id="11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4EFFE"/>
          </a:solidFill>
          <a:ln w="12700">
            <a:solidFill>
              <a:srgbClr val="F4EFFE"/>
            </a:solidFill>
            <a:prstDash val="solid"/>
          </a:ln>
        </p:spPr>
      </p:sp>
      <p:sp>
        <p:nvSpPr>
          <p:cNvPr id="12" name="marca-2"/>
          <p:cNvSpPr/>
          <p:nvPr/>
        </p:nvSpPr>
        <p:spPr>
          <a:xfrm>
            <a:off x="8478317" y="2011680"/>
            <a:ext cx="384048" cy="384048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3" name="coluna-titulo-2"/>
          <p:cNvSpPr txBox="1"/>
          <p:nvPr/>
        </p:nvSpPr>
        <p:spPr>
          <a:xfrm>
            <a:off x="8478317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Liga-se a ferramentas</a:t>
            </a:r>
            <a:endParaRPr lang="en-US" sz="2600" dirty="0"/>
          </a:p>
        </p:txBody>
      </p:sp>
      <p:sp>
        <p:nvSpPr>
          <p:cNvPr id="14" name="coluna-texto-2"/>
          <p:cNvSpPr txBox="1"/>
          <p:nvPr/>
        </p:nvSpPr>
        <p:spPr>
          <a:xfrm>
            <a:off x="8478317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Jira, GitHub e a tua memória, via MCP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skill é uma receita com nome</a:t>
            </a:r>
            <a:endParaRPr lang="en-US" sz="3200" dirty="0"/>
          </a:p>
        </p:txBody>
      </p:sp>
      <p:sp>
        <p:nvSpPr>
          <p:cNvPr id="3" name="intro"/>
          <p:cNvSpPr txBox="1"/>
          <p:nvPr/>
        </p:nvSpPr>
        <p:spPr>
          <a:xfrm>
            <a:off x="548640" y="1463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ficheiro SKILL.md numa pasta. Escreves /nome e o Claude segue a receita.</a:t>
            </a:r>
            <a:endParaRPr lang="en-US" sz="2000" dirty="0"/>
          </a:p>
        </p:txBody>
      </p:sp>
      <p:sp>
        <p:nvSpPr>
          <p:cNvPr id="4" name="codigo-fundo"/>
          <p:cNvSpPr/>
          <p:nvPr/>
        </p:nvSpPr>
        <p:spPr>
          <a:xfrm>
            <a:off x="548640" y="2148840"/>
            <a:ext cx="11094415" cy="34747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5" name="codigo"/>
          <p:cNvSpPr txBox="1"/>
          <p:nvPr/>
        </p:nvSpPr>
        <p:spPr>
          <a:xfrm>
            <a:off x="777240" y="2331720"/>
            <a:ext cx="10637215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demo-swarm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description: Runs the Arena swarm in waves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sonnet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allowed-tools: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Bash(node tools/*)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Agent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Run next-wave.mjs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Launch exactly the calls it returns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Repeat until ESTADO: FIM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in the participant's language.</a:t>
            </a:r>
            <a:endParaRPr lang="en-US" sz="1500" dirty="0"/>
          </a:p>
        </p:txBody>
      </p:sp>
      <p:sp>
        <p:nvSpPr>
          <p:cNvPr id="6" name="depois"/>
          <p:cNvSpPr txBox="1"/>
          <p:nvPr/>
        </p:nvSpPr>
        <p:spPr>
          <a:xfrm>
            <a:off x="548640" y="57607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.claude/skills/ no projeto · ~/.claude/skills/ para todos os projetos · escritas em inglês, respondem na tua língua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Subagentes: contexto e modelo próprios</a:t>
            </a:r>
            <a:endParaRPr lang="en-US" sz="3200" dirty="0"/>
          </a:p>
        </p:txBody>
      </p:sp>
      <p:sp>
        <p:nvSpPr>
          <p:cNvPr id="3" name="modelo-0"/>
          <p:cNvSpPr/>
          <p:nvPr/>
        </p:nvSpPr>
        <p:spPr>
          <a:xfrm>
            <a:off x="548640" y="1691640"/>
            <a:ext cx="3484778" cy="3749040"/>
          </a:xfrm>
          <a:prstGeom prst="rect">
            <a:avLst/>
          </a:prstGeom>
          <a:solidFill>
            <a:srgbClr val="F4EFFE"/>
          </a:solidFill>
          <a:ln w="12700">
            <a:solidFill>
              <a:srgbClr val="F4EFFE"/>
            </a:solidFill>
            <a:prstDash val="solid"/>
          </a:ln>
        </p:spPr>
      </p:sp>
      <p:sp>
        <p:nvSpPr>
          <p:cNvPr id="4" name="modelo-marca-0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5" name="modelo-nome-0"/>
          <p:cNvSpPr txBox="1"/>
          <p:nvPr/>
        </p:nvSpPr>
        <p:spPr>
          <a:xfrm>
            <a:off x="868680" y="2606040"/>
            <a:ext cx="28446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Opus</a:t>
            </a:r>
            <a:endParaRPr lang="en-US" sz="4800" dirty="0"/>
          </a:p>
        </p:txBody>
      </p:sp>
      <p:sp>
        <p:nvSpPr>
          <p:cNvPr id="6" name="modelo-papel-0"/>
          <p:cNvSpPr txBox="1"/>
          <p:nvPr/>
        </p:nvSpPr>
        <p:spPr>
          <a:xfrm>
            <a:off x="868680" y="370332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planear e rever</a:t>
            </a:r>
            <a:endParaRPr lang="en-US" sz="2000" dirty="0"/>
          </a:p>
        </p:txBody>
      </p:sp>
      <p:sp>
        <p:nvSpPr>
          <p:cNvPr id="7" name="modelo-preco-0"/>
          <p:cNvSpPr txBox="1"/>
          <p:nvPr/>
        </p:nvSpPr>
        <p:spPr>
          <a:xfrm>
            <a:off x="868680" y="466344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US$ 4 / 20</a:t>
            </a:r>
            <a:endParaRPr lang="en-US" sz="1800" dirty="0"/>
          </a:p>
        </p:txBody>
      </p:sp>
      <p:sp>
        <p:nvSpPr>
          <p:cNvPr id="8" name="modelo-1"/>
          <p:cNvSpPr/>
          <p:nvPr/>
        </p:nvSpPr>
        <p:spPr>
          <a:xfrm>
            <a:off x="4353458" y="1691640"/>
            <a:ext cx="3484778" cy="3749040"/>
          </a:xfrm>
          <a:prstGeom prst="rect">
            <a:avLst/>
          </a:prstGeom>
          <a:solidFill>
            <a:srgbClr val="F4EFFE"/>
          </a:solidFill>
          <a:ln w="12700">
            <a:solidFill>
              <a:srgbClr val="F4EFFE"/>
            </a:solidFill>
            <a:prstDash val="solid"/>
          </a:ln>
        </p:spPr>
      </p:sp>
      <p:sp>
        <p:nvSpPr>
          <p:cNvPr id="9" name="modelo-marca-1"/>
          <p:cNvSpPr/>
          <p:nvPr/>
        </p:nvSpPr>
        <p:spPr>
          <a:xfrm>
            <a:off x="4673498" y="20116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0" name="modelo-nome-1"/>
          <p:cNvSpPr txBox="1"/>
          <p:nvPr/>
        </p:nvSpPr>
        <p:spPr>
          <a:xfrm>
            <a:off x="4673498" y="2606040"/>
            <a:ext cx="28446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Sonnet</a:t>
            </a:r>
            <a:endParaRPr lang="en-US" sz="4800" dirty="0"/>
          </a:p>
        </p:txBody>
      </p:sp>
      <p:sp>
        <p:nvSpPr>
          <p:cNvPr id="11" name="modelo-papel-1"/>
          <p:cNvSpPr txBox="1"/>
          <p:nvPr/>
        </p:nvSpPr>
        <p:spPr>
          <a:xfrm>
            <a:off x="4673498" y="370332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integrar e lógica difícil</a:t>
            </a:r>
            <a:endParaRPr lang="en-US" sz="2000" dirty="0"/>
          </a:p>
        </p:txBody>
      </p:sp>
      <p:sp>
        <p:nvSpPr>
          <p:cNvPr id="12" name="modelo-preco-1"/>
          <p:cNvSpPr txBox="1"/>
          <p:nvPr/>
        </p:nvSpPr>
        <p:spPr>
          <a:xfrm>
            <a:off x="4673498" y="466344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US$ 2 / 10</a:t>
            </a:r>
            <a:endParaRPr lang="en-US" sz="1800" dirty="0"/>
          </a:p>
        </p:txBody>
      </p:sp>
      <p:sp>
        <p:nvSpPr>
          <p:cNvPr id="13" name="modelo-2"/>
          <p:cNvSpPr/>
          <p:nvPr/>
        </p:nvSpPr>
        <p:spPr>
          <a:xfrm>
            <a:off x="8158277" y="1691640"/>
            <a:ext cx="3484778" cy="3749040"/>
          </a:xfrm>
          <a:prstGeom prst="rect">
            <a:avLst/>
          </a:prstGeom>
          <a:solidFill>
            <a:srgbClr val="F4EFFE"/>
          </a:solidFill>
          <a:ln w="12700">
            <a:solidFill>
              <a:srgbClr val="F4EFFE"/>
            </a:solidFill>
            <a:prstDash val="solid"/>
          </a:ln>
        </p:spPr>
      </p:sp>
      <p:sp>
        <p:nvSpPr>
          <p:cNvPr id="14" name="modelo-marca-2"/>
          <p:cNvSpPr/>
          <p:nvPr/>
        </p:nvSpPr>
        <p:spPr>
          <a:xfrm>
            <a:off x="8478317" y="20116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5" name="modelo-nome-2"/>
          <p:cNvSpPr txBox="1"/>
          <p:nvPr/>
        </p:nvSpPr>
        <p:spPr>
          <a:xfrm>
            <a:off x="8478317" y="2606040"/>
            <a:ext cx="28446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Haiku</a:t>
            </a:r>
            <a:endParaRPr lang="en-US" sz="4800" dirty="0"/>
          </a:p>
        </p:txBody>
      </p:sp>
      <p:sp>
        <p:nvSpPr>
          <p:cNvPr id="16" name="modelo-papel-2"/>
          <p:cNvSpPr txBox="1"/>
          <p:nvPr/>
        </p:nvSpPr>
        <p:spPr>
          <a:xfrm>
            <a:off x="8478317" y="370332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grosso do swarm</a:t>
            </a:r>
            <a:endParaRPr lang="en-US" sz="2000" dirty="0"/>
          </a:p>
        </p:txBody>
      </p:sp>
      <p:sp>
        <p:nvSpPr>
          <p:cNvPr id="17" name="modelo-preco-2"/>
          <p:cNvSpPr txBox="1"/>
          <p:nvPr/>
        </p:nvSpPr>
        <p:spPr>
          <a:xfrm>
            <a:off x="8478317" y="466344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US$ 0,10 / 0,50</a:t>
            </a:r>
            <a:endParaRPr lang="en-US" sz="1800" dirty="0"/>
          </a:p>
        </p:txBody>
      </p:sp>
      <p:sp>
        <p:nvSpPr>
          <p:cNvPr id="18" name="rodape"/>
          <p:cNvSpPr txBox="1"/>
          <p:nvPr/>
        </p:nvSpPr>
        <p:spPr>
          <a:xfrm>
            <a:off x="548640" y="5669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Preço por milhão de tokens: entrada / saída. Fonte: platform.claude.com/docs/en/about-claude/pricing (2026-10-16).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regra económica</a:t>
            </a:r>
            <a:endParaRPr lang="en-US" sz="3200" dirty="0"/>
          </a:p>
        </p:txBody>
      </p:sp>
      <p:sp>
        <p:nvSpPr>
          <p:cNvPr id="3" name="stat-0"/>
          <p:cNvSpPr/>
          <p:nvPr/>
        </p:nvSpPr>
        <p:spPr>
          <a:xfrm>
            <a:off x="548640" y="1737360"/>
            <a:ext cx="3484778" cy="329184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stat-valor-0"/>
          <p:cNvSpPr txBox="1"/>
          <p:nvPr/>
        </p:nvSpPr>
        <p:spPr>
          <a:xfrm>
            <a:off x="868680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20×</a:t>
            </a:r>
            <a:endParaRPr lang="en-US" sz="6000" dirty="0"/>
          </a:p>
        </p:txBody>
      </p:sp>
      <p:sp>
        <p:nvSpPr>
          <p:cNvPr id="5" name="stat-rotulo-0"/>
          <p:cNvSpPr txBox="1"/>
          <p:nvPr/>
        </p:nvSpPr>
        <p:spPr>
          <a:xfrm>
            <a:off x="868680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Haiku é 20 vezes mais barato que o Sonnet</a:t>
            </a:r>
            <a:endParaRPr lang="en-US" sz="1800" dirty="0"/>
          </a:p>
        </p:txBody>
      </p:sp>
      <p:sp>
        <p:nvSpPr>
          <p:cNvPr id="6" name="stat-1"/>
          <p:cNvSpPr/>
          <p:nvPr/>
        </p:nvSpPr>
        <p:spPr>
          <a:xfrm>
            <a:off x="4353458" y="1737360"/>
            <a:ext cx="3484778" cy="3291840"/>
          </a:xfrm>
          <a:prstGeom prst="rect">
            <a:avLst/>
          </a:prstGeom>
          <a:solidFill>
            <a:srgbClr val="F4EFFE"/>
          </a:solidFill>
          <a:ln w="12700">
            <a:solidFill>
              <a:srgbClr val="F4EFFE"/>
            </a:solidFill>
            <a:prstDash val="solid"/>
          </a:ln>
        </p:spPr>
      </p:sp>
      <p:sp>
        <p:nvSpPr>
          <p:cNvPr id="7" name="stat-valor-1"/>
          <p:cNvSpPr txBox="1"/>
          <p:nvPr/>
        </p:nvSpPr>
        <p:spPr>
          <a:xfrm>
            <a:off x="4673498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US$ 0,0017</a:t>
            </a:r>
            <a:endParaRPr lang="en-US" sz="4400" dirty="0"/>
          </a:p>
        </p:txBody>
      </p:sp>
      <p:sp>
        <p:nvSpPr>
          <p:cNvPr id="8" name="stat-rotulo-1"/>
          <p:cNvSpPr txBox="1"/>
          <p:nvPr/>
        </p:nvSpPr>
        <p:spPr>
          <a:xfrm>
            <a:off x="4673498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médio de um cartão feito por um agente Haiku</a:t>
            </a:r>
            <a:endParaRPr lang="en-US" sz="1800" dirty="0"/>
          </a:p>
        </p:txBody>
      </p:sp>
      <p:sp>
        <p:nvSpPr>
          <p:cNvPr id="9" name="stat-2"/>
          <p:cNvSpPr/>
          <p:nvPr/>
        </p:nvSpPr>
        <p:spPr>
          <a:xfrm>
            <a:off x="8158277" y="1737360"/>
            <a:ext cx="3484778" cy="3291840"/>
          </a:xfrm>
          <a:prstGeom prst="rect">
            <a:avLst/>
          </a:prstGeom>
          <a:solidFill>
            <a:srgbClr val="F4EFFE"/>
          </a:solidFill>
          <a:ln w="12700">
            <a:solidFill>
              <a:srgbClr val="F4EFFE"/>
            </a:solidFill>
            <a:prstDash val="solid"/>
          </a:ln>
        </p:spPr>
      </p:sp>
      <p:sp>
        <p:nvSpPr>
          <p:cNvPr id="10" name="stat-valor-2"/>
          <p:cNvSpPr txBox="1"/>
          <p:nvPr/>
        </p:nvSpPr>
        <p:spPr>
          <a:xfrm>
            <a:off x="8478317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50%</a:t>
            </a:r>
            <a:endParaRPr lang="en-US" sz="6000" dirty="0"/>
          </a:p>
        </p:txBody>
      </p:sp>
      <p:sp>
        <p:nvSpPr>
          <p:cNvPr id="11" name="stat-rotulo-2"/>
          <p:cNvSpPr txBox="1"/>
          <p:nvPr/>
        </p:nvSpPr>
        <p:spPr>
          <a:xfrm>
            <a:off x="8478317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custo vai para a sessão principal, não para o swarm</a:t>
            </a:r>
            <a:endParaRPr lang="en-US" sz="1800" dirty="0"/>
          </a:p>
        </p:txBody>
      </p:sp>
      <p:sp>
        <p:nvSpPr>
          <p:cNvPr id="12" name="rodape"/>
          <p:cNvSpPr txBox="1"/>
          <p:nvPr/>
        </p:nvSpPr>
        <p:spPr>
          <a:xfrm>
            <a:off x="548640" y="5349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máximo possível em Haiku. Sonnet só onde o Haiku falha. Opus só para pensar e rever.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Tarefa → grafo → ondas</a:t>
            </a:r>
            <a:endParaRPr lang="en-US" sz="3200" dirty="0"/>
          </a:p>
        </p:txBody>
      </p:sp>
      <p:sp>
        <p:nvSpPr>
          <p:cNvPr id="3" name="onda-0"/>
          <p:cNvSpPr/>
          <p:nvPr/>
        </p:nvSpPr>
        <p:spPr>
          <a:xfrm>
            <a:off x="548640" y="1691640"/>
            <a:ext cx="4114800" cy="4023360"/>
          </a:xfrm>
          <a:prstGeom prst="rect">
            <a:avLst/>
          </a:prstGeom>
          <a:solidFill>
            <a:srgbClr val="F4EFFE"/>
          </a:solidFill>
          <a:ln w="12700">
            <a:solidFill>
              <a:srgbClr val="F4EFFE"/>
            </a:solidFill>
            <a:prstDash val="solid"/>
          </a:ln>
        </p:spPr>
      </p:sp>
      <p:sp>
        <p:nvSpPr>
          <p:cNvPr id="4" name="onda-nome-0"/>
          <p:cNvSpPr txBox="1"/>
          <p:nvPr/>
        </p:nvSpPr>
        <p:spPr>
          <a:xfrm>
            <a:off x="822960" y="19202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Onda 1</a:t>
            </a:r>
            <a:endParaRPr lang="en-US" sz="2400" dirty="0"/>
          </a:p>
        </p:txBody>
      </p:sp>
      <p:sp>
        <p:nvSpPr>
          <p:cNvPr id="5" name="onda-cor-0"/>
          <p:cNvSpPr/>
          <p:nvPr/>
        </p:nvSpPr>
        <p:spPr>
          <a:xfrm>
            <a:off x="822960" y="2487168"/>
            <a:ext cx="201168" cy="20116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6" name="onda-modelo-0"/>
          <p:cNvSpPr txBox="1"/>
          <p:nvPr/>
        </p:nvSpPr>
        <p:spPr>
          <a:xfrm>
            <a:off x="1115568" y="243230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</a:t>
            </a:r>
            <a:endParaRPr lang="en-US" sz="1600" dirty="0"/>
          </a:p>
        </p:txBody>
      </p:sp>
      <p:sp>
        <p:nvSpPr>
          <p:cNvPr id="7" name="onda-sub-0"/>
          <p:cNvSpPr txBox="1"/>
          <p:nvPr/>
        </p:nvSpPr>
        <p:spPr>
          <a:xfrm>
            <a:off x="822960" y="28346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 e 15 cartões</a:t>
            </a:r>
            <a:endParaRPr lang="en-US" sz="1500" dirty="0"/>
          </a:p>
        </p:txBody>
      </p:sp>
      <p:sp>
        <p:nvSpPr>
          <p:cNvPr id="8" name="hash"/>
          <p:cNvSpPr/>
          <p:nvPr/>
        </p:nvSpPr>
        <p:spPr>
          <a:xfrm>
            <a:off x="822960" y="3474720"/>
            <a:ext cx="411480" cy="41148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9" name="hash-rotulo"/>
          <p:cNvSpPr txBox="1"/>
          <p:nvPr/>
        </p:nvSpPr>
        <p:spPr>
          <a:xfrm>
            <a:off x="1325880" y="354787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</a:t>
            </a:r>
            <a:endParaRPr lang="en-US" sz="1400" dirty="0"/>
          </a:p>
        </p:txBody>
      </p:sp>
      <p:sp>
        <p:nvSpPr>
          <p:cNvPr id="10" name="cartao-0"/>
          <p:cNvSpPr/>
          <p:nvPr/>
        </p:nvSpPr>
        <p:spPr>
          <a:xfrm>
            <a:off x="822960" y="40690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1" name="cartao-1"/>
          <p:cNvSpPr/>
          <p:nvPr/>
        </p:nvSpPr>
        <p:spPr>
          <a:xfrm>
            <a:off x="1426464" y="40690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2" name="cartao-2"/>
          <p:cNvSpPr/>
          <p:nvPr/>
        </p:nvSpPr>
        <p:spPr>
          <a:xfrm>
            <a:off x="2029968" y="40690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cartao-3"/>
          <p:cNvSpPr/>
          <p:nvPr/>
        </p:nvSpPr>
        <p:spPr>
          <a:xfrm>
            <a:off x="2633472" y="40690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4" name="cartao-4"/>
          <p:cNvSpPr/>
          <p:nvPr/>
        </p:nvSpPr>
        <p:spPr>
          <a:xfrm>
            <a:off x="3236976" y="40690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5" name="cartao-5"/>
          <p:cNvSpPr/>
          <p:nvPr/>
        </p:nvSpPr>
        <p:spPr>
          <a:xfrm>
            <a:off x="822960" y="45262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cartao-6"/>
          <p:cNvSpPr/>
          <p:nvPr/>
        </p:nvSpPr>
        <p:spPr>
          <a:xfrm>
            <a:off x="1426464" y="45262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7" name="cartao-7"/>
          <p:cNvSpPr/>
          <p:nvPr/>
        </p:nvSpPr>
        <p:spPr>
          <a:xfrm>
            <a:off x="2029968" y="45262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cartao-8"/>
          <p:cNvSpPr/>
          <p:nvPr/>
        </p:nvSpPr>
        <p:spPr>
          <a:xfrm>
            <a:off x="2633472" y="45262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9" name="cartao-9"/>
          <p:cNvSpPr/>
          <p:nvPr/>
        </p:nvSpPr>
        <p:spPr>
          <a:xfrm>
            <a:off x="3236976" y="45262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0" name="cartao-10"/>
          <p:cNvSpPr/>
          <p:nvPr/>
        </p:nvSpPr>
        <p:spPr>
          <a:xfrm>
            <a:off x="822960" y="49834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1" name="cartao-11"/>
          <p:cNvSpPr/>
          <p:nvPr/>
        </p:nvSpPr>
        <p:spPr>
          <a:xfrm>
            <a:off x="1426464" y="49834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2" name="cartao-12"/>
          <p:cNvSpPr/>
          <p:nvPr/>
        </p:nvSpPr>
        <p:spPr>
          <a:xfrm>
            <a:off x="2029968" y="49834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3" name="cartao-13"/>
          <p:cNvSpPr/>
          <p:nvPr/>
        </p:nvSpPr>
        <p:spPr>
          <a:xfrm>
            <a:off x="2633472" y="49834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4" name="cartao-14"/>
          <p:cNvSpPr/>
          <p:nvPr/>
        </p:nvSpPr>
        <p:spPr>
          <a:xfrm>
            <a:off x="3236976" y="49834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5" name="seta-0"/>
          <p:cNvSpPr/>
          <p:nvPr/>
        </p:nvSpPr>
        <p:spPr>
          <a:xfrm>
            <a:off x="4718304" y="3703320"/>
            <a:ext cx="2225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6" name="onda-1"/>
          <p:cNvSpPr/>
          <p:nvPr/>
        </p:nvSpPr>
        <p:spPr>
          <a:xfrm>
            <a:off x="4795418" y="1691640"/>
            <a:ext cx="2194560" cy="4023360"/>
          </a:xfrm>
          <a:prstGeom prst="rect">
            <a:avLst/>
          </a:prstGeom>
          <a:solidFill>
            <a:srgbClr val="F4EFFE"/>
          </a:solidFill>
          <a:ln w="12700">
            <a:solidFill>
              <a:srgbClr val="F4EFFE"/>
            </a:solidFill>
            <a:prstDash val="solid"/>
          </a:ln>
        </p:spPr>
      </p:sp>
      <p:sp>
        <p:nvSpPr>
          <p:cNvPr id="27" name="onda-nome-1"/>
          <p:cNvSpPr txBox="1"/>
          <p:nvPr/>
        </p:nvSpPr>
        <p:spPr>
          <a:xfrm>
            <a:off x="5069738" y="1920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Onda 2</a:t>
            </a:r>
            <a:endParaRPr lang="en-US" sz="2400" dirty="0"/>
          </a:p>
        </p:txBody>
      </p:sp>
      <p:sp>
        <p:nvSpPr>
          <p:cNvPr id="28" name="onda-cor-1"/>
          <p:cNvSpPr/>
          <p:nvPr/>
        </p:nvSpPr>
        <p:spPr>
          <a:xfrm>
            <a:off x="5069738" y="2487168"/>
            <a:ext cx="201168" cy="20116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9" name="onda-modelo-1"/>
          <p:cNvSpPr txBox="1"/>
          <p:nvPr/>
        </p:nvSpPr>
        <p:spPr>
          <a:xfrm>
            <a:off x="5362346" y="243230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30" name="onda-sub-1"/>
          <p:cNvSpPr txBox="1"/>
          <p:nvPr/>
        </p:nvSpPr>
        <p:spPr>
          <a:xfrm>
            <a:off x="5069738" y="28346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categorias e pontuação</a:t>
            </a:r>
            <a:endParaRPr lang="en-US" sz="1500" dirty="0"/>
          </a:p>
        </p:txBody>
      </p:sp>
      <p:sp>
        <p:nvSpPr>
          <p:cNvPr id="31" name="onda1-0"/>
          <p:cNvSpPr/>
          <p:nvPr/>
        </p:nvSpPr>
        <p:spPr>
          <a:xfrm>
            <a:off x="5069738" y="3474720"/>
            <a:ext cx="502920" cy="5029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2" name="onda1-1"/>
          <p:cNvSpPr/>
          <p:nvPr/>
        </p:nvSpPr>
        <p:spPr>
          <a:xfrm>
            <a:off x="5709818" y="3474720"/>
            <a:ext cx="502920" cy="5029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3" name="seta-1"/>
          <p:cNvSpPr/>
          <p:nvPr/>
        </p:nvSpPr>
        <p:spPr>
          <a:xfrm>
            <a:off x="7044842" y="3703320"/>
            <a:ext cx="2225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34" name="onda-2"/>
          <p:cNvSpPr/>
          <p:nvPr/>
        </p:nvSpPr>
        <p:spPr>
          <a:xfrm>
            <a:off x="7121957" y="1691640"/>
            <a:ext cx="2194560" cy="4023360"/>
          </a:xfrm>
          <a:prstGeom prst="rect">
            <a:avLst/>
          </a:prstGeom>
          <a:solidFill>
            <a:srgbClr val="F4EFFE"/>
          </a:solidFill>
          <a:ln w="12700">
            <a:solidFill>
              <a:srgbClr val="F4EFFE"/>
            </a:solidFill>
            <a:prstDash val="solid"/>
          </a:ln>
        </p:spPr>
      </p:sp>
      <p:sp>
        <p:nvSpPr>
          <p:cNvPr id="35" name="onda-nome-2"/>
          <p:cNvSpPr txBox="1"/>
          <p:nvPr/>
        </p:nvSpPr>
        <p:spPr>
          <a:xfrm>
            <a:off x="7396277" y="1920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Onda 3</a:t>
            </a:r>
            <a:endParaRPr lang="en-US" sz="2400" dirty="0"/>
          </a:p>
        </p:txBody>
      </p:sp>
      <p:sp>
        <p:nvSpPr>
          <p:cNvPr id="36" name="onda-cor-2"/>
          <p:cNvSpPr/>
          <p:nvPr/>
        </p:nvSpPr>
        <p:spPr>
          <a:xfrm>
            <a:off x="7396277" y="2487168"/>
            <a:ext cx="201168" cy="20116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7" name="onda-modelo-2"/>
          <p:cNvSpPr txBox="1"/>
          <p:nvPr/>
        </p:nvSpPr>
        <p:spPr>
          <a:xfrm>
            <a:off x="7688885" y="243230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38" name="onda-sub-2"/>
          <p:cNvSpPr txBox="1"/>
          <p:nvPr/>
        </p:nvSpPr>
        <p:spPr>
          <a:xfrm>
            <a:off x="7396277" y="28346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e suite</a:t>
            </a:r>
            <a:endParaRPr lang="en-US" sz="1500" dirty="0"/>
          </a:p>
        </p:txBody>
      </p:sp>
      <p:sp>
        <p:nvSpPr>
          <p:cNvPr id="39" name="onda2-0"/>
          <p:cNvSpPr/>
          <p:nvPr/>
        </p:nvSpPr>
        <p:spPr>
          <a:xfrm>
            <a:off x="7396277" y="3474720"/>
            <a:ext cx="502920" cy="5029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0" name="seta-2"/>
          <p:cNvSpPr/>
          <p:nvPr/>
        </p:nvSpPr>
        <p:spPr>
          <a:xfrm>
            <a:off x="9371381" y="3703320"/>
            <a:ext cx="2225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41" name="onda-3"/>
          <p:cNvSpPr/>
          <p:nvPr/>
        </p:nvSpPr>
        <p:spPr>
          <a:xfrm>
            <a:off x="9448495" y="1691640"/>
            <a:ext cx="2194560" cy="4023360"/>
          </a:xfrm>
          <a:prstGeom prst="rect">
            <a:avLst/>
          </a:prstGeom>
          <a:solidFill>
            <a:srgbClr val="F4EFFE"/>
          </a:solidFill>
          <a:ln w="12700">
            <a:solidFill>
              <a:srgbClr val="F4EFFE"/>
            </a:solidFill>
            <a:prstDash val="solid"/>
          </a:ln>
        </p:spPr>
      </p:sp>
      <p:sp>
        <p:nvSpPr>
          <p:cNvPr id="42" name="onda-nome-3"/>
          <p:cNvSpPr txBox="1"/>
          <p:nvPr/>
        </p:nvSpPr>
        <p:spPr>
          <a:xfrm>
            <a:off x="9722815" y="1920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Onda 4</a:t>
            </a:r>
            <a:endParaRPr lang="en-US" sz="2400" dirty="0"/>
          </a:p>
        </p:txBody>
      </p:sp>
      <p:sp>
        <p:nvSpPr>
          <p:cNvPr id="43" name="onda-cor-3"/>
          <p:cNvSpPr/>
          <p:nvPr/>
        </p:nvSpPr>
        <p:spPr>
          <a:xfrm>
            <a:off x="9722815" y="2487168"/>
            <a:ext cx="201168" cy="20116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44" name="onda-modelo-3"/>
          <p:cNvSpPr txBox="1"/>
          <p:nvPr/>
        </p:nvSpPr>
        <p:spPr>
          <a:xfrm>
            <a:off x="10015423" y="243230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</a:t>
            </a:r>
            <a:endParaRPr lang="en-US" sz="1600" dirty="0"/>
          </a:p>
        </p:txBody>
      </p:sp>
      <p:sp>
        <p:nvSpPr>
          <p:cNvPr id="45" name="onda-sub-3"/>
          <p:cNvSpPr txBox="1"/>
          <p:nvPr/>
        </p:nvSpPr>
        <p:spPr>
          <a:xfrm>
            <a:off x="9722815" y="28346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e veredito</a:t>
            </a:r>
            <a:endParaRPr lang="en-US" sz="1500" dirty="0"/>
          </a:p>
        </p:txBody>
      </p:sp>
      <p:sp>
        <p:nvSpPr>
          <p:cNvPr id="46" name="onda3-0"/>
          <p:cNvSpPr/>
          <p:nvPr/>
        </p:nvSpPr>
        <p:spPr>
          <a:xfrm>
            <a:off x="9722815" y="3474720"/>
            <a:ext cx="502920" cy="5029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7" name="legenda-dag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Cinzento: à espera. Os 3 de criptografia arrancam quando o lib-hash fica verde.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Quem decide o grafo é um script</a:t>
            </a:r>
            <a:endParaRPr lang="en-US" sz="32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4EFFE"/>
          </a:solidFill>
          <a:ln w="12700">
            <a:solidFill>
              <a:srgbClr val="F4EFFE"/>
            </a:solidFill>
            <a:prstDash val="solid"/>
          </a:ln>
        </p:spPr>
      </p:sp>
      <p:sp>
        <p:nvSpPr>
          <p:cNvPr id="4" name="marca-0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5" name="coluna-titulo-0"/>
          <p:cNvSpPr txBox="1"/>
          <p:nvPr/>
        </p:nvSpPr>
        <p:spPr>
          <a:xfrm>
            <a:off x="868680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next-wave.mjs</a:t>
            </a:r>
            <a:endParaRPr lang="en-US" sz="2600" dirty="0"/>
          </a:p>
        </p:txBody>
      </p:sp>
      <p:sp>
        <p:nvSpPr>
          <p:cNvPr id="6" name="coluna-texto-0"/>
          <p:cNvSpPr txBox="1"/>
          <p:nvPr/>
        </p:nvSpPr>
        <p:spPr>
          <a:xfrm>
            <a:off x="868680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plano e o estado e devolve o próximo lote de chamadas</a:t>
            </a:r>
            <a:endParaRPr lang="en-US" sz="2000" dirty="0"/>
          </a:p>
        </p:txBody>
      </p:sp>
      <p:sp>
        <p:nvSpPr>
          <p:cNvPr id="7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4EFFE"/>
          </a:solidFill>
          <a:ln w="12700">
            <a:solidFill>
              <a:srgbClr val="F4EFFE"/>
            </a:solidFill>
            <a:prstDash val="solid"/>
          </a:ln>
        </p:spPr>
      </p:sp>
      <p:sp>
        <p:nvSpPr>
          <p:cNvPr id="8" name="marca-1"/>
          <p:cNvSpPr/>
          <p:nvPr/>
        </p:nvSpPr>
        <p:spPr>
          <a:xfrm>
            <a:off x="4673498" y="2011680"/>
            <a:ext cx="384048" cy="384048"/>
          </a:xfrm>
          <a:prstGeom prst="rect">
            <a:avLst/>
          </a:prstGeom>
          <a:solidFill>
            <a:srgbClr val="8F23D7"/>
          </a:solidFill>
          <a:ln w="12700">
            <a:solidFill>
              <a:srgbClr val="8F23D7"/>
            </a:solidFill>
            <a:prstDash val="solid"/>
          </a:ln>
        </p:spPr>
      </p:sp>
      <p:sp>
        <p:nvSpPr>
          <p:cNvPr id="9" name="coluna-titulo-1"/>
          <p:cNvSpPr txBox="1"/>
          <p:nvPr/>
        </p:nvSpPr>
        <p:spPr>
          <a:xfrm>
            <a:off x="4673498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modelo</a:t>
            </a:r>
            <a:endParaRPr lang="en-US" sz="2600" dirty="0"/>
          </a:p>
        </p:txBody>
      </p:sp>
      <p:sp>
        <p:nvSpPr>
          <p:cNvPr id="10" name="coluna-texto-1"/>
          <p:cNvSpPr txBox="1"/>
          <p:nvPr/>
        </p:nvSpPr>
        <p:spPr>
          <a:xfrm>
            <a:off x="4673498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lança exatamente essas chamadas, todas na mesma mensagem</a:t>
            </a:r>
            <a:endParaRPr lang="en-US" sz="2000" dirty="0"/>
          </a:p>
        </p:txBody>
      </p:sp>
      <p:sp>
        <p:nvSpPr>
          <p:cNvPr id="11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4EFFE"/>
          </a:solidFill>
          <a:ln w="12700">
            <a:solidFill>
              <a:srgbClr val="F4EFFE"/>
            </a:solidFill>
            <a:prstDash val="solid"/>
          </a:ln>
        </p:spPr>
      </p:sp>
      <p:sp>
        <p:nvSpPr>
          <p:cNvPr id="12" name="marca-2"/>
          <p:cNvSpPr/>
          <p:nvPr/>
        </p:nvSpPr>
        <p:spPr>
          <a:xfrm>
            <a:off x="8478317" y="2011680"/>
            <a:ext cx="384048" cy="384048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3" name="coluna-titulo-2"/>
          <p:cNvSpPr txBox="1"/>
          <p:nvPr/>
        </p:nvSpPr>
        <p:spPr>
          <a:xfrm>
            <a:off x="8478317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grade.mjs</a:t>
            </a:r>
            <a:endParaRPr lang="en-US" sz="2600" dirty="0"/>
          </a:p>
        </p:txBody>
      </p:sp>
      <p:sp>
        <p:nvSpPr>
          <p:cNvPr id="14" name="coluna-texto-2"/>
          <p:cNvSpPr txBox="1"/>
          <p:nvPr/>
        </p:nvSpPr>
        <p:spPr>
          <a:xfrm>
            <a:off x="8478317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teste de cada tarefa e decide: verde ou vermelho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Medir, não adivinhar</a:t>
            </a:r>
            <a:endParaRPr lang="en-US" sz="3200" dirty="0"/>
          </a:p>
        </p:txBody>
      </p:sp>
      <p:sp>
        <p:nvSpPr>
          <p:cNvPr id="3" name="passo-0"/>
          <p:cNvSpPr/>
          <p:nvPr/>
        </p:nvSpPr>
        <p:spPr>
          <a:xfrm>
            <a:off x="548640" y="2377440"/>
            <a:ext cx="1889699" cy="1828800"/>
          </a:xfrm>
          <a:prstGeom prst="rect">
            <a:avLst/>
          </a:prstGeom>
          <a:solidFill>
            <a:srgbClr val="F4EFFE"/>
          </a:solidFill>
          <a:ln w="12700">
            <a:solidFill>
              <a:srgbClr val="F4EFFE"/>
            </a:solidFill>
            <a:prstDash val="solid"/>
          </a:ln>
        </p:spPr>
      </p:sp>
      <p:sp>
        <p:nvSpPr>
          <p:cNvPr id="4" name="passo-marca-0"/>
          <p:cNvSpPr/>
          <p:nvPr/>
        </p:nvSpPr>
        <p:spPr>
          <a:xfrm>
            <a:off x="777240" y="2606040"/>
            <a:ext cx="274320" cy="2743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5" name="passo-texto-0"/>
          <p:cNvSpPr txBox="1"/>
          <p:nvPr/>
        </p:nvSpPr>
        <p:spPr>
          <a:xfrm>
            <a:off x="777240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subagente termina</a:t>
            </a:r>
            <a:endParaRPr lang="en-US" sz="1600" dirty="0"/>
          </a:p>
        </p:txBody>
      </p:sp>
      <p:sp>
        <p:nvSpPr>
          <p:cNvPr id="6" name="fluxo-seta-0"/>
          <p:cNvSpPr/>
          <p:nvPr/>
        </p:nvSpPr>
        <p:spPr>
          <a:xfrm>
            <a:off x="2484059" y="3291840"/>
            <a:ext cx="32004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7" name="passo-1"/>
          <p:cNvSpPr/>
          <p:nvPr/>
        </p:nvSpPr>
        <p:spPr>
          <a:xfrm>
            <a:off x="2849819" y="2377440"/>
            <a:ext cx="1889699" cy="1828800"/>
          </a:xfrm>
          <a:prstGeom prst="rect">
            <a:avLst/>
          </a:prstGeom>
          <a:solidFill>
            <a:srgbClr val="F4EFFE"/>
          </a:solidFill>
          <a:ln w="12700">
            <a:solidFill>
              <a:srgbClr val="F4EFFE"/>
            </a:solidFill>
            <a:prstDash val="solid"/>
          </a:ln>
        </p:spPr>
      </p:sp>
      <p:sp>
        <p:nvSpPr>
          <p:cNvPr id="8" name="passo-marca-1"/>
          <p:cNvSpPr/>
          <p:nvPr/>
        </p:nvSpPr>
        <p:spPr>
          <a:xfrm>
            <a:off x="3078419" y="2606040"/>
            <a:ext cx="274320" cy="274320"/>
          </a:xfrm>
          <a:prstGeom prst="rect">
            <a:avLst/>
          </a:prstGeom>
          <a:solidFill>
            <a:srgbClr val="8F23D7"/>
          </a:solidFill>
          <a:ln w="12700">
            <a:solidFill>
              <a:srgbClr val="8F23D7"/>
            </a:solidFill>
            <a:prstDash val="solid"/>
          </a:ln>
        </p:spPr>
      </p:sp>
      <p:sp>
        <p:nvSpPr>
          <p:cNvPr id="9" name="passo-texto-1"/>
          <p:cNvSpPr txBox="1"/>
          <p:nvPr/>
        </p:nvSpPr>
        <p:spPr>
          <a:xfrm>
            <a:off x="3078419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hook SubagentStop corre</a:t>
            </a:r>
            <a:endParaRPr lang="en-US" sz="1600" dirty="0"/>
          </a:p>
        </p:txBody>
      </p:sp>
      <p:sp>
        <p:nvSpPr>
          <p:cNvPr id="10" name="fluxo-seta-1"/>
          <p:cNvSpPr/>
          <p:nvPr/>
        </p:nvSpPr>
        <p:spPr>
          <a:xfrm>
            <a:off x="4785238" y="3291840"/>
            <a:ext cx="32004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1" name="passo-2"/>
          <p:cNvSpPr/>
          <p:nvPr/>
        </p:nvSpPr>
        <p:spPr>
          <a:xfrm>
            <a:off x="5150998" y="2377440"/>
            <a:ext cx="1889699" cy="1828800"/>
          </a:xfrm>
          <a:prstGeom prst="rect">
            <a:avLst/>
          </a:prstGeom>
          <a:solidFill>
            <a:srgbClr val="F4EFFE"/>
          </a:solidFill>
          <a:ln w="12700">
            <a:solidFill>
              <a:srgbClr val="F4EFFE"/>
            </a:solidFill>
            <a:prstDash val="solid"/>
          </a:ln>
        </p:spPr>
      </p:sp>
      <p:sp>
        <p:nvSpPr>
          <p:cNvPr id="12" name="passo-marca-2"/>
          <p:cNvSpPr/>
          <p:nvPr/>
        </p:nvSpPr>
        <p:spPr>
          <a:xfrm>
            <a:off x="5379598" y="2606040"/>
            <a:ext cx="274320" cy="2743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3" name="passo-texto-2"/>
          <p:cNvSpPr txBox="1"/>
          <p:nvPr/>
        </p:nvSpPr>
        <p:spPr>
          <a:xfrm>
            <a:off x="5379598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Tokens do transcript × preço</a:t>
            </a:r>
            <a:endParaRPr lang="en-US" sz="1600" dirty="0"/>
          </a:p>
        </p:txBody>
      </p:sp>
      <p:sp>
        <p:nvSpPr>
          <p:cNvPr id="14" name="fluxo-seta-2"/>
          <p:cNvSpPr/>
          <p:nvPr/>
        </p:nvSpPr>
        <p:spPr>
          <a:xfrm>
            <a:off x="7086417" y="3291840"/>
            <a:ext cx="32004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5" name="passo-3"/>
          <p:cNvSpPr/>
          <p:nvPr/>
        </p:nvSpPr>
        <p:spPr>
          <a:xfrm>
            <a:off x="7452177" y="2377440"/>
            <a:ext cx="1889699" cy="1828800"/>
          </a:xfrm>
          <a:prstGeom prst="rect">
            <a:avLst/>
          </a:prstGeom>
          <a:solidFill>
            <a:srgbClr val="F4EFFE"/>
          </a:solidFill>
          <a:ln w="12700">
            <a:solidFill>
              <a:srgbClr val="F4EFFE"/>
            </a:solidFill>
            <a:prstDash val="solid"/>
          </a:ln>
        </p:spPr>
      </p:sp>
      <p:sp>
        <p:nvSpPr>
          <p:cNvPr id="16" name="passo-marca-3"/>
          <p:cNvSpPr/>
          <p:nvPr/>
        </p:nvSpPr>
        <p:spPr>
          <a:xfrm>
            <a:off x="7680777" y="2606040"/>
            <a:ext cx="274320" cy="2743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17" name="passo-texto-3"/>
          <p:cNvSpPr txBox="1"/>
          <p:nvPr/>
        </p:nvSpPr>
        <p:spPr>
          <a:xfrm>
            <a:off x="7680777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linha em usage.jsonl</a:t>
            </a:r>
            <a:endParaRPr lang="en-US" sz="1600" dirty="0"/>
          </a:p>
        </p:txBody>
      </p:sp>
      <p:sp>
        <p:nvSpPr>
          <p:cNvPr id="18" name="fluxo-seta-3"/>
          <p:cNvSpPr/>
          <p:nvPr/>
        </p:nvSpPr>
        <p:spPr>
          <a:xfrm>
            <a:off x="9387596" y="3291840"/>
            <a:ext cx="32004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9" name="passo-4"/>
          <p:cNvSpPr/>
          <p:nvPr/>
        </p:nvSpPr>
        <p:spPr>
          <a:xfrm>
            <a:off x="9753356" y="2377440"/>
            <a:ext cx="1889699" cy="18288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0" name="passo-marca-4"/>
          <p:cNvSpPr/>
          <p:nvPr/>
        </p:nvSpPr>
        <p:spPr>
          <a:xfrm>
            <a:off x="9981956" y="2606040"/>
            <a:ext cx="274320" cy="274320"/>
          </a:xfrm>
          <a:prstGeom prst="rect">
            <a:avLst/>
          </a:prstGeom>
          <a:solidFill>
            <a:srgbClr val="8F23D7"/>
          </a:solidFill>
          <a:ln w="12700">
            <a:solidFill>
              <a:srgbClr val="8F23D7"/>
            </a:solidFill>
            <a:prstDash val="solid"/>
          </a:ln>
        </p:spPr>
      </p:sp>
      <p:sp>
        <p:nvSpPr>
          <p:cNvPr id="21" name="passo-texto-4"/>
          <p:cNvSpPr txBox="1"/>
          <p:nvPr/>
        </p:nvSpPr>
        <p:spPr>
          <a:xfrm>
            <a:off x="9981956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Statusline e /demo-cost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ciclo de cada tarefa</a:t>
            </a:r>
            <a:endParaRPr lang="en-US" sz="3200" dirty="0"/>
          </a:p>
        </p:txBody>
      </p:sp>
      <p:sp>
        <p:nvSpPr>
          <p:cNvPr id="3" name="passo-0"/>
          <p:cNvSpPr/>
          <p:nvPr/>
        </p:nvSpPr>
        <p:spPr>
          <a:xfrm>
            <a:off x="548640" y="2377440"/>
            <a:ext cx="1889699" cy="1828800"/>
          </a:xfrm>
          <a:prstGeom prst="rect">
            <a:avLst/>
          </a:prstGeom>
          <a:solidFill>
            <a:srgbClr val="F4EFFE"/>
          </a:solidFill>
          <a:ln w="12700">
            <a:solidFill>
              <a:srgbClr val="F4EFFE"/>
            </a:solidFill>
            <a:prstDash val="solid"/>
          </a:ln>
        </p:spPr>
      </p:sp>
      <p:sp>
        <p:nvSpPr>
          <p:cNvPr id="4" name="passo-marca-0"/>
          <p:cNvSpPr/>
          <p:nvPr/>
        </p:nvSpPr>
        <p:spPr>
          <a:xfrm>
            <a:off x="777240" y="2606040"/>
            <a:ext cx="274320" cy="2743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5" name="passo-texto-0"/>
          <p:cNvSpPr txBox="1"/>
          <p:nvPr/>
        </p:nvSpPr>
        <p:spPr>
          <a:xfrm>
            <a:off x="777240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</a:t>
            </a:r>
            <a:endParaRPr lang="en-US" sz="1600" dirty="0"/>
          </a:p>
        </p:txBody>
      </p:sp>
      <p:sp>
        <p:nvSpPr>
          <p:cNvPr id="6" name="fluxo-seta-0"/>
          <p:cNvSpPr/>
          <p:nvPr/>
        </p:nvSpPr>
        <p:spPr>
          <a:xfrm>
            <a:off x="2484059" y="3291840"/>
            <a:ext cx="32004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7" name="passo-1"/>
          <p:cNvSpPr/>
          <p:nvPr/>
        </p:nvSpPr>
        <p:spPr>
          <a:xfrm>
            <a:off x="2849819" y="2377440"/>
            <a:ext cx="1889699" cy="1828800"/>
          </a:xfrm>
          <a:prstGeom prst="rect">
            <a:avLst/>
          </a:prstGeom>
          <a:solidFill>
            <a:srgbClr val="F4EFFE"/>
          </a:solidFill>
          <a:ln w="12700">
            <a:solidFill>
              <a:srgbClr val="F4EFFE"/>
            </a:solidFill>
            <a:prstDash val="solid"/>
          </a:ln>
        </p:spPr>
      </p:sp>
      <p:sp>
        <p:nvSpPr>
          <p:cNvPr id="8" name="passo-marca-1"/>
          <p:cNvSpPr/>
          <p:nvPr/>
        </p:nvSpPr>
        <p:spPr>
          <a:xfrm>
            <a:off x="3078419" y="2606040"/>
            <a:ext cx="274320" cy="274320"/>
          </a:xfrm>
          <a:prstGeom prst="rect">
            <a:avLst/>
          </a:prstGeom>
          <a:solidFill>
            <a:srgbClr val="8F23D7"/>
          </a:solidFill>
          <a:ln w="12700">
            <a:solidFill>
              <a:srgbClr val="8F23D7"/>
            </a:solidFill>
            <a:prstDash val="solid"/>
          </a:ln>
        </p:spPr>
      </p:sp>
      <p:sp>
        <p:nvSpPr>
          <p:cNvPr id="9" name="passo-texto-1"/>
          <p:cNvSpPr txBox="1"/>
          <p:nvPr/>
        </p:nvSpPr>
        <p:spPr>
          <a:xfrm>
            <a:off x="3078419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swarm</a:t>
            </a:r>
            <a:endParaRPr lang="en-US" sz="1600" dirty="0"/>
          </a:p>
        </p:txBody>
      </p:sp>
      <p:sp>
        <p:nvSpPr>
          <p:cNvPr id="10" name="fluxo-seta-1"/>
          <p:cNvSpPr/>
          <p:nvPr/>
        </p:nvSpPr>
        <p:spPr>
          <a:xfrm>
            <a:off x="4785238" y="3291840"/>
            <a:ext cx="32004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1" name="passo-2"/>
          <p:cNvSpPr/>
          <p:nvPr/>
        </p:nvSpPr>
        <p:spPr>
          <a:xfrm>
            <a:off x="5150998" y="2377440"/>
            <a:ext cx="1889699" cy="1828800"/>
          </a:xfrm>
          <a:prstGeom prst="rect">
            <a:avLst/>
          </a:prstGeom>
          <a:solidFill>
            <a:srgbClr val="F4EFFE"/>
          </a:solidFill>
          <a:ln w="12700">
            <a:solidFill>
              <a:srgbClr val="F4EFFE"/>
            </a:solidFill>
            <a:prstDash val="solid"/>
          </a:ln>
        </p:spPr>
      </p:sp>
      <p:sp>
        <p:nvSpPr>
          <p:cNvPr id="12" name="passo-marca-2"/>
          <p:cNvSpPr/>
          <p:nvPr/>
        </p:nvSpPr>
        <p:spPr>
          <a:xfrm>
            <a:off x="5379598" y="2606040"/>
            <a:ext cx="274320" cy="2743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3" name="passo-texto-2"/>
          <p:cNvSpPr txBox="1"/>
          <p:nvPr/>
        </p:nvSpPr>
        <p:spPr>
          <a:xfrm>
            <a:off x="5379598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review</a:t>
            </a:r>
            <a:endParaRPr lang="en-US" sz="1600" dirty="0"/>
          </a:p>
        </p:txBody>
      </p:sp>
      <p:sp>
        <p:nvSpPr>
          <p:cNvPr id="14" name="fluxo-seta-2"/>
          <p:cNvSpPr/>
          <p:nvPr/>
        </p:nvSpPr>
        <p:spPr>
          <a:xfrm>
            <a:off x="7086417" y="3291840"/>
            <a:ext cx="32004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5" name="passo-3"/>
          <p:cNvSpPr/>
          <p:nvPr/>
        </p:nvSpPr>
        <p:spPr>
          <a:xfrm>
            <a:off x="7452177" y="2377440"/>
            <a:ext cx="1889699" cy="1828800"/>
          </a:xfrm>
          <a:prstGeom prst="rect">
            <a:avLst/>
          </a:prstGeom>
          <a:solidFill>
            <a:srgbClr val="F4EFFE"/>
          </a:solidFill>
          <a:ln w="12700">
            <a:solidFill>
              <a:srgbClr val="F4EFFE"/>
            </a:solidFill>
            <a:prstDash val="solid"/>
          </a:ln>
        </p:spPr>
      </p:sp>
      <p:sp>
        <p:nvSpPr>
          <p:cNvPr id="16" name="passo-marca-3"/>
          <p:cNvSpPr/>
          <p:nvPr/>
        </p:nvSpPr>
        <p:spPr>
          <a:xfrm>
            <a:off x="7680777" y="2606040"/>
            <a:ext cx="274320" cy="2743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17" name="passo-texto-3"/>
          <p:cNvSpPr txBox="1"/>
          <p:nvPr/>
        </p:nvSpPr>
        <p:spPr>
          <a:xfrm>
            <a:off x="7680777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cost</a:t>
            </a:r>
            <a:endParaRPr lang="en-US" sz="1600" dirty="0"/>
          </a:p>
        </p:txBody>
      </p:sp>
      <p:sp>
        <p:nvSpPr>
          <p:cNvPr id="18" name="fluxo-seta-3"/>
          <p:cNvSpPr/>
          <p:nvPr/>
        </p:nvSpPr>
        <p:spPr>
          <a:xfrm>
            <a:off x="9387596" y="3291840"/>
            <a:ext cx="32004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9" name="passo-4"/>
          <p:cNvSpPr/>
          <p:nvPr/>
        </p:nvSpPr>
        <p:spPr>
          <a:xfrm>
            <a:off x="9753356" y="2377440"/>
            <a:ext cx="1889699" cy="18288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0" name="passo-marca-4"/>
          <p:cNvSpPr/>
          <p:nvPr/>
        </p:nvSpPr>
        <p:spPr>
          <a:xfrm>
            <a:off x="9981956" y="2606040"/>
            <a:ext cx="274320" cy="274320"/>
          </a:xfrm>
          <a:prstGeom prst="rect">
            <a:avLst/>
          </a:prstGeom>
          <a:solidFill>
            <a:srgbClr val="8F23D7"/>
          </a:solidFill>
          <a:ln w="12700">
            <a:solidFill>
              <a:srgbClr val="8F23D7"/>
            </a:solidFill>
            <a:prstDash val="solid"/>
          </a:ln>
        </p:spPr>
      </p:sp>
      <p:sp>
        <p:nvSpPr>
          <p:cNvPr id="21" name="passo-texto-4"/>
          <p:cNvSpPr txBox="1"/>
          <p:nvPr/>
        </p:nvSpPr>
        <p:spPr>
          <a:xfrm>
            <a:off x="9981956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memória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swarm em ação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fazeres o teu: o mesmo ciclo, gravado com 100 cartões</a:t>
            </a:r>
            <a:endParaRPr lang="en-US" sz="2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100 agentes a construir a Arena</a:t>
            </a:r>
            <a:endParaRPr lang="en-US" sz="3200" dirty="0"/>
          </a:p>
        </p:txBody>
      </p:sp>
      <p:pic>
        <p:nvPicPr>
          <p:cNvPr id="3" name="video-enxame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548640" y="1878124"/>
            <a:ext cx="11094415" cy="3513231"/>
          </a:xfrm>
          <a:prstGeom prst="rect">
            <a:avLst/>
          </a:prstGeom>
        </p:spPr>
      </p:pic>
      <p:sp>
        <p:nvSpPr>
          <p:cNvPr id="4" name="legenda"/>
          <p:cNvSpPr txBox="1"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Execução real gravada: 6,9 min · US$ 2,55 · 107 agentes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resultado: um jogo para jogar</a:t>
            </a:r>
            <a:endParaRPr lang="en-US" sz="3200" dirty="0"/>
          </a:p>
        </p:txBody>
      </p:sp>
      <p:pic>
        <p:nvPicPr>
          <p:cNvPr id="3" name="video-jogo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2235048" y="1463040"/>
            <a:ext cx="7721600" cy="4343400"/>
          </a:xfrm>
          <a:prstGeom prst="rect">
            <a:avLst/>
          </a:prstGeom>
        </p:spPr>
      </p:pic>
      <p:sp>
        <p:nvSpPr>
          <p:cNvPr id="4" name="legenda"/>
          <p:cNvSpPr txBox="1"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Arena que o swarm construiu: desafios de segurança em 4 formatos, para jogar no browser.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Projeto 1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Arena de Segurança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já está pronto e o que falta</a:t>
            </a:r>
            <a:endParaRPr lang="en-US" sz="32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4EFFE"/>
          </a:solidFill>
          <a:ln w="12700">
            <a:solidFill>
              <a:srgbClr val="F4EFFE"/>
            </a:solidFill>
            <a:prstDash val="solid"/>
          </a:ln>
        </p:spPr>
      </p:sp>
      <p:sp>
        <p:nvSpPr>
          <p:cNvPr id="4" name="marca-0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coluna-titulo-0"/>
          <p:cNvSpPr txBox="1"/>
          <p:nvPr/>
        </p:nvSpPr>
        <p:spPr>
          <a:xfrm>
            <a:off x="868680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Pronto</a:t>
            </a:r>
            <a:endParaRPr lang="en-US" sz="2600" dirty="0"/>
          </a:p>
        </p:txBody>
      </p:sp>
      <p:sp>
        <p:nvSpPr>
          <p:cNvPr id="6" name="coluna-texto-0"/>
          <p:cNvSpPr txBox="1"/>
          <p:nvPr/>
        </p:nvSpPr>
        <p:spPr>
          <a:xfrm>
            <a:off x="868680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casca da app, 4 modelos de cartão e um teste para cada cartão</a:t>
            </a:r>
            <a:endParaRPr lang="en-US" sz="2000" dirty="0"/>
          </a:p>
        </p:txBody>
      </p:sp>
      <p:sp>
        <p:nvSpPr>
          <p:cNvPr id="7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4EFFE"/>
          </a:solidFill>
          <a:ln w="12700">
            <a:solidFill>
              <a:srgbClr val="F4EFFE"/>
            </a:solidFill>
            <a:prstDash val="solid"/>
          </a:ln>
        </p:spPr>
      </p:sp>
      <p:sp>
        <p:nvSpPr>
          <p:cNvPr id="8" name="marca-1"/>
          <p:cNvSpPr/>
          <p:nvPr/>
        </p:nvSpPr>
        <p:spPr>
          <a:xfrm>
            <a:off x="4673498" y="20116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9" name="coluna-titulo-1"/>
          <p:cNvSpPr txBox="1"/>
          <p:nvPr/>
        </p:nvSpPr>
        <p:spPr>
          <a:xfrm>
            <a:off x="4673498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Por fazer</a:t>
            </a:r>
            <a:endParaRPr lang="en-US" sz="2600" dirty="0"/>
          </a:p>
        </p:txBody>
      </p:sp>
      <p:sp>
        <p:nvSpPr>
          <p:cNvPr id="10" name="coluna-texto-1"/>
          <p:cNvSpPr txBox="1"/>
          <p:nvPr/>
        </p:nvSpPr>
        <p:spPr>
          <a:xfrm>
            <a:off x="4673498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cartões, o lib/hash e duas páginas</a:t>
            </a:r>
            <a:endParaRPr lang="en-US" sz="2000" dirty="0"/>
          </a:p>
        </p:txBody>
      </p:sp>
      <p:sp>
        <p:nvSpPr>
          <p:cNvPr id="11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4EFFE"/>
          </a:solidFill>
          <a:ln w="12700">
            <a:solidFill>
              <a:srgbClr val="F4EFFE"/>
            </a:solidFill>
            <a:prstDash val="solid"/>
          </a:ln>
        </p:spPr>
      </p:sp>
      <p:sp>
        <p:nvSpPr>
          <p:cNvPr id="12" name="marca-2"/>
          <p:cNvSpPr/>
          <p:nvPr/>
        </p:nvSpPr>
        <p:spPr>
          <a:xfrm>
            <a:off x="8478317" y="20116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3" name="coluna-titulo-2"/>
          <p:cNvSpPr txBox="1"/>
          <p:nvPr/>
        </p:nvSpPr>
        <p:spPr>
          <a:xfrm>
            <a:off x="8478317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Quem faz</a:t>
            </a:r>
            <a:endParaRPr lang="en-US" sz="2600" dirty="0"/>
          </a:p>
        </p:txBody>
      </p:sp>
      <p:sp>
        <p:nvSpPr>
          <p:cNvPr id="14" name="coluna-texto-2"/>
          <p:cNvSpPr txBox="1"/>
          <p:nvPr/>
        </p:nvSpPr>
        <p:spPr>
          <a:xfrm>
            <a:off x="8478317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teu swarm: Haiku, Sonnet e Opus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faz o /demo-plan</a:t>
            </a:r>
            <a:endParaRPr lang="en-US" sz="3200" dirty="0"/>
          </a:p>
        </p:txBody>
      </p:sp>
      <p:sp>
        <p:nvSpPr>
          <p:cNvPr id="3" name="codigo-fundo"/>
          <p:cNvSpPr/>
          <p:nvPr/>
        </p:nvSpPr>
        <p:spPr>
          <a:xfrm>
            <a:off x="548640" y="1508760"/>
            <a:ext cx="5760720" cy="330144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codigo-rotulo"/>
          <p:cNvSpPr txBox="1"/>
          <p:nvPr/>
        </p:nvSpPr>
        <p:spPr>
          <a:xfrm>
            <a:off x="777240" y="16916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.claude/skills/demo-plan/SKILL.md (resumo)</a:t>
            </a:r>
            <a:endParaRPr lang="en-US" sz="1300" dirty="0"/>
          </a:p>
        </p:txBody>
      </p:sp>
      <p:sp>
        <p:nvSpPr>
          <p:cNvPr id="5" name="codigo"/>
          <p:cNvSpPr txBox="1"/>
          <p:nvPr/>
        </p:nvSpPr>
        <p:spPr>
          <a:xfrm>
            <a:off x="777240" y="2039112"/>
            <a:ext cx="5303520" cy="263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demo-plan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sonnet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allowed-tools: node tools/*, Agent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Procura lições na memória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node tools/plan.mjs  → o grafo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O agente planner (Opus) revê o plano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Mostra as ondas, o diagrama e o custo</a:t>
            </a:r>
            <a:endParaRPr lang="en-US" sz="1700" dirty="0"/>
          </a:p>
        </p:txBody>
      </p:sp>
      <p:sp>
        <p:nvSpPr>
          <p:cNvPr id="6" name="anatomia-marca-0"/>
          <p:cNvSpPr/>
          <p:nvPr/>
        </p:nvSpPr>
        <p:spPr>
          <a:xfrm>
            <a:off x="6766560" y="1572768"/>
            <a:ext cx="274320" cy="2743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7" name="anatomia-titulo-0"/>
          <p:cNvSpPr txBox="1"/>
          <p:nvPr/>
        </p:nvSpPr>
        <p:spPr>
          <a:xfrm>
            <a:off x="7223760" y="1508760"/>
            <a:ext cx="4419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É uma skill</a:t>
            </a:r>
            <a:endParaRPr lang="en-US" sz="2000" dirty="0"/>
          </a:p>
        </p:txBody>
      </p:sp>
      <p:sp>
        <p:nvSpPr>
          <p:cNvPr id="8" name="anatomia-texto-0"/>
          <p:cNvSpPr txBox="1"/>
          <p:nvPr/>
        </p:nvSpPr>
        <p:spPr>
          <a:xfrm>
            <a:off x="7223760" y="1920240"/>
            <a:ext cx="441929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ficheiro Markdown com passos. Escreves /demo-plan e o Claude segue a receita, sempre igual.</a:t>
            </a:r>
            <a:endParaRPr lang="en-US" sz="1500" dirty="0"/>
          </a:p>
        </p:txBody>
      </p:sp>
      <p:sp>
        <p:nvSpPr>
          <p:cNvPr id="9" name="anatomia-marca-1"/>
          <p:cNvSpPr/>
          <p:nvPr/>
        </p:nvSpPr>
        <p:spPr>
          <a:xfrm>
            <a:off x="6766560" y="3020568"/>
            <a:ext cx="274320" cy="274320"/>
          </a:xfrm>
          <a:prstGeom prst="rect">
            <a:avLst/>
          </a:prstGeom>
          <a:solidFill>
            <a:srgbClr val="8F23D7"/>
          </a:solidFill>
          <a:ln w="12700">
            <a:solidFill>
              <a:srgbClr val="8F23D7"/>
            </a:solidFill>
            <a:prstDash val="solid"/>
          </a:ln>
        </p:spPr>
      </p:sp>
      <p:sp>
        <p:nvSpPr>
          <p:cNvPr id="10" name="anatomia-titulo-1"/>
          <p:cNvSpPr txBox="1"/>
          <p:nvPr/>
        </p:nvSpPr>
        <p:spPr>
          <a:xfrm>
            <a:off x="7223760" y="2956560"/>
            <a:ext cx="4419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entra e o que sai</a:t>
            </a:r>
            <a:endParaRPr lang="en-US" sz="2000" dirty="0"/>
          </a:p>
        </p:txBody>
      </p:sp>
      <p:sp>
        <p:nvSpPr>
          <p:cNvPr id="11" name="anatomia-texto-1"/>
          <p:cNvSpPr txBox="1"/>
          <p:nvPr/>
        </p:nvSpPr>
        <p:spPr>
          <a:xfrm>
            <a:off x="7223760" y="3368040"/>
            <a:ext cx="441929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o TASKS.md, com as tarefas da Arena. Sai o plan.json e o PLANO.md: o grafo com as dependências, as ondas e a estimativa de custo.</a:t>
            </a:r>
            <a:endParaRPr lang="en-US" sz="1500" dirty="0"/>
          </a:p>
        </p:txBody>
      </p:sp>
      <p:sp>
        <p:nvSpPr>
          <p:cNvPr id="12" name="anatomia-marca-2"/>
          <p:cNvSpPr/>
          <p:nvPr/>
        </p:nvSpPr>
        <p:spPr>
          <a:xfrm>
            <a:off x="6766560" y="4468368"/>
            <a:ext cx="274320" cy="2743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3" name="anatomia-titulo-2"/>
          <p:cNvSpPr txBox="1"/>
          <p:nvPr/>
        </p:nvSpPr>
        <p:spPr>
          <a:xfrm>
            <a:off x="7223760" y="4404360"/>
            <a:ext cx="4419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No teu projeto</a:t>
            </a:r>
            <a:endParaRPr lang="en-US" sz="2000" dirty="0"/>
          </a:p>
        </p:txBody>
      </p:sp>
      <p:sp>
        <p:nvSpPr>
          <p:cNvPr id="14" name="anatomia-texto-2"/>
          <p:cNvSpPr txBox="1"/>
          <p:nvPr/>
        </p:nvSpPr>
        <p:spPr>
          <a:xfrm>
            <a:off x="7223760" y="4815840"/>
            <a:ext cx="441929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/task-plan faz o mesmo para uma issue tua do Jira ou do GitHub.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Faça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Planeia o swarm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na pasta da Arena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Claude Code e aceita confiar na pasta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/demo-plan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72821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~/workshop-claude/demo-project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/demo-plan</a:t>
            </a:r>
            <a:endParaRPr lang="en-US" sz="2000" dirty="0"/>
          </a:p>
        </p:txBody>
      </p:sp>
      <p:sp>
        <p:nvSpPr>
          <p:cNvPr id="9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10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diagrama Mermaid, 4 ondas e uma estimativa perto de US$ 1,00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teu plano: 4 ondas</a:t>
            </a:r>
            <a:endParaRPr lang="en-US" sz="3200" dirty="0"/>
          </a:p>
        </p:txBody>
      </p:sp>
      <p:sp>
        <p:nvSpPr>
          <p:cNvPr id="3" name="onda-0"/>
          <p:cNvSpPr/>
          <p:nvPr/>
        </p:nvSpPr>
        <p:spPr>
          <a:xfrm>
            <a:off x="548640" y="1691640"/>
            <a:ext cx="4114800" cy="4023360"/>
          </a:xfrm>
          <a:prstGeom prst="rect">
            <a:avLst/>
          </a:prstGeom>
          <a:solidFill>
            <a:srgbClr val="F4EFFE"/>
          </a:solidFill>
          <a:ln w="12700">
            <a:solidFill>
              <a:srgbClr val="F4EFFE"/>
            </a:solidFill>
            <a:prstDash val="solid"/>
          </a:ln>
        </p:spPr>
      </p:sp>
      <p:sp>
        <p:nvSpPr>
          <p:cNvPr id="4" name="onda-nome-0"/>
          <p:cNvSpPr txBox="1"/>
          <p:nvPr/>
        </p:nvSpPr>
        <p:spPr>
          <a:xfrm>
            <a:off x="822960" y="19202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Onda 1</a:t>
            </a:r>
            <a:endParaRPr lang="en-US" sz="2400" dirty="0"/>
          </a:p>
        </p:txBody>
      </p:sp>
      <p:sp>
        <p:nvSpPr>
          <p:cNvPr id="5" name="onda-cor-0"/>
          <p:cNvSpPr/>
          <p:nvPr/>
        </p:nvSpPr>
        <p:spPr>
          <a:xfrm>
            <a:off x="822960" y="2487168"/>
            <a:ext cx="201168" cy="20116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6" name="onda-modelo-0"/>
          <p:cNvSpPr txBox="1"/>
          <p:nvPr/>
        </p:nvSpPr>
        <p:spPr>
          <a:xfrm>
            <a:off x="1115568" y="243230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</a:t>
            </a:r>
            <a:endParaRPr lang="en-US" sz="1600" dirty="0"/>
          </a:p>
        </p:txBody>
      </p:sp>
      <p:sp>
        <p:nvSpPr>
          <p:cNvPr id="7" name="onda-sub-0"/>
          <p:cNvSpPr txBox="1"/>
          <p:nvPr/>
        </p:nvSpPr>
        <p:spPr>
          <a:xfrm>
            <a:off x="822960" y="28346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 e 15 cartões</a:t>
            </a:r>
            <a:endParaRPr lang="en-US" sz="1500" dirty="0"/>
          </a:p>
        </p:txBody>
      </p:sp>
      <p:sp>
        <p:nvSpPr>
          <p:cNvPr id="8" name="hash"/>
          <p:cNvSpPr/>
          <p:nvPr/>
        </p:nvSpPr>
        <p:spPr>
          <a:xfrm>
            <a:off x="822960" y="3474720"/>
            <a:ext cx="411480" cy="41148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9" name="hash-rotulo"/>
          <p:cNvSpPr txBox="1"/>
          <p:nvPr/>
        </p:nvSpPr>
        <p:spPr>
          <a:xfrm>
            <a:off x="1325880" y="354787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</a:t>
            </a:r>
            <a:endParaRPr lang="en-US" sz="1400" dirty="0"/>
          </a:p>
        </p:txBody>
      </p:sp>
      <p:sp>
        <p:nvSpPr>
          <p:cNvPr id="10" name="cartao-0"/>
          <p:cNvSpPr/>
          <p:nvPr/>
        </p:nvSpPr>
        <p:spPr>
          <a:xfrm>
            <a:off x="822960" y="40690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1" name="cartao-1"/>
          <p:cNvSpPr/>
          <p:nvPr/>
        </p:nvSpPr>
        <p:spPr>
          <a:xfrm>
            <a:off x="1426464" y="40690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2" name="cartao-2"/>
          <p:cNvSpPr/>
          <p:nvPr/>
        </p:nvSpPr>
        <p:spPr>
          <a:xfrm>
            <a:off x="2029968" y="40690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cartao-3"/>
          <p:cNvSpPr/>
          <p:nvPr/>
        </p:nvSpPr>
        <p:spPr>
          <a:xfrm>
            <a:off x="2633472" y="40690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4" name="cartao-4"/>
          <p:cNvSpPr/>
          <p:nvPr/>
        </p:nvSpPr>
        <p:spPr>
          <a:xfrm>
            <a:off x="3236976" y="40690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5" name="cartao-5"/>
          <p:cNvSpPr/>
          <p:nvPr/>
        </p:nvSpPr>
        <p:spPr>
          <a:xfrm>
            <a:off x="822960" y="45262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cartao-6"/>
          <p:cNvSpPr/>
          <p:nvPr/>
        </p:nvSpPr>
        <p:spPr>
          <a:xfrm>
            <a:off x="1426464" y="45262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7" name="cartao-7"/>
          <p:cNvSpPr/>
          <p:nvPr/>
        </p:nvSpPr>
        <p:spPr>
          <a:xfrm>
            <a:off x="2029968" y="45262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cartao-8"/>
          <p:cNvSpPr/>
          <p:nvPr/>
        </p:nvSpPr>
        <p:spPr>
          <a:xfrm>
            <a:off x="2633472" y="45262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9" name="cartao-9"/>
          <p:cNvSpPr/>
          <p:nvPr/>
        </p:nvSpPr>
        <p:spPr>
          <a:xfrm>
            <a:off x="3236976" y="45262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0" name="cartao-10"/>
          <p:cNvSpPr/>
          <p:nvPr/>
        </p:nvSpPr>
        <p:spPr>
          <a:xfrm>
            <a:off x="822960" y="49834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1" name="cartao-11"/>
          <p:cNvSpPr/>
          <p:nvPr/>
        </p:nvSpPr>
        <p:spPr>
          <a:xfrm>
            <a:off x="1426464" y="49834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2" name="cartao-12"/>
          <p:cNvSpPr/>
          <p:nvPr/>
        </p:nvSpPr>
        <p:spPr>
          <a:xfrm>
            <a:off x="2029968" y="49834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3" name="cartao-13"/>
          <p:cNvSpPr/>
          <p:nvPr/>
        </p:nvSpPr>
        <p:spPr>
          <a:xfrm>
            <a:off x="2633472" y="49834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4" name="cartao-14"/>
          <p:cNvSpPr/>
          <p:nvPr/>
        </p:nvSpPr>
        <p:spPr>
          <a:xfrm>
            <a:off x="3236976" y="49834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5" name="seta-0"/>
          <p:cNvSpPr/>
          <p:nvPr/>
        </p:nvSpPr>
        <p:spPr>
          <a:xfrm>
            <a:off x="4718304" y="3703320"/>
            <a:ext cx="2225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6" name="onda-1"/>
          <p:cNvSpPr/>
          <p:nvPr/>
        </p:nvSpPr>
        <p:spPr>
          <a:xfrm>
            <a:off x="4795418" y="1691640"/>
            <a:ext cx="2194560" cy="4023360"/>
          </a:xfrm>
          <a:prstGeom prst="rect">
            <a:avLst/>
          </a:prstGeom>
          <a:solidFill>
            <a:srgbClr val="F4EFFE"/>
          </a:solidFill>
          <a:ln w="12700">
            <a:solidFill>
              <a:srgbClr val="F4EFFE"/>
            </a:solidFill>
            <a:prstDash val="solid"/>
          </a:ln>
        </p:spPr>
      </p:sp>
      <p:sp>
        <p:nvSpPr>
          <p:cNvPr id="27" name="onda-nome-1"/>
          <p:cNvSpPr txBox="1"/>
          <p:nvPr/>
        </p:nvSpPr>
        <p:spPr>
          <a:xfrm>
            <a:off x="5069738" y="1920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Onda 2</a:t>
            </a:r>
            <a:endParaRPr lang="en-US" sz="2400" dirty="0"/>
          </a:p>
        </p:txBody>
      </p:sp>
      <p:sp>
        <p:nvSpPr>
          <p:cNvPr id="28" name="onda-cor-1"/>
          <p:cNvSpPr/>
          <p:nvPr/>
        </p:nvSpPr>
        <p:spPr>
          <a:xfrm>
            <a:off x="5069738" y="2487168"/>
            <a:ext cx="201168" cy="20116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9" name="onda-modelo-1"/>
          <p:cNvSpPr txBox="1"/>
          <p:nvPr/>
        </p:nvSpPr>
        <p:spPr>
          <a:xfrm>
            <a:off x="5362346" y="243230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30" name="onda-sub-1"/>
          <p:cNvSpPr txBox="1"/>
          <p:nvPr/>
        </p:nvSpPr>
        <p:spPr>
          <a:xfrm>
            <a:off x="5069738" y="28346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categorias e pontuação</a:t>
            </a:r>
            <a:endParaRPr lang="en-US" sz="1500" dirty="0"/>
          </a:p>
        </p:txBody>
      </p:sp>
      <p:sp>
        <p:nvSpPr>
          <p:cNvPr id="31" name="onda1-0"/>
          <p:cNvSpPr/>
          <p:nvPr/>
        </p:nvSpPr>
        <p:spPr>
          <a:xfrm>
            <a:off x="5069738" y="3474720"/>
            <a:ext cx="502920" cy="5029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2" name="onda1-1"/>
          <p:cNvSpPr/>
          <p:nvPr/>
        </p:nvSpPr>
        <p:spPr>
          <a:xfrm>
            <a:off x="5709818" y="3474720"/>
            <a:ext cx="502920" cy="5029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3" name="seta-1"/>
          <p:cNvSpPr/>
          <p:nvPr/>
        </p:nvSpPr>
        <p:spPr>
          <a:xfrm>
            <a:off x="7044842" y="3703320"/>
            <a:ext cx="2225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34" name="onda-2"/>
          <p:cNvSpPr/>
          <p:nvPr/>
        </p:nvSpPr>
        <p:spPr>
          <a:xfrm>
            <a:off x="7121957" y="1691640"/>
            <a:ext cx="2194560" cy="4023360"/>
          </a:xfrm>
          <a:prstGeom prst="rect">
            <a:avLst/>
          </a:prstGeom>
          <a:solidFill>
            <a:srgbClr val="F4EFFE"/>
          </a:solidFill>
          <a:ln w="12700">
            <a:solidFill>
              <a:srgbClr val="F4EFFE"/>
            </a:solidFill>
            <a:prstDash val="solid"/>
          </a:ln>
        </p:spPr>
      </p:sp>
      <p:sp>
        <p:nvSpPr>
          <p:cNvPr id="35" name="onda-nome-2"/>
          <p:cNvSpPr txBox="1"/>
          <p:nvPr/>
        </p:nvSpPr>
        <p:spPr>
          <a:xfrm>
            <a:off x="7396277" y="1920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Onda 3</a:t>
            </a:r>
            <a:endParaRPr lang="en-US" sz="2400" dirty="0"/>
          </a:p>
        </p:txBody>
      </p:sp>
      <p:sp>
        <p:nvSpPr>
          <p:cNvPr id="36" name="onda-cor-2"/>
          <p:cNvSpPr/>
          <p:nvPr/>
        </p:nvSpPr>
        <p:spPr>
          <a:xfrm>
            <a:off x="7396277" y="2487168"/>
            <a:ext cx="201168" cy="20116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7" name="onda-modelo-2"/>
          <p:cNvSpPr txBox="1"/>
          <p:nvPr/>
        </p:nvSpPr>
        <p:spPr>
          <a:xfrm>
            <a:off x="7688885" y="243230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38" name="onda-sub-2"/>
          <p:cNvSpPr txBox="1"/>
          <p:nvPr/>
        </p:nvSpPr>
        <p:spPr>
          <a:xfrm>
            <a:off x="7396277" y="28346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e suite</a:t>
            </a:r>
            <a:endParaRPr lang="en-US" sz="1500" dirty="0"/>
          </a:p>
        </p:txBody>
      </p:sp>
      <p:sp>
        <p:nvSpPr>
          <p:cNvPr id="39" name="onda2-0"/>
          <p:cNvSpPr/>
          <p:nvPr/>
        </p:nvSpPr>
        <p:spPr>
          <a:xfrm>
            <a:off x="7396277" y="3474720"/>
            <a:ext cx="502920" cy="5029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0" name="seta-2"/>
          <p:cNvSpPr/>
          <p:nvPr/>
        </p:nvSpPr>
        <p:spPr>
          <a:xfrm>
            <a:off x="9371381" y="3703320"/>
            <a:ext cx="2225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41" name="onda-3"/>
          <p:cNvSpPr/>
          <p:nvPr/>
        </p:nvSpPr>
        <p:spPr>
          <a:xfrm>
            <a:off x="9448495" y="1691640"/>
            <a:ext cx="2194560" cy="4023360"/>
          </a:xfrm>
          <a:prstGeom prst="rect">
            <a:avLst/>
          </a:prstGeom>
          <a:solidFill>
            <a:srgbClr val="F4EFFE"/>
          </a:solidFill>
          <a:ln w="12700">
            <a:solidFill>
              <a:srgbClr val="F4EFFE"/>
            </a:solidFill>
            <a:prstDash val="solid"/>
          </a:ln>
        </p:spPr>
      </p:sp>
      <p:sp>
        <p:nvSpPr>
          <p:cNvPr id="42" name="onda-nome-3"/>
          <p:cNvSpPr txBox="1"/>
          <p:nvPr/>
        </p:nvSpPr>
        <p:spPr>
          <a:xfrm>
            <a:off x="9722815" y="1920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Onda 4</a:t>
            </a:r>
            <a:endParaRPr lang="en-US" sz="2400" dirty="0"/>
          </a:p>
        </p:txBody>
      </p:sp>
      <p:sp>
        <p:nvSpPr>
          <p:cNvPr id="43" name="onda-cor-3"/>
          <p:cNvSpPr/>
          <p:nvPr/>
        </p:nvSpPr>
        <p:spPr>
          <a:xfrm>
            <a:off x="9722815" y="2487168"/>
            <a:ext cx="201168" cy="20116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44" name="onda-modelo-3"/>
          <p:cNvSpPr txBox="1"/>
          <p:nvPr/>
        </p:nvSpPr>
        <p:spPr>
          <a:xfrm>
            <a:off x="10015423" y="243230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</a:t>
            </a:r>
            <a:endParaRPr lang="en-US" sz="1600" dirty="0"/>
          </a:p>
        </p:txBody>
      </p:sp>
      <p:sp>
        <p:nvSpPr>
          <p:cNvPr id="45" name="onda-sub-3"/>
          <p:cNvSpPr txBox="1"/>
          <p:nvPr/>
        </p:nvSpPr>
        <p:spPr>
          <a:xfrm>
            <a:off x="9722815" y="28346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e veredito</a:t>
            </a:r>
            <a:endParaRPr lang="en-US" sz="1500" dirty="0"/>
          </a:p>
        </p:txBody>
      </p:sp>
      <p:sp>
        <p:nvSpPr>
          <p:cNvPr id="46" name="onda3-0"/>
          <p:cNvSpPr/>
          <p:nvPr/>
        </p:nvSpPr>
        <p:spPr>
          <a:xfrm>
            <a:off x="9722815" y="3474720"/>
            <a:ext cx="502920" cy="5029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7" name="legenda-dag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Cinzento: à espera. Os 3 de criptografia arrancam quando o lib-hash fica verde.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faz o /demo-swarm</a:t>
            </a:r>
            <a:endParaRPr lang="en-US" sz="3200" dirty="0"/>
          </a:p>
        </p:txBody>
      </p:sp>
      <p:sp>
        <p:nvSpPr>
          <p:cNvPr id="3" name="codigo-fundo"/>
          <p:cNvSpPr/>
          <p:nvPr/>
        </p:nvSpPr>
        <p:spPr>
          <a:xfrm>
            <a:off x="548640" y="1508760"/>
            <a:ext cx="5760720" cy="3250692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codigo-rotulo"/>
          <p:cNvSpPr txBox="1"/>
          <p:nvPr/>
        </p:nvSpPr>
        <p:spPr>
          <a:xfrm>
            <a:off x="777240" y="16916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.claude/skills/demo-swarm/SKILL.md (resumo)</a:t>
            </a:r>
            <a:endParaRPr lang="en-US" sz="1300" dirty="0"/>
          </a:p>
        </p:txBody>
      </p:sp>
      <p:sp>
        <p:nvSpPr>
          <p:cNvPr id="5" name="codigo"/>
          <p:cNvSpPr txBox="1"/>
          <p:nvPr/>
        </p:nvSpPr>
        <p:spPr>
          <a:xfrm>
            <a:off x="777240" y="2039112"/>
            <a:ext cx="53035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demo-swarm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sonnet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allowed-tools: node tools/*, Agent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Repete até ESTADO: FIM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1. next-wave.mjs → o próximo lote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2. Lança os agentes do lote, em paralelo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3. Cada agente faz 1 cartão e corre o teste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4. Mostra a tabela: agente, modelo, custo</a:t>
            </a:r>
            <a:endParaRPr lang="en-US" sz="1500" dirty="0"/>
          </a:p>
        </p:txBody>
      </p:sp>
      <p:sp>
        <p:nvSpPr>
          <p:cNvPr id="6" name="anatomia-marca-0"/>
          <p:cNvSpPr/>
          <p:nvPr/>
        </p:nvSpPr>
        <p:spPr>
          <a:xfrm>
            <a:off x="6766560" y="1572768"/>
            <a:ext cx="274320" cy="2743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7" name="anatomia-titulo-0"/>
          <p:cNvSpPr txBox="1"/>
          <p:nvPr/>
        </p:nvSpPr>
        <p:spPr>
          <a:xfrm>
            <a:off x="7223760" y="1508760"/>
            <a:ext cx="4419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script decide</a:t>
            </a:r>
            <a:endParaRPr lang="en-US" sz="2000" dirty="0"/>
          </a:p>
        </p:txBody>
      </p:sp>
      <p:sp>
        <p:nvSpPr>
          <p:cNvPr id="8" name="anatomia-texto-0"/>
          <p:cNvSpPr txBox="1"/>
          <p:nvPr/>
        </p:nvSpPr>
        <p:spPr>
          <a:xfrm>
            <a:off x="7223760" y="1920240"/>
            <a:ext cx="441929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grafo diz o que pode correr agora. O Claude lança só o lote que o script lhe dá: não improvisa.</a:t>
            </a:r>
            <a:endParaRPr lang="en-US" sz="1500" dirty="0"/>
          </a:p>
        </p:txBody>
      </p:sp>
      <p:sp>
        <p:nvSpPr>
          <p:cNvPr id="9" name="anatomia-marca-1"/>
          <p:cNvSpPr/>
          <p:nvPr/>
        </p:nvSpPr>
        <p:spPr>
          <a:xfrm>
            <a:off x="6766560" y="3020568"/>
            <a:ext cx="274320" cy="274320"/>
          </a:xfrm>
          <a:prstGeom prst="rect">
            <a:avLst/>
          </a:prstGeom>
          <a:solidFill>
            <a:srgbClr val="8F23D7"/>
          </a:solidFill>
          <a:ln w="12700">
            <a:solidFill>
              <a:srgbClr val="8F23D7"/>
            </a:solidFill>
            <a:prstDash val="solid"/>
          </a:ln>
        </p:spPr>
      </p:sp>
      <p:sp>
        <p:nvSpPr>
          <p:cNvPr id="10" name="anatomia-titulo-1"/>
          <p:cNvSpPr txBox="1"/>
          <p:nvPr/>
        </p:nvSpPr>
        <p:spPr>
          <a:xfrm>
            <a:off x="7223760" y="2956560"/>
            <a:ext cx="4419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agente, uma tarefa</a:t>
            </a:r>
            <a:endParaRPr lang="en-US" sz="2000" dirty="0"/>
          </a:p>
        </p:txBody>
      </p:sp>
      <p:sp>
        <p:nvSpPr>
          <p:cNvPr id="11" name="anatomia-texto-1"/>
          <p:cNvSpPr txBox="1"/>
          <p:nvPr/>
        </p:nvSpPr>
        <p:spPr>
          <a:xfrm>
            <a:off x="7223760" y="3368040"/>
            <a:ext cx="441929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agente começa com o contexto limpo, tem um cartão e o teste desse cartão, e usa o modelo certo: Haiku no grosso.</a:t>
            </a:r>
            <a:endParaRPr lang="en-US" sz="1500" dirty="0"/>
          </a:p>
        </p:txBody>
      </p:sp>
      <p:sp>
        <p:nvSpPr>
          <p:cNvPr id="12" name="anatomia-marca-2"/>
          <p:cNvSpPr/>
          <p:nvPr/>
        </p:nvSpPr>
        <p:spPr>
          <a:xfrm>
            <a:off x="6766560" y="4468368"/>
            <a:ext cx="274320" cy="2743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3" name="anatomia-titulo-2"/>
          <p:cNvSpPr txBox="1"/>
          <p:nvPr/>
        </p:nvSpPr>
        <p:spPr>
          <a:xfrm>
            <a:off x="7223760" y="4404360"/>
            <a:ext cx="4419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No teu projeto</a:t>
            </a:r>
            <a:endParaRPr lang="en-US" sz="2000" dirty="0"/>
          </a:p>
        </p:txBody>
      </p:sp>
      <p:sp>
        <p:nvSpPr>
          <p:cNvPr id="14" name="anatomia-texto-2"/>
          <p:cNvSpPr txBox="1"/>
          <p:nvPr/>
        </p:nvSpPr>
        <p:spPr>
          <a:xfrm>
            <a:off x="7223760" y="4815840"/>
            <a:ext cx="441929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/task-swarm faz o mesmo com as subtarefas da tua issue.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Faça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Solta o swarm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/demo-swarm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um segundo terminal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Arranca o servidor e abre /estado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/demo-swarm</a:t>
            </a:r>
            <a:endParaRPr lang="en-US" sz="2000" dirty="0"/>
          </a:p>
        </p:txBody>
      </p:sp>
      <p:sp>
        <p:nvSpPr>
          <p:cNvPr id="9" name="codigo-fundo"/>
          <p:cNvSpPr/>
          <p:nvPr/>
        </p:nvSpPr>
        <p:spPr>
          <a:xfrm>
            <a:off x="4937760" y="3200400"/>
            <a:ext cx="6705295" cy="138988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igo-rotulo"/>
          <p:cNvSpPr txBox="1"/>
          <p:nvPr/>
        </p:nvSpPr>
        <p:spPr>
          <a:xfrm>
            <a:off x="5166360" y="338328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</a:t>
            </a:r>
            <a:endParaRPr lang="en-US" sz="1300" dirty="0"/>
          </a:p>
        </p:txBody>
      </p:sp>
      <p:sp>
        <p:nvSpPr>
          <p:cNvPr id="11" name="codigo"/>
          <p:cNvSpPr txBox="1"/>
          <p:nvPr/>
        </p:nvSpPr>
        <p:spPr>
          <a:xfrm>
            <a:off x="5166360" y="3730752"/>
            <a:ext cx="624809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~/workshop-claude/demo-project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server.js</a:t>
            </a:r>
            <a:endParaRPr lang="en-US" sz="2000" dirty="0"/>
          </a:p>
        </p:txBody>
      </p:sp>
      <p:sp>
        <p:nvSpPr>
          <p:cNvPr id="12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13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http://localhost:3000/estado: os quadrados ficam amarelos e depois verdes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Faça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Pergunta sem interromper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Enquanto o swarm trabalha, no Terminal 1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 /btw para uma pergunta lateral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00081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3332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/btw porque é que o cr-01 espera pelo lib-hash?</a:t>
            </a:r>
            <a:endParaRPr lang="en-US" sz="1700" dirty="0"/>
          </a:p>
        </p:txBody>
      </p:sp>
      <p:sp>
        <p:nvSpPr>
          <p:cNvPr id="9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10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resposta que não entra na conversa nem para o swarm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Hooks: o Claude avisa, um script reage</a:t>
            </a:r>
            <a:endParaRPr lang="en-US" sz="3200" dirty="0"/>
          </a:p>
        </p:txBody>
      </p:sp>
      <p:sp>
        <p:nvSpPr>
          <p:cNvPr id="3" name="codigo-fundo"/>
          <p:cNvSpPr/>
          <p:nvPr/>
        </p:nvSpPr>
        <p:spPr>
          <a:xfrm>
            <a:off x="548640" y="1508760"/>
            <a:ext cx="5760720" cy="248945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codigo-rotulo"/>
          <p:cNvSpPr txBox="1"/>
          <p:nvPr/>
        </p:nvSpPr>
        <p:spPr>
          <a:xfrm>
            <a:off x="777240" y="16916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 → comando, no .claude/settings.json</a:t>
            </a:r>
            <a:endParaRPr lang="en-US" sz="1300" dirty="0"/>
          </a:p>
        </p:txBody>
      </p:sp>
      <p:sp>
        <p:nvSpPr>
          <p:cNvPr id="5" name="codigo"/>
          <p:cNvSpPr txBox="1"/>
          <p:nvPr/>
        </p:nvSpPr>
        <p:spPr>
          <a:xfrm>
            <a:off x="777240" y="2039112"/>
            <a:ext cx="5303520" cy="1821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SubagentStop      ← um agente terminou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└─ node hooks/subagent-stop.mjs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lê os tokens que esse agente gastou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grava o custo em .workshop/usage.jsonl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Outros eventos: PreToolUse, PostToolUse,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UserPromptSubmit, Stop, SessionStart</a:t>
            </a:r>
            <a:endParaRPr lang="en-US" sz="1500" dirty="0"/>
          </a:p>
        </p:txBody>
      </p:sp>
      <p:sp>
        <p:nvSpPr>
          <p:cNvPr id="6" name="anatomia-marca-0"/>
          <p:cNvSpPr/>
          <p:nvPr/>
        </p:nvSpPr>
        <p:spPr>
          <a:xfrm>
            <a:off x="6766560" y="1572768"/>
            <a:ext cx="274320" cy="2743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7" name="anatomia-titulo-0"/>
          <p:cNvSpPr txBox="1"/>
          <p:nvPr/>
        </p:nvSpPr>
        <p:spPr>
          <a:xfrm>
            <a:off x="7223760" y="1508760"/>
            <a:ext cx="4419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é</a:t>
            </a:r>
            <a:endParaRPr lang="en-US" sz="2000" dirty="0"/>
          </a:p>
        </p:txBody>
      </p:sp>
      <p:sp>
        <p:nvSpPr>
          <p:cNvPr id="8" name="anatomia-texto-0"/>
          <p:cNvSpPr txBox="1"/>
          <p:nvPr/>
        </p:nvSpPr>
        <p:spPr>
          <a:xfrm>
            <a:off x="7223760" y="1920240"/>
            <a:ext cx="441929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comando que o Claude Code corre sozinho num momento certo: antes ou depois de uma ferramenta, quando um agente acaba, no fim da sessão.</a:t>
            </a:r>
            <a:endParaRPr lang="en-US" sz="1500" dirty="0"/>
          </a:p>
        </p:txBody>
      </p:sp>
      <p:sp>
        <p:nvSpPr>
          <p:cNvPr id="9" name="anatomia-marca-1"/>
          <p:cNvSpPr/>
          <p:nvPr/>
        </p:nvSpPr>
        <p:spPr>
          <a:xfrm>
            <a:off x="6766560" y="3020568"/>
            <a:ext cx="274320" cy="274320"/>
          </a:xfrm>
          <a:prstGeom prst="rect">
            <a:avLst/>
          </a:prstGeom>
          <a:solidFill>
            <a:srgbClr val="8F23D7"/>
          </a:solidFill>
          <a:ln w="12700">
            <a:solidFill>
              <a:srgbClr val="8F23D7"/>
            </a:solidFill>
            <a:prstDash val="solid"/>
          </a:ln>
        </p:spPr>
      </p:sp>
      <p:sp>
        <p:nvSpPr>
          <p:cNvPr id="10" name="anatomia-titulo-1"/>
          <p:cNvSpPr txBox="1"/>
          <p:nvPr/>
        </p:nvSpPr>
        <p:spPr>
          <a:xfrm>
            <a:off x="7223760" y="2956560"/>
            <a:ext cx="4419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Para que serve</a:t>
            </a:r>
            <a:endParaRPr lang="en-US" sz="2000" dirty="0"/>
          </a:p>
        </p:txBody>
      </p:sp>
      <p:sp>
        <p:nvSpPr>
          <p:cNvPr id="11" name="anatomia-texto-1"/>
          <p:cNvSpPr txBox="1"/>
          <p:nvPr/>
        </p:nvSpPr>
        <p:spPr>
          <a:xfrm>
            <a:off x="7223760" y="3368040"/>
            <a:ext cx="441929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Medir, validar, formatar ou bloquear, sempre, sem depender de o modelo se lembrar. Aqui, mede o custo de cada agente.</a:t>
            </a:r>
            <a:endParaRPr lang="en-US" sz="1500" dirty="0"/>
          </a:p>
        </p:txBody>
      </p:sp>
      <p:sp>
        <p:nvSpPr>
          <p:cNvPr id="12" name="anatomia-marca-2"/>
          <p:cNvSpPr/>
          <p:nvPr/>
        </p:nvSpPr>
        <p:spPr>
          <a:xfrm>
            <a:off x="6766560" y="4468368"/>
            <a:ext cx="274320" cy="2743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3" name="anatomia-titulo-2"/>
          <p:cNvSpPr txBox="1"/>
          <p:nvPr/>
        </p:nvSpPr>
        <p:spPr>
          <a:xfrm>
            <a:off x="7223760" y="4404360"/>
            <a:ext cx="4419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o teu</a:t>
            </a:r>
            <a:endParaRPr lang="en-US" sz="2000" dirty="0"/>
          </a:p>
        </p:txBody>
      </p:sp>
      <p:sp>
        <p:nvSpPr>
          <p:cNvPr id="14" name="anatomia-texto-2"/>
          <p:cNvSpPr txBox="1"/>
          <p:nvPr/>
        </p:nvSpPr>
        <p:spPr>
          <a:xfrm>
            <a:off x="7223760" y="4815840"/>
            <a:ext cx="441929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Pede ao Claude: "Cria um hook PostToolUse que corre o prettier em cada ficheiro que editares." Ele escreve-o no settings.json; vês e aprovas no /hooks.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Statusline: a linha de estado é um script</a:t>
            </a:r>
            <a:endParaRPr lang="en-US" sz="3200" dirty="0"/>
          </a:p>
        </p:txBody>
      </p:sp>
      <p:sp>
        <p:nvSpPr>
          <p:cNvPr id="3" name="codigo-fundo"/>
          <p:cNvSpPr/>
          <p:nvPr/>
        </p:nvSpPr>
        <p:spPr>
          <a:xfrm>
            <a:off x="548640" y="1508760"/>
            <a:ext cx="5760720" cy="2194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codigo-rotulo"/>
          <p:cNvSpPr txBox="1"/>
          <p:nvPr/>
        </p:nvSpPr>
        <p:spPr>
          <a:xfrm>
            <a:off x="777240" y="16916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linha por baixo da caixa de texto</a:t>
            </a:r>
            <a:endParaRPr lang="en-US" sz="1300" dirty="0"/>
          </a:p>
        </p:txBody>
      </p:sp>
      <p:sp>
        <p:nvSpPr>
          <p:cNvPr id="5" name="codigo"/>
          <p:cNvSpPr txBox="1"/>
          <p:nvPr/>
        </p:nvSpPr>
        <p:spPr>
          <a:xfrm>
            <a:off x="777240" y="2039112"/>
            <a:ext cx="530352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Code ── JSON da sessão ──▶ statusline.mjs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statusline.mjs ──── uma linha ────▶ ecrã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Sonnet · sessão US$ 0,42 · projeto US$ 1,10 / 5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3 min · swarm 12/15</a:t>
            </a:r>
            <a:endParaRPr lang="en-US" sz="1400" dirty="0"/>
          </a:p>
        </p:txBody>
      </p:sp>
      <p:sp>
        <p:nvSpPr>
          <p:cNvPr id="6" name="anatomia-marca-0"/>
          <p:cNvSpPr/>
          <p:nvPr/>
        </p:nvSpPr>
        <p:spPr>
          <a:xfrm>
            <a:off x="6766560" y="1572768"/>
            <a:ext cx="274320" cy="2743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7" name="anatomia-titulo-0"/>
          <p:cNvSpPr txBox="1"/>
          <p:nvPr/>
        </p:nvSpPr>
        <p:spPr>
          <a:xfrm>
            <a:off x="7223760" y="1508760"/>
            <a:ext cx="4419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é</a:t>
            </a:r>
            <a:endParaRPr lang="en-US" sz="2000" dirty="0"/>
          </a:p>
        </p:txBody>
      </p:sp>
      <p:sp>
        <p:nvSpPr>
          <p:cNvPr id="8" name="anatomia-texto-0"/>
          <p:cNvSpPr txBox="1"/>
          <p:nvPr/>
        </p:nvSpPr>
        <p:spPr>
          <a:xfrm>
            <a:off x="7223760" y="1920240"/>
            <a:ext cx="441929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script que recebe o estado da sessão (modelo, pasta, custo) e devolve uma linha de texto.</a:t>
            </a:r>
            <a:endParaRPr lang="en-US" sz="1500" dirty="0"/>
          </a:p>
        </p:txBody>
      </p:sp>
      <p:sp>
        <p:nvSpPr>
          <p:cNvPr id="9" name="anatomia-marca-1"/>
          <p:cNvSpPr/>
          <p:nvPr/>
        </p:nvSpPr>
        <p:spPr>
          <a:xfrm>
            <a:off x="6766560" y="3020568"/>
            <a:ext cx="274320" cy="274320"/>
          </a:xfrm>
          <a:prstGeom prst="rect">
            <a:avLst/>
          </a:prstGeom>
          <a:solidFill>
            <a:srgbClr val="8F23D7"/>
          </a:solidFill>
          <a:ln w="12700">
            <a:solidFill>
              <a:srgbClr val="8F23D7"/>
            </a:solidFill>
            <a:prstDash val="solid"/>
          </a:ln>
        </p:spPr>
      </p:sp>
      <p:sp>
        <p:nvSpPr>
          <p:cNvPr id="10" name="anatomia-titulo-1"/>
          <p:cNvSpPr txBox="1"/>
          <p:nvPr/>
        </p:nvSpPr>
        <p:spPr>
          <a:xfrm>
            <a:off x="7223760" y="2956560"/>
            <a:ext cx="4419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No kit</a:t>
            </a:r>
            <a:endParaRPr lang="en-US" sz="2000" dirty="0"/>
          </a:p>
        </p:txBody>
      </p:sp>
      <p:sp>
        <p:nvSpPr>
          <p:cNvPr id="11" name="anatomia-texto-1"/>
          <p:cNvSpPr txBox="1"/>
          <p:nvPr/>
        </p:nvSpPr>
        <p:spPr>
          <a:xfrm>
            <a:off x="7223760" y="3368040"/>
            <a:ext cx="441929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que o hook gravou e mostra o custo da sessão e do projeto, ao vivo, contra o alvo de US$ 5.</a:t>
            </a:r>
            <a:endParaRPr lang="en-US" sz="1500" dirty="0"/>
          </a:p>
        </p:txBody>
      </p:sp>
      <p:sp>
        <p:nvSpPr>
          <p:cNvPr id="12" name="anatomia-marca-2"/>
          <p:cNvSpPr/>
          <p:nvPr/>
        </p:nvSpPr>
        <p:spPr>
          <a:xfrm>
            <a:off x="6766560" y="4468368"/>
            <a:ext cx="274320" cy="2743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3" name="anatomia-titulo-2"/>
          <p:cNvSpPr txBox="1"/>
          <p:nvPr/>
        </p:nvSpPr>
        <p:spPr>
          <a:xfrm>
            <a:off x="7223760" y="4404360"/>
            <a:ext cx="4419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 tua</a:t>
            </a:r>
            <a:endParaRPr lang="en-US" sz="2000" dirty="0"/>
          </a:p>
        </p:txBody>
      </p:sp>
      <p:sp>
        <p:nvSpPr>
          <p:cNvPr id="14" name="anatomia-texto-2"/>
          <p:cNvSpPr txBox="1"/>
          <p:nvPr/>
        </p:nvSpPr>
        <p:spPr>
          <a:xfrm>
            <a:off x="7223760" y="4815840"/>
            <a:ext cx="441929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Escreve /statusline e diz o que queres ver, por exemplo "o branch do git e o custo da sessão". O Claude gera o script.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Faça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No Terminal 2: três funcionalidades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mode: Shift+Tab até "plan mode"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Headless: uma pergunta sem abrir sessão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Rewind: Esc Esc para voltar atrás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254557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mode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587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(Shift+Tab) Como acrescentavas uma 11.ª categoria?</a:t>
            </a:r>
            <a:endParaRPr lang="en-US" sz="1600" dirty="0"/>
          </a:p>
        </p:txBody>
      </p:sp>
      <p:sp>
        <p:nvSpPr>
          <p:cNvPr id="9" name="codigo-fundo"/>
          <p:cNvSpPr/>
          <p:nvPr/>
        </p:nvSpPr>
        <p:spPr>
          <a:xfrm>
            <a:off x="4937760" y="3403397"/>
            <a:ext cx="6705295" cy="142372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igo-rotulo"/>
          <p:cNvSpPr txBox="1"/>
          <p:nvPr/>
        </p:nvSpPr>
        <p:spPr>
          <a:xfrm>
            <a:off x="5166360" y="3586277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Headless</a:t>
            </a:r>
            <a:endParaRPr lang="en-US" sz="1300" dirty="0"/>
          </a:p>
        </p:txBody>
      </p:sp>
      <p:sp>
        <p:nvSpPr>
          <p:cNvPr id="11" name="codigo"/>
          <p:cNvSpPr txBox="1"/>
          <p:nvPr/>
        </p:nvSpPr>
        <p:spPr>
          <a:xfrm>
            <a:off x="5166360" y="3933749"/>
            <a:ext cx="6248095" cy="756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-p "Resume o PLANO.md numa frase" --model claude-haiku-5-5</a:t>
            </a:r>
            <a:endParaRPr lang="en-US" sz="1400" dirty="0"/>
          </a:p>
        </p:txBody>
      </p:sp>
      <p:sp>
        <p:nvSpPr>
          <p:cNvPr id="12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13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plano sem alterações, uma frase no terminal e um checkpoint para recuar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Worktrees e rotinas</a:t>
            </a:r>
            <a:endParaRPr lang="en-US" sz="32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4EFFE"/>
          </a:solidFill>
          <a:ln w="12700">
            <a:solidFill>
              <a:srgbClr val="F4EFFE"/>
            </a:solidFill>
            <a:prstDash val="solid"/>
          </a:ln>
        </p:spPr>
      </p:sp>
      <p:sp>
        <p:nvSpPr>
          <p:cNvPr id="4" name="marca-0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5" name="coluna-titulo-0"/>
          <p:cNvSpPr txBox="1"/>
          <p:nvPr/>
        </p:nvSpPr>
        <p:spPr>
          <a:xfrm>
            <a:off x="868680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claude -w experiencia</a:t>
            </a:r>
            <a:endParaRPr lang="en-US" sz="2600" dirty="0"/>
          </a:p>
        </p:txBody>
      </p:sp>
      <p:sp>
        <p:nvSpPr>
          <p:cNvPr id="6" name="coluna-texto-0"/>
          <p:cNvSpPr txBox="1"/>
          <p:nvPr/>
        </p:nvSpPr>
        <p:spPr>
          <a:xfrm>
            <a:off x="868680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cópia isolada do repositório, num branch próprio, para trabalhar em paralelo</a:t>
            </a:r>
            <a:endParaRPr lang="en-US" sz="2000" dirty="0"/>
          </a:p>
        </p:txBody>
      </p:sp>
      <p:sp>
        <p:nvSpPr>
          <p:cNvPr id="7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4EFFE"/>
          </a:solidFill>
          <a:ln w="12700">
            <a:solidFill>
              <a:srgbClr val="F4EFFE"/>
            </a:solidFill>
            <a:prstDash val="solid"/>
          </a:ln>
        </p:spPr>
      </p:sp>
      <p:sp>
        <p:nvSpPr>
          <p:cNvPr id="8" name="marca-1"/>
          <p:cNvSpPr/>
          <p:nvPr/>
        </p:nvSpPr>
        <p:spPr>
          <a:xfrm>
            <a:off x="4673498" y="2011680"/>
            <a:ext cx="384048" cy="384048"/>
          </a:xfrm>
          <a:prstGeom prst="rect">
            <a:avLst/>
          </a:prstGeom>
          <a:solidFill>
            <a:srgbClr val="8F23D7"/>
          </a:solidFill>
          <a:ln w="12700">
            <a:solidFill>
              <a:srgbClr val="8F23D7"/>
            </a:solidFill>
            <a:prstDash val="solid"/>
          </a:ln>
        </p:spPr>
      </p:sp>
      <p:sp>
        <p:nvSpPr>
          <p:cNvPr id="9" name="coluna-titulo-1"/>
          <p:cNvSpPr txBox="1"/>
          <p:nvPr/>
        </p:nvSpPr>
        <p:spPr>
          <a:xfrm>
            <a:off x="4673498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isolation: worktree</a:t>
            </a:r>
            <a:endParaRPr lang="en-US" sz="2600" dirty="0"/>
          </a:p>
        </p:txBody>
      </p:sp>
      <p:sp>
        <p:nvSpPr>
          <p:cNvPr id="10" name="coluna-texto-1"/>
          <p:cNvSpPr txBox="1"/>
          <p:nvPr/>
        </p:nvSpPr>
        <p:spPr>
          <a:xfrm>
            <a:off x="4673498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subagente no seu próprio worktree, quando as tarefas mexem nos mesmos ficheiros</a:t>
            </a:r>
            <a:endParaRPr lang="en-US" sz="2000" dirty="0"/>
          </a:p>
        </p:txBody>
      </p:sp>
      <p:sp>
        <p:nvSpPr>
          <p:cNvPr id="11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4EFFE"/>
          </a:solidFill>
          <a:ln w="12700">
            <a:solidFill>
              <a:srgbClr val="F4EFFE"/>
            </a:solidFill>
            <a:prstDash val="solid"/>
          </a:ln>
        </p:spPr>
      </p:sp>
      <p:sp>
        <p:nvSpPr>
          <p:cNvPr id="12" name="marca-2"/>
          <p:cNvSpPr/>
          <p:nvPr/>
        </p:nvSpPr>
        <p:spPr>
          <a:xfrm>
            <a:off x="8478317" y="2011680"/>
            <a:ext cx="384048" cy="384048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3" name="coluna-titulo-2"/>
          <p:cNvSpPr txBox="1"/>
          <p:nvPr/>
        </p:nvSpPr>
        <p:spPr>
          <a:xfrm>
            <a:off x="8478317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Rotina local</a:t>
            </a:r>
            <a:endParaRPr lang="en-US" sz="2600" dirty="0"/>
          </a:p>
        </p:txBody>
      </p:sp>
      <p:sp>
        <p:nvSpPr>
          <p:cNvPr id="14" name="coluna-texto-2"/>
          <p:cNvSpPr txBox="1"/>
          <p:nvPr/>
        </p:nvSpPr>
        <p:spPr>
          <a:xfrm>
            <a:off x="8478317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agendador do sistema corre claude -p todos os dias. O /schedule na cloud exige assinatura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Faça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Até ficar tudo verde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houver quadrados vermelhos no fim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Deixa um /loop a trabalhar por ti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66055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993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/loop 2m corre node tools/check-integracao.mjs e corrige o primeiro teste vermelho com o implementer; para quando estiver tudo verde</a:t>
            </a:r>
            <a:endParaRPr lang="en-US" sz="1400" dirty="0"/>
          </a:p>
        </p:txBody>
      </p:sp>
      <p:sp>
        <p:nvSpPr>
          <p:cNvPr id="9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10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loop pára sozinho quando a suite fica verde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Faça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gate de segurança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/demo-review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veredito do revisor (Opus)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/demo-review</a:t>
            </a:r>
            <a:endParaRPr lang="en-US" sz="2000" dirty="0"/>
          </a:p>
        </p:txBody>
      </p:sp>
      <p:sp>
        <p:nvSpPr>
          <p:cNvPr id="9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10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APROVADO, com testes, CSP, sem eval nem innerHTML, sem segredos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Faça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Quanto custou?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/demo-cost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 o Haiku com o orquestrador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/demo-cost</a:t>
            </a:r>
            <a:endParaRPr lang="en-US" sz="2000" dirty="0"/>
          </a:p>
        </p:txBody>
      </p:sp>
      <p:sp>
        <p:nvSpPr>
          <p:cNvPr id="9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10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por agente, modelo e onda, perto de US$ 1,02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Faça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Joga o que o swarm construiu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galeria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 um cartão e joga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Carrega em "Correr testes"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</a:t>
            </a:r>
            <a:endParaRPr lang="en-US" sz="2000" dirty="0"/>
          </a:p>
        </p:txBody>
      </p:sp>
      <p:sp>
        <p:nvSpPr>
          <p:cNvPr id="9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10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Cartões verdes jogáveis; os vermelhos mostram porque falharam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memória do que fizeste</a:t>
            </a:r>
            <a:endParaRPr lang="en-US" sz="3200" dirty="0"/>
          </a:p>
        </p:txBody>
      </p:sp>
      <p:pic>
        <p:nvPicPr>
          <p:cNvPr id="3" name="imagem" descr="Procura por ticket ou épico (ex.: ARENA-1): lições, fazer, não fazer e histórico ligados a projetos, épicos, tarefas e ficheir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35048" y="1463040"/>
            <a:ext cx="7721600" cy="4343400"/>
          </a:xfrm>
          <a:prstGeom prst="rect">
            <a:avLst/>
          </a:prstGeom>
        </p:spPr>
      </p:pic>
      <p:sp>
        <p:nvSpPr>
          <p:cNvPr id="4" name="legenda"/>
          <p:cNvSpPr txBox="1"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Procura por ticket ou épico (ex.: ARENA-1): lições, fazer, não fazer e histórico ligados a projetos, épicos, tarefas e ficheiros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Faça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Abre o teu primeiro grafo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app Memória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Clica num nó para ler a lição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Arrasta o deslizador de tempo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00081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3332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~/Applications/Memória.app   (ou: memoria)</a:t>
            </a:r>
            <a:endParaRPr lang="en-US" sz="1700" dirty="0"/>
          </a:p>
        </p:txBody>
      </p:sp>
      <p:sp>
        <p:nvSpPr>
          <p:cNvPr id="9" name="codigo-fundo"/>
          <p:cNvSpPr/>
          <p:nvPr/>
        </p:nvSpPr>
        <p:spPr>
          <a:xfrm>
            <a:off x="4937760" y="3149651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igo-rotulo"/>
          <p:cNvSpPr txBox="1"/>
          <p:nvPr/>
        </p:nvSpPr>
        <p:spPr>
          <a:xfrm>
            <a:off x="5166360" y="3332531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300" dirty="0"/>
          </a:p>
        </p:txBody>
      </p:sp>
      <p:sp>
        <p:nvSpPr>
          <p:cNvPr id="11" name="codigo"/>
          <p:cNvSpPr txBox="1"/>
          <p:nvPr/>
        </p:nvSpPr>
        <p:spPr>
          <a:xfrm>
            <a:off x="5166360" y="3680003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Menu Iniciar → Memória   (ou: memoria)</a:t>
            </a:r>
            <a:endParaRPr lang="en-US" sz="2000" dirty="0"/>
          </a:p>
        </p:txBody>
      </p:sp>
      <p:sp>
        <p:nvSpPr>
          <p:cNvPr id="12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13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grafo da sessão da Arena, com as lições ligadas ao projeto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Projeto 2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tua tarefa real</a:t>
            </a:r>
            <a:endParaRPr lang="en-US" sz="2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mesmo ciclo, no teu repositório</a:t>
            </a:r>
            <a:endParaRPr lang="en-US" sz="3200" dirty="0"/>
          </a:p>
        </p:txBody>
      </p:sp>
      <p:sp>
        <p:nvSpPr>
          <p:cNvPr id="3" name="passo-0"/>
          <p:cNvSpPr/>
          <p:nvPr/>
        </p:nvSpPr>
        <p:spPr>
          <a:xfrm>
            <a:off x="548640" y="2377440"/>
            <a:ext cx="1889699" cy="1828800"/>
          </a:xfrm>
          <a:prstGeom prst="rect">
            <a:avLst/>
          </a:prstGeom>
          <a:solidFill>
            <a:srgbClr val="F4EFFE"/>
          </a:solidFill>
          <a:ln w="12700">
            <a:solidFill>
              <a:srgbClr val="F4EFFE"/>
            </a:solidFill>
            <a:prstDash val="solid"/>
          </a:ln>
        </p:spPr>
      </p:sp>
      <p:sp>
        <p:nvSpPr>
          <p:cNvPr id="4" name="passo-marca-0"/>
          <p:cNvSpPr/>
          <p:nvPr/>
        </p:nvSpPr>
        <p:spPr>
          <a:xfrm>
            <a:off x="777240" y="2606040"/>
            <a:ext cx="274320" cy="2743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5" name="passo-texto-0"/>
          <p:cNvSpPr txBox="1"/>
          <p:nvPr/>
        </p:nvSpPr>
        <p:spPr>
          <a:xfrm>
            <a:off x="777240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/task-intake</a:t>
            </a:r>
            <a:endParaRPr lang="en-US" sz="1600" dirty="0"/>
          </a:p>
        </p:txBody>
      </p:sp>
      <p:sp>
        <p:nvSpPr>
          <p:cNvPr id="6" name="fluxo-seta-0"/>
          <p:cNvSpPr/>
          <p:nvPr/>
        </p:nvSpPr>
        <p:spPr>
          <a:xfrm>
            <a:off x="2484059" y="3291840"/>
            <a:ext cx="32004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7" name="passo-1"/>
          <p:cNvSpPr/>
          <p:nvPr/>
        </p:nvSpPr>
        <p:spPr>
          <a:xfrm>
            <a:off x="2849819" y="2377440"/>
            <a:ext cx="1889699" cy="1828800"/>
          </a:xfrm>
          <a:prstGeom prst="rect">
            <a:avLst/>
          </a:prstGeom>
          <a:solidFill>
            <a:srgbClr val="F4EFFE"/>
          </a:solidFill>
          <a:ln w="12700">
            <a:solidFill>
              <a:srgbClr val="F4EFFE"/>
            </a:solidFill>
            <a:prstDash val="solid"/>
          </a:ln>
        </p:spPr>
      </p:sp>
      <p:sp>
        <p:nvSpPr>
          <p:cNvPr id="8" name="passo-marca-1"/>
          <p:cNvSpPr/>
          <p:nvPr/>
        </p:nvSpPr>
        <p:spPr>
          <a:xfrm>
            <a:off x="3078419" y="2606040"/>
            <a:ext cx="274320" cy="274320"/>
          </a:xfrm>
          <a:prstGeom prst="rect">
            <a:avLst/>
          </a:prstGeom>
          <a:solidFill>
            <a:srgbClr val="8F23D7"/>
          </a:solidFill>
          <a:ln w="12700">
            <a:solidFill>
              <a:srgbClr val="8F23D7"/>
            </a:solidFill>
            <a:prstDash val="solid"/>
          </a:ln>
        </p:spPr>
      </p:sp>
      <p:sp>
        <p:nvSpPr>
          <p:cNvPr id="9" name="passo-texto-1"/>
          <p:cNvSpPr txBox="1"/>
          <p:nvPr/>
        </p:nvSpPr>
        <p:spPr>
          <a:xfrm>
            <a:off x="3078419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/task-plan</a:t>
            </a:r>
            <a:endParaRPr lang="en-US" sz="1600" dirty="0"/>
          </a:p>
        </p:txBody>
      </p:sp>
      <p:sp>
        <p:nvSpPr>
          <p:cNvPr id="10" name="fluxo-seta-1"/>
          <p:cNvSpPr/>
          <p:nvPr/>
        </p:nvSpPr>
        <p:spPr>
          <a:xfrm>
            <a:off x="4785238" y="3291840"/>
            <a:ext cx="32004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1" name="passo-2"/>
          <p:cNvSpPr/>
          <p:nvPr/>
        </p:nvSpPr>
        <p:spPr>
          <a:xfrm>
            <a:off x="5150998" y="2377440"/>
            <a:ext cx="1889699" cy="1828800"/>
          </a:xfrm>
          <a:prstGeom prst="rect">
            <a:avLst/>
          </a:prstGeom>
          <a:solidFill>
            <a:srgbClr val="F4EFFE"/>
          </a:solidFill>
          <a:ln w="12700">
            <a:solidFill>
              <a:srgbClr val="F4EFFE"/>
            </a:solidFill>
            <a:prstDash val="solid"/>
          </a:ln>
        </p:spPr>
      </p:sp>
      <p:sp>
        <p:nvSpPr>
          <p:cNvPr id="12" name="passo-marca-2"/>
          <p:cNvSpPr/>
          <p:nvPr/>
        </p:nvSpPr>
        <p:spPr>
          <a:xfrm>
            <a:off x="5379598" y="2606040"/>
            <a:ext cx="274320" cy="2743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3" name="passo-texto-2"/>
          <p:cNvSpPr txBox="1"/>
          <p:nvPr/>
        </p:nvSpPr>
        <p:spPr>
          <a:xfrm>
            <a:off x="5379598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/task-swarm</a:t>
            </a:r>
            <a:endParaRPr lang="en-US" sz="1600" dirty="0"/>
          </a:p>
        </p:txBody>
      </p:sp>
      <p:sp>
        <p:nvSpPr>
          <p:cNvPr id="14" name="fluxo-seta-2"/>
          <p:cNvSpPr/>
          <p:nvPr/>
        </p:nvSpPr>
        <p:spPr>
          <a:xfrm>
            <a:off x="7086417" y="3291840"/>
            <a:ext cx="32004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5" name="passo-3"/>
          <p:cNvSpPr/>
          <p:nvPr/>
        </p:nvSpPr>
        <p:spPr>
          <a:xfrm>
            <a:off x="7452177" y="2377440"/>
            <a:ext cx="1889699" cy="1828800"/>
          </a:xfrm>
          <a:prstGeom prst="rect">
            <a:avLst/>
          </a:prstGeom>
          <a:solidFill>
            <a:srgbClr val="F4EFFE"/>
          </a:solidFill>
          <a:ln w="12700">
            <a:solidFill>
              <a:srgbClr val="F4EFFE"/>
            </a:solidFill>
            <a:prstDash val="solid"/>
          </a:ln>
        </p:spPr>
      </p:sp>
      <p:sp>
        <p:nvSpPr>
          <p:cNvPr id="16" name="passo-marca-3"/>
          <p:cNvSpPr/>
          <p:nvPr/>
        </p:nvSpPr>
        <p:spPr>
          <a:xfrm>
            <a:off x="7680777" y="2606040"/>
            <a:ext cx="274320" cy="2743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17" name="passo-texto-3"/>
          <p:cNvSpPr txBox="1"/>
          <p:nvPr/>
        </p:nvSpPr>
        <p:spPr>
          <a:xfrm>
            <a:off x="7680777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/task-gate</a:t>
            </a:r>
            <a:endParaRPr lang="en-US" sz="1600" dirty="0"/>
          </a:p>
        </p:txBody>
      </p:sp>
      <p:sp>
        <p:nvSpPr>
          <p:cNvPr id="18" name="fluxo-seta-3"/>
          <p:cNvSpPr/>
          <p:nvPr/>
        </p:nvSpPr>
        <p:spPr>
          <a:xfrm>
            <a:off x="9387596" y="3291840"/>
            <a:ext cx="32004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9" name="passo-4"/>
          <p:cNvSpPr/>
          <p:nvPr/>
        </p:nvSpPr>
        <p:spPr>
          <a:xfrm>
            <a:off x="9753356" y="2377440"/>
            <a:ext cx="1889699" cy="18288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0" name="passo-marca-4"/>
          <p:cNvSpPr/>
          <p:nvPr/>
        </p:nvSpPr>
        <p:spPr>
          <a:xfrm>
            <a:off x="9981956" y="2606040"/>
            <a:ext cx="274320" cy="274320"/>
          </a:xfrm>
          <a:prstGeom prst="rect">
            <a:avLst/>
          </a:prstGeom>
          <a:solidFill>
            <a:srgbClr val="8F23D7"/>
          </a:solidFill>
          <a:ln w="12700">
            <a:solidFill>
              <a:srgbClr val="8F23D7"/>
            </a:solidFill>
            <a:prstDash val="solid"/>
          </a:ln>
        </p:spPr>
      </p:sp>
      <p:sp>
        <p:nvSpPr>
          <p:cNvPr id="21" name="passo-texto-4"/>
          <p:cNvSpPr txBox="1"/>
          <p:nvPr/>
        </p:nvSpPr>
        <p:spPr>
          <a:xfrm>
            <a:off x="9981956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/task-report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Faça agora · 4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Traz a tua tarefa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Claude Code na raiz do teu projeto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Dá-lhe a issue do Jira ou do GitHub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acesso? Usa o projeto de treino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72821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teu projeto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&lt;o teu repositório&gt;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ABC-123</a:t>
            </a:r>
            <a:endParaRPr lang="en-US" sz="2000" dirty="0"/>
          </a:p>
        </p:txBody>
      </p:sp>
      <p:sp>
        <p:nvSpPr>
          <p:cNvPr id="9" name="codigo-fundo"/>
          <p:cNvSpPr/>
          <p:nvPr/>
        </p:nvSpPr>
        <p:spPr>
          <a:xfrm>
            <a:off x="4937760" y="3877056"/>
            <a:ext cx="6705295" cy="172821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igo-rotulo"/>
          <p:cNvSpPr txBox="1"/>
          <p:nvPr/>
        </p:nvSpPr>
        <p:spPr>
          <a:xfrm>
            <a:off x="5166360" y="4059936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de treino</a:t>
            </a:r>
            <a:endParaRPr lang="en-US" sz="1300" dirty="0"/>
          </a:p>
        </p:txBody>
      </p:sp>
      <p:sp>
        <p:nvSpPr>
          <p:cNvPr id="11" name="codigo"/>
          <p:cNvSpPr txBox="1"/>
          <p:nvPr/>
        </p:nvSpPr>
        <p:spPr>
          <a:xfrm>
            <a:off x="5166360" y="4407408"/>
            <a:ext cx="624809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~/workshop-claude/exemplo-projeto-real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issues/EX-1.json</a:t>
            </a:r>
            <a:endParaRPr lang="en-US" sz="2000" dirty="0"/>
          </a:p>
        </p:txBody>
      </p:sp>
      <p:sp>
        <p:nvSpPr>
          <p:cNvPr id="12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13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Título, critérios de aceitação e o comando de teste do projeto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Faça agora · 5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planner decide quantos agentes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/task-plan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porquê do número de agentes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 ou ajusta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/task-plan</a:t>
            </a:r>
            <a:endParaRPr lang="en-US" sz="2000" dirty="0"/>
          </a:p>
        </p:txBody>
      </p:sp>
      <p:sp>
        <p:nvSpPr>
          <p:cNvPr id="9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10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Pequena: 1–3 agentes. Grande: mais, com justificação e estimativa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etiqueta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faca-rotulo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Faça agora · 10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Põe o swarm a trabalhar</a:t>
            </a:r>
            <a:endParaRPr lang="en-US" sz="3400" dirty="0"/>
          </a:p>
        </p:txBody>
      </p:sp>
      <p:sp>
        <p:nvSpPr>
          <p:cNvPr id="5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/task-swarm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Vê o painel noutro terminal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Pára com Esc e retoma quando quiseres</a:t>
            </a:r>
            <a:endParaRPr lang="en-US" sz="2000" dirty="0"/>
          </a:p>
        </p:txBody>
      </p:sp>
      <p:sp>
        <p:nvSpPr>
          <p:cNvPr id="6" name="codigo-fundo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igo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/task-swarm</a:t>
            </a:r>
            <a:endParaRPr lang="en-US" sz="2000" dirty="0"/>
          </a:p>
        </p:txBody>
      </p:sp>
      <p:sp>
        <p:nvSpPr>
          <p:cNvPr id="9" name="codigo-fundo"/>
          <p:cNvSpPr/>
          <p:nvPr/>
        </p:nvSpPr>
        <p:spPr>
          <a:xfrm>
            <a:off x="4937760" y="3200400"/>
            <a:ext cx="6705295" cy="98389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igo-rotulo"/>
          <p:cNvSpPr txBox="1"/>
          <p:nvPr/>
        </p:nvSpPr>
        <p:spPr>
          <a:xfrm>
            <a:off x="5166360" y="338328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</a:t>
            </a:r>
            <a:endParaRPr lang="en-US" sz="1300" dirty="0"/>
          </a:p>
        </p:txBody>
      </p:sp>
      <p:sp>
        <p:nvSpPr>
          <p:cNvPr id="11" name="codigo"/>
          <p:cNvSpPr txBox="1"/>
          <p:nvPr/>
        </p:nvSpPr>
        <p:spPr>
          <a:xfrm>
            <a:off x="5166360" y="3730752"/>
            <a:ext cx="6248095" cy="31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~/.workshop-claude/kit/orquestrador/painel.mjs</a:t>
            </a:r>
            <a:endParaRPr lang="en-US" sz="1600" dirty="0"/>
          </a:p>
        </p:txBody>
      </p:sp>
      <p:sp>
        <p:nvSpPr>
          <p:cNvPr id="12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13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Lotes de agentes a terminar; nunca dois no mesmo ficheiro ao mesmo tempo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Jira e GitHub</a:t>
            </a:r>
            <a:endParaRPr lang="en-US" sz="32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4EFFE"/>
          </a:solidFill>
          <a:ln w="12700">
            <a:solidFill>
              <a:srgbClr val="F4EFFE"/>
            </a:solidFill>
            <a:prstDash val="solid"/>
          </a:ln>
        </p:spPr>
      </p:sp>
      <p:sp>
        <p:nvSpPr>
          <p:cNvPr id="4" name="marca-0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5" name="coluna-titulo-0"/>
          <p:cNvSpPr txBox="1"/>
          <p:nvPr/>
        </p:nvSpPr>
        <p:spPr>
          <a:xfrm>
            <a:off x="868680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Jira (MCP + acli)</a:t>
            </a:r>
            <a:endParaRPr lang="en-US" sz="2600" dirty="0"/>
          </a:p>
        </p:txBody>
      </p:sp>
      <p:sp>
        <p:nvSpPr>
          <p:cNvPr id="6" name="coluna-texto-0"/>
          <p:cNvSpPr txBox="1"/>
          <p:nvPr/>
        </p:nvSpPr>
        <p:spPr>
          <a:xfrm>
            <a:off x="868680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com login no /mcp; se falhar, o Atlassian CLI (acli auth login)</a:t>
            </a:r>
            <a:endParaRPr lang="en-US" sz="2000" dirty="0"/>
          </a:p>
        </p:txBody>
      </p:sp>
      <p:sp>
        <p:nvSpPr>
          <p:cNvPr id="7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4EFFE"/>
          </a:solidFill>
          <a:ln w="12700">
            <a:solidFill>
              <a:srgbClr val="F4EFFE"/>
            </a:solidFill>
            <a:prstDash val="solid"/>
          </a:ln>
        </p:spPr>
      </p:sp>
      <p:sp>
        <p:nvSpPr>
          <p:cNvPr id="8" name="marca-1"/>
          <p:cNvSpPr/>
          <p:nvPr/>
        </p:nvSpPr>
        <p:spPr>
          <a:xfrm>
            <a:off x="4673498" y="2011680"/>
            <a:ext cx="384048" cy="384048"/>
          </a:xfrm>
          <a:prstGeom prst="rect">
            <a:avLst/>
          </a:prstGeom>
          <a:solidFill>
            <a:srgbClr val="8F23D7"/>
          </a:solidFill>
          <a:ln w="12700">
            <a:solidFill>
              <a:srgbClr val="8F23D7"/>
            </a:solidFill>
            <a:prstDash val="solid"/>
          </a:ln>
        </p:spPr>
      </p:sp>
      <p:sp>
        <p:nvSpPr>
          <p:cNvPr id="9" name="coluna-titulo-1"/>
          <p:cNvSpPr txBox="1"/>
          <p:nvPr/>
        </p:nvSpPr>
        <p:spPr>
          <a:xfrm>
            <a:off x="4673498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GitHub (gh)</a:t>
            </a:r>
            <a:endParaRPr lang="en-US" sz="2600" dirty="0"/>
          </a:p>
        </p:txBody>
      </p:sp>
      <p:sp>
        <p:nvSpPr>
          <p:cNvPr id="10" name="coluna-texto-1"/>
          <p:cNvSpPr txBox="1"/>
          <p:nvPr/>
        </p:nvSpPr>
        <p:spPr>
          <a:xfrm>
            <a:off x="4673498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 auth login: menos contexto do que um MCP e sem tokens partilhados</a:t>
            </a:r>
            <a:endParaRPr lang="en-US" sz="2000" dirty="0"/>
          </a:p>
        </p:txBody>
      </p:sp>
      <p:sp>
        <p:nvSpPr>
          <p:cNvPr id="11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4EFFE"/>
          </a:solidFill>
          <a:ln w="12700">
            <a:solidFill>
              <a:srgbClr val="F4EFFE"/>
            </a:solidFill>
            <a:prstDash val="solid"/>
          </a:ln>
        </p:spPr>
      </p:sp>
      <p:sp>
        <p:nvSpPr>
          <p:cNvPr id="12" name="marca-2"/>
          <p:cNvSpPr/>
          <p:nvPr/>
        </p:nvSpPr>
        <p:spPr>
          <a:xfrm>
            <a:off x="8478317" y="2011680"/>
            <a:ext cx="384048" cy="384048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3" name="coluna-titulo-2"/>
          <p:cNvSpPr txBox="1"/>
          <p:nvPr/>
        </p:nvSpPr>
        <p:spPr>
          <a:xfrm>
            <a:off x="8478317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Sempre com confirmação</a:t>
            </a:r>
            <a:endParaRPr lang="en-US" sz="2600" dirty="0"/>
          </a:p>
        </p:txBody>
      </p:sp>
      <p:sp>
        <p:nvSpPr>
          <p:cNvPr id="14" name="coluna-texto-2"/>
          <p:cNvSpPr txBox="1"/>
          <p:nvPr/>
        </p:nvSpPr>
        <p:spPr>
          <a:xfrm>
            <a:off x="8478317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comentários, worklog e PR só depois do teu sim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Depois do workshop</a:t>
            </a:r>
            <a:endParaRPr lang="en-US" sz="32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4EFFE"/>
          </a:solidFill>
          <a:ln w="12700">
            <a:solidFill>
              <a:srgbClr val="F4EFFE"/>
            </a:solidFill>
            <a:prstDash val="solid"/>
          </a:ln>
        </p:spPr>
      </p:sp>
      <p:sp>
        <p:nvSpPr>
          <p:cNvPr id="4" name="marca-0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5" name="coluna-titulo-0"/>
          <p:cNvSpPr txBox="1"/>
          <p:nvPr/>
        </p:nvSpPr>
        <p:spPr>
          <a:xfrm>
            <a:off x="868680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/task-gate</a:t>
            </a:r>
            <a:endParaRPr lang="en-US" sz="2600" dirty="0"/>
          </a:p>
        </p:txBody>
      </p:sp>
      <p:sp>
        <p:nvSpPr>
          <p:cNvPr id="6" name="coluna-texto-0"/>
          <p:cNvSpPr txBox="1"/>
          <p:nvPr/>
        </p:nvSpPr>
        <p:spPr>
          <a:xfrm>
            <a:off x="868680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testes, segredos, código perigoso e o veredito do Opus</a:t>
            </a:r>
            <a:endParaRPr lang="en-US" sz="2000" dirty="0"/>
          </a:p>
        </p:txBody>
      </p:sp>
      <p:sp>
        <p:nvSpPr>
          <p:cNvPr id="7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4EFFE"/>
          </a:solidFill>
          <a:ln w="12700">
            <a:solidFill>
              <a:srgbClr val="F4EFFE"/>
            </a:solidFill>
            <a:prstDash val="solid"/>
          </a:ln>
        </p:spPr>
      </p:sp>
      <p:sp>
        <p:nvSpPr>
          <p:cNvPr id="8" name="marca-1"/>
          <p:cNvSpPr/>
          <p:nvPr/>
        </p:nvSpPr>
        <p:spPr>
          <a:xfrm>
            <a:off x="4673498" y="2011680"/>
            <a:ext cx="384048" cy="384048"/>
          </a:xfrm>
          <a:prstGeom prst="rect">
            <a:avLst/>
          </a:prstGeom>
          <a:solidFill>
            <a:srgbClr val="8F23D7"/>
          </a:solidFill>
          <a:ln w="12700">
            <a:solidFill>
              <a:srgbClr val="8F23D7"/>
            </a:solidFill>
            <a:prstDash val="solid"/>
          </a:ln>
        </p:spPr>
      </p:sp>
      <p:sp>
        <p:nvSpPr>
          <p:cNvPr id="9" name="coluna-titulo-1"/>
          <p:cNvSpPr txBox="1"/>
          <p:nvPr/>
        </p:nvSpPr>
        <p:spPr>
          <a:xfrm>
            <a:off x="4673498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/task-report</a:t>
            </a:r>
            <a:endParaRPr lang="en-US" sz="2600" dirty="0"/>
          </a:p>
        </p:txBody>
      </p:sp>
      <p:sp>
        <p:nvSpPr>
          <p:cNvPr id="10" name="coluna-texto-1"/>
          <p:cNvSpPr txBox="1"/>
          <p:nvPr/>
        </p:nvSpPr>
        <p:spPr>
          <a:xfrm>
            <a:off x="4673498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Jira: um comentário por subtarefa, com agente, modelo, tempo e custo, e o worklog. GitHub: o PR</a:t>
            </a:r>
            <a:endParaRPr lang="en-US" sz="2000" dirty="0"/>
          </a:p>
        </p:txBody>
      </p:sp>
      <p:sp>
        <p:nvSpPr>
          <p:cNvPr id="11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4EFFE"/>
          </a:solidFill>
          <a:ln w="12700">
            <a:solidFill>
              <a:srgbClr val="F4EFFE"/>
            </a:solidFill>
            <a:prstDash val="solid"/>
          </a:ln>
        </p:spPr>
      </p:sp>
      <p:sp>
        <p:nvSpPr>
          <p:cNvPr id="12" name="marca-2"/>
          <p:cNvSpPr/>
          <p:nvPr/>
        </p:nvSpPr>
        <p:spPr>
          <a:xfrm>
            <a:off x="8478317" y="2011680"/>
            <a:ext cx="384048" cy="384048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3" name="coluna-titulo-2"/>
          <p:cNvSpPr txBox="1"/>
          <p:nvPr/>
        </p:nvSpPr>
        <p:spPr>
          <a:xfrm>
            <a:off x="8478317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/memoria</a:t>
            </a:r>
            <a:endParaRPr lang="en-US" sz="2600" dirty="0"/>
          </a:p>
        </p:txBody>
      </p:sp>
      <p:sp>
        <p:nvSpPr>
          <p:cNvPr id="14" name="coluna-texto-2"/>
          <p:cNvSpPr txBox="1"/>
          <p:nvPr/>
        </p:nvSpPr>
        <p:spPr>
          <a:xfrm>
            <a:off x="8478317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lições desta tarefa ficam para a próxima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Cinco ideias para levar</a:t>
            </a:r>
            <a:endParaRPr lang="en-US" sz="3200" dirty="0"/>
          </a:p>
        </p:txBody>
      </p:sp>
      <p:sp>
        <p:nvSpPr>
          <p:cNvPr id="3" name="lista-marca-0"/>
          <p:cNvSpPr/>
          <p:nvPr/>
        </p:nvSpPr>
        <p:spPr>
          <a:xfrm>
            <a:off x="548640" y="1783080"/>
            <a:ext cx="310896" cy="310896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4" name="lista-item-0"/>
          <p:cNvSpPr txBox="1"/>
          <p:nvPr/>
        </p:nvSpPr>
        <p:spPr>
          <a:xfrm>
            <a:off x="1097280" y="16916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Skills tornam o trabalho repetível</a:t>
            </a:r>
            <a:endParaRPr lang="en-US" sz="2600" dirty="0"/>
          </a:p>
        </p:txBody>
      </p:sp>
      <p:sp>
        <p:nvSpPr>
          <p:cNvPr id="5" name="lista-marca-1"/>
          <p:cNvSpPr/>
          <p:nvPr/>
        </p:nvSpPr>
        <p:spPr>
          <a:xfrm>
            <a:off x="548640" y="2624328"/>
            <a:ext cx="310896" cy="310896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6" name="lista-item-1"/>
          <p:cNvSpPr txBox="1"/>
          <p:nvPr/>
        </p:nvSpPr>
        <p:spPr>
          <a:xfrm>
            <a:off x="1097280" y="2532888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Subagentes dão contexto limpo e o modelo certo para cada peça</a:t>
            </a:r>
            <a:endParaRPr lang="en-US" sz="2600" dirty="0"/>
          </a:p>
        </p:txBody>
      </p:sp>
      <p:sp>
        <p:nvSpPr>
          <p:cNvPr id="7" name="lista-marca-2"/>
          <p:cNvSpPr/>
          <p:nvPr/>
        </p:nvSpPr>
        <p:spPr>
          <a:xfrm>
            <a:off x="548640" y="3465576"/>
            <a:ext cx="310896" cy="310896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8" name="lista-item-2"/>
          <p:cNvSpPr txBox="1"/>
          <p:nvPr/>
        </p:nvSpPr>
        <p:spPr>
          <a:xfrm>
            <a:off x="1097280" y="3374136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script decide o grafo; o modelo executa</a:t>
            </a:r>
            <a:endParaRPr lang="en-US" sz="2600" dirty="0"/>
          </a:p>
        </p:txBody>
      </p:sp>
      <p:sp>
        <p:nvSpPr>
          <p:cNvPr id="9" name="lista-marca-3"/>
          <p:cNvSpPr/>
          <p:nvPr/>
        </p:nvSpPr>
        <p:spPr>
          <a:xfrm>
            <a:off x="548640" y="4306824"/>
            <a:ext cx="310896" cy="310896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10" name="lista-item-3"/>
          <p:cNvSpPr txBox="1"/>
          <p:nvPr/>
        </p:nvSpPr>
        <p:spPr>
          <a:xfrm>
            <a:off x="1097280" y="4215384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Mede-se com hooks; o custo não se adivinha</a:t>
            </a:r>
            <a:endParaRPr lang="en-US" sz="2600" dirty="0"/>
          </a:p>
        </p:txBody>
      </p:sp>
      <p:sp>
        <p:nvSpPr>
          <p:cNvPr id="11" name="lista-marca-4"/>
          <p:cNvSpPr/>
          <p:nvPr/>
        </p:nvSpPr>
        <p:spPr>
          <a:xfrm>
            <a:off x="548640" y="5148072"/>
            <a:ext cx="310896" cy="310896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12" name="lista-item-4"/>
          <p:cNvSpPr txBox="1"/>
          <p:nvPr/>
        </p:nvSpPr>
        <p:spPr>
          <a:xfrm>
            <a:off x="1097280" y="5056632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memória faz cada tarefa ensinar a próxima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Onde está tudo</a:t>
            </a:r>
            <a:endParaRPr lang="en-US" sz="3200" dirty="0"/>
          </a:p>
        </p:txBody>
      </p:sp>
      <p:sp>
        <p:nvSpPr>
          <p:cNvPr id="3" name="intro"/>
          <p:cNvSpPr txBox="1"/>
          <p:nvPr/>
        </p:nvSpPr>
        <p:spPr>
          <a:xfrm>
            <a:off x="548640" y="1463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Instalar noutra máquina:</a:t>
            </a:r>
            <a:endParaRPr lang="en-US" sz="2000" dirty="0"/>
          </a:p>
        </p:txBody>
      </p:sp>
      <p:sp>
        <p:nvSpPr>
          <p:cNvPr id="4" name="codigo-fundo"/>
          <p:cNvSpPr/>
          <p:nvPr/>
        </p:nvSpPr>
        <p:spPr>
          <a:xfrm>
            <a:off x="548640" y="2148840"/>
            <a:ext cx="11094415" cy="27340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5" name="codigo"/>
          <p:cNvSpPr txBox="1"/>
          <p:nvPr/>
        </p:nvSpPr>
        <p:spPr>
          <a:xfrm>
            <a:off x="777240" y="2331720"/>
            <a:ext cx="10637215" cy="2414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-fsSL https://github.com/cx-guilherme-pinto/workshop-claude/releases/download/v1.0.0-rc.1/setup-mac.sh | bash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irm https://github.com/cx-guilherme-pinto/workshop-claude/releases/download/v1.0.0-rc.1/bootstrap-windows.ps1 | iex</a:t>
            </a:r>
            <a:endParaRPr lang="en-US" sz="2000" dirty="0"/>
          </a:p>
        </p:txBody>
      </p:sp>
      <p:sp>
        <p:nvSpPr>
          <p:cNvPr id="6" name="depois"/>
          <p:cNvSpPr txBox="1"/>
          <p:nvPr/>
        </p:nvSpPr>
        <p:spPr>
          <a:xfrm>
            <a:off x="548640" y="57607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Repositório: https://github.com/cx-guilherme-pinto/workshop-claude · versão v1.0.0-rc.1 · atualizar a memória: memoria update</a:t>
            </a:r>
            <a:endParaRPr lang="en-US" sz="1500" dirty="0"/>
          </a:p>
        </p:txBody>
      </p:sp>
      <p:sp>
        <p:nvSpPr>
          <p:cNvPr id="7" name="aviso-fundo"/>
          <p:cNvSpPr/>
          <p:nvPr/>
        </p:nvSpPr>
        <p:spPr>
          <a:xfrm>
            <a:off x="6316675" y="384048"/>
            <a:ext cx="5326380" cy="45720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8" name="aviso"/>
          <p:cNvSpPr txBox="1"/>
          <p:nvPr/>
        </p:nvSpPr>
        <p:spPr>
          <a:xfrm>
            <a:off x="6481267" y="384048"/>
            <a:ext cx="49971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comandos estão no Teams: copia-os de lá.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Amanhã</a:t>
            </a:r>
            <a:endParaRPr lang="en-US" sz="3200" dirty="0"/>
          </a:p>
        </p:txBody>
      </p:sp>
      <p:sp>
        <p:nvSpPr>
          <p:cNvPr id="3" name="lista-marca-0"/>
          <p:cNvSpPr/>
          <p:nvPr/>
        </p:nvSpPr>
        <p:spPr>
          <a:xfrm>
            <a:off x="548640" y="1783080"/>
            <a:ext cx="310896" cy="310896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4" name="lista-item-0"/>
          <p:cNvSpPr txBox="1"/>
          <p:nvPr/>
        </p:nvSpPr>
        <p:spPr>
          <a:xfrm>
            <a:off x="1097280" y="16916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Corre /task-intake na próxima issue que te atribuírem</a:t>
            </a:r>
            <a:endParaRPr lang="en-US" sz="2600" dirty="0"/>
          </a:p>
        </p:txBody>
      </p:sp>
      <p:sp>
        <p:nvSpPr>
          <p:cNvPr id="5" name="lista-marca-1"/>
          <p:cNvSpPr/>
          <p:nvPr/>
        </p:nvSpPr>
        <p:spPr>
          <a:xfrm>
            <a:off x="548640" y="2624328"/>
            <a:ext cx="310896" cy="310896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6" name="lista-item-1"/>
          <p:cNvSpPr txBox="1"/>
          <p:nvPr/>
        </p:nvSpPr>
        <p:spPr>
          <a:xfrm>
            <a:off x="1097280" y="2532888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Escreve uma skill para uma tarefa que repetes todas as semanas</a:t>
            </a:r>
            <a:endParaRPr lang="en-US" sz="2600" dirty="0"/>
          </a:p>
        </p:txBody>
      </p:sp>
      <p:sp>
        <p:nvSpPr>
          <p:cNvPr id="7" name="lista-marca-2"/>
          <p:cNvSpPr/>
          <p:nvPr/>
        </p:nvSpPr>
        <p:spPr>
          <a:xfrm>
            <a:off x="548640" y="3465576"/>
            <a:ext cx="310896" cy="310896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8" name="lista-item-2"/>
          <p:cNvSpPr txBox="1"/>
          <p:nvPr/>
        </p:nvSpPr>
        <p:spPr>
          <a:xfrm>
            <a:off x="1097280" y="3374136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Abre a Memória antes de planear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914400" y="2011680"/>
            <a:ext cx="1036289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6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Perguntas</a:t>
            </a:r>
            <a:endParaRPr lang="en-US" sz="6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914400" y="356616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Sem limite de tempo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Founders Grotesk Medium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Orquestração de agentes com Claude</dc:title>
  <dc:subject>PptxGenJS Presentation</dc:subject>
  <dc:creator>Workshop Claude</dc:creator>
  <cp:lastModifiedBy>Workshop Claude</cp:lastModifiedBy>
  <cp:revision>1</cp:revision>
  <dcterms:created xsi:type="dcterms:W3CDTF">2026-10-16T18:13:20Z</dcterms:created>
  <dcterms:modified xsi:type="dcterms:W3CDTF">2026-10-16T18:13:20Z</dcterms:modified>
</cp:coreProperties>
</file>