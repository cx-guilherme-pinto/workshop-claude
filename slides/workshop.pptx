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0c1af0e-851f-cdcb-2396-4541cc575210}">
          <p14:sldIdLst>
            <p14:sldId id="256"/>
            <p14:sldId id="257"/>
            <p14:sldId id="258"/>
            <p14:sldId id="259"/>
          </p14:sldIdLst>
        </p14:section>
        <p14:section name="Verificar" id="{c33f52cd-8ea0-8e50-643d-6db0e8ddcabc}">
          <p14:sldIdLst>
            <p14:sldId id="260"/>
            <p14:sldId id="261"/>
          </p14:sldIdLst>
        </p14:section>
        <p14:section name="Conceitos" id="{bfad9cee-ff47-b810-66f1-2230496a5e7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eview" id="{ced8f47c-93b3-5f3e-cc6a-40ac2962a33a}">
          <p14:sldIdLst>
            <p14:sldId id="272"/>
            <p14:sldId id="273"/>
          </p14:sldIdLst>
        </p14:section>
        <p14:section name="Projeto 1" id="{9c5fd579-7c2b-0fb4-d50f-4f5904dfacb1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Memória" id="{91c52500-43d7-3a15-ba45-e4f64f16ccfd}">
          <p14:sldIdLst>
            <p14:sldId id="287"/>
            <p14:sldId id="288"/>
          </p14:sldIdLst>
        </p14:section>
        <p14:section name="Projeto 2" id="{b333bfd7-684d-3677-7adc-334d4d93fa11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9350c3d0-4968-e8c6-bcb3-1fff47523fd5}">
          <p14:sldIdLst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1.5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3:30] 1 min · deves estar aqui aos 3 min
O relógio está nas notas de cada slide. As perguntas ficam para o fim, sem limite 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 → 5:00] 1.5 min · deves estar aqui aos 4 min
O orçamento é garantido pelo benchmark, não por cortes. Se alguém passar o alvo, aparece um aviso e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8:00] 3 min · deves estar aqui aos 5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[8:00 → 10:00] 2 min · deves estar aqui aos 8 min
O Claude lê só o excerto do log daquele passo, sem segredos, e propõe comandos. Nunca executa nada sem confirmação. Se o Claude ainda não estiver instalado, aparece a mensagem pré-escrita do TROUBLESHOOTING.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→ 10:30] 0.5 min · deves estar aqui aos 10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12:00] 1.5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deves estar aqui aos 12 min
As skills substituíram os slash commands antigos. O frontmatter fixa o modelo e as ferramentas autorizadas. Hoje vamos usar dois sets: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deves estar aqui aos 16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20:00] 2 min · deves estar aqui aos 18 min
O plano é um grafo de dependências. Executamos por ondas: tudo o que está pronto corre em paralelo. Os três cartões de criptografia esperam pelo lib/hash, uma dependência real dentro da onda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→ 21:30] 1.5 min · deves estar aqui aos 20 min
Com 15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[21:30 → 23:00] 1.5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24:00] 1 min · deves estar aqui aos 23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→ 25:00] 1 min · PODE SALTAR · deves estar aqui aos 24 min
Saltar se houver atraso. O Claude Code recusa o 21.º subagente em simultâneo. Os limites de taxa da API são por organização. Por isso trabalhamos em lotes.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29:00] 4 min · deves estar aqui aos 25 min
Vídeo acelerado de uma execução real do modo apresentador. O tempo e o custo que aparecem no ecrã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 → 30:00] 1 min · deves estar aqui aos 29 min
Abrir a Arena final no browser e jogar um cartão. É uma app estática, sem risco. O jogo vem em português ou inglês, conforme a língua da máquina.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30:30] 0.5 min · deves estar aqui aos 30 min
25 minutos de hands-on. No benchmark, o swarm de 15 cartões demorou 4 a 6 minutos;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[30:30 → 31:30] 1 min · deves estar aqui aos 31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[31:30 → 34:30] 3 min · deves estar aqui aos 32 min
O diálogo de confiança é importante: sem ele, as permissões do projeto ficam desligadas.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[34:30 → 36:00] 1.5 min · deves estar aqui aos 35 min
Mostrar o plano de alguém no projetor. Na onda 1, o lib/hash e os cartões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[36:00 → 38:00] 2 min · deves estar aqui aos 36 min
A partir daqui o swarm trabalha alguns minutos (4 a 6 no benchmark).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[38:00 → 40:00] 2 min · deves estar aqui aos 38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 → 42:00] 2 min · deves estar aqui aos 40 min
Mostrar a statusline a mudar enquanto os agentes terminam. Explicar porque é que o /usage pode mostrar mais: versões que ainda não conhecem os preços mais recentes.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45:00] 3 min · deves estar aqui aos 42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47:00] 2 min · PODE SALTAR · deves estar aqui aos 45 min
Saltar se houver atraso. Exemplo de rotina: uma revisão de segurança diária com node tools/rotina.mjs --instalar,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 → 49:00] 2 min · deves estar aqui aos 47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[49:00 → 51:00] 2 min · deves estar aqui aos 49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[51:00 → 53:00] 2 min · deves estar aqui aos 51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57:00] 2 min · deves estar aqui aos 55 min
São ficheiros Markdown em ~/.memoria, com um índice SQLite. Fica tudo só no teu PC.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[57:00 → 60:00] 3 min · deves estar aqui aos 57 min
A app abre na tua língua nativa e tem um seletor de língua. Rotinas, worktrees e o modo headless já ficaram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60:30] 0.5 min · deves estar aqui aos 60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[60:30 → 62:00] 1.5 min · deves estar aqui aos 61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66:00] 4 min · deves estar aqui aos 62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[66:00 → 71:00] 5 min · deves estar aqui aos 66 min
O planner (Opus) propõe o grafo e um script valida-o: ciclos, ficheiros em comum, agentes conhecidos. A integração e a revisão são acrescentadas sozinhas.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[71:00 → 81:00] 10 min · deves estar aqui aos 71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[81:00 → 82:00] 1 min · PODE SALTAR · deves estar aqui aos 81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[82:00 → 84:00] 2 min · deves estar aqui aos 82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[84:00 → 85:00] 1 min · PODE SALTAR · deves estar aqui aos 84 min
Saltar se houver atraso. Com assinatura, a mesma sessão pode continuar no telemóvel e as rotinas correm na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1.5 min · deves estar aqui aos 87 min
Os comandos são gerados a partir do repos.conf: estão sempre certos para a versão publicada.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0.5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 de agentes com Claude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1C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7-1.mp4"/><Relationship Id="rId2" Type="http://schemas.microsoft.com/office/2007/relationships/media" Target="../media/media-17-1.mp4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Orquestração de agentes com Claude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subagentes e swarms paralelos, com custo medido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levas para casa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swarm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90 minutos</a:t>
            </a:r>
            <a:endParaRPr lang="en-US" sz="3600" dirty="0"/>
          </a:p>
        </p:txBody>
      </p:sp>
      <p:sp>
        <p:nvSpPr>
          <p:cNvPr id="3" name="bloco-0"/>
          <p:cNvSpPr/>
          <p:nvPr/>
        </p:nvSpPr>
        <p:spPr>
          <a:xfrm>
            <a:off x="54864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4" name="bloco-min-0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0′</a:t>
            </a:r>
            <a:endParaRPr lang="en-US" sz="1400" dirty="0"/>
          </a:p>
        </p:txBody>
      </p:sp>
      <p:sp>
        <p:nvSpPr>
          <p:cNvPr id="5" name="bloco-nome-0"/>
          <p:cNvSpPr txBox="1"/>
          <p:nvPr/>
        </p:nvSpPr>
        <p:spPr>
          <a:xfrm>
            <a:off x="54864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Abertura</a:t>
            </a:r>
            <a:endParaRPr lang="en-US" sz="1800" dirty="0"/>
          </a:p>
        </p:txBody>
      </p:sp>
      <p:sp>
        <p:nvSpPr>
          <p:cNvPr id="6" name="bloco-1"/>
          <p:cNvSpPr/>
          <p:nvPr/>
        </p:nvSpPr>
        <p:spPr>
          <a:xfrm>
            <a:off x="1164996" y="2011680"/>
            <a:ext cx="570636" cy="14630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7" name="bloco-min-1"/>
          <p:cNvSpPr txBox="1"/>
          <p:nvPr/>
        </p:nvSpPr>
        <p:spPr>
          <a:xfrm>
            <a:off x="1164996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5′</a:t>
            </a:r>
            <a:endParaRPr lang="en-US" sz="1400" dirty="0"/>
          </a:p>
        </p:txBody>
      </p:sp>
      <p:sp>
        <p:nvSpPr>
          <p:cNvPr id="8" name="bloco-nome-1"/>
          <p:cNvSpPr txBox="1"/>
          <p:nvPr/>
        </p:nvSpPr>
        <p:spPr>
          <a:xfrm>
            <a:off x="1164996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Verificar</a:t>
            </a:r>
            <a:endParaRPr lang="en-US" sz="1800" dirty="0"/>
          </a:p>
        </p:txBody>
      </p:sp>
      <p:sp>
        <p:nvSpPr>
          <p:cNvPr id="9" name="bloco-2"/>
          <p:cNvSpPr/>
          <p:nvPr/>
        </p:nvSpPr>
        <p:spPr>
          <a:xfrm>
            <a:off x="1781353" y="2011680"/>
            <a:ext cx="1803349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0" name="bloco-min-2"/>
          <p:cNvSpPr txBox="1"/>
          <p:nvPr/>
        </p:nvSpPr>
        <p:spPr>
          <a:xfrm>
            <a:off x="1781353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10′</a:t>
            </a:r>
            <a:endParaRPr lang="en-US" sz="1400" dirty="0"/>
          </a:p>
        </p:txBody>
      </p:sp>
      <p:sp>
        <p:nvSpPr>
          <p:cNvPr id="11" name="bloco-nome-2"/>
          <p:cNvSpPr txBox="1"/>
          <p:nvPr/>
        </p:nvSpPr>
        <p:spPr>
          <a:xfrm>
            <a:off x="1781353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1800" dirty="0"/>
          </a:p>
        </p:txBody>
      </p:sp>
      <p:sp>
        <p:nvSpPr>
          <p:cNvPr id="12" name="bloco-3"/>
          <p:cNvSpPr/>
          <p:nvPr/>
        </p:nvSpPr>
        <p:spPr>
          <a:xfrm>
            <a:off x="3630422" y="2011680"/>
            <a:ext cx="570636" cy="14630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13" name="bloco-min-3"/>
          <p:cNvSpPr txBox="1"/>
          <p:nvPr/>
        </p:nvSpPr>
        <p:spPr>
          <a:xfrm>
            <a:off x="3630422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25′</a:t>
            </a:r>
            <a:endParaRPr lang="en-US" sz="1400" dirty="0"/>
          </a:p>
        </p:txBody>
      </p:sp>
      <p:sp>
        <p:nvSpPr>
          <p:cNvPr id="14" name="bloco-nome-3"/>
          <p:cNvSpPr txBox="1"/>
          <p:nvPr/>
        </p:nvSpPr>
        <p:spPr>
          <a:xfrm>
            <a:off x="3630422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Preview</a:t>
            </a:r>
            <a:endParaRPr lang="en-US" sz="1800" dirty="0"/>
          </a:p>
        </p:txBody>
      </p:sp>
      <p:sp>
        <p:nvSpPr>
          <p:cNvPr id="15" name="bloco-4"/>
          <p:cNvSpPr/>
          <p:nvPr/>
        </p:nvSpPr>
        <p:spPr>
          <a:xfrm>
            <a:off x="4246778" y="2011680"/>
            <a:ext cx="3036062" cy="14630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bloco-min-4"/>
          <p:cNvSpPr txBox="1"/>
          <p:nvPr/>
        </p:nvSpPr>
        <p:spPr>
          <a:xfrm>
            <a:off x="4246778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30′</a:t>
            </a:r>
            <a:endParaRPr lang="en-US" sz="1400" dirty="0"/>
          </a:p>
        </p:txBody>
      </p:sp>
      <p:sp>
        <p:nvSpPr>
          <p:cNvPr id="17" name="bloco-nome-4"/>
          <p:cNvSpPr txBox="1"/>
          <p:nvPr/>
        </p:nvSpPr>
        <p:spPr>
          <a:xfrm>
            <a:off x="4246778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1800" dirty="0"/>
          </a:p>
        </p:txBody>
      </p:sp>
      <p:sp>
        <p:nvSpPr>
          <p:cNvPr id="18" name="bloco-5"/>
          <p:cNvSpPr/>
          <p:nvPr/>
        </p:nvSpPr>
        <p:spPr>
          <a:xfrm>
            <a:off x="732856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9" name="bloco-min-5"/>
          <p:cNvSpPr txBox="1"/>
          <p:nvPr/>
        </p:nvSpPr>
        <p:spPr>
          <a:xfrm>
            <a:off x="7328560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55′</a:t>
            </a:r>
            <a:endParaRPr lang="en-US" sz="1400" dirty="0"/>
          </a:p>
        </p:txBody>
      </p:sp>
      <p:sp>
        <p:nvSpPr>
          <p:cNvPr id="20" name="bloco-nome-5"/>
          <p:cNvSpPr txBox="1"/>
          <p:nvPr/>
        </p:nvSpPr>
        <p:spPr>
          <a:xfrm>
            <a:off x="7328560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800" dirty="0"/>
          </a:p>
        </p:txBody>
      </p:sp>
      <p:sp>
        <p:nvSpPr>
          <p:cNvPr id="21" name="bloco-6"/>
          <p:cNvSpPr/>
          <p:nvPr/>
        </p:nvSpPr>
        <p:spPr>
          <a:xfrm>
            <a:off x="7944917" y="2011680"/>
            <a:ext cx="3036062" cy="146304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2" name="bloco-min-6"/>
          <p:cNvSpPr txBox="1"/>
          <p:nvPr/>
        </p:nvSpPr>
        <p:spPr>
          <a:xfrm>
            <a:off x="7944917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60′</a:t>
            </a:r>
            <a:endParaRPr lang="en-US" sz="1400" dirty="0"/>
          </a:p>
        </p:txBody>
      </p:sp>
      <p:sp>
        <p:nvSpPr>
          <p:cNvPr id="23" name="bloco-nome-6"/>
          <p:cNvSpPr txBox="1"/>
          <p:nvPr/>
        </p:nvSpPr>
        <p:spPr>
          <a:xfrm>
            <a:off x="7944917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1800" dirty="0"/>
          </a:p>
        </p:txBody>
      </p:sp>
      <p:sp>
        <p:nvSpPr>
          <p:cNvPr id="24" name="bloco-7"/>
          <p:cNvSpPr/>
          <p:nvPr/>
        </p:nvSpPr>
        <p:spPr>
          <a:xfrm>
            <a:off x="11026699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25" name="bloco-min-7"/>
          <p:cNvSpPr txBox="1"/>
          <p:nvPr/>
        </p:nvSpPr>
        <p:spPr>
          <a:xfrm>
            <a:off x="11026699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85′</a:t>
            </a:r>
            <a:endParaRPr lang="en-US" sz="1400" dirty="0"/>
          </a:p>
        </p:txBody>
      </p:sp>
      <p:sp>
        <p:nvSpPr>
          <p:cNvPr id="26" name="bloco-nome-7"/>
          <p:cNvSpPr txBox="1"/>
          <p:nvPr/>
        </p:nvSpPr>
        <p:spPr>
          <a:xfrm>
            <a:off x="11026699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Fecho</a:t>
            </a:r>
            <a:endParaRPr lang="en-US" sz="1800" dirty="0"/>
          </a:p>
        </p:txBody>
      </p:sp>
      <p:sp>
        <p:nvSpPr>
          <p:cNvPr id="27" name="agenda-fim"/>
          <p:cNvSpPr txBox="1"/>
          <p:nvPr/>
        </p:nvSpPr>
        <p:spPr>
          <a:xfrm>
            <a:off x="7528255" y="5669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90′ e depois perguntas, sem limite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As regras do custo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em 16 execuções reais: média US$ 1,02,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 a instalação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"Everything is ready for the workshop" (o setup fala inglês)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Algum passo falhou?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a análise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os comandos um a um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passo que falhou é repetido e fica feito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Claude Code trabalha no teu projeto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Jira, GitHub e a tua memória, via MCP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skill é uma receita com nome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Subagentes: contexto e modelo próprios</a:t>
            </a:r>
            <a:endParaRPr lang="en-US" sz="36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odelo-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5" name="modelo-nome-0"/>
          <p:cNvSpPr txBox="1"/>
          <p:nvPr/>
        </p:nvSpPr>
        <p:spPr>
          <a:xfrm>
            <a:off x="868680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Opus</a:t>
            </a:r>
            <a:endParaRPr lang="en-US" sz="4800" dirty="0"/>
          </a:p>
        </p:txBody>
      </p:sp>
      <p:sp>
        <p:nvSpPr>
          <p:cNvPr id="6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 e rever</a:t>
            </a:r>
            <a:endParaRPr lang="en-US" sz="2000" dirty="0"/>
          </a:p>
        </p:txBody>
      </p:sp>
      <p:sp>
        <p:nvSpPr>
          <p:cNvPr id="7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8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9" name="modelo-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modelo-nome-1"/>
          <p:cNvSpPr txBox="1"/>
          <p:nvPr/>
        </p:nvSpPr>
        <p:spPr>
          <a:xfrm>
            <a:off x="4673498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Sonnet</a:t>
            </a:r>
            <a:endParaRPr lang="en-US" sz="4800" dirty="0"/>
          </a:p>
        </p:txBody>
      </p:sp>
      <p:sp>
        <p:nvSpPr>
          <p:cNvPr id="11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 lógica difícil</a:t>
            </a:r>
            <a:endParaRPr lang="en-US" sz="2000" dirty="0"/>
          </a:p>
        </p:txBody>
      </p:sp>
      <p:sp>
        <p:nvSpPr>
          <p:cNvPr id="12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3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4" name="modelo-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5" name="modelo-nome-2"/>
          <p:cNvSpPr txBox="1"/>
          <p:nvPr/>
        </p:nvSpPr>
        <p:spPr>
          <a:xfrm>
            <a:off x="8478317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Haiku</a:t>
            </a:r>
            <a:endParaRPr lang="en-US" sz="4800" dirty="0"/>
          </a:p>
        </p:txBody>
      </p:sp>
      <p:sp>
        <p:nvSpPr>
          <p:cNvPr id="16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17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18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pricing.json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regra económica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 cartão feito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Tarefa → grafo →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decide o grafo é um script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Medir, não adivinhar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subagente termina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hook SubagentStop corre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Tokens do transcript × preço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linha em usage.jsonl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Statusline e /demo-cost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ciclo de cada tarefa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swarm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review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cost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Limites que respeitamos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subagentes em simultâneo, no máximo, por sessão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8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 por defeito hoje, para contas novas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16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modo apresentador (100 agentes em lotes)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100 agentes a construir a Arena</a:t>
            </a:r>
            <a:endParaRPr lang="en-US" sz="36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real gravada: 6,9 min · US$ 2,55 · 107 agentes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resultado: um jogo para jogar</a:t>
            </a:r>
            <a:endParaRPr lang="en-US" sz="3600" dirty="0"/>
          </a:p>
        </p:txBody>
      </p:sp>
      <p:pic>
        <p:nvPicPr>
          <p:cNvPr id="3" name="imagem" descr="Verde: o teste passou · vermelho: falhou. O que não funcionou também se vê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o teste passou · vermelho: falhou. O que não funcionou também se vê.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já está pronto e o que falta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modelos de cartão e um teste para cada cartão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cartões, o lib/hash e duas páginas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Planeia o swarm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aceita confiar na pasta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ondas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teu plano: 4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Solta o swarm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/estado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 sem interromper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Enquanto o swarm trabalha, no Terminal 1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/btw para uma pergunta lateral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o cr-01 espera pelo lib-hash?</a:t>
            </a:r>
            <a:endParaRPr lang="en-US" sz="17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que não entra na conversa nem para 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statusline e o hook que a alimenta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baixo: modelo · sessão · projeto contra o alvo · tempo · swarm.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"hooks":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"SubagentStop": [{ "hooks": [{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"command": "node tools/workshop/hooks/subagent-stop.mjs"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}]}]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"statusLine":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"command": "node tools/workshop/statusline/statusline.mjs"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.claude/settings.json da Arena. O /usage do Claude Code dá outra estimativa; o /demo-cost usa os preços publicados.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No Terminal 2: três funcionalidades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acrescentavas uma 11.ª categoria?</a:t>
            </a:r>
            <a:endParaRPr lang="en-US" sz="16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40339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93374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Worktrees e rotinas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assinatura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Até ficar tudo verde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 quadrados vermelhos no fim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um /loop a trabalhar por ti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tools/check-integracao.mjs e corrige o primeiro teste vermelho com o implementer; para quando estiver tudo verde</a:t>
            </a:r>
            <a:endParaRPr lang="en-US" sz="14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pára sozinho quando a suite fica verde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gate de segurança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APROVADO, com testes, CSP,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Quanto custou?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 Haiku com o orquestrador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onda, perto de US$ 1,02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Joga o que o swarm construiu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cartão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Cartões verdes jogáveis;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do que fizeste</a:t>
            </a:r>
            <a:endParaRPr lang="en-US" sz="3600" dirty="0"/>
          </a:p>
        </p:txBody>
      </p:sp>
      <p:pic>
        <p:nvPicPr>
          <p:cNvPr id="3" name="imagem" descr="Procura por ticket ou épico (ex.: ARENA-1): lições, fazer, não fazer e histórico ligados a projetos, épicos, tarefas e ficheiro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ticket ou épico (ex.: ARENA-1): lições, fazer, não fazer e histórico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o teu primeiro grafo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Memória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~/Applications/Memória.app   (ou: memoria)</a:t>
            </a:r>
            <a:endParaRPr lang="en-US" sz="17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49651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3253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80003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Memória   (ou: memoria)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mesmo ciclo, no teu repositório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/task-intake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/task-plan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/task-swarm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4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Traz a tua tarefa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ou do GitHub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877056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4059936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440740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5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planner decide quantos agentes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10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Põe o swarm a trabalhar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painel noutro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Pára com Esc e retoma quando quiseres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983894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~/.workshop-claude/kit/orquestrador/painel.mjs</a:t>
            </a:r>
            <a:endParaRPr lang="en-US" sz="16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e GitHub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menos contexto do que um MCP e sem tokens partilhados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Depois do workshop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subtarefa, com agente, modelo, tempo e custo, e o worklog. GitHub: o PR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Desktop e telemóvel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Desktop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conversar, com conta claude.ai; o separador Code exige assinatura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Telemóvel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Remote Control exige assinatura e não aceita API keys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Hoje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no Claude Code, com a tua conta Console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Cinco ideias para levar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Skills tornam o trabalho repetível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 dão contexto limpo e o modelo certo para cada peça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script decide o grafo; o modelo executa</a:t>
            </a:r>
            <a:endParaRPr lang="en-US" sz="2600" dirty="0"/>
          </a:p>
        </p:txBody>
      </p:sp>
      <p:sp>
        <p:nvSpPr>
          <p:cNvPr id="9" name="lista-marca-3"/>
          <p:cNvSpPr/>
          <p:nvPr/>
        </p:nvSpPr>
        <p:spPr>
          <a:xfrm>
            <a:off x="548640" y="4306824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lista-item-3"/>
          <p:cNvSpPr txBox="1"/>
          <p:nvPr/>
        </p:nvSpPr>
        <p:spPr>
          <a:xfrm>
            <a:off x="1097280" y="421538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Mede-se com hooks; o custo não se adivinha</a:t>
            </a:r>
            <a:endParaRPr lang="en-US" sz="2600" dirty="0"/>
          </a:p>
        </p:txBody>
      </p:sp>
      <p:sp>
        <p:nvSpPr>
          <p:cNvPr id="11" name="lista-marca-4"/>
          <p:cNvSpPr/>
          <p:nvPr/>
        </p:nvSpPr>
        <p:spPr>
          <a:xfrm>
            <a:off x="548640" y="5148072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lista-item-4"/>
          <p:cNvSpPr txBox="1"/>
          <p:nvPr/>
        </p:nvSpPr>
        <p:spPr>
          <a:xfrm>
            <a:off x="1097280" y="505663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faz cada tarefa ensinar a próxima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Onde está tudo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noutra máquina: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20574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https://github.com/cx-guilherme-pinto/workshop-claude/releases/download/v1.0.0-rc.1/setup-mac.sh | bash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https://github.com/cx-guilherme-pinto/workshop-claude/releases/download/v1.0.0-rc.1/bootstrap-windows.ps1 | iex</a:t>
            </a:r>
            <a:endParaRPr lang="en-US" sz="20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Repositório: https://github.com/cx-guilherme-pinto/workshop-claude · versão v1.0.0-rc.1 · atualizar a memória: memoria update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Amanhã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/task-intake na próxima issue que te atribuírem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Escreve uma skill para uma tarefa que repetes todas as semanas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a Memória antes de planear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Perguntas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limite de tempo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ricolage Grotesq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2026-10-16T17:27:55Z</dcterms:created>
  <dcterms:modified xsi:type="dcterms:W3CDTF">2026-10-16T17:27:55Z</dcterms:modified>
</cp:coreProperties>
</file>