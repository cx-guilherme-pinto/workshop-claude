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45340cfe-e214-56be-67a8-8f169b449f2e}">
          <p14:sldIdLst>
            <p14:sldId id="256"/>
            <p14:sldId id="257"/>
            <p14:sldId id="258"/>
          </p14:sldIdLst>
        </p14:section>
        <p14:section name="Instalar" id="{1d4a6148-594b-ce5b-823f-dde81aa93094}">
          <p14:sldIdLst>
            <p14:sldId id="259"/>
            <p14:sldId id="260"/>
            <p14:sldId id="261"/>
          </p14:sldIdLst>
        </p14:section>
        <p14:section name="Conceitos" id="{ca54ee7d-a796-ad44-82b5-2bad78495fa8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Preview" id="{b44cd4a3-d3f3-7819-0dc6-b613e2bf2fa1}">
          <p14:sldIdLst>
            <p14:sldId id="271"/>
            <p14:sldId id="272"/>
            <p14:sldId id="273"/>
            <p14:sldId id="274"/>
          </p14:sldIdLst>
        </p14:section>
        <p14:section name="Projeto 1" id="{1db22a81-2d01-623c-6bfe-e691840b38a2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Memória" id="{9f366354-65ac-a55e-a46f-4809f41001cc}">
          <p14:sldIdLst>
            <p14:sldId id="291"/>
            <p14:sldId id="292"/>
          </p14:sldIdLst>
        </p14:section>
        <p14:section name="Projeto 2" id="{db1c31e2-2601-e2a6-1d94-100013a7499e}">
          <p14:sldIdLst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Encerramento" id="{f4b8cdd9-576a-60b4-ee79-15cf9aec1ad4}">
          <p14:sldIdLst>
            <p14:sldId id="300"/>
            <p14:sldId id="301"/>
            <p14:sldId id="3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1:00] 1 min · deves estar aqui aos 0 min
Boas-vindas. Em 90 minutos vamos pôr um swarm de agentes a construir um jogo e, depois, a trabalhar numa tarefa real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→ 2:30] 1,5 min · deves estar aqui aos 1 min
Três resultados concretos. Tudo fica instalado no portátil de cada um e continua a funcionar depois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→ 4:00] 1,5 min · deves estar aqui aos 3 min
O orçamento é garantido pelo benchmark, não por cortes. Se alguém passar o alvo, aparece um aviso e a pessoa continua a trabalhar.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5:30] 1,5 min · deves estar aqui aos 4 min
Quase todos já instalaram antes (pré-trabalho): para esses, este slide é só para saberem onde está o comando. Quem ainda não instalou corre agora e segue com o vizinho enquanto instala (10 a 20 minutos). O mesmo comando serve para instalar noutra máquina. Os comandos são gerados a partir do repos.conf: estão sempre certos para a versão publicada (v1.0.0-rc.1). Para atualizar só a app Agent Memory: agent-memory update.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 → 8:30] 3 min · deves estar aqui aos 6 min
Toda a gente corre o check. Demora 2 a 3 minutos e não instala nada. Quem não fez o setup segue com o vizinho e instala no intervalo das perguntas. O setup fala inglês, mas deteta a língua da máquina e grava a definição language do Claude Code (português, inglês, hindi ou hebraico): as skills respondem nessa língua. A Arena, as tabelas do orquestrador e as docs ficam em português ou inglês (as outras línguas ficam em inglês).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→ 10:30] 2 min · deves estar aqui aos 9 min
O doctor verifica tudo e, se algum passo falhou, pede um diagnóstico ao Claude: envia o estado de cada passo e o fim do log, sem segredos. Não executa nada. Voltar a correr o comando de instalação repete só os passos que faltam; aí, em cada falha, o Claude propõe comandos e só os corre com confirmação, um a um. Se o Claude ainda não estiver instalado, aparece a ajuda pré-escrita do TROUBLESHOOTING.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 → 11:00] 0,5 min · deves estar aqui aos 11 min
Quinze minutos de ideias, um conceito por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12:30] 1,5 min · deves estar aqui aos 11 min
O Claude Code não é um chat: é um agente que age no repositório. Tudo o que faz passa por permissões. Plan mode (Shift+Tab) faz com que só planeie, sem tocar em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[12:30 → 14:30] 2 min · deves estar aqui aos 13 min
As skills substituíram os slash commands antigos. O frontmatter fixa o modelo e as ferramentas autorizadas. Hoje vamos usar dois conjuntos: os /demo-* na Arena e os /task-* no dia a dia. As skills do kit estão em inglês e mandam o Claude responder na língua do participante.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[14:30 → 16:30] 2 min · deves estar aqui aos 15 min
Um subagente é uma instância do Claude com contexto limpo, ferramentas próprias e o modelo que quisermos. É definido num ficheiro .claude/agents/&lt;nome&gt;.md. O comando /agents já não abre um assistente: edita-se o ficheiro.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[16:30 → 18:30] 2 min · deves estar aqui aos 17 min
O swarm barato é o de muitos agentes pequenos com instruções claras. O que custa é a coordenação. Por isso o orquestrador é um script e os workers respondem com uma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[18:30 → 20:30] 2 min · deves estar aqui aos 19 min
O plano é um grafo de dependências. Executamos por waves: tudo o que está pronto corre em paralelo. As três tarefas de criptografia esperam pelo lib-hash, uma dependência real dentro da wave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[20:30 → 22:00] 1,5 min · deves estar aqui aos 21 min
Com 8 chamadas em paralelo, um modelo esquece dependências ou reescreve prompts. O script é reproduzível: é isso que torna o custo previsível e o benchmark comparável.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 → 23:30] 1,5 min · deves estar aqui aos 22 min
Os hooks são comandos que o Claude Code corre em eventos. O nosso só mede: lê os tokens reais do transcript, multiplica pelos preços publicados e acrescenta uma linha. Nunca bloqueia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[23:30 → 24:30] 1 min · deves estar aqui aos 24 min
É o mesmo ciclo nos dois projetos: planear com Opus, executar em swarm, um gate de segurança, medir e guardar o que se aprendeu.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[24:30 → 25:30] 1 min · deves estar aqui aos 25 min
Antes do vídeo, dizer o que vai ser construído. A Arena é um mini-jogo de segurança: cada tarefa cria um desafio pequeno (encontrar a linha que expõe um segredo, escolher o site verdadeiro, ordenar as partes de um URL, escrever uma resposta). A casca da app e os testes já existem; os agentes escrevem os desafios, uma tarefa cada. Explicar as cores agora, porque vão aparecer em todo o lado: cada quadrado é uma tarefa, cinzento à espera, amarelo enquanto um agente trabalha nele, verde quando o teste passa, vermelho quando falha.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[25:30 → 26:00] 0,5 min · deves estar aqui aos 26 min
Ponte para o Projeto 1. O que vão ver é o ciclo do slide anterior (plan → swarm → review → cost → memória) numa execução real com 100 tarefas. Logo a seguir cada pessoa constrói a mesma Arena, com até 8 agentes em paralelo.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→ 28:30] 2,5 min · deves estar aqui aos 26 min
Vídeo acelerado de uma execução real com 100 tarefas. À esquerda, a página /status: cada quadrado é uma tarefa, amarelo enquanto um agente trabalha e verde quando o teste passa. À direita, o terminal com os lotes de agentes. O tempo e o custo são os reais. Plano B se o vídeo falhar: abrir /status?replay=recording na Arena gravada.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[28:30 → 29:30] 1 min · deves estar aqui aos 29 min
Gravação a jogar a Arena final: apontar a linha insegura, escolher a resposta certa, ordenar os passos e escrever a resposta. Cada desafio explica o porquê no fim. No fim do Projeto 1 cada pessoa joga a sua.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[29:30 → 30:00] 0,5 min · deves estar aqui aos 30 min
25 minutos de hands-on. Na medição, o swarm das 100 tarefas demorou 6,5 min (a sessão completa, 9 min); em modo interativo e com contas novas pode demorar mais. Usamos esse tempo para ver funcionalidades.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[30:00 → 31:00] 1 min · deves estar aqui aos 30 min
Os testes já existem: cada agente só tem de pôr o seu teste verde. É isto que deixa o Haiku fazer o grosso do trabalho com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[31:00 → 32:30] 1,5 min · deves estar aqui aos 31 min
Explicar antes de correr. Uma skill não é magia: é uma receita em Markdown que o Claude segue. Aqui ela chama um script que gera o grafo (sempre o mesmo, a partir das tarefas) e um agente Opus que só o revê. O resultado fica em ficheiros que podem abrir e 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[32:30 → 35:30] 3 min · deves estar aqui aos 33 min
O diálogo de confiança é importante: sem ele, as permissões do projeto ficam desligadas. Nas versões recentes do Claude Code, como a Arena pré-aprova permissões, a opção já selecionada é "No, exit": quem carregar Enter sai. Mostrar a seta para baixo. O /demo-plan consulta a memória, gera o grafo e pede ao planner (Opus) para o 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[35:30 → 37:00] 1,5 min · deves estar aqui aos 36 min
Mostrar o plano de alguém no projetor. Na wave 1, o lib-hash e as tarefas dos desafios arrancam juntos; os de criptografia entram assim que o hash fica verde.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[37:00 → 38:30] 1,5 min · deves estar aqui aos 37 min
Explicar antes de correr. O ponto importante: quem escolhe o que corre é um script, não o modelo. Por isso o custo e o tempo são previsíveis. Se uma tarefa falhar, o script repete-o com a mensagem de erro e, à terceira, com Sonnet.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[38:30 → 40:30] 2 min · deves estar aqui aos 39 min
A partir daqui o swarm trabalha alguns minutos (6,5 min na medição; mais com contas novas). Os próximos slides usam esse tempo; quem acabar primeiro joga a Arena.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[40:30 → 42:30] 2 min · deves estar aqui aos 41 min
O /btw responde ao lado, sem entrar na conversa. Atenção: enquanto o painel da resposta está aberto, os resultados dos agentes ficam à espera (o Claude Code mostra "background task updates waiting while this panel is open"). Lê e carrega em Esc para o swarm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[42:30 → 44:00] 1,5 min · deves estar aqui aos 43 min
Sem entrar no código. A ideia: o hook é um "quando acontecer X, corre Y", configurado no settings.json. O Claude escreve hooks muito bem: basta descrever o que se quer. Mostrar o /hooks para ver os que estão 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[44:00 → 45:00] 1 min · deves estar aqui aos 44 min
Mostrar a statusline a mudar enquanto os agentes terminam. O hook grava, a statusline mostra: as duas peças juntas dão o custo ao vivo. O /usage do Claude Code pode mostrar mais, porque algumas versões ainda não conhecem os preços mais recentes; o /demo-cost usa os preços publicados.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 → 48:00] 3 min · deves estar aqui aos 45 min
Plan mode só lê e propõe. O claude -p é a base dos scripts e do CI. Esc Esc abre o rewind: repõe código e conversa até um checkpoint, mas não o que foi feito por Bash nem a maior parte do que os subagentes fizeram.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49:30] 1,5 min · PODE SALTAR · deves estar aqui aos 48 min
Saltar se houver atraso. Exemplo de rotina: uma revisão de segurança diária com node tools/routine.mjs --install --yes (sem --yes só mostra o que faria), que regista no launchd ou no Agendador de Tarefas um claude -p "/demo-review --auto".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[49:30 → 51:30] 2 min · deves estar aqui aos 50 min
O /loop repete um prompt a cada intervalo, com a sessão aberta. Esc cancela.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[51:30 → 53:30] 2 min · deves estar aqui aos 52 min
Um jogo de segurança com falhas de segurança seria o pior exemplo. O gate liga cada verificação ao OWASP Top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[53:30 → 55:30] 2 min · deves estar aqui aos 54 min
O relatório usa tokens reais e preços publicados. No fim grava as lições na app de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[55:30 → 57:30] 2 min · deves estar aqui aos 56 min
Os testes também correm no browser. É o mesmo teste que decidiu a cor do quadrado.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[57:30 → 59:30] 2 min · deves estar aqui aos 58 min
São ficheiros Markdown em ~/.agent-memory, com um índice SQLite. Fica tudo só no teu portátil. Cada memória fica ligada ao ticket do Jira ou do GitHub e ao seu épico: procurar ABC-123 traz tudo desse ticket e do épico. O /task-intake e o /task-plan consultam-na antes de planear ("da última vez neste épico, não fazer X").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[59:30 → 62:30] 3 min · deves estar aqui aos 60 min
A app abre na tua língua nativa e tem um seletor de língua. Rotinas, worktrees e o modo headless já foram vistos nos momentos de espera.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[62:30 → 63:00] 0,5 min · deves estar aqui aos 63 min
25 minutos. A tarefa pode não terminar aqui: o objetivo é sair com a orquestração a correr e saber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[63:00 → 64:30] 1,5 min · deves estar aqui aos 63 min
Os /task-* estão instalados ao nível do utilizador e funcionam em qualquer repositório. Toda a escrita no Jira ou no GitHub pede confirmação.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[64:30 → 68:30] 4 min · deves estar aqui aos 65 min
Para o Jira é preciso ter feito login no /mcp (atlassian). O GitHub usa o gh. O intake só lê; não escreve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[68:30 → 73:30] 5 min · deves estar aqui aos 69 min
O planner (Opus) propõe o grafo e um script valida-o: ids, dependências, ciclos e agentes conhecidos. As tarefas que mexem nos mesmos ficheiros ficam em lotes diferentes, na altura do swarm. A integração e a revisão são acrescentadas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[73:30 → 83:30] 10 min · deves estar aqui aos 74 min
O estado fica em .workshop/. Voltar a correr /task-swarm retoma. Tarefas que mexem nos mesmos ficheiros vão em lotes diferentes, ou em git worktrees se o planner o decidir.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[83:30 → 84:30] 1 min · PODE SALTAR · deves estar aqui aos 84 min
Saltar se houver atraso. O MCP da Atlassian gasta créditos Rovo da empresa e o administrador pode limitá-lo. Se o MCP falhar, as skills usam o Atlassian CLI oficial (acli), que o setup já instalou: lê a issue e publica os comentários; as horas registam-se à mão.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[84:30 → 86:30] 2 min · deves estar aqui aos 85 min
Exemplo de comentário: agente ws-worker-07 · Haiku · 5 s · US$ 0,004.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[86:30 → 88:30] 2 min · deves estar aqui aos 87 min
Resumo em cinco frases.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[88:30 → 89:30] 1 min · deves estar aqui aos 89 min
Três ações concretas.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[89:30 → 90:00] 0,5 min · deves estar aqui aos 90 min
As perguntas podem passar dos 90 minutos. Quem não fez o setup instala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1.png"/><Relationship Id="rId3" Type="http://schemas.openxmlformats.org/officeDocument/2006/relationships/image" Target="../media/TITLE-image-3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SECTION-image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391" y="611734"/>
            <a:ext cx="2112264" cy="26426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4" name="logo" descr="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2848" y="5074920"/>
            <a:ext cx="2286000" cy="28575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" y="611734"/>
            <a:ext cx="2112264" cy="26426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-IT-NOW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8-1.mp4"/><Relationship Id="rId2" Type="http://schemas.microsoft.com/office/2007/relationships/media" Target="../media/media-18-1.mp4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9-1.mp4"/><Relationship Id="rId2" Type="http://schemas.microsoft.com/office/2007/relationships/media" Target="../media/media-19-1.mp4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48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Skills, subagentes e swarms paralelos, com custo medido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Vais sair do workshop com isto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net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swarm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constrói um jogo de segurança com 100 desafios, até 8 agentes em paralelo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clipboard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tarefa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real, do Jira ou do GitHub, decomposta e a correr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memória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grafo do que aprendeste, para usar amanhã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 do custo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tudo o que fizeres hoje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60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interrompidas por custo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1, com as 100 tarefas: US$ 3,39 numa execução real completa (9 min).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1,5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Instala o kit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instalaste? Passa ao slide seguinte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Cola-o num terminal e responde às perguntas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(Terminal)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https://github.com/cx-guilherme-pinto/workshop-claude/releases/download/v1.0.0-rc.1/setup-mac.sh | bash</a:t>
            </a:r>
            <a:endParaRPr lang="en-US" sz="14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572561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755441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102913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https://github.com/cx-guilherme-pinto/workshop-claude/releases/download/v1.0.0-rc.1/bootstrap-windows.ps1 | iex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tabela-resumo do setup, com cada passo feito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a instalação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pela tabela-resumo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16656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69691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-Check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"Check complete: everything is ready for the workshop." (o setup fala inglês)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modo doctor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diagnóstico do Claude (menos de US$ 0,01)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os passos e volta a correr o comando de instalação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16656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69691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"$HOME\.workshop-claude\setup-windows.ps1" -Doctor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falhou, porquê e como resolver; a instalação repete só o que falta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Conceitos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agentes, grafos e dinheiro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Claude Code trabalha no teu projeto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file-pen-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e escreve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ficheiros do projeto, com permissões que tu controlas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square-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comandos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git, scripts: vê o resultado e corrige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Liga-se a ferramentas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e a tua memória via MCP; GitHub com o gh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</a:t>
            </a:r>
            <a:endParaRPr lang="en-US" sz="32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SKILL.md numa pasta. Escreves /nome e o Claude segue a receita.</a:t>
            </a:r>
            <a:endParaRPr lang="en-US" sz="2000" dirty="0"/>
          </a:p>
        </p:txBody>
      </p:sp>
      <p:sp>
        <p:nvSpPr>
          <p:cNvPr id="4" name="code-background"/>
          <p:cNvSpPr/>
          <p:nvPr/>
        </p:nvSpPr>
        <p:spPr>
          <a:xfrm>
            <a:off x="548640" y="2148840"/>
            <a:ext cx="11094415" cy="34747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de"/>
          <p:cNvSpPr txBox="1"/>
          <p:nvPr/>
        </p:nvSpPr>
        <p:spPr>
          <a:xfrm>
            <a:off x="777240" y="2331720"/>
            <a:ext cx="10637215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Runs the Arena swarm in waves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Bash(node tools/*)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Run next-wave.mjs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Launch exactly the calls it returns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Repeat until STATE: DONE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in the participant's language.</a:t>
            </a:r>
            <a:endParaRPr lang="en-US" sz="1500" dirty="0"/>
          </a:p>
        </p:txBody>
      </p:sp>
      <p:sp>
        <p:nvSpPr>
          <p:cNvPr id="6" name="after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 no projeto · ~/.claude/skills/ para todos os projetos · escritas em inglês, respondem na tua língua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Subagentes: contexto e modelo próprios</a:t>
            </a:r>
            <a:endParaRPr lang="en-US" sz="3200" dirty="0"/>
          </a:p>
        </p:txBody>
      </p:sp>
      <p:sp>
        <p:nvSpPr>
          <p:cNvPr id="3" name="model-0"/>
          <p:cNvSpPr/>
          <p:nvPr/>
        </p:nvSpPr>
        <p:spPr>
          <a:xfrm>
            <a:off x="548640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odel-icon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odel-icon-0" descr="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model-name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Opus</a:t>
            </a:r>
            <a:endParaRPr lang="en-US" sz="4800" dirty="0"/>
          </a:p>
        </p:txBody>
      </p:sp>
      <p:sp>
        <p:nvSpPr>
          <p:cNvPr id="7" name="model-role-0"/>
          <p:cNvSpPr txBox="1"/>
          <p:nvPr/>
        </p:nvSpPr>
        <p:spPr>
          <a:xfrm>
            <a:off x="868680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planeamento e revisão</a:t>
            </a:r>
            <a:endParaRPr lang="en-US" sz="2000" dirty="0"/>
          </a:p>
        </p:txBody>
      </p:sp>
      <p:sp>
        <p:nvSpPr>
          <p:cNvPr id="8" name="model-price-0"/>
          <p:cNvSpPr txBox="1"/>
          <p:nvPr/>
        </p:nvSpPr>
        <p:spPr>
          <a:xfrm>
            <a:off x="868680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US$ 4 / 20</a:t>
            </a:r>
            <a:endParaRPr lang="en-US" sz="1800" dirty="0"/>
          </a:p>
        </p:txBody>
      </p:sp>
      <p:sp>
        <p:nvSpPr>
          <p:cNvPr id="9" name="model-1"/>
          <p:cNvSpPr/>
          <p:nvPr/>
        </p:nvSpPr>
        <p:spPr>
          <a:xfrm>
            <a:off x="4353458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model-icon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2" name="model-name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Sonnet</a:t>
            </a:r>
            <a:endParaRPr lang="en-US" sz="4800" dirty="0"/>
          </a:p>
        </p:txBody>
      </p:sp>
      <p:sp>
        <p:nvSpPr>
          <p:cNvPr id="13" name="model-role-1"/>
          <p:cNvSpPr txBox="1"/>
          <p:nvPr/>
        </p:nvSpPr>
        <p:spPr>
          <a:xfrm>
            <a:off x="4673498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lógica difícil</a:t>
            </a:r>
            <a:endParaRPr lang="en-US" sz="2000" dirty="0"/>
          </a:p>
        </p:txBody>
      </p:sp>
      <p:sp>
        <p:nvSpPr>
          <p:cNvPr id="14" name="model-price-1"/>
          <p:cNvSpPr txBox="1"/>
          <p:nvPr/>
        </p:nvSpPr>
        <p:spPr>
          <a:xfrm>
            <a:off x="4673498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US$ 2 / 10</a:t>
            </a:r>
            <a:endParaRPr lang="en-US" sz="1800" dirty="0"/>
          </a:p>
        </p:txBody>
      </p:sp>
      <p:sp>
        <p:nvSpPr>
          <p:cNvPr id="15" name="model-2"/>
          <p:cNvSpPr/>
          <p:nvPr/>
        </p:nvSpPr>
        <p:spPr>
          <a:xfrm>
            <a:off x="8158277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model-icon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7" name="model-icon-2" descr="feath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8" name="model-name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Haiku</a:t>
            </a:r>
            <a:endParaRPr lang="en-US" sz="4800" dirty="0"/>
          </a:p>
        </p:txBody>
      </p:sp>
      <p:sp>
        <p:nvSpPr>
          <p:cNvPr id="19" name="model-role-2"/>
          <p:cNvSpPr txBox="1"/>
          <p:nvPr/>
        </p:nvSpPr>
        <p:spPr>
          <a:xfrm>
            <a:off x="8478317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grosso do swarm</a:t>
            </a:r>
            <a:endParaRPr lang="en-US" sz="2000" dirty="0"/>
          </a:p>
        </p:txBody>
      </p:sp>
      <p:sp>
        <p:nvSpPr>
          <p:cNvPr id="20" name="model-price-2"/>
          <p:cNvSpPr txBox="1"/>
          <p:nvPr/>
        </p:nvSpPr>
        <p:spPr>
          <a:xfrm>
            <a:off x="8478317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US$ 0,10 / 0,50</a:t>
            </a:r>
            <a:endParaRPr lang="en-US" sz="1800" dirty="0"/>
          </a:p>
        </p:txBody>
      </p:sp>
      <p:sp>
        <p:nvSpPr>
          <p:cNvPr id="21" name="footer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por milhão de tokens: entrada / saída. Fonte: platform.claude.com/docs/en/about-claude/pricing (2026-10-16).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regra económica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20×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Haiku é 20 vezes mais barato que o Sonnet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US$ 0,0018</a:t>
            </a:r>
            <a:endParaRPr lang="en-US" sz="44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médio de uma tarefa pequena feita por um agente Haiku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80%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custo vai para a sessão principal, não para o swarm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máximo possível em Haiku. Sonnet só onde o Haiku falha. Opus só para pensar e rever.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Tarefa → grafo → waves</a:t>
            </a:r>
            <a:endParaRPr lang="en-US" sz="3200" dirty="0"/>
          </a:p>
        </p:txBody>
      </p:sp>
      <p:sp>
        <p:nvSpPr>
          <p:cNvPr id="3" name="wave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wave-na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1</a:t>
            </a:r>
            <a:endParaRPr lang="en-US" sz="2400" dirty="0"/>
          </a:p>
        </p:txBody>
      </p:sp>
      <p:sp>
        <p:nvSpPr>
          <p:cNvPr id="5" name="wave-model-icon-0-circle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wave-model-icon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wave-model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wave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100 tarefas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label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task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task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task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task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task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task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task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task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task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task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task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task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y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y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y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ypto-label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de criptografia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arrow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wave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wave-na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2</a:t>
            </a:r>
            <a:endParaRPr lang="en-US" sz="2400" dirty="0"/>
          </a:p>
        </p:txBody>
      </p:sp>
      <p:sp>
        <p:nvSpPr>
          <p:cNvPr id="30" name="wave-model-icon-1-circle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wave-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wave-model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wave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wave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wave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arrow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wave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wave-na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3</a:t>
            </a:r>
            <a:endParaRPr lang="en-US" sz="2400" dirty="0"/>
          </a:p>
        </p:txBody>
      </p:sp>
      <p:sp>
        <p:nvSpPr>
          <p:cNvPr id="39" name="wave-model-icon-2-circle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wave-model-icon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wave-model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wave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 de testes</a:t>
            </a:r>
            <a:endParaRPr lang="en-US" sz="1500" dirty="0"/>
          </a:p>
        </p:txBody>
      </p:sp>
      <p:sp>
        <p:nvSpPr>
          <p:cNvPr id="43" name="wave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arrow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wave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wave-na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4</a:t>
            </a:r>
            <a:endParaRPr lang="en-US" sz="2400" dirty="0"/>
          </a:p>
        </p:txBody>
      </p:sp>
      <p:sp>
        <p:nvSpPr>
          <p:cNvPr id="47" name="wave-model-icon-3-circle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wave-model-icon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wave-model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wave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wave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status-legend-title"/>
          <p:cNvSpPr txBox="1"/>
          <p:nvPr/>
        </p:nvSpPr>
        <p:spPr>
          <a:xfrm>
            <a:off x="548640" y="5833872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53" name="status-legend-0"/>
          <p:cNvSpPr/>
          <p:nvPr/>
        </p:nvSpPr>
        <p:spPr>
          <a:xfrm>
            <a:off x="3134329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status-legend-label-0"/>
          <p:cNvSpPr txBox="1"/>
          <p:nvPr/>
        </p:nvSpPr>
        <p:spPr>
          <a:xfrm>
            <a:off x="3463513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status-legend-1"/>
          <p:cNvSpPr/>
          <p:nvPr/>
        </p:nvSpPr>
        <p:spPr>
          <a:xfrm>
            <a:off x="45216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status-legend-label-1"/>
          <p:cNvSpPr txBox="1"/>
          <p:nvPr/>
        </p:nvSpPr>
        <p:spPr>
          <a:xfrm>
            <a:off x="4850841" y="5833872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57" name="status-legend-2"/>
          <p:cNvSpPr/>
          <p:nvPr/>
        </p:nvSpPr>
        <p:spPr>
          <a:xfrm>
            <a:off x="6717314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status-legend-label-2"/>
          <p:cNvSpPr txBox="1"/>
          <p:nvPr/>
        </p:nvSpPr>
        <p:spPr>
          <a:xfrm>
            <a:off x="704649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status-legend-3"/>
          <p:cNvSpPr/>
          <p:nvPr/>
        </p:nvSpPr>
        <p:spPr>
          <a:xfrm>
            <a:off x="8427974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status-legend-label-3"/>
          <p:cNvSpPr txBox="1"/>
          <p:nvPr/>
        </p:nvSpPr>
        <p:spPr>
          <a:xfrm>
            <a:off x="875715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decide o grafo é um script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next-wave.mjs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plano e o estado e devolve o próximo lote de chamadas (uma wave pode ter vários)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modelo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exatamente essas chamadas, todas na mesma mensagem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list-chec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grade.mjs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teste de cada tarefa e decide: verde ou vermelho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Medir, não adivinhar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subagente termina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do swarm, quando acaba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hook SubagentStop corre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do kit (o hook Stop mede a sessão principal)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Tokens × preço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tokens reais do transcript, com os preços publicados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linha em usage.jsonl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agente, modelo, tempo e custo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 e /demo-cost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ao vivo e o relatório final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ciclo de cada tarefa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17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tarefa vira um grafo, revisto pelo Opus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swarm</a:t>
            </a:r>
            <a:endParaRPr lang="en-US" sz="17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Haiku fazem as peças em paralelo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review</a:t>
            </a:r>
            <a:endParaRPr lang="en-US" sz="17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Opus verifica os testes e a segurança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cost</a:t>
            </a:r>
            <a:endParaRPr lang="en-US" sz="17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custou, por agente e por modelo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memória</a:t>
            </a:r>
            <a:endParaRPr lang="en-US" sz="17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ficam para a próxima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construir: a Arena de Segurança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548640" y="1470660"/>
            <a:ext cx="5541264" cy="3742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Um desafio do jogo: clica na linha que expõe o segredo e confirm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543812"/>
            <a:ext cx="5394960" cy="3596640"/>
          </a:xfrm>
          <a:prstGeom prst="rect">
            <a:avLst/>
          </a:prstGeom>
        </p:spPr>
      </p:pic>
      <p:sp>
        <p:nvSpPr>
          <p:cNvPr id="5" name="image-caption"/>
          <p:cNvSpPr txBox="1"/>
          <p:nvPr/>
        </p:nvSpPr>
        <p:spPr>
          <a:xfrm>
            <a:off x="548640" y="5305044"/>
            <a:ext cx="5541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do jogo: clica na linha que expõe o segredo e confirma.</a:t>
            </a:r>
            <a:endParaRPr lang="en-US" sz="1300" dirty="0"/>
          </a:p>
        </p:txBody>
      </p:sp>
      <p:sp>
        <p:nvSpPr>
          <p:cNvPr id="6" name="intro-mark-0-circle"/>
          <p:cNvSpPr/>
          <p:nvPr/>
        </p:nvSpPr>
        <p:spPr>
          <a:xfrm>
            <a:off x="6492240" y="14630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intro-mark-0" descr="gamepad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2882" y="1573682"/>
            <a:ext cx="281635" cy="281635"/>
          </a:xfrm>
          <a:prstGeom prst="rect">
            <a:avLst/>
          </a:prstGeom>
        </p:spPr>
      </p:pic>
      <p:sp>
        <p:nvSpPr>
          <p:cNvPr id="8" name="intro-title-0"/>
          <p:cNvSpPr txBox="1"/>
          <p:nvPr/>
        </p:nvSpPr>
        <p:spPr>
          <a:xfrm>
            <a:off x="7223760" y="149961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mini-jogo, pronto a jogar</a:t>
            </a:r>
            <a:endParaRPr lang="en-US" sz="1900" dirty="0"/>
          </a:p>
        </p:txBody>
      </p:sp>
      <p:sp>
        <p:nvSpPr>
          <p:cNvPr id="9" name="intro-text-0"/>
          <p:cNvSpPr txBox="1"/>
          <p:nvPr/>
        </p:nvSpPr>
        <p:spPr>
          <a:xfrm>
            <a:off x="7223760" y="188366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curtos de segurança, no browser, em 10 categorias: passwords, phishing, web, redes, criptografia e mais.</a:t>
            </a:r>
            <a:endParaRPr lang="en-US" sz="1500" dirty="0"/>
          </a:p>
        </p:txBody>
      </p:sp>
      <p:sp>
        <p:nvSpPr>
          <p:cNvPr id="10" name="intro-mark-1-circle"/>
          <p:cNvSpPr/>
          <p:nvPr/>
        </p:nvSpPr>
        <p:spPr>
          <a:xfrm>
            <a:off x="6492240" y="280416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intro-mark-1" descr="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2882" y="2914802"/>
            <a:ext cx="281635" cy="281635"/>
          </a:xfrm>
          <a:prstGeom prst="rect">
            <a:avLst/>
          </a:prstGeom>
        </p:spPr>
      </p:pic>
      <p:sp>
        <p:nvSpPr>
          <p:cNvPr id="12" name="intro-title-1"/>
          <p:cNvSpPr txBox="1"/>
          <p:nvPr/>
        </p:nvSpPr>
        <p:spPr>
          <a:xfrm>
            <a:off x="7223760" y="284073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Cada tarefa cria um desafio</a:t>
            </a:r>
            <a:endParaRPr lang="en-US" sz="1900" dirty="0"/>
          </a:p>
        </p:txBody>
      </p:sp>
      <p:sp>
        <p:nvSpPr>
          <p:cNvPr id="13" name="intro-text-1"/>
          <p:cNvSpPr txBox="1"/>
          <p:nvPr/>
        </p:nvSpPr>
        <p:spPr>
          <a:xfrm>
            <a:off x="7223760" y="322478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4 formatos: apontar a linha insegura, escolher a resposta, ordenar os passos ou escrever a resposta.</a:t>
            </a:r>
            <a:endParaRPr lang="en-US" sz="1500" dirty="0"/>
          </a:p>
        </p:txBody>
      </p:sp>
      <p:sp>
        <p:nvSpPr>
          <p:cNvPr id="14" name="intro-mark-2-circle"/>
          <p:cNvSpPr/>
          <p:nvPr/>
        </p:nvSpPr>
        <p:spPr>
          <a:xfrm>
            <a:off x="6492240" y="414528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intro-mark-2" descr="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882" y="4255922"/>
            <a:ext cx="281635" cy="281635"/>
          </a:xfrm>
          <a:prstGeom prst="rect">
            <a:avLst/>
          </a:prstGeom>
        </p:spPr>
      </p:pic>
      <p:sp>
        <p:nvSpPr>
          <p:cNvPr id="16" name="intro-title-2"/>
          <p:cNvSpPr txBox="1"/>
          <p:nvPr/>
        </p:nvSpPr>
        <p:spPr>
          <a:xfrm>
            <a:off x="7223760" y="418185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 por tarefa</a:t>
            </a:r>
            <a:endParaRPr lang="en-US" sz="1900" dirty="0"/>
          </a:p>
        </p:txBody>
      </p:sp>
      <p:sp>
        <p:nvSpPr>
          <p:cNvPr id="17" name="intro-text-2"/>
          <p:cNvSpPr txBox="1"/>
          <p:nvPr/>
        </p:nvSpPr>
        <p:spPr>
          <a:xfrm>
            <a:off x="7223760" y="456590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faz uma tarefa e o teste dessa tarefa diz se ficou certa. No vídeo e no teu portátil: as mesmas 100.</a:t>
            </a:r>
            <a:endParaRPr lang="en-US" sz="1500" dirty="0"/>
          </a:p>
        </p:txBody>
      </p:sp>
      <p:sp>
        <p:nvSpPr>
          <p:cNvPr id="18" name="legend-background"/>
          <p:cNvSpPr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atus-legend-title"/>
          <p:cNvSpPr txBox="1"/>
          <p:nvPr/>
        </p:nvSpPr>
        <p:spPr>
          <a:xfrm>
            <a:off x="777240" y="5779008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20" name="status-legend-0"/>
          <p:cNvSpPr/>
          <p:nvPr/>
        </p:nvSpPr>
        <p:spPr>
          <a:xfrm>
            <a:off x="3362929" y="5806440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status-legend-label-0"/>
          <p:cNvSpPr txBox="1"/>
          <p:nvPr/>
        </p:nvSpPr>
        <p:spPr>
          <a:xfrm>
            <a:off x="3692113" y="5779008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22" name="status-legend-1"/>
          <p:cNvSpPr/>
          <p:nvPr/>
        </p:nvSpPr>
        <p:spPr>
          <a:xfrm>
            <a:off x="4750257" y="580644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status-legend-label-1"/>
          <p:cNvSpPr txBox="1"/>
          <p:nvPr/>
        </p:nvSpPr>
        <p:spPr>
          <a:xfrm>
            <a:off x="5079441" y="5779008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24" name="status-legend-2"/>
          <p:cNvSpPr/>
          <p:nvPr/>
        </p:nvSpPr>
        <p:spPr>
          <a:xfrm>
            <a:off x="6945914" y="5806440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5" name="status-legend-label-2"/>
          <p:cNvSpPr txBox="1"/>
          <p:nvPr/>
        </p:nvSpPr>
        <p:spPr>
          <a:xfrm>
            <a:off x="727509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26" name="status-legend-3"/>
          <p:cNvSpPr/>
          <p:nvPr/>
        </p:nvSpPr>
        <p:spPr>
          <a:xfrm>
            <a:off x="8656574" y="5806440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27" name="status-legend-label-3"/>
          <p:cNvSpPr txBox="1"/>
          <p:nvPr/>
        </p:nvSpPr>
        <p:spPr>
          <a:xfrm>
            <a:off x="898575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swarm em ação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com 100 tarefas, feita por agentes em paralelo. Depois constróis a tua, igual.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100 agentes a construir a Arena</a:t>
            </a:r>
            <a:endParaRPr lang="en-US" sz="3200" dirty="0"/>
          </a:p>
        </p:txBody>
      </p:sp>
      <p:pic>
        <p:nvPicPr>
          <p:cNvPr id="3" name="video-swarm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626664"/>
            <a:ext cx="11094415" cy="3513231"/>
          </a:xfrm>
          <a:prstGeom prst="rect">
            <a:avLst/>
          </a:prstGeom>
        </p:spPr>
      </p:pic>
      <p:sp>
        <p:nvSpPr>
          <p:cNvPr id="4" name="status-legend-background"/>
          <p:cNvSpPr/>
          <p:nvPr/>
        </p:nvSpPr>
        <p:spPr>
          <a:xfrm>
            <a:off x="548640" y="5139896"/>
            <a:ext cx="11094415" cy="4206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status-legend-title"/>
          <p:cNvSpPr txBox="1"/>
          <p:nvPr/>
        </p:nvSpPr>
        <p:spPr>
          <a:xfrm>
            <a:off x="777240" y="5213048"/>
            <a:ext cx="2404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200" dirty="0"/>
          </a:p>
        </p:txBody>
      </p:sp>
      <p:sp>
        <p:nvSpPr>
          <p:cNvPr id="6" name="status-legend-0"/>
          <p:cNvSpPr/>
          <p:nvPr/>
        </p:nvSpPr>
        <p:spPr>
          <a:xfrm>
            <a:off x="3181615" y="5240480"/>
            <a:ext cx="219456" cy="219456"/>
          </a:xfrm>
          <a:prstGeom prst="rect">
            <a:avLst/>
          </a:prstGeom>
          <a:solidFill>
            <a:srgbClr val="3A423E"/>
          </a:solidFill>
          <a:ln w="12700">
            <a:solidFill>
              <a:srgbClr val="3A423E"/>
            </a:solidFill>
            <a:prstDash val="solid"/>
          </a:ln>
        </p:spPr>
      </p:sp>
      <p:sp>
        <p:nvSpPr>
          <p:cNvPr id="7" name="status-legend-label-0"/>
          <p:cNvSpPr txBox="1"/>
          <p:nvPr/>
        </p:nvSpPr>
        <p:spPr>
          <a:xfrm>
            <a:off x="3510799" y="5213048"/>
            <a:ext cx="100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200" dirty="0"/>
          </a:p>
        </p:txBody>
      </p:sp>
      <p:sp>
        <p:nvSpPr>
          <p:cNvPr id="8" name="status-legend-1"/>
          <p:cNvSpPr/>
          <p:nvPr/>
        </p:nvSpPr>
        <p:spPr>
          <a:xfrm>
            <a:off x="4519199" y="524048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status-legend-label-1"/>
          <p:cNvSpPr txBox="1"/>
          <p:nvPr/>
        </p:nvSpPr>
        <p:spPr>
          <a:xfrm>
            <a:off x="4848383" y="5213048"/>
            <a:ext cx="17545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200" dirty="0"/>
          </a:p>
        </p:txBody>
      </p:sp>
      <p:sp>
        <p:nvSpPr>
          <p:cNvPr id="10" name="status-legend-2"/>
          <p:cNvSpPr/>
          <p:nvPr/>
        </p:nvSpPr>
        <p:spPr>
          <a:xfrm>
            <a:off x="6602934" y="5240480"/>
            <a:ext cx="219456" cy="219456"/>
          </a:xfrm>
          <a:prstGeom prst="rect">
            <a:avLst/>
          </a:prstGeom>
          <a:solidFill>
            <a:srgbClr val="2FBF6C"/>
          </a:solidFill>
          <a:ln w="12700">
            <a:solidFill>
              <a:srgbClr val="2FBF6C"/>
            </a:solidFill>
            <a:prstDash val="solid"/>
          </a:ln>
        </p:spPr>
      </p:sp>
      <p:sp>
        <p:nvSpPr>
          <p:cNvPr id="11" name="status-legend-label-2"/>
          <p:cNvSpPr txBox="1"/>
          <p:nvPr/>
        </p:nvSpPr>
        <p:spPr>
          <a:xfrm>
            <a:off x="6932118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200" dirty="0"/>
          </a:p>
        </p:txBody>
      </p:sp>
      <p:sp>
        <p:nvSpPr>
          <p:cNvPr id="12" name="status-legend-3"/>
          <p:cNvSpPr/>
          <p:nvPr/>
        </p:nvSpPr>
        <p:spPr>
          <a:xfrm>
            <a:off x="8238978" y="5240480"/>
            <a:ext cx="219456" cy="219456"/>
          </a:xfrm>
          <a:prstGeom prst="rect">
            <a:avLst/>
          </a:prstGeom>
          <a:solidFill>
            <a:srgbClr val="EF5B52"/>
          </a:solidFill>
          <a:ln w="12700">
            <a:solidFill>
              <a:srgbClr val="EF5B52"/>
            </a:solidFill>
            <a:prstDash val="solid"/>
          </a:ln>
        </p:spPr>
      </p:sp>
      <p:sp>
        <p:nvSpPr>
          <p:cNvPr id="13" name="status-legend-label-3"/>
          <p:cNvSpPr txBox="1"/>
          <p:nvPr/>
        </p:nvSpPr>
        <p:spPr>
          <a:xfrm>
            <a:off x="8568162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200" dirty="0"/>
          </a:p>
        </p:txBody>
      </p:sp>
      <p:sp>
        <p:nvSpPr>
          <p:cNvPr id="14" name="caption"/>
          <p:cNvSpPr txBox="1"/>
          <p:nvPr/>
        </p:nvSpPr>
        <p:spPr>
          <a:xfrm>
            <a:off x="548640" y="570682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real gravada (plan, swarm, review e cost): 6,9 min · US$ 2,55 · 107 agentes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resultado: o jogo pronto para usar</a:t>
            </a:r>
            <a:endParaRPr lang="en-US" sz="3200" dirty="0"/>
          </a:p>
        </p:txBody>
      </p:sp>
      <p:pic>
        <p:nvPicPr>
          <p:cNvPr id="3" name="video-gam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94408" y="1371600"/>
            <a:ext cx="7802880" cy="438912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que o swarm construiu: desafios de segurança em 4 formatos, para jogar no browser.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1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de Segurança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fazer neste projeto hoje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"/>
          <p:cNvSpPr/>
          <p:nvPr/>
        </p:nvSpPr>
        <p:spPr>
          <a:xfrm>
            <a:off x="868680" y="2011680"/>
            <a:ext cx="548640" cy="54864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Pronto</a:t>
            </a:r>
            <a:endParaRPr lang="en-US" sz="2600" dirty="0"/>
          </a:p>
        </p:txBody>
      </p:sp>
      <p:sp>
        <p:nvSpPr>
          <p:cNvPr id="6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da app, 4 formatos de desafio e um teste para cada tarefa</a:t>
            </a:r>
            <a:endParaRPr lang="en-US" sz="1900" dirty="0"/>
          </a:p>
        </p:txBody>
      </p:sp>
      <p:sp>
        <p:nvSpPr>
          <p:cNvPr id="7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mark-1"/>
          <p:cNvSpPr/>
          <p:nvPr/>
        </p:nvSpPr>
        <p:spPr>
          <a:xfrm>
            <a:off x="4673498" y="2011680"/>
            <a:ext cx="548640" cy="54864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9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 fazer</a:t>
            </a:r>
            <a:endParaRPr lang="en-US" sz="2600" dirty="0"/>
          </a:p>
        </p:txBody>
      </p:sp>
      <p:sp>
        <p:nvSpPr>
          <p:cNvPr id="10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 tarefas: 100 desafios, o lib-hash, 2 páginas, a integração e a revisão</a:t>
            </a:r>
            <a:endParaRPr lang="en-US" sz="1900" dirty="0"/>
          </a:p>
        </p:txBody>
      </p:sp>
      <p:sp>
        <p:nvSpPr>
          <p:cNvPr id="11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mark-2"/>
          <p:cNvSpPr/>
          <p:nvPr/>
        </p:nvSpPr>
        <p:spPr>
          <a:xfrm>
            <a:off x="8478317" y="2011680"/>
            <a:ext cx="548640" cy="54864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faz</a:t>
            </a:r>
            <a:endParaRPr lang="en-US" sz="2600" dirty="0"/>
          </a:p>
        </p:txBody>
      </p:sp>
      <p:sp>
        <p:nvSpPr>
          <p:cNvPr id="14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swarm: Haiku, Sonnet e Opus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/demo-plan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35890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.claude/skills/demo-plan/SKILL.md (resumo)</a:t>
            </a:r>
            <a:endParaRPr lang="en-US" sz="13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39112"/>
            <a:ext cx="5303520" cy="2921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demo-plan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Read, Agent,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tools/*, memory_search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Procura lições na memória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node tools/plan.mjs  → o grafo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O agente planner (Opus) revê o plano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Mostra as waves, o diagrama e o custo</a:t>
            </a:r>
            <a:endParaRPr lang="en-US" sz="17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scroll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É uma skill</a:t>
            </a:r>
            <a:endParaRPr lang="en-US" sz="20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Markdown com passos. Escreves /demo-plan e o Claude segue a receita, sempre igual.</a:t>
            </a:r>
            <a:endParaRPr lang="en-US" sz="15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workfl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entra e o que sai</a:t>
            </a:r>
            <a:endParaRPr lang="en-US" sz="20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Entram as especificações da Arena (resumidas no TASKS.md). Saem o plan.json e o PLAN.md: o grafo com as dependências, as waves e a estimativa de custo.</a:t>
            </a:r>
            <a:endParaRPr lang="en-US" sz="15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0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faz o mesmo para uma issue tua do Jira ou do GitHub.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e escolhe "Yes, I trust this folder" (↓ e Enter: a opção já selecionada é sair)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/demo-plan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72821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diagrama Mermaid, 4 waves e uma estimativa perto de US$ 3,70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teu plano: 4 waves</a:t>
            </a:r>
            <a:endParaRPr lang="en-US" sz="3200" dirty="0"/>
          </a:p>
        </p:txBody>
      </p:sp>
      <p:sp>
        <p:nvSpPr>
          <p:cNvPr id="3" name="wave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wave-na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1</a:t>
            </a:r>
            <a:endParaRPr lang="en-US" sz="2400" dirty="0"/>
          </a:p>
        </p:txBody>
      </p:sp>
      <p:sp>
        <p:nvSpPr>
          <p:cNvPr id="5" name="wave-model-icon-0-circle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wave-model-icon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wave-model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wave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100 tarefas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label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task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task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task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task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task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task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task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task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task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task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task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task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y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y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y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ypto-label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de criptografia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arrow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wave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wave-na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2</a:t>
            </a:r>
            <a:endParaRPr lang="en-US" sz="2400" dirty="0"/>
          </a:p>
        </p:txBody>
      </p:sp>
      <p:sp>
        <p:nvSpPr>
          <p:cNvPr id="30" name="wave-model-icon-1-circle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wave-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wave-model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wave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wave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wave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arrow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wave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wave-na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3</a:t>
            </a:r>
            <a:endParaRPr lang="en-US" sz="2400" dirty="0"/>
          </a:p>
        </p:txBody>
      </p:sp>
      <p:sp>
        <p:nvSpPr>
          <p:cNvPr id="39" name="wave-model-icon-2-circle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wave-model-icon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wave-model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wave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 de testes</a:t>
            </a:r>
            <a:endParaRPr lang="en-US" sz="1500" dirty="0"/>
          </a:p>
        </p:txBody>
      </p:sp>
      <p:sp>
        <p:nvSpPr>
          <p:cNvPr id="43" name="wave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arrow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wave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wave-na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4</a:t>
            </a:r>
            <a:endParaRPr lang="en-US" sz="2400" dirty="0"/>
          </a:p>
        </p:txBody>
      </p:sp>
      <p:sp>
        <p:nvSpPr>
          <p:cNvPr id="47" name="wave-model-icon-3-circle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wave-model-icon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wave-model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wave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wave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status-legend-title"/>
          <p:cNvSpPr txBox="1"/>
          <p:nvPr/>
        </p:nvSpPr>
        <p:spPr>
          <a:xfrm>
            <a:off x="548640" y="5833872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53" name="status-legend-0"/>
          <p:cNvSpPr/>
          <p:nvPr/>
        </p:nvSpPr>
        <p:spPr>
          <a:xfrm>
            <a:off x="3134329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status-legend-label-0"/>
          <p:cNvSpPr txBox="1"/>
          <p:nvPr/>
        </p:nvSpPr>
        <p:spPr>
          <a:xfrm>
            <a:off x="3463513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status-legend-1"/>
          <p:cNvSpPr/>
          <p:nvPr/>
        </p:nvSpPr>
        <p:spPr>
          <a:xfrm>
            <a:off x="45216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status-legend-label-1"/>
          <p:cNvSpPr txBox="1"/>
          <p:nvPr/>
        </p:nvSpPr>
        <p:spPr>
          <a:xfrm>
            <a:off x="4850841" y="5833872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57" name="status-legend-2"/>
          <p:cNvSpPr/>
          <p:nvPr/>
        </p:nvSpPr>
        <p:spPr>
          <a:xfrm>
            <a:off x="6717314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status-legend-label-2"/>
          <p:cNvSpPr txBox="1"/>
          <p:nvPr/>
        </p:nvSpPr>
        <p:spPr>
          <a:xfrm>
            <a:off x="704649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status-legend-3"/>
          <p:cNvSpPr/>
          <p:nvPr/>
        </p:nvSpPr>
        <p:spPr>
          <a:xfrm>
            <a:off x="8427974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status-legend-label-3"/>
          <p:cNvSpPr txBox="1"/>
          <p:nvPr/>
        </p:nvSpPr>
        <p:spPr>
          <a:xfrm>
            <a:off x="875715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/demo-swarm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3250692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.claude/skills/demo-swarm/SKILL.md (resumo)</a:t>
            </a:r>
            <a:endParaRPr lang="en-US" sz="13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39112"/>
            <a:ext cx="53035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node tools/*,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Repete até STATE: DONE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1. next-wave.mjs → o próximo lote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2. Lança os agentes do lote, em paralelo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3. Cada agente faz 1 tarefa e corre o teste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4. Mostra a tabela: agente, modelo, custo</a:t>
            </a:r>
            <a:endParaRPr lang="en-US" sz="15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script decide</a:t>
            </a:r>
            <a:endParaRPr lang="en-US" sz="20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diz o que pode correr agora. O Claude lança só o lote que o script lhe dá: não improvisa.</a:t>
            </a:r>
            <a:endParaRPr lang="en-US" sz="15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agente, uma tarefa</a:t>
            </a:r>
            <a:endParaRPr lang="en-US" sz="20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começa com o contexto limpo, tem uma tarefa e o teste dessa tarefa, e usa o modelo certo: Haiku para o grosso do trabalho.</a:t>
            </a:r>
            <a:endParaRPr lang="en-US" sz="15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0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/task-swarm faz o mesmo com as subtarefas da tua issue.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segundo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o servidor e abre a página /status no browser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0400"/>
            <a:ext cx="6705295" cy="13898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30752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http://localhost:3000/status: os quadrados ficam amarelos e depois verdes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 sem interromper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ao Terminal 1 sem parar o 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/btw e a tua pergunta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resposta e fecha-a com Esc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96697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299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/btw porque é que a tarefa cr-01 espera pelo lib-hash?</a:t>
            </a:r>
            <a:endParaRPr lang="en-US" sz="15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resposta à parte, fora da conversa; depois de Esc, o swarm segue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Hooks: o Claude Code avisa, um script reage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2371039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→ comando, no .claude/settings.json</a:t>
            </a:r>
            <a:endParaRPr lang="en-US" sz="13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39112"/>
            <a:ext cx="5303520" cy="1703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SubagentStop      ← um agente terminou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└─ node tools/workshop/hooks/subagent-stop.mjs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lê os tokens que esse agente gastou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grava o custo em .workshop/usage.jsonl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Outros eventos: PreToolUse, PostToolUse,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UserPromptSubmit, Stop, SessionStart</a:t>
            </a:r>
            <a:endParaRPr lang="en-US" sz="14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é</a:t>
            </a:r>
            <a:endParaRPr lang="en-US" sz="20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comando que o Claude Code corre sozinho num momento definido: antes ou depois de uma ferramenta, quando um agente acaba, no fim da sessão.</a:t>
            </a:r>
            <a:endParaRPr lang="en-US" sz="15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Para que serve</a:t>
            </a:r>
            <a:endParaRPr lang="en-US" sz="20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Medir, validar, formatar ou bloquear, sempre, sem depender de o modelo se lembrar. Aqui, mede o custo de cada agente.</a:t>
            </a:r>
            <a:endParaRPr lang="en-US" sz="15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wand-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o teu</a:t>
            </a:r>
            <a:endParaRPr lang="en-US" sz="20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ao Claude: "Cria um hook PostToolUse que corre o prettier em cada ficheiro que editares." Ele escreve-o no settings.json; vês e aprovas no /hooks.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Statusline: a linha de estado é um script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2194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por baixo da caixa de texto</a:t>
            </a:r>
            <a:endParaRPr lang="en-US" sz="13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39112"/>
            <a:ext cx="530352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── JSON da sessão ──▶ statusline.mjs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statusline.mjs ──── uma linha ────▶ ecrã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Sonnet 5.5 · sessão US$ 0,42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projeto US$ 1,10 de US$ 5,00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swarm 12✓ 2… 1✗ · 3 min</a:t>
            </a:r>
            <a:endParaRPr lang="en-US" sz="14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é</a:t>
            </a:r>
            <a:endParaRPr lang="en-US" sz="20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que recebe o estado da sessão (modelo, pasta, custo) e devolve uma linha de texto.</a:t>
            </a:r>
            <a:endParaRPr lang="en-US" sz="15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gau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kit</a:t>
            </a:r>
            <a:endParaRPr lang="en-US" sz="20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que o hook gravou e mostra o custo da sessão e do projeto, ao vivo, face ao alvo de US$ 5.</a:t>
            </a:r>
            <a:endParaRPr lang="en-US" sz="15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wand-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 tua</a:t>
            </a:r>
            <a:endParaRPr lang="en-US" sz="20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/statusline e diz o que queres ver, por exemplo "o branch do git e o custo da sessão". O Claude gera o script.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Num terceiro terminal: três funcionalidades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terceiro terminal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mode: Shift+Tab até "plan mode"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Headless: uma pergunta sem abrir sessão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Rewind: Esc Esc para voltar atrás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25455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5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(Shift+Tab) Como acrescentarias uma 11.ª categoria?</a:t>
            </a:r>
            <a:endParaRPr lang="en-US" sz="16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40339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58627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93374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-p "Resume o PLAN.md numa frase" --model claude-haiku-5-5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sem alterações, uma frase no terminal e um checkpoint para recuar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Worktrees e rotinas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git-f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claude -w experiencia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cópia isolada do repositório, num branch próprio, para trabalhar em paralelo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git-bra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isolation: worktree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subagente no seu próprio worktree, quando as tarefas mexem nos mesmos ficheiros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calendar-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Rotina local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agendador do sistema corre claude -p todos os dias. O /schedule na cloud exige subscrição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Até ficar tudo verde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procura quadrados vermelhos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houver, deixa um /loop corrigi-los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605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993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2m corre node tools/workshop/orchestrator/grade.mjs --all e corrige a primeira tarefa vermelha com o agente implementer; termina quando estiver tudo verde</a:t>
            </a:r>
            <a:endParaRPr lang="en-US" sz="14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loop termina sozinho quando a suite de testes fica verde</a:t>
            </a:r>
            <a:endParaRPr lang="en-US" sz="1800" dirty="0"/>
          </a:p>
        </p:txBody>
      </p:sp>
      <p:sp>
        <p:nvSpPr>
          <p:cNvPr id="12" name="notice-background"/>
          <p:cNvSpPr/>
          <p:nvPr/>
        </p:nvSpPr>
        <p:spPr>
          <a:xfrm>
            <a:off x="6773875" y="384048"/>
            <a:ext cx="48691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3" name="notice"/>
          <p:cNvSpPr txBox="1"/>
          <p:nvPr/>
        </p:nvSpPr>
        <p:spPr>
          <a:xfrm>
            <a:off x="6938467" y="384048"/>
            <a:ext cx="4539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comando está no Teams: copia-o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 de segurança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/demo-review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do revisor (Opus)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APPROVED: testes verdes, CSP ativa, sem eval nem innerHTML, sem segredos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 custou?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/demo-cost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os agentes Haiku com a sessão principal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agente, modelo e wave, perto de US$ 3,39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Joga o que o swarm construiu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galeria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 desafio e joga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"Correr testes"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desafios das tarefas verdes jogam-se; os vermelhos mostram porque falharam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do que fizeste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2202536" y="1389888"/>
            <a:ext cx="7786624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Procura por projeto, issue ou épico (ex.: arena ou EX-1): lições, &quot;fazer&quot;, &quot;não fazer&quot; e histórico, ligados a projetos, épicos, tarefas e ficheir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5688" y="1463040"/>
            <a:ext cx="7640320" cy="429768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por projeto, issue ou épico (ex.: arena ou EX-1): lições, "fazer", "não fazer" e histórico, ligados a projetos, épicos, tarefas e ficheiros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o teu primeiro grafo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app Agent Memory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 num nó para ler a lição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Arrasta o deslizador de tempo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35605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68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"$HOME/Applications/Agent Memory.app"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19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504895"/>
            <a:ext cx="6705295" cy="13898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687775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035247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 Iniciar → Agent Memory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da sessão da Arena, com as lições ligadas ao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2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tarefa real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 teu repositório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/task-intake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 do Jira ou do GitHub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/task-plan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quantos agentes e porquê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/task-swarm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agentes trabalham em lotes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 e o veredito do Opus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PR, depois do teu sim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4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Traz a tua tarefa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na raiz do teu projeto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Dá-lhe a issue do Jira (ABC-123) ou do GitHub (#42)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acesso? Usa o projeto de treino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projeto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7490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9319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de treino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279392"/>
            <a:ext cx="6248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18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Título, critérios de aceitação e o comando de teste do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planner decide quantos agentes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/task-plan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porquê do número de agentes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ou ajusta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Pequena: 1–3 agentes. Grande: mais, com justificação e estimativa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10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na pasta do projeto, abre o painel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Interrompe com Esc; corre /task-swarm de novo para retomar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0400"/>
            <a:ext cx="6705295" cy="16605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30752"/>
            <a:ext cx="6248095" cy="993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Lotes de agentes a terminar; nunca dois no mesmo ficheiro ao mesmo tempo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Jira e GitHub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tick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Jira (MCP + acli)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com login no /mcp; se falhar, o Atlassian CLI (acli auth login)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git-pull-reque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GitHub (gh)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 auth login: gasta menos contexto do que um MCP e não partilha tokens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user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Sempre com confirmação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 só depois do teu sim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Depois do workshop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shield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segredos, código perigoso e o veredito do Opus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message-squar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Jira: um comentário por subtarefa e o worklog. GitHub: o PR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/memory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desta tarefa ficam para a próxima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Cinco ideias para levar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 tornam o trabalho repetível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 dão contexto limpo e o modelo certo para cada peça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script decide o grafo; o modelo executa</a:t>
            </a:r>
            <a:endParaRPr lang="en-US" sz="2400" dirty="0"/>
          </a:p>
        </p:txBody>
      </p:sp>
      <p:sp>
        <p:nvSpPr>
          <p:cNvPr id="9" name="list-number-3"/>
          <p:cNvSpPr/>
          <p:nvPr/>
        </p:nvSpPr>
        <p:spPr>
          <a:xfrm>
            <a:off x="548640" y="449884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list-item-3"/>
          <p:cNvSpPr txBox="1"/>
          <p:nvPr/>
        </p:nvSpPr>
        <p:spPr>
          <a:xfrm>
            <a:off x="1280160" y="448056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Mede-se com hooks; o custo não se adivinha</a:t>
            </a:r>
            <a:endParaRPr lang="en-US" sz="2400" dirty="0"/>
          </a:p>
        </p:txBody>
      </p:sp>
      <p:sp>
        <p:nvSpPr>
          <p:cNvPr id="11" name="list-number-4"/>
          <p:cNvSpPr/>
          <p:nvPr/>
        </p:nvSpPr>
        <p:spPr>
          <a:xfrm>
            <a:off x="548640" y="53218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12" name="list-item-4"/>
          <p:cNvSpPr txBox="1"/>
          <p:nvPr/>
        </p:nvSpPr>
        <p:spPr>
          <a:xfrm>
            <a:off x="1280160" y="53035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faz cada tarefa ensinar a próxima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Amanhã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/task-intake na próxima issue que te atribuírem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Escreve uma skill para uma tarefa que repetes todas as semanas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a Agent Memory antes de planear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2800" dirty="0"/>
          </a:p>
        </p:txBody>
      </p:sp>
      <p:sp>
        <p:nvSpPr>
          <p:cNvPr id="4" name="footer"/>
          <p:cNvSpPr txBox="1"/>
          <p:nvPr/>
        </p:nvSpPr>
        <p:spPr>
          <a:xfrm>
            <a:off x="914400" y="438912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</dc:title>
  <dc:subject>PptxGenJS Presentation</dc:subject>
  <dc:creator>Workshop Claude</dc:creator>
  <cp:lastModifiedBy>Workshop Claude</cp:lastModifiedBy>
  <cp:revision>1</cp:revision>
  <dcterms:created xsi:type="dcterms:W3CDTF">2026-10-17T00:27:57Z</dcterms:created>
  <dcterms:modified xsi:type="dcterms:W3CDTF">2026-10-17T00:27:57Z</dcterms:modified>
</cp:coreProperties>
</file>