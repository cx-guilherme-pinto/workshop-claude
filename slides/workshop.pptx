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d78f0b6-2495-5904-1494-6033cf843d92}">
          <p14:sldIdLst>
            <p14:sldId id="256"/>
            <p14:sldId id="257"/>
            <p14:sldId id="258"/>
            <p14:sldId id="259"/>
          </p14:sldIdLst>
        </p14:section>
        <p14:section name="Verificar" id="{fb0d8bc6-e5f2-6c0b-fe50-9837b66cd8a7}">
          <p14:sldIdLst>
            <p14:sldId id="260"/>
            <p14:sldId id="261"/>
          </p14:sldIdLst>
        </p14:section>
        <p14:section name="Conceitos" id="{c988dd2c-85a7-facd-0f52-5776c99c0ce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eview" id="{9391e9a6-4cc4-1ca0-6612-26dc5bdc7497}">
          <p14:sldIdLst>
            <p14:sldId id="272"/>
            <p14:sldId id="273"/>
          </p14:sldIdLst>
        </p14:section>
        <p14:section name="Projeto 1" id="{b7914fe0-3ecb-4b8a-8763-463fbf9dc042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Memória" id="{4c661cf7-3fb6-203b-e80e-b7e4b503a99b}">
          <p14:sldIdLst>
            <p14:sldId id="287"/>
            <p14:sldId id="288"/>
          </p14:sldIdLst>
        </p14:section>
        <p14:section name="Projeto 2" id="{7966267b-44d2-d314-2f08-7ff7a7c346b1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74fb3316-706b-a4d1-8ecb-220d34c5d685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enxame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3:30] 1 min · deves estar aqui aos 3 min
O relógio está nas notas de cada slide. As perguntas ficam para o fim, sem limite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→ 5:00] 1.5 min · deves estar aqui aos 4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8:00] 3 min · deves estar aqui aos 5 min
Toda a gente corre o check. Demora 2 a 3 minutos e não instala nada. Quem não fez o setup segue com o vizinho e instala no intervalo das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10:00] 2 min · deves estar aqui aos 8 min
O Claude lê só o excerto do log daquele passo, sem segredos, e propõe comandos. Nunca executa nada sem confirmação. Se o Claude ainda não estiver instalado, aparece a mensagem pré-escrita do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→ 10:30] 0.5 min · deves estar aqui aos 10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12:00] 1.5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deves estar aqui aos 12 min
As skills substituíram os slash commands antigos. O frontmatter fixa o modelo e as ferramentas autorizadas. Hoje vamos usar dois sets: os /demo-* na Arena e os /task-*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deves estar aqui aos 16 min
O enxame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deves estar aqui aos 18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21:30] 1.5 min · deves estar aqui aos 20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→ 23:00] 1.5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24:00] 1 min · deves estar aqui aos 23 min
É o mesmo ciclo nos dois projetos: planear com Opus, executar em enxame,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25:00] 1 min · PODE SALTAR · deves estar aqui aos 24 min
Saltar se houver atraso. O Claude Code recusa o 21.º subagente em simultâneo. Os limites de taxa da API são por organização. Por isso trabalhamos em 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deves estar aqui aos 25 min
Vídeo acelerado de uma execução real do modo apresentador. O tempo e o custo que aparecem no ecrã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30:00] 1 min · deves estar aqui aos 29 min
Abrir a Arena final no browser e jogar um cartão. É uma app estática, sem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30:30] 0.5 min · deves estar aqui aos 30 min
25 minutos de hands-on. No benchmark, o enxame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31:30] 1 min · deves estar aqui aos 31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[31:30 → 34:30] 3 min · deves estar aqui aos 32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[34:30 → 36:00] 1.5 min · deves estar aqui aos 35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→ 38:00] 2 min · deves estar aqui aos 36 min
A partir daqui o enxame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→ 40:00] 2 min · deves estar aqui aos 38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→ 42:00] 2 min · deves estar aqui aos 40 min
Mostrar a statusline a mudar enquanto os agentes terminam. Explicar porque é que o /usage pode mostrar mais: versões que ainda não conhecem os preços mais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45:00] 3 min · deves estar aqui aos 42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PODE SALTAR · deves estar aqui aos 45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deves estar aqui aos 47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51:00] 2 min · deves estar aqui aos 49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 → 53:00] 2 min · deves estar aqui aos 51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57:00] 2 min · deves estar aqui aos 55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[57:00 → 60:00] 3 min · deves estar aqui aos 57 min
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60:30] 0.5 min · deves estar aqui aos 60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[60:30 → 62:00] 1.5 min · deves estar aqui aos 61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66:00] 4 min · deves estar aqui aos 62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[66:00 → 71:00] 5 min · deves estar aqui aos 66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81:00] 10 min · deves estar aqui aos 71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[81:00 → 82:00] 1 min · PODE SALTAR · deves estar aqui aos 81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84:00] 2 min · deves estar aqui aos 82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[84:00 → 85:00] 1 min · PODE SALTAR · deves estar aqui aos 84 min
Saltar se houver atraso. Com assinatura, a mesma sessão pode continuar no telemóvel e as rotinas correm 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 de agentes com Claude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1C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Orquestração de agentes com Claude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subagentes e enxames paralelos, com custo medido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levas para casa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enxame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90 minutos</a:t>
            </a:r>
            <a:endParaRPr lang="en-US" sz="3600" dirty="0"/>
          </a:p>
        </p:txBody>
      </p:sp>
      <p:sp>
        <p:nvSpPr>
          <p:cNvPr id="3" name="bloco-0"/>
          <p:cNvSpPr/>
          <p:nvPr/>
        </p:nvSpPr>
        <p:spPr>
          <a:xfrm>
            <a:off x="54864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4" name="bloco-min-0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0′</a:t>
            </a:r>
            <a:endParaRPr lang="en-US" sz="1400" dirty="0"/>
          </a:p>
        </p:txBody>
      </p:sp>
      <p:sp>
        <p:nvSpPr>
          <p:cNvPr id="5" name="bloco-nome-0"/>
          <p:cNvSpPr txBox="1"/>
          <p:nvPr/>
        </p:nvSpPr>
        <p:spPr>
          <a:xfrm>
            <a:off x="5486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Abertura</a:t>
            </a:r>
            <a:endParaRPr lang="en-US" sz="1800" dirty="0"/>
          </a:p>
        </p:txBody>
      </p:sp>
      <p:sp>
        <p:nvSpPr>
          <p:cNvPr id="6" name="bloco-1"/>
          <p:cNvSpPr/>
          <p:nvPr/>
        </p:nvSpPr>
        <p:spPr>
          <a:xfrm>
            <a:off x="1164996" y="2011680"/>
            <a:ext cx="570636" cy="14630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7" name="bloco-min-1"/>
          <p:cNvSpPr txBox="1"/>
          <p:nvPr/>
        </p:nvSpPr>
        <p:spPr>
          <a:xfrm>
            <a:off x="1164996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5′</a:t>
            </a:r>
            <a:endParaRPr lang="en-US" sz="1400" dirty="0"/>
          </a:p>
        </p:txBody>
      </p:sp>
      <p:sp>
        <p:nvSpPr>
          <p:cNvPr id="8" name="bloco-nome-1"/>
          <p:cNvSpPr txBox="1"/>
          <p:nvPr/>
        </p:nvSpPr>
        <p:spPr>
          <a:xfrm>
            <a:off x="1164996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Verificar</a:t>
            </a:r>
            <a:endParaRPr lang="en-US" sz="1800" dirty="0"/>
          </a:p>
        </p:txBody>
      </p:sp>
      <p:sp>
        <p:nvSpPr>
          <p:cNvPr id="9" name="bloco-2"/>
          <p:cNvSpPr/>
          <p:nvPr/>
        </p:nvSpPr>
        <p:spPr>
          <a:xfrm>
            <a:off x="1781353" y="2011680"/>
            <a:ext cx="1803349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0" name="bloco-min-2"/>
          <p:cNvSpPr txBox="1"/>
          <p:nvPr/>
        </p:nvSpPr>
        <p:spPr>
          <a:xfrm>
            <a:off x="1781353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10′</a:t>
            </a:r>
            <a:endParaRPr lang="en-US" sz="1400" dirty="0"/>
          </a:p>
        </p:txBody>
      </p:sp>
      <p:sp>
        <p:nvSpPr>
          <p:cNvPr id="11" name="bloco-nome-2"/>
          <p:cNvSpPr txBox="1"/>
          <p:nvPr/>
        </p:nvSpPr>
        <p:spPr>
          <a:xfrm>
            <a:off x="1781353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1800" dirty="0"/>
          </a:p>
        </p:txBody>
      </p:sp>
      <p:sp>
        <p:nvSpPr>
          <p:cNvPr id="12" name="bloco-3"/>
          <p:cNvSpPr/>
          <p:nvPr/>
        </p:nvSpPr>
        <p:spPr>
          <a:xfrm>
            <a:off x="3630422" y="2011680"/>
            <a:ext cx="570636" cy="14630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13" name="bloco-min-3"/>
          <p:cNvSpPr txBox="1"/>
          <p:nvPr/>
        </p:nvSpPr>
        <p:spPr>
          <a:xfrm>
            <a:off x="3630422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25′</a:t>
            </a:r>
            <a:endParaRPr lang="en-US" sz="1400" dirty="0"/>
          </a:p>
        </p:txBody>
      </p:sp>
      <p:sp>
        <p:nvSpPr>
          <p:cNvPr id="14" name="bloco-nome-3"/>
          <p:cNvSpPr txBox="1"/>
          <p:nvPr/>
        </p:nvSpPr>
        <p:spPr>
          <a:xfrm>
            <a:off x="3630422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Preview</a:t>
            </a:r>
            <a:endParaRPr lang="en-US" sz="1800" dirty="0"/>
          </a:p>
        </p:txBody>
      </p:sp>
      <p:sp>
        <p:nvSpPr>
          <p:cNvPr id="15" name="bloco-4"/>
          <p:cNvSpPr/>
          <p:nvPr/>
        </p:nvSpPr>
        <p:spPr>
          <a:xfrm>
            <a:off x="4246778" y="2011680"/>
            <a:ext cx="3036062" cy="14630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bloco-min-4"/>
          <p:cNvSpPr txBox="1"/>
          <p:nvPr/>
        </p:nvSpPr>
        <p:spPr>
          <a:xfrm>
            <a:off x="4246778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400" dirty="0"/>
          </a:p>
        </p:txBody>
      </p:sp>
      <p:sp>
        <p:nvSpPr>
          <p:cNvPr id="17" name="bloco-nome-4"/>
          <p:cNvSpPr txBox="1"/>
          <p:nvPr/>
        </p:nvSpPr>
        <p:spPr>
          <a:xfrm>
            <a:off x="4246778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1800" dirty="0"/>
          </a:p>
        </p:txBody>
      </p:sp>
      <p:sp>
        <p:nvSpPr>
          <p:cNvPr id="18" name="bloco-5"/>
          <p:cNvSpPr/>
          <p:nvPr/>
        </p:nvSpPr>
        <p:spPr>
          <a:xfrm>
            <a:off x="732856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9" name="bloco-min-5"/>
          <p:cNvSpPr txBox="1"/>
          <p:nvPr/>
        </p:nvSpPr>
        <p:spPr>
          <a:xfrm>
            <a:off x="7328560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55′</a:t>
            </a:r>
            <a:endParaRPr lang="en-US" sz="1400" dirty="0"/>
          </a:p>
        </p:txBody>
      </p:sp>
      <p:sp>
        <p:nvSpPr>
          <p:cNvPr id="20" name="bloco-nome-5"/>
          <p:cNvSpPr txBox="1"/>
          <p:nvPr/>
        </p:nvSpPr>
        <p:spPr>
          <a:xfrm>
            <a:off x="7328560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800" dirty="0"/>
          </a:p>
        </p:txBody>
      </p:sp>
      <p:sp>
        <p:nvSpPr>
          <p:cNvPr id="21" name="bloco-6"/>
          <p:cNvSpPr/>
          <p:nvPr/>
        </p:nvSpPr>
        <p:spPr>
          <a:xfrm>
            <a:off x="7944917" y="2011680"/>
            <a:ext cx="3036062" cy="146304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2" name="bloco-min-6"/>
          <p:cNvSpPr txBox="1"/>
          <p:nvPr/>
        </p:nvSpPr>
        <p:spPr>
          <a:xfrm>
            <a:off x="7944917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60′</a:t>
            </a:r>
            <a:endParaRPr lang="en-US" sz="1400" dirty="0"/>
          </a:p>
        </p:txBody>
      </p:sp>
      <p:sp>
        <p:nvSpPr>
          <p:cNvPr id="23" name="bloco-nome-6"/>
          <p:cNvSpPr txBox="1"/>
          <p:nvPr/>
        </p:nvSpPr>
        <p:spPr>
          <a:xfrm>
            <a:off x="7944917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1800" dirty="0"/>
          </a:p>
        </p:txBody>
      </p:sp>
      <p:sp>
        <p:nvSpPr>
          <p:cNvPr id="24" name="bloco-7"/>
          <p:cNvSpPr/>
          <p:nvPr/>
        </p:nvSpPr>
        <p:spPr>
          <a:xfrm>
            <a:off x="11026699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25" name="bloco-min-7"/>
          <p:cNvSpPr txBox="1"/>
          <p:nvPr/>
        </p:nvSpPr>
        <p:spPr>
          <a:xfrm>
            <a:off x="11026699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85′</a:t>
            </a:r>
            <a:endParaRPr lang="en-US" sz="1400" dirty="0"/>
          </a:p>
        </p:txBody>
      </p:sp>
      <p:sp>
        <p:nvSpPr>
          <p:cNvPr id="26" name="bloco-nome-7"/>
          <p:cNvSpPr txBox="1"/>
          <p:nvPr/>
        </p:nvSpPr>
        <p:spPr>
          <a:xfrm>
            <a:off x="11026699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Fecho</a:t>
            </a:r>
            <a:endParaRPr lang="en-US" sz="1800" dirty="0"/>
          </a:p>
        </p:txBody>
      </p:sp>
      <p:sp>
        <p:nvSpPr>
          <p:cNvPr id="27" name="agenda-fim"/>
          <p:cNvSpPr txBox="1"/>
          <p:nvPr/>
        </p:nvSpPr>
        <p:spPr>
          <a:xfrm>
            <a:off x="7528255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90′ e depois perguntas, sem limite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As regras do custo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10 execuções reais: média US$ 1,03,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 a instalação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"Está tudo pronto para o workshop"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Algum passo falhou?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Claude Code trabalha no teu projeto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skill é uma receita com nome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Executa o enxame da Arena em ondas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Corre next-wave.mjs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Lança exatamente as chamadas que ele devolve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Repete até ESTADO: FIM</a:t>
            </a:r>
            <a:endParaRPr lang="en-US" sz="16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Subagentes: contexto e modelo próprios</a:t>
            </a:r>
            <a:endParaRPr lang="en-US" sz="36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enxame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pricing.json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regra económica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enxame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Tarefa → grafo →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decide o grafo é um script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Medir, não adivinhar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ciclo de cada tarefa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Limites que respeitamos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subagentes em simultâneo, no máximo, por sessão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 por defeito hoje, para contas novas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16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apresentador (100 agentes em lotes)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 agentes a construir a Arena</a:t>
            </a:r>
            <a:endParaRPr lang="en-US" sz="36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resultado: um jogo para jogar</a:t>
            </a:r>
            <a:endParaRPr lang="en-US" sz="3600" dirty="0"/>
          </a:p>
        </p:txBody>
      </p:sp>
      <p:pic>
        <p:nvPicPr>
          <p:cNvPr id="3" name="imagem" descr="Verde: o teste passou · vermelho: falhou. O que não funcionou também se vê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o teste passou · vermelho: falhou. O que não funcionou também se vê.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já está pronto e o que falta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enxame: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Planeia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teu plano: 4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Solta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 sem interromper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enxame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enxame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statusline e o hook que a alimenta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baixo: modelo · sessão · projeto contra o alvo · tempo · enxame.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"hooks":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"SubagentStop": [{ "hooks": [{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"node tools/workshop/hooks/subagent-stop.mjs"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}]}]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"statusLine":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"node tools/workshop/statusline/statusline.mjs"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.claude/settings.json da Arena. O /usage do Claude Code dá outra estimativa; o /demo-cost usa os preços publicados.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 Terminal 2: três funcionalidades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40339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93374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Worktrees e rotinas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Até ficar tudo verde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gate de segurança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Quanto custou?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Joga o que o enxame construiu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do que fizeste</a:t>
            </a:r>
            <a:endParaRPr lang="en-US" sz="3600" dirty="0"/>
          </a:p>
        </p:txBody>
      </p:sp>
      <p:pic>
        <p:nvPicPr>
          <p:cNvPr id="3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o teu primeiro grafo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mesmo ciclo, no teu repositório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4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Traz a tua tarefa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5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planner decide quantos agentes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10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Põe o enxame a trabalhar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e GitHub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Depois do workshop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Desktop e telemóvel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Desktop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conversar, com conta claude.ai; o separador Code exige assinatura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Telemóvel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Remote Control exige assinatura e não aceita API keys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Hoje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no Claude Code, com a tua conta Console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Cinco ideias para levar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Onde está tudo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0574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https://gitea.guilhermepinto.pt/guilherme/workshop-claude/releases/download/v1.0.0-dev.2/setup-mac.sh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https://gitea.guilhermepinto.pt/guilherme/workshop-claude/releases/download/v1.0.0-dev.2/bootstrap-windows.ps1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https://gitea.guilhermepinto.pt/guilherme/workshop-claude · versão v1.0.0-dev.2 · atualizar a memória: memoria update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Amanhã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limite de tempo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2026-10-16T15:38:10Z</dcterms:created>
  <dcterms:modified xsi:type="dcterms:W3CDTF">2026-10-16T15:38:10Z</dcterms:modified>
</cp:coreProperties>
</file>