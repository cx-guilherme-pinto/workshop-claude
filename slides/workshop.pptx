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766b6b3-c74c-ed42-e7d8-24b8032969d2}">
          <p14:sldIdLst>
            <p14:sldId id="256"/>
            <p14:sldId id="257"/>
            <p14:sldId id="258"/>
          </p14:sldIdLst>
        </p14:section>
        <p14:section name="Instalar" id="{f68d488b-4229-a6b7-ffe5-9f33e7005318}">
          <p14:sldIdLst>
            <p14:sldId id="259"/>
            <p14:sldId id="260"/>
            <p14:sldId id="261"/>
          </p14:sldIdLst>
        </p14:section>
        <p14:section name="Conceitos" id="{dd3cb791-d93e-059f-e8bd-7e604c286b54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review" id="{9f337908-d06d-e1b8-0ff7-1caae982fca1}">
          <p14:sldIdLst>
            <p14:sldId id="268"/>
            <p14:sldId id="269"/>
            <p14:sldId id="270"/>
            <p14:sldId id="271"/>
          </p14:sldIdLst>
        </p14:section>
        <p14:section name="Projeto 1" id="{1755e970-0591-e3d1-e36f-9302a1eed12c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Memória" id="{02440d3e-581d-21ee-8302-209074c965d9}">
          <p14:sldIdLst>
            <p14:sldId id="289"/>
            <p14:sldId id="290"/>
          </p14:sldIdLst>
        </p14:section>
        <p14:section name="Projeto 2" id="{3dd1c3e6-bc2c-457a-b49f-1bcbf66fdd3c}">
          <p14:sldIdLst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Encerramento" id="{ce5700a7-f2a8-cd67-cc1d-8f44d04da1b4}">
          <p14:sldIdLst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 → 1:00] 1 min · deves estar aqui aos 0 min
Boas-vindas. Em 90 minutos vamos pôr um swarm de agentes a construir um jogo e, depois, a trabalhar numa tarefa a sério, num repositório com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 → 2:30] 1,5 min · deves estar aqui aos 1 min
Três resultados concretos. Tudo fica instalado no portátil de cada um e continua a funcionar depois de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[2:30 → 4:00] 1,5 min · deves estar aqui aos 3 min
O orçamento é garantido pelo benchmark, não por cortes. Se alguém passar o alvo, aparece um aviso e a pessoa continua a trabalhar. Os números do rodapé são os da execução de referência do Projeto 1 (8 agentes em paralelo, como no portátil de cada um): são os mesmos que aparecem no resto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 → 5:30] 1,5 min · deves estar aqui aos 4 min
Quase todos já instalaram antes (pré-trabalho): para esses, este slide é só para saberem onde está o comando. Quem ainda não instalou corre agora e segue com o vizinho enquanto instala (10 a 20 minutos). O mesmo comando serve para instalar noutra máquina. Os comandos são gerados a partir do repos.conf: estão sempre certos para a versão publicada (v1.0.0-rc.4). Para atualizar só a app Agent Memory: agent-memory update. Antes deste slide, enviar os comandos no Teams para todos copiarem.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 → 8:30] 3 min · deves estar aqui aos 6 min
Toda a gente corre o check. Demora 2 a 3 minutos e não instala nada. Quem não fez o setup segue com o vizinho e instala no intervalo das perguntas. O setup fala inglês, mas deteta a língua da máquina e grava a definição language do Claude Code (português, inglês, hindi ou hebraico): as skills respondem nessa língua. A Arena, as tabelas do orquestrador e as docs ficam em português ou inglês (as outras línguas ficam em inglês). Antes deste slide, enviar os comandos no Teams para todos copiarem.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[8:30 → 10:30] 2 min · deves estar aqui aos 9 min
O doctor verifica tudo e, se algum passo falhou, pede um diagnóstico ao Claude: envia o estado de cada passo e o fim do log, sem segredos. Não executa nada. Voltar a correr o comando de instalação repete só os passos que faltam; aí, em cada falha, o Claude propõe comandos e só os corre com confirmação, um a um. Se o Claude ainda não estiver instalado, aparece a ajuda pré-escrita do TROUBLESHOOTING. Antes deste slide, enviar os comandos no Teams para todos copiarem.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[10:30 → 11:00] 0,5 min · deves estar aqui aos 11 min
Sete minutos de ideias, um conceito por slide. O grafo de tarefas e a medição do custo ficam para o Projeto 1, ao lado do sítio onde se usam.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[11:00 → 12:30] 1,5 min · deves estar aqui aos 11 min
O Claude Code não é um chat: é um agente que age no repositório. Tudo o que faz passa por permissões. Plan mode (Shift+Tab) faz com que só planeie, sem tocar em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[12:30 → 14:00] 1,5 min · deves estar aqui aos 13 min
As skills substituíram os slash commands antigos. O frontmatter fixa o modelo e as ferramentas autorizadas. Hoje vamos usar dois conjuntos: os /demo-* na Arena e os /task-* no dia a dia. As skills do kit estão em inglês e mandam o Claude responder na língua do participante.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[14:00 → 15:30] 1,5 min · deves estar aqui aos 14 min
Um subagente é uma instância do Claude com contexto limpo, ferramentas próprias e o modelo que quisermos. É definido num ficheiro .claude/agents/&lt;nome&gt;.md. O comando /agents já não abre um assistente: edita-se o ficheiro.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[15:30 → 17:00] 1,5 min · deves estar aqui aos 16 min
O swarm barato é o de muitos agentes pequenos com instruções claras. O que custa é a coordenação. Por isso o orquestrador é um script e os workers respondem com uma linha. Os dois números vêm da execução de referência do Projeto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[17:00 → 18:00] 1 min · deves estar aqui aos 17 min
É o mesmo ciclo nos dois projetos: planear com Opus, executar em swarm, um gate de segurança, medir e guardar o que se aprendeu. Cada passo volta a aparecer no Projeto 1, no sítio em que se 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[18:00 → 19:00] 1 min · deves estar aqui aos 18 min
Antes do vídeo, dizer o que vai ser construído. A Arena é um mini-jogo de segurança: cada tarefa cria um desafio pequeno (encontrar a linha que expõe um segredo, escolher o site verdadeiro, ordenar as partes de um URL, escrever uma resposta). A casca da app e os testes já existem; os agentes escrevem os desafios, uma tarefa cada. Explicar as cores agora, porque vão aparecer em todo o lado: cada quadrado é uma tarefa, cinzento à espera, amarelo enquanto um agente trabalha nele, verde quando o teste passa, vermelho quando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[19:00 → 19:30] 0,5 min · deves estar aqui aos 19 min
Ponte para o Projeto 1. O que vão ver é o ciclo dos conceitos (plan → swarm → review → cost → memória) numa execução real com 100 tarefas. Logo a seguir cada pessoa constrói a mesma Arena, com até 8 agentes em paralelo.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[19:30 → 22:00] 2,5 min · deves estar aqui aos 20 min
Vídeo acelerado de uma execução real com 100 tarefas, gravada em modo apresentador: 16 agentes em paralelo, por isso os números do rodapé não são os do Projeto 1 (no portátil de cada um correm 8 em paralelo; ver o slide do custo). À esquerda, a página /status: cada quadrado é uma tarefa, amarelo enquanto um agente trabalha e verde quando o teste passa. À direita, o terminal com os lotes de agentes. Plano B se o vídeo falhar: abrir /status?replay=recording na Arena gravada.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[22:00 → 23:00] 1 min · deves estar aqui aos 22 min
Gravação a jogar a Arena final: apontar a linha insegura, escolher a resposta certa, ordenar os passos e escrever a resposta. Cada desafio explica o porquê no fim. No fim do Projeto 1 cada pessoa joga a sua.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[23:00 → 23:30] 0,5 min · deves estar aqui aos 23 min
37 minutos de hands-on. Na execução de referência, o swarm das 100 tarefas demorou 7,9 min (a sessão completa, 14 min); em modo interativo e com contas novas pode demorar mais. Os slides entre "Solta o swarm" e "Porque é que este cartão falhou?" (9 minutos) cobrem essa espera: são todos para fazer enquanto o swarm trabalha.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[23:30 → 24:30] 1 min · deves estar aqui aos 24 min
Os testes já existem: cada agente só tem de pôr o seu teste verde. É isto que deixa o Haiku fazer o grosso do trabalho com segurança. São 105 tarefas; com o cartão de cada um, 106.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[24:30 → 29:30] 5 min · deves estar aqui aos 25 min
O exemplo já tem todos os campos: basta mudar o texto. O template escolhe o formato: spot-the-flaw (apontar a linha insegura), choice (escolher a resposta), order (ordenar os passos) ou answer (escrever a resposta); cada um tem os seus campos, e o exemplo mostra-os. O gen.mjs escreve a spec e o teste do cartão (cards/my-01/), e o /demo-plan junta-o às outras tarefas: passam a ser 101 cartões. Quem não quiser escrever salta este passo e fica com 100. No Windows, o cp funciona no PowerShell.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[29:30 → 31:00] 1,5 min · deves estar aqui aos 30 min
Explicar antes de correr. Uma skill não é magia: é uma receita em Markdown que o Claude segue. Aqui ela chama um script que gera o grafo (sempre o mesmo, a partir das tarefas, incluindo o teu cartão) e um agente Opus que só o revê. O resultado fica em ficheiros que podem abrir e ler (o PLAN.md tem as waves, as dependências e a estimativa).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[31:00 → 32:30] 1,5 min · deves estar aqui aos 31 min
O plano é um grafo de dependências. Executamos por waves: tudo o que está pronto corre em paralelo. Na wave 1, o lib-hash e os desafios arrancam juntos; as três tarefas de criptografia esperam pelo lib-hash (uma dependência real dentro da wave 1) e entram assim que ele fica verde. É isto que o /demo-plan vai desenhar no slide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[32:30 → 35:30] 3 min · deves estar aqui aos 33 min
O diálogo de confiança é importante: sem ele, as permissões do projeto ficam desligadas. Nas versões recentes do Claude Code, como a Arena pré-aprova permissões, a opção já selecionada é "No, exit": quem carregar Enter sai. Mostrar a seta para baixo. O /demo-plan consulta a memória, gera o grafo e pede ao planner (Opus) para o rever. Depois, mostrar o plano de alguém no projetor. Decisão de custo opcional: com --crypto haiku ou --crypto sonnet cada pessoa escolhe o modelo das tarefas de criptografia; no fim, no /demo-cost, compara o custo e os verdes com o vizinho que escolheu o outro.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[35:30 → 37:00] 1,5 min · deves estar aqui aos 36 min
Explicar antes de correr. O ponto importante: quem escolhe o que corre é um script, não o modelo. Com 8 chamadas em paralelo, um modelo esquece dependências ou reescreve prompts; o script é reproduzível, e é isso que torna o custo previsível e o benchmark comparável. O grade.mjs corre o teste de cada tarefa e decide: verde ou vermelho. Se uma tarefa falhar, o script repete-a com a mensagem de erro e, à terceira, com Sonnet.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[37:00 → 39:00] 2 min · deves estar aqui aos 37 min
Previsão, antes de carregar em Enter: cada pessoa escreve no Teams quanto acha que vai custar e quantos cartões vão ficar vermelhos. A partir daqui o swarm trabalha alguns minutos (7,9 min na execução de referência; mais com contas novas). Os próximos quatro slides (9 minutos) fazem-se durante essa espera; quem acabar primeiro joga a Arena.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[39:00 → 41:00] 2 min · deves estar aqui aos 39 min
O /btw responde ao lado, sem entrar na conversa. Atenção: enquanto o painel da resposta está aberto, os resultados dos agentes ficam à espera (o Claude Code mostra "background task updates waiting while this panel is open"). Lê e carrega em Esc para o swarm continuar.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[41:00 → 44:00] 3 min · deves estar aqui aos 41 min
Ainda durante o swarm. Plan mode só lê e propõe. O claude -p é a base dos scripts e do CI. Esc Esc abre o rewind: repõe código e conversa até um checkpoint, mas não o que foi feito por Bash nem a maior parte do que os subagentes fizeram. Se perguntarem por worktrees: claude -w &lt;nome&gt; abre uma cópia isolada do repositório num branch próprio, e isolation: worktree põe um subagente no seu worktree quando as tarefas mexem nos mesmos ficheiros.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[44:00 → 46:00] 2 min · deves estar aqui aos 44 min
Ainda durante o swarm, e fora da Arena, para não mexer na sessão do swarm. O hook é um "quando acontecer X, corre Y", configurado num settings.json; o Claude escreve hooks muito bem, basta descrever o que se quer. O settings.local.json é só desta pasta e não vai para o git. No Projeto 2 (o projeto de treino) o hook dispara também para os agentes do /task-swarm: abrir o edits.log e ver os ficheiros a aparecer. O kit usa o SubagentStop para gravar o custo de cada agente (ver "Medir, não adivinhar").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[46:00 → 48:00] 2 min · deves estar aqui aos 46 min
Ainda durante o swarm. A statusline do kit lê o que o hook gravou e mostra o custo da sessão e do projeto, ao vivo, face ao alvo de US$ 5: mostrar a do Terminal 1 a mudar enquanto os agentes terminam. Pedir para gravar em .claude/settings.local.json é importante: sem isso, o /statusline grava nas definições do utilizador e substitui a do kit em todos os projetos. Para voltar à do kit neste projeto, apaga o statusLine do settings.local.json. O /usage do Claude Code pode mostrar mais, porque algumas versões ainda não conhecem os preços mais recentes; o /demo-cost usa os preços publicados.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[48:00 → 53:00] 5 min · deves estar aqui aos 48 min
A lição do Projeto 1: o agente não adivinha o que a spec não diz. O teste mostra o que esperava e o que recebeu; a spec do cartão não o dizia, por isso nem o Haiku nem o Sonnet (que entra à terceira tentativa) o acertam. Quem acabar repete para os outros vermelhos: o gate só aprova com tudo verde. Comparar com a previsão do Teams: quantos vermelhos esperavam? Extra opcional, para quem quiser automatizar: /loop 2m corre node tools/workshop/orchestrator/grade.mjs --all e corrige a primeira tarefa vermelha com o agente implementer; termina quando estiver tudo verde (o /loop repete um prompt a cada intervalo; Esc cancela).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[53:00 → 55:00] 2 min · deves estar aqui aos 53 min
Um jogo de segurança com falhas de segurança seria o pior exemplo. O gate liga cada verificação ao OWASP Top 10. Com cartões ainda vermelhos, o gate diz GATE: REJECTED e quais faltam: voltar ao slide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[55:00 → 56:00] 1 min · deves estar aqui aos 55 min
Antes do /demo-cost: de onde vêm os números. O hook do kit é como o que criaram, mas noutro evento: lê os tokens reais do transcript, multiplica pelos preços publicados e acrescenta uma linha. Nunca bloqueia nada. A statusline e o /demo-cost só leem essas linhas.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[56:00 → 58:00] 2 min · deves estar aqui aos 56 min
O relatório usa tokens reais e preços publicados. No fim grava as lições na app de memória. Quem usou --crypto haiku compara com quem usou --crypto sonnet: custo e verdes. Duelo: cada sala junta no Teams o custo e os cartões verdes de todos, e as duas salas comparam no fim (e com a previsão de antes do swarm).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[58:00 → 60:00] 2 min · deves estar aqui aos 58 min
Os testes também correm no browser. É o mesmo teste que decidiu a cor do quadrado.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[60:00 → 62:00] 2 min · deves estar aqui aos 60 min
São ficheiros Markdown em ~/.agent-memory, com um índice SQLite. Fica tudo só no teu portátil. Cada memória fica ligada ao ticket do Jira ou do GitHub e ao seu épico: procurar ABC-123 traz tudo desse ticket e do épico. O /task-intake e o /task-plan consultam-na antes de planear ("da última vez neste épico, não fazer X").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[62:00 → 65:00] 3 min · deves estar aqui aos 62 min
A app abre na tua língua nativa e tem um seletor de língua. A lição sobre o cartão que falhou deve estar lá.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[65:00 → 65:30] 0,5 min · deves estar aqui aos 65 min
22 minutos. O caminho de todos é o projeto de treino: a Biblioteca Municipal, uma API pequena com testes e as issues EX-1 a EX-3 em JSON, sem login no Jira nem MCP. Quem já tem o Jira ou o GitHub a funcionar pode trazer uma tarefa sua. A tarefa pode não terminar aqui: o objetivo é sair com a orquestração a correr e saber continuar.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[65:30 → 67:00] 1,5 min · deves estar aqui aos 66 min
Os /task-* estão instalados ao nível do utilizador e funcionam em qualquer repositório. Toda a escrita no Jira ou no GitHub pede confirmação; no projeto de treino não há nada para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[67:00 → 70:00] 3 min · deves estar aqui aos 67 min
Quem ainda tem o Claude aberto no Terminal 3 (do hook) só escreve a última linha. A EX-1 é pequena: validar o ISBN e o email ao criar livros e leitores. O intake só lê; não escreve nada. Com um repositório próprio: o Jira precisa de login no /mcp (atlassian) e o GitHub usa o 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[70:00 → 74:00] 4 min · deves estar aqui aos 70 min
O planner (Opus) propõe o grafo e um script valida-o: ids, dependências, ciclos e agentes conhecidos. As tarefas que mexem nos mesmos ficheiros ficam em lotes diferentes, na altura do swarm. A integração e a revisão são acrescentadas automaticamente. Uma tarefa grande (a EX-2) dá mais agentes.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[74:00 → 85:00] 11 min · deves estar aqui aos 74 min
O estado fica em .workshop/. Voltar a correr /task-swarm retoma. Tarefas que mexem nos mesmos ficheiros vão em lotes diferentes, ou em git worktrees se o planner o decidir. O hook do Projeto 1 está a funcionar: abrir o ~/workshop-claude/edits.log e ver os ficheiros que os agentes editam. Quem acabar a EX-1 segue para a EX-3 (pequena, de segurança: um leitor vê os empréstimos de outro) ou para a EX-2 (média, mais agentes), e pode correr o /task-gate.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[85:00 → 87:00] 2 min · deves estar aqui aos 85 min
Para usar com as tuas issues: o Jira usa o MCP da Atlassian, com login no /mcp; se falhar, o Atlassian CLI (acli auth login), que o setup já instalou, lê a issue e publica os comentários (as horas registam-se à mão). O MCP da Atlassian gasta créditos Rovo da empresa e o administrador pode limitá-lo. O GitHub usa o gh (gh auth login): gasta menos contexto do que um MCP e não partilha tokens. Exemplo de comentário: agente ws-worker-07 · Haiku · 5 s · US$ 0,004.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[87:00 → 88:30] 1,5 min · deves estar aqui aos 87 min
Resumo em cinco frases. A terceira junta as duas lições do Projeto 1: o orquestrador é um script e o cartão que falhou falhou pela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[88:30 → 89:30] 1 min · deves estar aqui aos 89 min
Três ações concretas.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[89:30 → 90:00] 0,5 min · deves estar aqui aos 90 min
As perguntas podem passar dos 90 minutos. Quem não fez o setup instala agora. Se der tempo: o resultado do duelo entre as duas salas.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1.png"/><Relationship Id="rId3" Type="http://schemas.openxmlformats.org/officeDocument/2006/relationships/image" Target="../media/TITLE-image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LOSING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SECTION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391" y="611734"/>
            <a:ext cx="2112264" cy="2642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23076"/>
            <a:ext cx="12191695" cy="534924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4" name="logo" descr="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5" y="6557162"/>
            <a:ext cx="750722" cy="94183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15391" y="1325880"/>
            <a:ext cx="87782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15391" y="3474720"/>
            <a:ext cx="87782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F25928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2848" y="5074920"/>
            <a:ext cx="2286000" cy="28575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011680"/>
            <a:ext cx="1036289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0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ctr"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dirty="0">
                <a:solidFill>
                  <a:srgbClr val="F25928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975" y="611734"/>
            <a:ext cx="2112264" cy="26426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5975" y="1051560"/>
            <a:ext cx="74980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15975" y="269748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E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3076"/>
            <a:ext cx="12191695" cy="534924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3" name="logo" descr="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745" y="6557162"/>
            <a:ext cx="750722" cy="94183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-IT-NOW">
    <p:bg>
      <p:bgPr>
        <a:solidFill>
          <a:srgbClr val="F4E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3076"/>
            <a:ext cx="12191695" cy="534924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pic>
        <p:nvPicPr>
          <p:cNvPr id="3" name="logo" descr="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745" y="6557162"/>
            <a:ext cx="750722" cy="94183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6-1.mp4"/><Relationship Id="rId2" Type="http://schemas.microsoft.com/office/2007/relationships/media" Target="../media/media-16-1.mp4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615391" y="132588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Orquestração de agentes com Claude</a:t>
            </a:r>
            <a:endParaRPr lang="en-US" sz="4800" dirty="0"/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615391" y="34747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5928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Skills, subagentes e swarms paralelos, com custo medido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Vais sair do workshop com isto</a:t>
            </a:r>
            <a:endParaRPr lang="en-US" sz="3200" dirty="0"/>
          </a:p>
        </p:txBody>
      </p:sp>
      <p:sp>
        <p:nvSpPr>
          <p:cNvPr id="3" name="column-0"/>
          <p:cNvSpPr/>
          <p:nvPr/>
        </p:nvSpPr>
        <p:spPr>
          <a:xfrm>
            <a:off x="548640" y="1691640"/>
            <a:ext cx="348477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mark-0-circle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5" name="mark-0" descr="net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132381"/>
            <a:ext cx="307238" cy="307238"/>
          </a:xfrm>
          <a:prstGeom prst="rect">
            <a:avLst/>
          </a:prstGeom>
        </p:spPr>
      </p:pic>
      <p:sp>
        <p:nvSpPr>
          <p:cNvPr id="6" name="column-title-0"/>
          <p:cNvSpPr txBox="1"/>
          <p:nvPr/>
        </p:nvSpPr>
        <p:spPr>
          <a:xfrm>
            <a:off x="868680" y="27889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Um swarm</a:t>
            </a:r>
            <a:endParaRPr lang="en-US" sz="2600" dirty="0"/>
          </a:p>
        </p:txBody>
      </p:sp>
      <p:sp>
        <p:nvSpPr>
          <p:cNvPr id="7" name="column-text-0"/>
          <p:cNvSpPr txBox="1"/>
          <p:nvPr/>
        </p:nvSpPr>
        <p:spPr>
          <a:xfrm>
            <a:off x="868680" y="3703320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constrói um jogo de segurança com 100 desafios, até 8 agentes em paralelo</a:t>
            </a:r>
            <a:endParaRPr lang="en-US" sz="2000" dirty="0"/>
          </a:p>
        </p:txBody>
      </p:sp>
      <p:sp>
        <p:nvSpPr>
          <p:cNvPr id="8" name="column-1"/>
          <p:cNvSpPr/>
          <p:nvPr/>
        </p:nvSpPr>
        <p:spPr>
          <a:xfrm>
            <a:off x="4353458" y="1691640"/>
            <a:ext cx="348477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mark-1-circle"/>
          <p:cNvSpPr/>
          <p:nvPr/>
        </p:nvSpPr>
        <p:spPr>
          <a:xfrm>
            <a:off x="4673498" y="2011680"/>
            <a:ext cx="548640" cy="54864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0" name="mark-1" descr="clipboard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9" y="2132381"/>
            <a:ext cx="307238" cy="307238"/>
          </a:xfrm>
          <a:prstGeom prst="rect">
            <a:avLst/>
          </a:prstGeom>
        </p:spPr>
      </p:pic>
      <p:sp>
        <p:nvSpPr>
          <p:cNvPr id="11" name="column-title-1"/>
          <p:cNvSpPr txBox="1"/>
          <p:nvPr/>
        </p:nvSpPr>
        <p:spPr>
          <a:xfrm>
            <a:off x="4673498" y="27889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Uma tarefa</a:t>
            </a:r>
            <a:endParaRPr lang="en-US" sz="2600" dirty="0"/>
          </a:p>
        </p:txBody>
      </p:sp>
      <p:sp>
        <p:nvSpPr>
          <p:cNvPr id="12" name="column-text-1"/>
          <p:cNvSpPr txBox="1"/>
          <p:nvPr/>
        </p:nvSpPr>
        <p:spPr>
          <a:xfrm>
            <a:off x="4673498" y="3703320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 repositório a sério, decomposta e a correr: a do projeto de treino ou uma tua</a:t>
            </a:r>
            <a:endParaRPr lang="en-US" sz="2000" dirty="0"/>
          </a:p>
        </p:txBody>
      </p:sp>
      <p:sp>
        <p:nvSpPr>
          <p:cNvPr id="13" name="column-2"/>
          <p:cNvSpPr/>
          <p:nvPr/>
        </p:nvSpPr>
        <p:spPr>
          <a:xfrm>
            <a:off x="8158277" y="1691640"/>
            <a:ext cx="348477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mark-2-circle"/>
          <p:cNvSpPr/>
          <p:nvPr/>
        </p:nvSpPr>
        <p:spPr>
          <a:xfrm>
            <a:off x="8478317" y="2011680"/>
            <a:ext cx="548640" cy="54864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5" name="mark-2" descr="share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18" y="2132381"/>
            <a:ext cx="307238" cy="307238"/>
          </a:xfrm>
          <a:prstGeom prst="rect">
            <a:avLst/>
          </a:prstGeom>
        </p:spPr>
      </p:pic>
      <p:sp>
        <p:nvSpPr>
          <p:cNvPr id="16" name="column-title-2"/>
          <p:cNvSpPr txBox="1"/>
          <p:nvPr/>
        </p:nvSpPr>
        <p:spPr>
          <a:xfrm>
            <a:off x="8478317" y="27889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Uma memória</a:t>
            </a:r>
            <a:endParaRPr lang="en-US" sz="2600" dirty="0"/>
          </a:p>
        </p:txBody>
      </p:sp>
      <p:sp>
        <p:nvSpPr>
          <p:cNvPr id="17" name="column-text-2"/>
          <p:cNvSpPr txBox="1"/>
          <p:nvPr/>
        </p:nvSpPr>
        <p:spPr>
          <a:xfrm>
            <a:off x="8478317" y="3703320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grafo do que aprendeste, para usar amanhã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As regras do custo</a:t>
            </a:r>
            <a:endParaRPr lang="en-US" sz="3200" dirty="0"/>
          </a:p>
        </p:txBody>
      </p:sp>
      <p:sp>
        <p:nvSpPr>
          <p:cNvPr id="3" name="stat-0"/>
          <p:cNvSpPr/>
          <p:nvPr/>
        </p:nvSpPr>
        <p:spPr>
          <a:xfrm>
            <a:off x="548640" y="1737360"/>
            <a:ext cx="3484778" cy="329184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4" name="stat-value-0"/>
          <p:cNvSpPr txBox="1"/>
          <p:nvPr/>
        </p:nvSpPr>
        <p:spPr>
          <a:xfrm>
            <a:off x="868680" y="2057400"/>
            <a:ext cx="2844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US$ 5</a:t>
            </a:r>
            <a:endParaRPr lang="en-US" sz="6000" dirty="0"/>
          </a:p>
        </p:txBody>
      </p:sp>
      <p:sp>
        <p:nvSpPr>
          <p:cNvPr id="5" name="stat-label-0"/>
          <p:cNvSpPr txBox="1"/>
          <p:nvPr/>
        </p:nvSpPr>
        <p:spPr>
          <a:xfrm>
            <a:off x="868680" y="3474720"/>
            <a:ext cx="28446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A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alvo por pessoa, para tudo o que fizeres hoje</a:t>
            </a:r>
            <a:endParaRPr lang="en-US" sz="1800" dirty="0"/>
          </a:p>
        </p:txBody>
      </p:sp>
      <p:sp>
        <p:nvSpPr>
          <p:cNvPr id="6" name="stat-1"/>
          <p:cNvSpPr/>
          <p:nvPr/>
        </p:nvSpPr>
        <p:spPr>
          <a:xfrm>
            <a:off x="4353458" y="1737360"/>
            <a:ext cx="348477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tat-value-1"/>
          <p:cNvSpPr txBox="1"/>
          <p:nvPr/>
        </p:nvSpPr>
        <p:spPr>
          <a:xfrm>
            <a:off x="4673498" y="2057400"/>
            <a:ext cx="2844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US$ 10</a:t>
            </a:r>
            <a:endParaRPr lang="en-US" sz="6000" dirty="0"/>
          </a:p>
        </p:txBody>
      </p:sp>
      <p:sp>
        <p:nvSpPr>
          <p:cNvPr id="8" name="stat-label-1"/>
          <p:cNvSpPr txBox="1"/>
          <p:nvPr/>
        </p:nvSpPr>
        <p:spPr>
          <a:xfrm>
            <a:off x="4673498" y="3474720"/>
            <a:ext cx="28446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teto de segurança, nunca o objetivo</a:t>
            </a:r>
            <a:endParaRPr lang="en-US" sz="1800" dirty="0"/>
          </a:p>
        </p:txBody>
      </p:sp>
      <p:sp>
        <p:nvSpPr>
          <p:cNvPr id="9" name="stat-2"/>
          <p:cNvSpPr/>
          <p:nvPr/>
        </p:nvSpPr>
        <p:spPr>
          <a:xfrm>
            <a:off x="8158277" y="1737360"/>
            <a:ext cx="348477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tat-value-2"/>
          <p:cNvSpPr txBox="1"/>
          <p:nvPr/>
        </p:nvSpPr>
        <p:spPr>
          <a:xfrm>
            <a:off x="8478317" y="2057400"/>
            <a:ext cx="2844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0</a:t>
            </a:r>
            <a:endParaRPr lang="en-US" sz="6000" dirty="0"/>
          </a:p>
        </p:txBody>
      </p:sp>
      <p:sp>
        <p:nvSpPr>
          <p:cNvPr id="11" name="stat-label-2"/>
          <p:cNvSpPr txBox="1"/>
          <p:nvPr/>
        </p:nvSpPr>
        <p:spPr>
          <a:xfrm>
            <a:off x="8478317" y="3474720"/>
            <a:ext cx="28446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sessões interrompidas por custo</a:t>
            </a:r>
            <a:endParaRPr lang="en-US" sz="1800" dirty="0"/>
          </a:p>
        </p:txBody>
      </p:sp>
      <p:sp>
        <p:nvSpPr>
          <p:cNvPr id="12" name="footer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1, numa execução real completa: US$ 4,33, 120 agentes, swarm em 7,9 min, sessão em 14 min.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1,5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Instala o kit</a:t>
            </a:r>
            <a:endParaRPr lang="en-US" sz="3400" dirty="0"/>
          </a:p>
        </p:txBody>
      </p:sp>
      <p:sp>
        <p:nvSpPr>
          <p:cNvPr id="5" name="do-it-steps"/>
          <p:cNvSpPr txBox="1"/>
          <p:nvPr/>
        </p:nvSpPr>
        <p:spPr>
          <a:xfrm>
            <a:off x="548640" y="1920240"/>
            <a:ext cx="4023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instalaste? Passa ao slide seguinte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o comando do teu sistema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Cola-o num terminal e responde às perguntas</a:t>
            </a:r>
            <a:endParaRPr lang="en-US" sz="2000" dirty="0"/>
          </a:p>
        </p:txBody>
      </p:sp>
      <p:sp>
        <p:nvSpPr>
          <p:cNvPr id="6" name="code-background"/>
          <p:cNvSpPr/>
          <p:nvPr/>
        </p:nvSpPr>
        <p:spPr>
          <a:xfrm>
            <a:off x="4937760" y="1920240"/>
            <a:ext cx="6705295" cy="160020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de-label"/>
          <p:cNvSpPr txBox="1"/>
          <p:nvPr/>
        </p:nvSpPr>
        <p:spPr>
          <a:xfrm>
            <a:off x="5166360" y="21031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(Terminal)</a:t>
            </a:r>
            <a:endParaRPr lang="en-US" sz="1500" dirty="0"/>
          </a:p>
        </p:txBody>
      </p:sp>
      <p:sp>
        <p:nvSpPr>
          <p:cNvPr id="8" name="code"/>
          <p:cNvSpPr txBox="1"/>
          <p:nvPr/>
        </p:nvSpPr>
        <p:spPr>
          <a:xfrm>
            <a:off x="5166360" y="2487168"/>
            <a:ext cx="62480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https://github.com/cx-guilherme-pinto/workshop-claude/releases/download/v1.0.0-rc.4/setup-mac.sh | bash</a:t>
            </a:r>
            <a:endParaRPr lang="en-US" sz="1400" dirty="0"/>
          </a:p>
        </p:txBody>
      </p:sp>
      <p:sp>
        <p:nvSpPr>
          <p:cNvPr id="9" name="code-background"/>
          <p:cNvSpPr/>
          <p:nvPr/>
        </p:nvSpPr>
        <p:spPr>
          <a:xfrm>
            <a:off x="4937760" y="3749040"/>
            <a:ext cx="6705295" cy="160020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0" name="code-label"/>
          <p:cNvSpPr txBox="1"/>
          <p:nvPr/>
        </p:nvSpPr>
        <p:spPr>
          <a:xfrm>
            <a:off x="5166360" y="39319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(PowerShell)</a:t>
            </a:r>
            <a:endParaRPr lang="en-US" sz="1500" dirty="0"/>
          </a:p>
        </p:txBody>
      </p:sp>
      <p:sp>
        <p:nvSpPr>
          <p:cNvPr id="11" name="code"/>
          <p:cNvSpPr txBox="1"/>
          <p:nvPr/>
        </p:nvSpPr>
        <p:spPr>
          <a:xfrm>
            <a:off x="5166360" y="4315968"/>
            <a:ext cx="62480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irm https://github.com/cx-guilherme-pinto/workshop-claude/releases/download/v1.0.0-rc.4/bootstrap-windows.ps1 | iex</a:t>
            </a:r>
            <a:endParaRPr lang="en-US" sz="1400" dirty="0"/>
          </a:p>
        </p:txBody>
      </p:sp>
      <p:sp>
        <p:nvSpPr>
          <p:cNvPr id="12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3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4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tabela-resumo do setup, com cada passo feito</a:t>
            </a:r>
            <a:endParaRPr lang="en-US" sz="1800" dirty="0"/>
          </a:p>
        </p:txBody>
      </p:sp>
      <p:sp>
        <p:nvSpPr>
          <p:cNvPr id="15" name="notice-background"/>
          <p:cNvSpPr/>
          <p:nvPr/>
        </p:nvSpPr>
        <p:spPr>
          <a:xfrm>
            <a:off x="6316675" y="384048"/>
            <a:ext cx="5326380" cy="45720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16" name="notice"/>
          <p:cNvSpPr txBox="1"/>
          <p:nvPr/>
        </p:nvSpPr>
        <p:spPr>
          <a:xfrm>
            <a:off x="6481267" y="384048"/>
            <a:ext cx="4997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comandos estão no Teams: copia-os de lá.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3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Verifica a instalação</a:t>
            </a:r>
            <a:endParaRPr lang="en-US" sz="3400" dirty="0"/>
          </a:p>
        </p:txBody>
      </p:sp>
      <p:sp>
        <p:nvSpPr>
          <p:cNvPr id="5" name="do-it-steps"/>
          <p:cNvSpPr txBox="1"/>
          <p:nvPr/>
        </p:nvSpPr>
        <p:spPr>
          <a:xfrm>
            <a:off x="548640" y="1920240"/>
            <a:ext cx="4023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um terminal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o comando do teu sistema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 pela tabela-resumo</a:t>
            </a:r>
            <a:endParaRPr lang="en-US" sz="2000" dirty="0"/>
          </a:p>
        </p:txBody>
      </p:sp>
      <p:sp>
        <p:nvSpPr>
          <p:cNvPr id="6" name="code-background"/>
          <p:cNvSpPr/>
          <p:nvPr/>
        </p:nvSpPr>
        <p:spPr>
          <a:xfrm>
            <a:off x="4937760" y="1920240"/>
            <a:ext cx="6705295" cy="1054303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de-label"/>
          <p:cNvSpPr txBox="1"/>
          <p:nvPr/>
        </p:nvSpPr>
        <p:spPr>
          <a:xfrm>
            <a:off x="5166360" y="21031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1500" dirty="0"/>
          </a:p>
        </p:txBody>
      </p:sp>
      <p:sp>
        <p:nvSpPr>
          <p:cNvPr id="8" name="code"/>
          <p:cNvSpPr txBox="1"/>
          <p:nvPr/>
        </p:nvSpPr>
        <p:spPr>
          <a:xfrm>
            <a:off x="5166360" y="2487168"/>
            <a:ext cx="6248095" cy="35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~/.workshop-claude/setup-mac.sh --check</a:t>
            </a:r>
            <a:endParaRPr lang="en-US" sz="1800" dirty="0"/>
          </a:p>
        </p:txBody>
      </p:sp>
      <p:sp>
        <p:nvSpPr>
          <p:cNvPr id="9" name="code-background"/>
          <p:cNvSpPr/>
          <p:nvPr/>
        </p:nvSpPr>
        <p:spPr>
          <a:xfrm>
            <a:off x="4937760" y="3203143"/>
            <a:ext cx="6705295" cy="183245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0" name="code-label"/>
          <p:cNvSpPr txBox="1"/>
          <p:nvPr/>
        </p:nvSpPr>
        <p:spPr>
          <a:xfrm>
            <a:off x="5166360" y="3386023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500" dirty="0"/>
          </a:p>
        </p:txBody>
      </p:sp>
      <p:sp>
        <p:nvSpPr>
          <p:cNvPr id="11" name="code"/>
          <p:cNvSpPr txBox="1"/>
          <p:nvPr/>
        </p:nvSpPr>
        <p:spPr>
          <a:xfrm>
            <a:off x="5166360" y="3770071"/>
            <a:ext cx="6248095" cy="1128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 -NoProfile -ExecutionPolicy Bypass -File "$env:USERPROFILE\.workshop-claude\setup-windows.ps1" -Check</a:t>
            </a:r>
            <a:endParaRPr lang="en-US" sz="1600" dirty="0"/>
          </a:p>
        </p:txBody>
      </p:sp>
      <p:sp>
        <p:nvSpPr>
          <p:cNvPr id="12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3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4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"Check complete: everything is ready for the workshop." (o setup fala inglês)</a:t>
            </a:r>
            <a:endParaRPr lang="en-US" sz="1800" dirty="0"/>
          </a:p>
        </p:txBody>
      </p:sp>
      <p:sp>
        <p:nvSpPr>
          <p:cNvPr id="15" name="notice-background"/>
          <p:cNvSpPr/>
          <p:nvPr/>
        </p:nvSpPr>
        <p:spPr>
          <a:xfrm>
            <a:off x="6316675" y="384048"/>
            <a:ext cx="5326380" cy="45720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16" name="notice"/>
          <p:cNvSpPr txBox="1"/>
          <p:nvPr/>
        </p:nvSpPr>
        <p:spPr>
          <a:xfrm>
            <a:off x="6481267" y="384048"/>
            <a:ext cx="4997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comandos estão no Teams: copia-os de lá.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2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Algum passo falhou?</a:t>
            </a:r>
            <a:endParaRPr lang="en-US" sz="3400" dirty="0"/>
          </a:p>
        </p:txBody>
      </p:sp>
      <p:sp>
        <p:nvSpPr>
          <p:cNvPr id="5" name="do-it-steps"/>
          <p:cNvSpPr txBox="1"/>
          <p:nvPr/>
        </p:nvSpPr>
        <p:spPr>
          <a:xfrm>
            <a:off x="548640" y="1920240"/>
            <a:ext cx="4023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o modo doctor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o diagnóstico do Claude (menos de US$ 0,01)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Segue os passos e volta a correr o comando de instalação</a:t>
            </a:r>
            <a:endParaRPr lang="en-US" sz="2000" dirty="0"/>
          </a:p>
        </p:txBody>
      </p:sp>
      <p:sp>
        <p:nvSpPr>
          <p:cNvPr id="6" name="code-background"/>
          <p:cNvSpPr/>
          <p:nvPr/>
        </p:nvSpPr>
        <p:spPr>
          <a:xfrm>
            <a:off x="4937760" y="1920240"/>
            <a:ext cx="6705295" cy="1054303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de-label"/>
          <p:cNvSpPr txBox="1"/>
          <p:nvPr/>
        </p:nvSpPr>
        <p:spPr>
          <a:xfrm>
            <a:off x="5166360" y="21031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1500" dirty="0"/>
          </a:p>
        </p:txBody>
      </p:sp>
      <p:sp>
        <p:nvSpPr>
          <p:cNvPr id="8" name="code"/>
          <p:cNvSpPr txBox="1"/>
          <p:nvPr/>
        </p:nvSpPr>
        <p:spPr>
          <a:xfrm>
            <a:off x="5166360" y="2487168"/>
            <a:ext cx="6248095" cy="35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~/.workshop-claude/setup-mac.sh --doctor</a:t>
            </a:r>
            <a:endParaRPr lang="en-US" sz="1800" dirty="0"/>
          </a:p>
        </p:txBody>
      </p:sp>
      <p:sp>
        <p:nvSpPr>
          <p:cNvPr id="9" name="code-background"/>
          <p:cNvSpPr/>
          <p:nvPr/>
        </p:nvSpPr>
        <p:spPr>
          <a:xfrm>
            <a:off x="4937760" y="3203143"/>
            <a:ext cx="6705295" cy="183245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0" name="code-label"/>
          <p:cNvSpPr txBox="1"/>
          <p:nvPr/>
        </p:nvSpPr>
        <p:spPr>
          <a:xfrm>
            <a:off x="5166360" y="3386023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500" dirty="0"/>
          </a:p>
        </p:txBody>
      </p:sp>
      <p:sp>
        <p:nvSpPr>
          <p:cNvPr id="11" name="code"/>
          <p:cNvSpPr txBox="1"/>
          <p:nvPr/>
        </p:nvSpPr>
        <p:spPr>
          <a:xfrm>
            <a:off x="5166360" y="3770071"/>
            <a:ext cx="6248095" cy="1128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 -NoProfile -ExecutionPolicy Bypass -File "$env:USERPROFILE\.workshop-claude\setup-windows.ps1" -Doctor</a:t>
            </a:r>
            <a:endParaRPr lang="en-US" sz="1600" dirty="0"/>
          </a:p>
        </p:txBody>
      </p:sp>
      <p:sp>
        <p:nvSpPr>
          <p:cNvPr id="12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3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4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falhou, porquê e como resolver; a instalação repete só o que falta</a:t>
            </a:r>
            <a:endParaRPr lang="en-US" sz="1800" dirty="0"/>
          </a:p>
        </p:txBody>
      </p:sp>
      <p:sp>
        <p:nvSpPr>
          <p:cNvPr id="15" name="notice-background"/>
          <p:cNvSpPr/>
          <p:nvPr/>
        </p:nvSpPr>
        <p:spPr>
          <a:xfrm>
            <a:off x="6316675" y="384048"/>
            <a:ext cx="5326380" cy="457200"/>
          </a:xfrm>
          <a:prstGeom prst="rect">
            <a:avLst/>
          </a:prstGeom>
          <a:solidFill>
            <a:srgbClr val="F25928"/>
          </a:solidFill>
          <a:ln w="12700">
            <a:solidFill>
              <a:srgbClr val="F25928"/>
            </a:solidFill>
            <a:prstDash val="solid"/>
          </a:ln>
        </p:spPr>
      </p:sp>
      <p:sp>
        <p:nvSpPr>
          <p:cNvPr id="16" name="notice"/>
          <p:cNvSpPr txBox="1"/>
          <p:nvPr/>
        </p:nvSpPr>
        <p:spPr>
          <a:xfrm>
            <a:off x="6481267" y="384048"/>
            <a:ext cx="4997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comandos estão no Teams: copia-os de lá.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15975" y="105156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Conceitos</a:t>
            </a:r>
            <a:endParaRPr lang="en-US" sz="4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15975" y="26974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agentes e dinheiro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Claude Code trabalha no teu projeto</a:t>
            </a:r>
            <a:endParaRPr lang="en-US" sz="3200" dirty="0"/>
          </a:p>
        </p:txBody>
      </p:sp>
      <p:sp>
        <p:nvSpPr>
          <p:cNvPr id="3" name="column-0"/>
          <p:cNvSpPr/>
          <p:nvPr/>
        </p:nvSpPr>
        <p:spPr>
          <a:xfrm>
            <a:off x="548640" y="1691640"/>
            <a:ext cx="348477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mark-0-circle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5" name="mark-0" descr="file-pen-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132381"/>
            <a:ext cx="307238" cy="307238"/>
          </a:xfrm>
          <a:prstGeom prst="rect">
            <a:avLst/>
          </a:prstGeom>
        </p:spPr>
      </p:pic>
      <p:sp>
        <p:nvSpPr>
          <p:cNvPr id="6" name="column-title-0"/>
          <p:cNvSpPr txBox="1"/>
          <p:nvPr/>
        </p:nvSpPr>
        <p:spPr>
          <a:xfrm>
            <a:off x="868680" y="27889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Lê e escreve</a:t>
            </a:r>
            <a:endParaRPr lang="en-US" sz="2600" dirty="0"/>
          </a:p>
        </p:txBody>
      </p:sp>
      <p:sp>
        <p:nvSpPr>
          <p:cNvPr id="7" name="column-text-0"/>
          <p:cNvSpPr txBox="1"/>
          <p:nvPr/>
        </p:nvSpPr>
        <p:spPr>
          <a:xfrm>
            <a:off x="868680" y="3703320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ficheiros do projeto, com permissões que tu controlas</a:t>
            </a:r>
            <a:endParaRPr lang="en-US" sz="2000" dirty="0"/>
          </a:p>
        </p:txBody>
      </p:sp>
      <p:sp>
        <p:nvSpPr>
          <p:cNvPr id="8" name="column-1"/>
          <p:cNvSpPr/>
          <p:nvPr/>
        </p:nvSpPr>
        <p:spPr>
          <a:xfrm>
            <a:off x="4353458" y="1691640"/>
            <a:ext cx="348477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mark-1-circle"/>
          <p:cNvSpPr/>
          <p:nvPr/>
        </p:nvSpPr>
        <p:spPr>
          <a:xfrm>
            <a:off x="4673498" y="2011680"/>
            <a:ext cx="548640" cy="54864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0" name="mark-1" descr="square-termin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9" y="2132381"/>
            <a:ext cx="307238" cy="307238"/>
          </a:xfrm>
          <a:prstGeom prst="rect">
            <a:avLst/>
          </a:prstGeom>
        </p:spPr>
      </p:pic>
      <p:sp>
        <p:nvSpPr>
          <p:cNvPr id="11" name="column-title-1"/>
          <p:cNvSpPr txBox="1"/>
          <p:nvPr/>
        </p:nvSpPr>
        <p:spPr>
          <a:xfrm>
            <a:off x="4673498" y="27889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Corre comandos</a:t>
            </a:r>
            <a:endParaRPr lang="en-US" sz="2600" dirty="0"/>
          </a:p>
        </p:txBody>
      </p:sp>
      <p:sp>
        <p:nvSpPr>
          <p:cNvPr id="12" name="column-text-1"/>
          <p:cNvSpPr txBox="1"/>
          <p:nvPr/>
        </p:nvSpPr>
        <p:spPr>
          <a:xfrm>
            <a:off x="4673498" y="3703320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testes, git, scripts: vê o resultado e corrige</a:t>
            </a:r>
            <a:endParaRPr lang="en-US" sz="2000" dirty="0"/>
          </a:p>
        </p:txBody>
      </p:sp>
      <p:sp>
        <p:nvSpPr>
          <p:cNvPr id="13" name="column-2"/>
          <p:cNvSpPr/>
          <p:nvPr/>
        </p:nvSpPr>
        <p:spPr>
          <a:xfrm>
            <a:off x="8158277" y="1691640"/>
            <a:ext cx="348477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mark-2-circle"/>
          <p:cNvSpPr/>
          <p:nvPr/>
        </p:nvSpPr>
        <p:spPr>
          <a:xfrm>
            <a:off x="8478317" y="2011680"/>
            <a:ext cx="548640" cy="54864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5" name="mark-2" descr="plu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18" y="2132381"/>
            <a:ext cx="307238" cy="307238"/>
          </a:xfrm>
          <a:prstGeom prst="rect">
            <a:avLst/>
          </a:prstGeom>
        </p:spPr>
      </p:pic>
      <p:sp>
        <p:nvSpPr>
          <p:cNvPr id="16" name="column-title-2"/>
          <p:cNvSpPr txBox="1"/>
          <p:nvPr/>
        </p:nvSpPr>
        <p:spPr>
          <a:xfrm>
            <a:off x="8478317" y="27889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Liga-se a ferramentas</a:t>
            </a:r>
            <a:endParaRPr lang="en-US" sz="2600" dirty="0"/>
          </a:p>
        </p:txBody>
      </p:sp>
      <p:sp>
        <p:nvSpPr>
          <p:cNvPr id="17" name="column-text-2"/>
          <p:cNvSpPr txBox="1"/>
          <p:nvPr/>
        </p:nvSpPr>
        <p:spPr>
          <a:xfrm>
            <a:off x="8478317" y="3703320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e a tua memória via MCP; GitHub com o gh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Uma skill é uma receita com nome</a:t>
            </a:r>
            <a:endParaRPr lang="en-US" sz="32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371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ficheiro SKILL.md numa pasta. Escreves /nome e o Claude segue a receita.</a:t>
            </a:r>
            <a:endParaRPr lang="en-US" sz="2000" dirty="0"/>
          </a:p>
        </p:txBody>
      </p:sp>
      <p:sp>
        <p:nvSpPr>
          <p:cNvPr id="4" name="code-background"/>
          <p:cNvSpPr/>
          <p:nvPr/>
        </p:nvSpPr>
        <p:spPr>
          <a:xfrm>
            <a:off x="548640" y="1965960"/>
            <a:ext cx="11094415" cy="374904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777240" y="2148840"/>
            <a:ext cx="1063721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demo-swarm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Runs the Arena swarm in waves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sonnet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allowed-tools: Bash(node tools/*), Agent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Run next-wave.mjs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Launch exactly the calls it returns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Repeat until STATE: DONE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in the participant's language.</a:t>
            </a:r>
            <a:endParaRPr lang="en-US" sz="2000" dirty="0"/>
          </a:p>
        </p:txBody>
      </p:sp>
      <p:sp>
        <p:nvSpPr>
          <p:cNvPr id="6" name="after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.claude/skills/ no projeto · ~/.claude/skills/ para todos os projetos · escritas em inglês, respondem na tua língua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Subagentes: contexto e modelo próprios</a:t>
            </a:r>
            <a:endParaRPr lang="en-US" sz="3200" dirty="0"/>
          </a:p>
        </p:txBody>
      </p:sp>
      <p:sp>
        <p:nvSpPr>
          <p:cNvPr id="3" name="model-0"/>
          <p:cNvSpPr/>
          <p:nvPr/>
        </p:nvSpPr>
        <p:spPr>
          <a:xfrm>
            <a:off x="548640" y="1600200"/>
            <a:ext cx="348477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model-icon-0-circle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5" name="model-icon-0" descr="br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995221"/>
            <a:ext cx="307238" cy="307238"/>
          </a:xfrm>
          <a:prstGeom prst="rect">
            <a:avLst/>
          </a:prstGeom>
        </p:spPr>
      </p:pic>
      <p:sp>
        <p:nvSpPr>
          <p:cNvPr id="6" name="model-name-0"/>
          <p:cNvSpPr txBox="1"/>
          <p:nvPr/>
        </p:nvSpPr>
        <p:spPr>
          <a:xfrm>
            <a:off x="868680" y="25603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Opus</a:t>
            </a:r>
            <a:endParaRPr lang="en-US" sz="4800" dirty="0"/>
          </a:p>
        </p:txBody>
      </p:sp>
      <p:sp>
        <p:nvSpPr>
          <p:cNvPr id="7" name="model-role-0"/>
          <p:cNvSpPr txBox="1"/>
          <p:nvPr/>
        </p:nvSpPr>
        <p:spPr>
          <a:xfrm>
            <a:off x="868680" y="352044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planeamento e revisão</a:t>
            </a:r>
            <a:endParaRPr lang="en-US" sz="2200" dirty="0"/>
          </a:p>
        </p:txBody>
      </p:sp>
      <p:sp>
        <p:nvSpPr>
          <p:cNvPr id="8" name="model-price-0"/>
          <p:cNvSpPr txBox="1"/>
          <p:nvPr/>
        </p:nvSpPr>
        <p:spPr>
          <a:xfrm>
            <a:off x="868680" y="448056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US$ 4 / 20</a:t>
            </a:r>
            <a:endParaRPr lang="en-US" sz="2200" dirty="0"/>
          </a:p>
        </p:txBody>
      </p:sp>
      <p:sp>
        <p:nvSpPr>
          <p:cNvPr id="9" name="model-1"/>
          <p:cNvSpPr/>
          <p:nvPr/>
        </p:nvSpPr>
        <p:spPr>
          <a:xfrm>
            <a:off x="4353458" y="1600200"/>
            <a:ext cx="348477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model-icon-1-circle"/>
          <p:cNvSpPr/>
          <p:nvPr/>
        </p:nvSpPr>
        <p:spPr>
          <a:xfrm>
            <a:off x="4673498" y="1874520"/>
            <a:ext cx="548640" cy="54864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1" name="model-icon-1" descr="puzz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9" y="1995221"/>
            <a:ext cx="307238" cy="307238"/>
          </a:xfrm>
          <a:prstGeom prst="rect">
            <a:avLst/>
          </a:prstGeom>
        </p:spPr>
      </p:pic>
      <p:sp>
        <p:nvSpPr>
          <p:cNvPr id="12" name="model-name-1"/>
          <p:cNvSpPr txBox="1"/>
          <p:nvPr/>
        </p:nvSpPr>
        <p:spPr>
          <a:xfrm>
            <a:off x="4673498" y="25603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Sonnet</a:t>
            </a:r>
            <a:endParaRPr lang="en-US" sz="4800" dirty="0"/>
          </a:p>
        </p:txBody>
      </p:sp>
      <p:sp>
        <p:nvSpPr>
          <p:cNvPr id="13" name="model-role-1"/>
          <p:cNvSpPr txBox="1"/>
          <p:nvPr/>
        </p:nvSpPr>
        <p:spPr>
          <a:xfrm>
            <a:off x="4673498" y="352044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 lógica difícil</a:t>
            </a:r>
            <a:endParaRPr lang="en-US" sz="2200" dirty="0"/>
          </a:p>
        </p:txBody>
      </p:sp>
      <p:sp>
        <p:nvSpPr>
          <p:cNvPr id="14" name="model-price-1"/>
          <p:cNvSpPr txBox="1"/>
          <p:nvPr/>
        </p:nvSpPr>
        <p:spPr>
          <a:xfrm>
            <a:off x="4673498" y="448056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US$ 2 / 10</a:t>
            </a:r>
            <a:endParaRPr lang="en-US" sz="2200" dirty="0"/>
          </a:p>
        </p:txBody>
      </p:sp>
      <p:sp>
        <p:nvSpPr>
          <p:cNvPr id="15" name="model-2"/>
          <p:cNvSpPr/>
          <p:nvPr/>
        </p:nvSpPr>
        <p:spPr>
          <a:xfrm>
            <a:off x="8158277" y="1600200"/>
            <a:ext cx="348477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model-icon-2-circle"/>
          <p:cNvSpPr/>
          <p:nvPr/>
        </p:nvSpPr>
        <p:spPr>
          <a:xfrm>
            <a:off x="8478317" y="1874520"/>
            <a:ext cx="548640" cy="54864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7" name="model-icon-2" descr="feath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18" y="1995221"/>
            <a:ext cx="307238" cy="307238"/>
          </a:xfrm>
          <a:prstGeom prst="rect">
            <a:avLst/>
          </a:prstGeom>
        </p:spPr>
      </p:pic>
      <p:sp>
        <p:nvSpPr>
          <p:cNvPr id="18" name="model-name-2"/>
          <p:cNvSpPr txBox="1"/>
          <p:nvPr/>
        </p:nvSpPr>
        <p:spPr>
          <a:xfrm>
            <a:off x="8478317" y="25603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Haiku</a:t>
            </a:r>
            <a:endParaRPr lang="en-US" sz="4800" dirty="0"/>
          </a:p>
        </p:txBody>
      </p:sp>
      <p:sp>
        <p:nvSpPr>
          <p:cNvPr id="19" name="model-role-2"/>
          <p:cNvSpPr txBox="1"/>
          <p:nvPr/>
        </p:nvSpPr>
        <p:spPr>
          <a:xfrm>
            <a:off x="8478317" y="352044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grosso do swarm</a:t>
            </a:r>
            <a:endParaRPr lang="en-US" sz="2200" dirty="0"/>
          </a:p>
        </p:txBody>
      </p:sp>
      <p:sp>
        <p:nvSpPr>
          <p:cNvPr id="20" name="model-price-2"/>
          <p:cNvSpPr txBox="1"/>
          <p:nvPr/>
        </p:nvSpPr>
        <p:spPr>
          <a:xfrm>
            <a:off x="8478317" y="448056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US$ 0,10 / 0,50</a:t>
            </a:r>
            <a:endParaRPr lang="en-US" sz="2200" dirty="0"/>
          </a:p>
        </p:txBody>
      </p:sp>
      <p:sp>
        <p:nvSpPr>
          <p:cNvPr id="21" name="footer"/>
          <p:cNvSpPr txBox="1"/>
          <p:nvPr/>
        </p:nvSpPr>
        <p:spPr>
          <a:xfrm>
            <a:off x="548640" y="53766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por milhão de tokens: entrada / saída.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platform.claude.com/docs/en/about-claude/pricing (2026-10-16)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 regra económica</a:t>
            </a:r>
            <a:endParaRPr lang="en-US" sz="3200" dirty="0"/>
          </a:p>
        </p:txBody>
      </p:sp>
      <p:sp>
        <p:nvSpPr>
          <p:cNvPr id="3" name="stat-0"/>
          <p:cNvSpPr/>
          <p:nvPr/>
        </p:nvSpPr>
        <p:spPr>
          <a:xfrm>
            <a:off x="548640" y="1737360"/>
            <a:ext cx="3484778" cy="329184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4" name="stat-value-0"/>
          <p:cNvSpPr txBox="1"/>
          <p:nvPr/>
        </p:nvSpPr>
        <p:spPr>
          <a:xfrm>
            <a:off x="868680" y="2057400"/>
            <a:ext cx="2844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20×</a:t>
            </a:r>
            <a:endParaRPr lang="en-US" sz="6000" dirty="0"/>
          </a:p>
        </p:txBody>
      </p:sp>
      <p:sp>
        <p:nvSpPr>
          <p:cNvPr id="5" name="stat-label-0"/>
          <p:cNvSpPr txBox="1"/>
          <p:nvPr/>
        </p:nvSpPr>
        <p:spPr>
          <a:xfrm>
            <a:off x="868680" y="3474720"/>
            <a:ext cx="28446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A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Haiku é 20 vezes mais barato que o Sonnet</a:t>
            </a:r>
            <a:endParaRPr lang="en-US" sz="1800" dirty="0"/>
          </a:p>
        </p:txBody>
      </p:sp>
      <p:sp>
        <p:nvSpPr>
          <p:cNvPr id="6" name="stat-1"/>
          <p:cNvSpPr/>
          <p:nvPr/>
        </p:nvSpPr>
        <p:spPr>
          <a:xfrm>
            <a:off x="4353458" y="1737360"/>
            <a:ext cx="348477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tat-value-1"/>
          <p:cNvSpPr txBox="1"/>
          <p:nvPr/>
        </p:nvSpPr>
        <p:spPr>
          <a:xfrm>
            <a:off x="4673498" y="2057400"/>
            <a:ext cx="2844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US$ 0,0019</a:t>
            </a:r>
            <a:endParaRPr lang="en-US" sz="4400" dirty="0"/>
          </a:p>
        </p:txBody>
      </p:sp>
      <p:sp>
        <p:nvSpPr>
          <p:cNvPr id="8" name="stat-label-1"/>
          <p:cNvSpPr txBox="1"/>
          <p:nvPr/>
        </p:nvSpPr>
        <p:spPr>
          <a:xfrm>
            <a:off x="4673498" y="3474720"/>
            <a:ext cx="28446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médio de uma tarefa pequena feita por um agente Haiku</a:t>
            </a:r>
            <a:endParaRPr lang="en-US" sz="1800" dirty="0"/>
          </a:p>
        </p:txBody>
      </p:sp>
      <p:sp>
        <p:nvSpPr>
          <p:cNvPr id="9" name="stat-2"/>
          <p:cNvSpPr/>
          <p:nvPr/>
        </p:nvSpPr>
        <p:spPr>
          <a:xfrm>
            <a:off x="8158277" y="1737360"/>
            <a:ext cx="348477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tat-value-2"/>
          <p:cNvSpPr txBox="1"/>
          <p:nvPr/>
        </p:nvSpPr>
        <p:spPr>
          <a:xfrm>
            <a:off x="8478317" y="2057400"/>
            <a:ext cx="2844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79%</a:t>
            </a:r>
            <a:endParaRPr lang="en-US" sz="6000" dirty="0"/>
          </a:p>
        </p:txBody>
      </p:sp>
      <p:sp>
        <p:nvSpPr>
          <p:cNvPr id="11" name="stat-label-2"/>
          <p:cNvSpPr txBox="1"/>
          <p:nvPr/>
        </p:nvSpPr>
        <p:spPr>
          <a:xfrm>
            <a:off x="8478317" y="3474720"/>
            <a:ext cx="28446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custo vai para a sessão principal, não para o swarm</a:t>
            </a:r>
            <a:endParaRPr lang="en-US" sz="1800" dirty="0"/>
          </a:p>
        </p:txBody>
      </p:sp>
      <p:sp>
        <p:nvSpPr>
          <p:cNvPr id="12" name="footer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máximo possível em Haiku. Sonnet só onde o Haiku falha. Opus só para pensar e rever.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ciclo de cada tarefa</a:t>
            </a:r>
            <a:endParaRPr lang="en-US" sz="3200" dirty="0"/>
          </a:p>
        </p:txBody>
      </p:sp>
      <p:sp>
        <p:nvSpPr>
          <p:cNvPr id="3" name="step-0"/>
          <p:cNvSpPr/>
          <p:nvPr/>
        </p:nvSpPr>
        <p:spPr>
          <a:xfrm>
            <a:off x="548640" y="1828800"/>
            <a:ext cx="1984797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tep-number-0"/>
          <p:cNvSpPr/>
          <p:nvPr/>
        </p:nvSpPr>
        <p:spPr>
          <a:xfrm>
            <a:off x="777240" y="2057400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tep-title-0"/>
          <p:cNvSpPr txBox="1"/>
          <p:nvPr/>
        </p:nvSpPr>
        <p:spPr>
          <a:xfrm>
            <a:off x="749808" y="269748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plan</a:t>
            </a:r>
            <a:endParaRPr lang="en-US" sz="1700" dirty="0"/>
          </a:p>
        </p:txBody>
      </p:sp>
      <p:sp>
        <p:nvSpPr>
          <p:cNvPr id="6" name="step-text-0"/>
          <p:cNvSpPr txBox="1"/>
          <p:nvPr/>
        </p:nvSpPr>
        <p:spPr>
          <a:xfrm>
            <a:off x="749808" y="370332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tarefa vira um grafo, revisto pelo Opus</a:t>
            </a:r>
            <a:endParaRPr lang="en-US" sz="1600" dirty="0"/>
          </a:p>
        </p:txBody>
      </p:sp>
      <p:sp>
        <p:nvSpPr>
          <p:cNvPr id="7" name="flow-arrow-0"/>
          <p:cNvSpPr/>
          <p:nvPr/>
        </p:nvSpPr>
        <p:spPr>
          <a:xfrm>
            <a:off x="2579157" y="2276856"/>
            <a:ext cx="201168" cy="0"/>
          </a:xfrm>
          <a:prstGeom prst="line">
            <a:avLst/>
          </a:prstGeom>
          <a:noFill/>
          <a:ln w="31750">
            <a:solidFill>
              <a:srgbClr val="140920"/>
            </a:solidFill>
            <a:prstDash val="solid"/>
            <a:tailEnd type="triangle"/>
          </a:ln>
        </p:spPr>
      </p:sp>
      <p:sp>
        <p:nvSpPr>
          <p:cNvPr id="8" name="step-1"/>
          <p:cNvSpPr/>
          <p:nvPr/>
        </p:nvSpPr>
        <p:spPr>
          <a:xfrm>
            <a:off x="2826045" y="1828800"/>
            <a:ext cx="1984797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tep-number-1"/>
          <p:cNvSpPr/>
          <p:nvPr/>
        </p:nvSpPr>
        <p:spPr>
          <a:xfrm>
            <a:off x="3054645" y="2057400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tep-title-1"/>
          <p:cNvSpPr txBox="1"/>
          <p:nvPr/>
        </p:nvSpPr>
        <p:spPr>
          <a:xfrm>
            <a:off x="3027213" y="269748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swarm</a:t>
            </a:r>
            <a:endParaRPr lang="en-US" sz="1700" dirty="0"/>
          </a:p>
        </p:txBody>
      </p:sp>
      <p:sp>
        <p:nvSpPr>
          <p:cNvPr id="11" name="step-text-1"/>
          <p:cNvSpPr txBox="1"/>
          <p:nvPr/>
        </p:nvSpPr>
        <p:spPr>
          <a:xfrm>
            <a:off x="3027213" y="370332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Haiku fazem as peças em paralelo</a:t>
            </a:r>
            <a:endParaRPr lang="en-US" sz="1600" dirty="0"/>
          </a:p>
        </p:txBody>
      </p:sp>
      <p:sp>
        <p:nvSpPr>
          <p:cNvPr id="12" name="flow-arrow-1"/>
          <p:cNvSpPr/>
          <p:nvPr/>
        </p:nvSpPr>
        <p:spPr>
          <a:xfrm>
            <a:off x="4856561" y="2276856"/>
            <a:ext cx="201168" cy="0"/>
          </a:xfrm>
          <a:prstGeom prst="line">
            <a:avLst/>
          </a:prstGeom>
          <a:noFill/>
          <a:ln w="31750">
            <a:solidFill>
              <a:srgbClr val="140920"/>
            </a:solidFill>
            <a:prstDash val="solid"/>
            <a:tailEnd type="triangle"/>
          </a:ln>
        </p:spPr>
      </p:sp>
      <p:sp>
        <p:nvSpPr>
          <p:cNvPr id="13" name="step-2"/>
          <p:cNvSpPr/>
          <p:nvPr/>
        </p:nvSpPr>
        <p:spPr>
          <a:xfrm>
            <a:off x="5103449" y="1828800"/>
            <a:ext cx="1984797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tep-number-2"/>
          <p:cNvSpPr/>
          <p:nvPr/>
        </p:nvSpPr>
        <p:spPr>
          <a:xfrm>
            <a:off x="5332049" y="2057400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tep-title-2"/>
          <p:cNvSpPr txBox="1"/>
          <p:nvPr/>
        </p:nvSpPr>
        <p:spPr>
          <a:xfrm>
            <a:off x="5304617" y="269748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review</a:t>
            </a:r>
            <a:endParaRPr lang="en-US" sz="1700" dirty="0"/>
          </a:p>
        </p:txBody>
      </p:sp>
      <p:sp>
        <p:nvSpPr>
          <p:cNvPr id="16" name="step-text-2"/>
          <p:cNvSpPr txBox="1"/>
          <p:nvPr/>
        </p:nvSpPr>
        <p:spPr>
          <a:xfrm>
            <a:off x="5304617" y="370332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Opus verifica os testes e a segurança</a:t>
            </a:r>
            <a:endParaRPr lang="en-US" sz="1600" dirty="0"/>
          </a:p>
        </p:txBody>
      </p:sp>
      <p:sp>
        <p:nvSpPr>
          <p:cNvPr id="17" name="flow-arrow-2"/>
          <p:cNvSpPr/>
          <p:nvPr/>
        </p:nvSpPr>
        <p:spPr>
          <a:xfrm>
            <a:off x="7133966" y="2276856"/>
            <a:ext cx="201168" cy="0"/>
          </a:xfrm>
          <a:prstGeom prst="line">
            <a:avLst/>
          </a:prstGeom>
          <a:noFill/>
          <a:ln w="31750">
            <a:solidFill>
              <a:srgbClr val="140920"/>
            </a:solidFill>
            <a:prstDash val="solid"/>
            <a:tailEnd type="triangle"/>
          </a:ln>
        </p:spPr>
      </p:sp>
      <p:sp>
        <p:nvSpPr>
          <p:cNvPr id="18" name="step-3"/>
          <p:cNvSpPr/>
          <p:nvPr/>
        </p:nvSpPr>
        <p:spPr>
          <a:xfrm>
            <a:off x="7380854" y="1828800"/>
            <a:ext cx="1984797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tep-number-3"/>
          <p:cNvSpPr/>
          <p:nvPr/>
        </p:nvSpPr>
        <p:spPr>
          <a:xfrm>
            <a:off x="7609454" y="2057400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tep-title-3"/>
          <p:cNvSpPr txBox="1"/>
          <p:nvPr/>
        </p:nvSpPr>
        <p:spPr>
          <a:xfrm>
            <a:off x="7582022" y="269748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cost</a:t>
            </a:r>
            <a:endParaRPr lang="en-US" sz="1700" dirty="0"/>
          </a:p>
        </p:txBody>
      </p:sp>
      <p:sp>
        <p:nvSpPr>
          <p:cNvPr id="21" name="step-text-3"/>
          <p:cNvSpPr txBox="1"/>
          <p:nvPr/>
        </p:nvSpPr>
        <p:spPr>
          <a:xfrm>
            <a:off x="7582022" y="370332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custou, por agente e por modelo</a:t>
            </a:r>
            <a:endParaRPr lang="en-US" sz="1600" dirty="0"/>
          </a:p>
        </p:txBody>
      </p:sp>
      <p:sp>
        <p:nvSpPr>
          <p:cNvPr id="22" name="flow-arrow-3"/>
          <p:cNvSpPr/>
          <p:nvPr/>
        </p:nvSpPr>
        <p:spPr>
          <a:xfrm>
            <a:off x="9411371" y="2276856"/>
            <a:ext cx="201168" cy="0"/>
          </a:xfrm>
          <a:prstGeom prst="line">
            <a:avLst/>
          </a:prstGeom>
          <a:noFill/>
          <a:ln w="31750">
            <a:solidFill>
              <a:srgbClr val="140920"/>
            </a:solidFill>
            <a:prstDash val="solid"/>
            <a:tailEnd type="triangle"/>
          </a:ln>
        </p:spPr>
      </p:sp>
      <p:sp>
        <p:nvSpPr>
          <p:cNvPr id="23" name="step-4"/>
          <p:cNvSpPr/>
          <p:nvPr/>
        </p:nvSpPr>
        <p:spPr>
          <a:xfrm>
            <a:off x="9658259" y="1828800"/>
            <a:ext cx="1984797" cy="320040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24" name="step-number-4"/>
          <p:cNvSpPr/>
          <p:nvPr/>
        </p:nvSpPr>
        <p:spPr>
          <a:xfrm>
            <a:off x="9886859" y="2057400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step-title-4"/>
          <p:cNvSpPr txBox="1"/>
          <p:nvPr/>
        </p:nvSpPr>
        <p:spPr>
          <a:xfrm>
            <a:off x="9859427" y="269748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memória</a:t>
            </a:r>
            <a:endParaRPr lang="en-US" sz="1700" dirty="0"/>
          </a:p>
        </p:txBody>
      </p:sp>
      <p:sp>
        <p:nvSpPr>
          <p:cNvPr id="26" name="step-text-4"/>
          <p:cNvSpPr txBox="1"/>
          <p:nvPr/>
        </p:nvSpPr>
        <p:spPr>
          <a:xfrm>
            <a:off x="9859427" y="370332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A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lições ficam para a próxima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que vamos construir: a Arena de Segurança</a:t>
            </a:r>
            <a:endParaRPr lang="en-US" sz="3200" dirty="0"/>
          </a:p>
        </p:txBody>
      </p:sp>
      <p:sp>
        <p:nvSpPr>
          <p:cNvPr id="3" name="frame"/>
          <p:cNvSpPr/>
          <p:nvPr/>
        </p:nvSpPr>
        <p:spPr>
          <a:xfrm>
            <a:off x="548640" y="1470660"/>
            <a:ext cx="5541264" cy="3742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" descr="Um desafio do jogo: clica na linha que expõe o segredo e confirm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43812"/>
            <a:ext cx="5394960" cy="3596640"/>
          </a:xfrm>
          <a:prstGeom prst="rect">
            <a:avLst/>
          </a:prstGeom>
        </p:spPr>
      </p:pic>
      <p:sp>
        <p:nvSpPr>
          <p:cNvPr id="5" name="image-caption"/>
          <p:cNvSpPr txBox="1"/>
          <p:nvPr/>
        </p:nvSpPr>
        <p:spPr>
          <a:xfrm>
            <a:off x="548640" y="5305044"/>
            <a:ext cx="5541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desafio do jogo: clica na linha que expõe o segredo e confirma.</a:t>
            </a:r>
            <a:endParaRPr lang="en-US" sz="1300" dirty="0"/>
          </a:p>
        </p:txBody>
      </p:sp>
      <p:sp>
        <p:nvSpPr>
          <p:cNvPr id="6" name="intro-mark-0-circle"/>
          <p:cNvSpPr/>
          <p:nvPr/>
        </p:nvSpPr>
        <p:spPr>
          <a:xfrm>
            <a:off x="6492240" y="1463040"/>
            <a:ext cx="502920" cy="50292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7" name="intro-mark-0" descr="gamepad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882" y="1573682"/>
            <a:ext cx="281635" cy="281635"/>
          </a:xfrm>
          <a:prstGeom prst="rect">
            <a:avLst/>
          </a:prstGeom>
        </p:spPr>
      </p:pic>
      <p:sp>
        <p:nvSpPr>
          <p:cNvPr id="8" name="intro-title-0"/>
          <p:cNvSpPr txBox="1"/>
          <p:nvPr/>
        </p:nvSpPr>
        <p:spPr>
          <a:xfrm>
            <a:off x="7223760" y="1499616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Um mini-jogo, pronto a jogar</a:t>
            </a:r>
            <a:endParaRPr lang="en-US" sz="1900" dirty="0"/>
          </a:p>
        </p:txBody>
      </p:sp>
      <p:sp>
        <p:nvSpPr>
          <p:cNvPr id="9" name="intro-text-0"/>
          <p:cNvSpPr txBox="1"/>
          <p:nvPr/>
        </p:nvSpPr>
        <p:spPr>
          <a:xfrm>
            <a:off x="7223760" y="1883664"/>
            <a:ext cx="4419295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 curtos de segurança, no browser, em 10 categorias: passwords, phishing, web, redes, criptografia e mais.</a:t>
            </a:r>
            <a:endParaRPr lang="en-US" sz="1500" dirty="0"/>
          </a:p>
        </p:txBody>
      </p:sp>
      <p:sp>
        <p:nvSpPr>
          <p:cNvPr id="10" name="intro-mark-1-circle"/>
          <p:cNvSpPr/>
          <p:nvPr/>
        </p:nvSpPr>
        <p:spPr>
          <a:xfrm>
            <a:off x="6492240" y="2804160"/>
            <a:ext cx="502920" cy="50292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1" name="intro-mark-1" descr="lay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882" y="2914802"/>
            <a:ext cx="281635" cy="281635"/>
          </a:xfrm>
          <a:prstGeom prst="rect">
            <a:avLst/>
          </a:prstGeom>
        </p:spPr>
      </p:pic>
      <p:sp>
        <p:nvSpPr>
          <p:cNvPr id="12" name="intro-title-1"/>
          <p:cNvSpPr txBox="1"/>
          <p:nvPr/>
        </p:nvSpPr>
        <p:spPr>
          <a:xfrm>
            <a:off x="7223760" y="2840736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Cada tarefa cria um desafio</a:t>
            </a:r>
            <a:endParaRPr lang="en-US" sz="1900" dirty="0"/>
          </a:p>
        </p:txBody>
      </p:sp>
      <p:sp>
        <p:nvSpPr>
          <p:cNvPr id="13" name="intro-text-1"/>
          <p:cNvSpPr txBox="1"/>
          <p:nvPr/>
        </p:nvSpPr>
        <p:spPr>
          <a:xfrm>
            <a:off x="7223760" y="3224784"/>
            <a:ext cx="4419295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4 formatos: apontar a linha insegura, escolher a resposta, ordenar os passos ou escrever a resposta.</a:t>
            </a:r>
            <a:endParaRPr lang="en-US" sz="1500" dirty="0"/>
          </a:p>
        </p:txBody>
      </p:sp>
      <p:sp>
        <p:nvSpPr>
          <p:cNvPr id="14" name="intro-mark-2-circle"/>
          <p:cNvSpPr/>
          <p:nvPr/>
        </p:nvSpPr>
        <p:spPr>
          <a:xfrm>
            <a:off x="6492240" y="4145280"/>
            <a:ext cx="502920" cy="50292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5" name="intro-mark-2" descr="b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882" y="4255922"/>
            <a:ext cx="281635" cy="281635"/>
          </a:xfrm>
          <a:prstGeom prst="rect">
            <a:avLst/>
          </a:prstGeom>
        </p:spPr>
      </p:pic>
      <p:sp>
        <p:nvSpPr>
          <p:cNvPr id="16" name="intro-title-2"/>
          <p:cNvSpPr txBox="1"/>
          <p:nvPr/>
        </p:nvSpPr>
        <p:spPr>
          <a:xfrm>
            <a:off x="7223760" y="4181856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Um agente por tarefa</a:t>
            </a:r>
            <a:endParaRPr lang="en-US" sz="1900" dirty="0"/>
          </a:p>
        </p:txBody>
      </p:sp>
      <p:sp>
        <p:nvSpPr>
          <p:cNvPr id="17" name="intro-text-2"/>
          <p:cNvSpPr txBox="1"/>
          <p:nvPr/>
        </p:nvSpPr>
        <p:spPr>
          <a:xfrm>
            <a:off x="7223760" y="4565904"/>
            <a:ext cx="4419295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agente faz uma tarefa e o teste dessa tarefa diz se ficou certa. No vídeo e no teu portátil: as mesmas 100.</a:t>
            </a:r>
            <a:endParaRPr lang="en-US" sz="1500" dirty="0"/>
          </a:p>
        </p:txBody>
      </p:sp>
      <p:sp>
        <p:nvSpPr>
          <p:cNvPr id="18" name="legend-background"/>
          <p:cNvSpPr/>
          <p:nvPr/>
        </p:nvSpPr>
        <p:spPr>
          <a:xfrm>
            <a:off x="548640" y="5669280"/>
            <a:ext cx="1109441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tatus-legend-title"/>
          <p:cNvSpPr txBox="1"/>
          <p:nvPr/>
        </p:nvSpPr>
        <p:spPr>
          <a:xfrm>
            <a:off x="777240" y="5779008"/>
            <a:ext cx="25856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quadrado é uma tarefa:</a:t>
            </a:r>
            <a:endParaRPr lang="en-US" sz="1300" dirty="0"/>
          </a:p>
        </p:txBody>
      </p:sp>
      <p:sp>
        <p:nvSpPr>
          <p:cNvPr id="20" name="status-legend-0"/>
          <p:cNvSpPr/>
          <p:nvPr/>
        </p:nvSpPr>
        <p:spPr>
          <a:xfrm>
            <a:off x="3362929" y="5806440"/>
            <a:ext cx="219456" cy="219456"/>
          </a:xfrm>
          <a:prstGeom prst="rect">
            <a:avLst/>
          </a:prstGeom>
          <a:solidFill>
            <a:srgbClr val="C4C7C1"/>
          </a:solidFill>
          <a:ln w="12700">
            <a:solidFill>
              <a:srgbClr val="C4C7C1"/>
            </a:solidFill>
            <a:prstDash val="solid"/>
          </a:ln>
        </p:spPr>
      </p:sp>
      <p:sp>
        <p:nvSpPr>
          <p:cNvPr id="21" name="status-legend-label-0"/>
          <p:cNvSpPr txBox="1"/>
          <p:nvPr/>
        </p:nvSpPr>
        <p:spPr>
          <a:xfrm>
            <a:off x="3692113" y="5779008"/>
            <a:ext cx="105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espera</a:t>
            </a:r>
            <a:endParaRPr lang="en-US" sz="1300" dirty="0"/>
          </a:p>
        </p:txBody>
      </p:sp>
      <p:sp>
        <p:nvSpPr>
          <p:cNvPr id="22" name="status-legend-1"/>
          <p:cNvSpPr/>
          <p:nvPr/>
        </p:nvSpPr>
        <p:spPr>
          <a:xfrm>
            <a:off x="4750257" y="5806440"/>
            <a:ext cx="219456" cy="219456"/>
          </a:xfrm>
          <a:prstGeom prst="rect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</p:sp>
      <p:sp>
        <p:nvSpPr>
          <p:cNvPr id="23" name="status-legend-label-1"/>
          <p:cNvSpPr txBox="1"/>
          <p:nvPr/>
        </p:nvSpPr>
        <p:spPr>
          <a:xfrm>
            <a:off x="5079441" y="5779008"/>
            <a:ext cx="18664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a trabalhar</a:t>
            </a:r>
            <a:endParaRPr lang="en-US" sz="1300" dirty="0"/>
          </a:p>
        </p:txBody>
      </p:sp>
      <p:sp>
        <p:nvSpPr>
          <p:cNvPr id="24" name="status-legend-2"/>
          <p:cNvSpPr/>
          <p:nvPr/>
        </p:nvSpPr>
        <p:spPr>
          <a:xfrm>
            <a:off x="6945914" y="5806440"/>
            <a:ext cx="219456" cy="219456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sp>
        <p:nvSpPr>
          <p:cNvPr id="25" name="status-legend-label-2"/>
          <p:cNvSpPr txBox="1"/>
          <p:nvPr/>
        </p:nvSpPr>
        <p:spPr>
          <a:xfrm>
            <a:off x="7275098" y="5779008"/>
            <a:ext cx="138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passou</a:t>
            </a:r>
            <a:endParaRPr lang="en-US" sz="1300" dirty="0"/>
          </a:p>
        </p:txBody>
      </p:sp>
      <p:sp>
        <p:nvSpPr>
          <p:cNvPr id="26" name="status-legend-3"/>
          <p:cNvSpPr/>
          <p:nvPr/>
        </p:nvSpPr>
        <p:spPr>
          <a:xfrm>
            <a:off x="8656574" y="5806440"/>
            <a:ext cx="219456" cy="219456"/>
          </a:xfrm>
          <a:prstGeom prst="rect">
            <a:avLst/>
          </a:prstGeom>
          <a:solidFill>
            <a:srgbClr val="D2463F"/>
          </a:solidFill>
          <a:ln w="12700">
            <a:solidFill>
              <a:srgbClr val="D2463F"/>
            </a:solidFill>
            <a:prstDash val="solid"/>
          </a:ln>
        </p:spPr>
      </p:sp>
      <p:sp>
        <p:nvSpPr>
          <p:cNvPr id="27" name="status-legend-label-3"/>
          <p:cNvSpPr txBox="1"/>
          <p:nvPr/>
        </p:nvSpPr>
        <p:spPr>
          <a:xfrm>
            <a:off x="8985758" y="5779008"/>
            <a:ext cx="138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falhou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15975" y="105156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swarm em ação</a:t>
            </a:r>
            <a:endParaRPr lang="en-US" sz="4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15975" y="26974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Arena com 100 tarefas, feita por agentes em paralelo. Depois constróis a tua, igual.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swarm a construir a Arena</a:t>
            </a:r>
            <a:endParaRPr lang="en-US" sz="3200" dirty="0"/>
          </a:p>
        </p:txBody>
      </p:sp>
      <p:pic>
        <p:nvPicPr>
          <p:cNvPr id="3" name="video-swarm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626664"/>
            <a:ext cx="11094415" cy="3513231"/>
          </a:xfrm>
          <a:prstGeom prst="rect">
            <a:avLst/>
          </a:prstGeom>
        </p:spPr>
      </p:pic>
      <p:sp>
        <p:nvSpPr>
          <p:cNvPr id="4" name="status-legend-background"/>
          <p:cNvSpPr/>
          <p:nvPr/>
        </p:nvSpPr>
        <p:spPr>
          <a:xfrm>
            <a:off x="548640" y="5139896"/>
            <a:ext cx="11094415" cy="420624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5" name="status-legend-title"/>
          <p:cNvSpPr txBox="1"/>
          <p:nvPr/>
        </p:nvSpPr>
        <p:spPr>
          <a:xfrm>
            <a:off x="777240" y="5213048"/>
            <a:ext cx="2404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F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quadrado é uma tarefa:</a:t>
            </a:r>
            <a:endParaRPr lang="en-US" sz="1200" dirty="0"/>
          </a:p>
        </p:txBody>
      </p:sp>
      <p:sp>
        <p:nvSpPr>
          <p:cNvPr id="6" name="status-legend-0"/>
          <p:cNvSpPr/>
          <p:nvPr/>
        </p:nvSpPr>
        <p:spPr>
          <a:xfrm>
            <a:off x="3181615" y="5240480"/>
            <a:ext cx="219456" cy="219456"/>
          </a:xfrm>
          <a:prstGeom prst="rect">
            <a:avLst/>
          </a:prstGeom>
          <a:solidFill>
            <a:srgbClr val="3A423E"/>
          </a:solidFill>
          <a:ln w="12700">
            <a:solidFill>
              <a:srgbClr val="3A423E"/>
            </a:solidFill>
            <a:prstDash val="solid"/>
          </a:ln>
        </p:spPr>
      </p:sp>
      <p:sp>
        <p:nvSpPr>
          <p:cNvPr id="7" name="status-legend-label-0"/>
          <p:cNvSpPr txBox="1"/>
          <p:nvPr/>
        </p:nvSpPr>
        <p:spPr>
          <a:xfrm>
            <a:off x="3510799" y="5213048"/>
            <a:ext cx="100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espera</a:t>
            </a:r>
            <a:endParaRPr lang="en-US" sz="1200" dirty="0"/>
          </a:p>
        </p:txBody>
      </p:sp>
      <p:sp>
        <p:nvSpPr>
          <p:cNvPr id="8" name="status-legend-1"/>
          <p:cNvSpPr/>
          <p:nvPr/>
        </p:nvSpPr>
        <p:spPr>
          <a:xfrm>
            <a:off x="4519199" y="5240480"/>
            <a:ext cx="219456" cy="219456"/>
          </a:xfrm>
          <a:prstGeom prst="rect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</p:sp>
      <p:sp>
        <p:nvSpPr>
          <p:cNvPr id="9" name="status-legend-label-1"/>
          <p:cNvSpPr txBox="1"/>
          <p:nvPr/>
        </p:nvSpPr>
        <p:spPr>
          <a:xfrm>
            <a:off x="4848383" y="5213048"/>
            <a:ext cx="1754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a trabalhar</a:t>
            </a:r>
            <a:endParaRPr lang="en-US" sz="1200" dirty="0"/>
          </a:p>
        </p:txBody>
      </p:sp>
      <p:sp>
        <p:nvSpPr>
          <p:cNvPr id="10" name="status-legend-2"/>
          <p:cNvSpPr/>
          <p:nvPr/>
        </p:nvSpPr>
        <p:spPr>
          <a:xfrm>
            <a:off x="6602934" y="5240480"/>
            <a:ext cx="219456" cy="219456"/>
          </a:xfrm>
          <a:prstGeom prst="rect">
            <a:avLst/>
          </a:prstGeom>
          <a:solidFill>
            <a:srgbClr val="2FBF6C"/>
          </a:solidFill>
          <a:ln w="12700">
            <a:solidFill>
              <a:srgbClr val="2FBF6C"/>
            </a:solidFill>
            <a:prstDash val="solid"/>
          </a:ln>
        </p:spPr>
      </p:sp>
      <p:sp>
        <p:nvSpPr>
          <p:cNvPr id="11" name="status-legend-label-2"/>
          <p:cNvSpPr txBox="1"/>
          <p:nvPr/>
        </p:nvSpPr>
        <p:spPr>
          <a:xfrm>
            <a:off x="6932118" y="5213048"/>
            <a:ext cx="1306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passou</a:t>
            </a:r>
            <a:endParaRPr lang="en-US" sz="1200" dirty="0"/>
          </a:p>
        </p:txBody>
      </p:sp>
      <p:sp>
        <p:nvSpPr>
          <p:cNvPr id="12" name="status-legend-3"/>
          <p:cNvSpPr/>
          <p:nvPr/>
        </p:nvSpPr>
        <p:spPr>
          <a:xfrm>
            <a:off x="8238978" y="5240480"/>
            <a:ext cx="219456" cy="219456"/>
          </a:xfrm>
          <a:prstGeom prst="rect">
            <a:avLst/>
          </a:prstGeom>
          <a:solidFill>
            <a:srgbClr val="EF5B52"/>
          </a:solidFill>
          <a:ln w="12700">
            <a:solidFill>
              <a:srgbClr val="EF5B52"/>
            </a:solidFill>
            <a:prstDash val="solid"/>
          </a:ln>
        </p:spPr>
      </p:sp>
      <p:sp>
        <p:nvSpPr>
          <p:cNvPr id="13" name="status-legend-label-3"/>
          <p:cNvSpPr txBox="1"/>
          <p:nvPr/>
        </p:nvSpPr>
        <p:spPr>
          <a:xfrm>
            <a:off x="8568162" y="5213048"/>
            <a:ext cx="1306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falhou</a:t>
            </a:r>
            <a:endParaRPr lang="en-US" sz="1200" dirty="0"/>
          </a:p>
        </p:txBody>
      </p:sp>
      <p:sp>
        <p:nvSpPr>
          <p:cNvPr id="14" name="caption"/>
          <p:cNvSpPr txBox="1"/>
          <p:nvPr/>
        </p:nvSpPr>
        <p:spPr>
          <a:xfrm>
            <a:off x="548640" y="570682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Outra execução, em modo apresentador (16 agentes em paralelo): 6,9 min · US$ 2,55 · 107 agentes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resultado: o jogo pronto para usar</a:t>
            </a:r>
            <a:endParaRPr lang="en-US" sz="3200" dirty="0"/>
          </a:p>
        </p:txBody>
      </p:sp>
      <p:pic>
        <p:nvPicPr>
          <p:cNvPr id="3" name="video-gam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194408" y="1371600"/>
            <a:ext cx="7802880" cy="438912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589788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Arena que o swarm construiu: desafios de segurança em 4 formatos, para jogar no browser.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15975" y="105156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Projeto 1</a:t>
            </a:r>
            <a:endParaRPr lang="en-US" sz="4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15975" y="26974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Arena de Segurança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que vamos fazer neste projeto hoje</a:t>
            </a:r>
            <a:endParaRPr lang="en-US" sz="3200" dirty="0"/>
          </a:p>
        </p:txBody>
      </p:sp>
      <p:sp>
        <p:nvSpPr>
          <p:cNvPr id="3" name="column-0"/>
          <p:cNvSpPr/>
          <p:nvPr/>
        </p:nvSpPr>
        <p:spPr>
          <a:xfrm>
            <a:off x="548640" y="1691640"/>
            <a:ext cx="348477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mark-0"/>
          <p:cNvSpPr/>
          <p:nvPr/>
        </p:nvSpPr>
        <p:spPr>
          <a:xfrm>
            <a:off x="868680" y="2011680"/>
            <a:ext cx="548640" cy="548640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sp>
        <p:nvSpPr>
          <p:cNvPr id="5" name="column-title-0"/>
          <p:cNvSpPr txBox="1"/>
          <p:nvPr/>
        </p:nvSpPr>
        <p:spPr>
          <a:xfrm>
            <a:off x="868680" y="27889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Pronto</a:t>
            </a:r>
            <a:endParaRPr lang="en-US" sz="2600" dirty="0"/>
          </a:p>
        </p:txBody>
      </p:sp>
      <p:sp>
        <p:nvSpPr>
          <p:cNvPr id="6" name="column-text-0"/>
          <p:cNvSpPr txBox="1"/>
          <p:nvPr/>
        </p:nvSpPr>
        <p:spPr>
          <a:xfrm>
            <a:off x="868680" y="3703320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casca da app, 4 formatos de desafio e um teste para cada tarefa</a:t>
            </a:r>
            <a:endParaRPr lang="en-US" sz="2000" dirty="0"/>
          </a:p>
        </p:txBody>
      </p:sp>
      <p:sp>
        <p:nvSpPr>
          <p:cNvPr id="7" name="column-1"/>
          <p:cNvSpPr/>
          <p:nvPr/>
        </p:nvSpPr>
        <p:spPr>
          <a:xfrm>
            <a:off x="4353458" y="1691640"/>
            <a:ext cx="348477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mark-1"/>
          <p:cNvSpPr/>
          <p:nvPr/>
        </p:nvSpPr>
        <p:spPr>
          <a:xfrm>
            <a:off x="4673498" y="2011680"/>
            <a:ext cx="548640" cy="548640"/>
          </a:xfrm>
          <a:prstGeom prst="rect">
            <a:avLst/>
          </a:prstGeom>
          <a:solidFill>
            <a:srgbClr val="C4C7C1"/>
          </a:solidFill>
          <a:ln w="12700">
            <a:solidFill>
              <a:srgbClr val="C4C7C1"/>
            </a:solidFill>
            <a:prstDash val="solid"/>
          </a:ln>
        </p:spPr>
      </p:sp>
      <p:sp>
        <p:nvSpPr>
          <p:cNvPr id="9" name="column-title-1"/>
          <p:cNvSpPr txBox="1"/>
          <p:nvPr/>
        </p:nvSpPr>
        <p:spPr>
          <a:xfrm>
            <a:off x="4673498" y="27889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Por fazer</a:t>
            </a:r>
            <a:endParaRPr lang="en-US" sz="2600" dirty="0"/>
          </a:p>
        </p:txBody>
      </p:sp>
      <p:sp>
        <p:nvSpPr>
          <p:cNvPr id="10" name="column-text-1"/>
          <p:cNvSpPr txBox="1"/>
          <p:nvPr/>
        </p:nvSpPr>
        <p:spPr>
          <a:xfrm>
            <a:off x="4673498" y="3703320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desafios e o teu, o lib-hash, 2 páginas, a integração e a revisão</a:t>
            </a:r>
            <a:endParaRPr lang="en-US" sz="2000" dirty="0"/>
          </a:p>
        </p:txBody>
      </p:sp>
      <p:sp>
        <p:nvSpPr>
          <p:cNvPr id="11" name="column-2"/>
          <p:cNvSpPr/>
          <p:nvPr/>
        </p:nvSpPr>
        <p:spPr>
          <a:xfrm>
            <a:off x="8158277" y="1691640"/>
            <a:ext cx="348477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mark-2"/>
          <p:cNvSpPr/>
          <p:nvPr/>
        </p:nvSpPr>
        <p:spPr>
          <a:xfrm>
            <a:off x="8478317" y="2011680"/>
            <a:ext cx="548640" cy="548640"/>
          </a:xfrm>
          <a:prstGeom prst="rect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</p:sp>
      <p:sp>
        <p:nvSpPr>
          <p:cNvPr id="13" name="column-title-2"/>
          <p:cNvSpPr txBox="1"/>
          <p:nvPr/>
        </p:nvSpPr>
        <p:spPr>
          <a:xfrm>
            <a:off x="8478317" y="27889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Quem faz</a:t>
            </a:r>
            <a:endParaRPr lang="en-US" sz="2600" dirty="0"/>
          </a:p>
        </p:txBody>
      </p:sp>
      <p:sp>
        <p:nvSpPr>
          <p:cNvPr id="14" name="column-text-2"/>
          <p:cNvSpPr txBox="1"/>
          <p:nvPr/>
        </p:nvSpPr>
        <p:spPr>
          <a:xfrm>
            <a:off x="8478317" y="3703320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teu swarm: Haiku, Sonnet e Opus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5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Escreve o teu cartão</a:t>
            </a:r>
            <a:endParaRPr lang="en-US" sz="3400" dirty="0"/>
          </a:p>
        </p:txBody>
      </p:sp>
      <p:sp>
        <p:nvSpPr>
          <p:cNvPr id="5" name="do-it-intro"/>
          <p:cNvSpPr txBox="1"/>
          <p:nvPr/>
        </p:nvSpPr>
        <p:spPr>
          <a:xfrm>
            <a:off x="548640" y="15727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planear, junta um desafio teu aos 100: o swarm também o constrói.</a:t>
            </a:r>
            <a:endParaRPr lang="en-US" sz="1900" dirty="0"/>
          </a:p>
        </p:txBody>
      </p:sp>
      <p:sp>
        <p:nvSpPr>
          <p:cNvPr id="6" name="do-it-steps"/>
          <p:cNvSpPr txBox="1"/>
          <p:nvPr/>
        </p:nvSpPr>
        <p:spPr>
          <a:xfrm>
            <a:off x="548640" y="224028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o exemplo para specs/my-card.json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editor, muda title, concept, prompt e template: spot-the-flaw, choice, order ou answer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os ficheiros do cartão</a:t>
            </a:r>
            <a:endParaRPr lang="en-US" sz="2000" dirty="0"/>
          </a:p>
        </p:txBody>
      </p:sp>
      <p:sp>
        <p:nvSpPr>
          <p:cNvPr id="7" name="code-background"/>
          <p:cNvSpPr/>
          <p:nvPr/>
        </p:nvSpPr>
        <p:spPr>
          <a:xfrm>
            <a:off x="4937760" y="2240280"/>
            <a:ext cx="6705295" cy="1900123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5166360" y="242316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1</a:t>
            </a:r>
            <a:endParaRPr lang="en-US" sz="1500" dirty="0"/>
          </a:p>
        </p:txBody>
      </p:sp>
      <p:sp>
        <p:nvSpPr>
          <p:cNvPr id="9" name="code"/>
          <p:cNvSpPr txBox="1"/>
          <p:nvPr/>
        </p:nvSpPr>
        <p:spPr>
          <a:xfrm>
            <a:off x="5166360" y="2807208"/>
            <a:ext cx="6248095" cy="1196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~/workshop-claude/demo-project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specs/my-card.example.json specs/my-card.json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edita o specs/my-card.json e depois: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tools/gen.mjs</a:t>
            </a:r>
            <a:endParaRPr lang="en-US" sz="1700" dirty="0"/>
          </a:p>
        </p:txBody>
      </p:sp>
      <p:sp>
        <p:nvSpPr>
          <p:cNvPr id="10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1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2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do swarm: o cartão my-01 na galeria e no /status (101 cartões), feito por um agente Haiku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que faz o /demo-plan</a:t>
            </a:r>
            <a:endParaRPr lang="en-US" sz="3200" dirty="0"/>
          </a:p>
        </p:txBody>
      </p:sp>
      <p:sp>
        <p:nvSpPr>
          <p:cNvPr id="3" name="code-background"/>
          <p:cNvSpPr/>
          <p:nvPr/>
        </p:nvSpPr>
        <p:spPr>
          <a:xfrm>
            <a:off x="548640" y="1508760"/>
            <a:ext cx="5760720" cy="413308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4" name="code-label"/>
          <p:cNvSpPr txBox="1"/>
          <p:nvPr/>
        </p:nvSpPr>
        <p:spPr>
          <a:xfrm>
            <a:off x="777240" y="1691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.claude/skills/demo-plan/SKILL.md (resumo)</a:t>
            </a:r>
            <a:endParaRPr lang="en-US" sz="1500" dirty="0"/>
          </a:p>
        </p:txBody>
      </p:sp>
      <p:sp>
        <p:nvSpPr>
          <p:cNvPr id="5" name="code"/>
          <p:cNvSpPr txBox="1"/>
          <p:nvPr/>
        </p:nvSpPr>
        <p:spPr>
          <a:xfrm>
            <a:off x="777240" y="2075688"/>
            <a:ext cx="5303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demo-plan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sonnet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allowed-tools: Read, Agent,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 tools/*, memory_search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Procura lições na memória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node tools/plan.mjs → o grafo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O planner (Opus) revê o plano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Mostra waves, diagrama e custo</a:t>
            </a:r>
            <a:endParaRPr lang="en-US" sz="2000" dirty="0"/>
          </a:p>
        </p:txBody>
      </p:sp>
      <p:sp>
        <p:nvSpPr>
          <p:cNvPr id="6" name="anatomy-mark-0-circle"/>
          <p:cNvSpPr/>
          <p:nvPr/>
        </p:nvSpPr>
        <p:spPr>
          <a:xfrm>
            <a:off x="6766560" y="1508760"/>
            <a:ext cx="438912" cy="438912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7" name="anatomy-mark-0" descr="scroll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3121" y="1605321"/>
            <a:ext cx="245791" cy="245791"/>
          </a:xfrm>
          <a:prstGeom prst="rect">
            <a:avLst/>
          </a:prstGeom>
        </p:spPr>
      </p:pic>
      <p:sp>
        <p:nvSpPr>
          <p:cNvPr id="8" name="anatomy-title-0"/>
          <p:cNvSpPr txBox="1"/>
          <p:nvPr/>
        </p:nvSpPr>
        <p:spPr>
          <a:xfrm>
            <a:off x="7388352" y="1527048"/>
            <a:ext cx="42547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É uma skill</a:t>
            </a:r>
            <a:endParaRPr lang="en-US" sz="2200" dirty="0"/>
          </a:p>
        </p:txBody>
      </p:sp>
      <p:sp>
        <p:nvSpPr>
          <p:cNvPr id="9" name="anatomy-text-0"/>
          <p:cNvSpPr txBox="1"/>
          <p:nvPr/>
        </p:nvSpPr>
        <p:spPr>
          <a:xfrm>
            <a:off x="7388352" y="1984248"/>
            <a:ext cx="4254703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ficheiro Markdown com passos: escreves /demo-plan e o Claude segue a receita.</a:t>
            </a:r>
            <a:endParaRPr lang="en-US" sz="1800" dirty="0"/>
          </a:p>
        </p:txBody>
      </p:sp>
      <p:sp>
        <p:nvSpPr>
          <p:cNvPr id="10" name="anatomy-mark-1-circle"/>
          <p:cNvSpPr/>
          <p:nvPr/>
        </p:nvSpPr>
        <p:spPr>
          <a:xfrm>
            <a:off x="6766560" y="2956560"/>
            <a:ext cx="438912" cy="438912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1" name="anatomy-mark-1" descr="workfl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121" y="3053121"/>
            <a:ext cx="245791" cy="245791"/>
          </a:xfrm>
          <a:prstGeom prst="rect">
            <a:avLst/>
          </a:prstGeom>
        </p:spPr>
      </p:pic>
      <p:sp>
        <p:nvSpPr>
          <p:cNvPr id="12" name="anatomy-title-1"/>
          <p:cNvSpPr txBox="1"/>
          <p:nvPr/>
        </p:nvSpPr>
        <p:spPr>
          <a:xfrm>
            <a:off x="7388352" y="2974848"/>
            <a:ext cx="42547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que entra e o que sai</a:t>
            </a:r>
            <a:endParaRPr lang="en-US" sz="2200" dirty="0"/>
          </a:p>
        </p:txBody>
      </p:sp>
      <p:sp>
        <p:nvSpPr>
          <p:cNvPr id="13" name="anatomy-text-1"/>
          <p:cNvSpPr txBox="1"/>
          <p:nvPr/>
        </p:nvSpPr>
        <p:spPr>
          <a:xfrm>
            <a:off x="7388352" y="3432048"/>
            <a:ext cx="4254703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Entram as specs da Arena. Saem o plan.json e o PLAN.md: o grafo e a estimativa.</a:t>
            </a:r>
            <a:endParaRPr lang="en-US" sz="1800" dirty="0"/>
          </a:p>
        </p:txBody>
      </p:sp>
      <p:sp>
        <p:nvSpPr>
          <p:cNvPr id="14" name="anatomy-mark-2-circle"/>
          <p:cNvSpPr/>
          <p:nvPr/>
        </p:nvSpPr>
        <p:spPr>
          <a:xfrm>
            <a:off x="6766560" y="4404360"/>
            <a:ext cx="438912" cy="438912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5" name="anatomy-mark-2" descr="folder-git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121" y="4500921"/>
            <a:ext cx="245791" cy="245791"/>
          </a:xfrm>
          <a:prstGeom prst="rect">
            <a:avLst/>
          </a:prstGeom>
        </p:spPr>
      </p:pic>
      <p:sp>
        <p:nvSpPr>
          <p:cNvPr id="16" name="anatomy-title-2"/>
          <p:cNvSpPr txBox="1"/>
          <p:nvPr/>
        </p:nvSpPr>
        <p:spPr>
          <a:xfrm>
            <a:off x="7388352" y="4422648"/>
            <a:ext cx="42547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No teu projeto</a:t>
            </a:r>
            <a:endParaRPr lang="en-US" sz="2200" dirty="0"/>
          </a:p>
        </p:txBody>
      </p:sp>
      <p:sp>
        <p:nvSpPr>
          <p:cNvPr id="17" name="anatomy-text-2"/>
          <p:cNvSpPr txBox="1"/>
          <p:nvPr/>
        </p:nvSpPr>
        <p:spPr>
          <a:xfrm>
            <a:off x="7388352" y="4879848"/>
            <a:ext cx="4254703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/task-plan faz o mesmo para uma issue do Jira ou do GitHub.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Tarefa → grafo → waves</a:t>
            </a:r>
            <a:endParaRPr lang="en-US" sz="3200" dirty="0"/>
          </a:p>
        </p:txBody>
      </p:sp>
      <p:sp>
        <p:nvSpPr>
          <p:cNvPr id="3" name="wave-0"/>
          <p:cNvSpPr/>
          <p:nvPr/>
        </p:nvSpPr>
        <p:spPr>
          <a:xfrm>
            <a:off x="548640" y="1600200"/>
            <a:ext cx="40233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wave-name-0"/>
          <p:cNvSpPr txBox="1"/>
          <p:nvPr/>
        </p:nvSpPr>
        <p:spPr>
          <a:xfrm>
            <a:off x="82296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Wave 1</a:t>
            </a:r>
            <a:endParaRPr lang="en-US" sz="2400" dirty="0"/>
          </a:p>
        </p:txBody>
      </p:sp>
      <p:sp>
        <p:nvSpPr>
          <p:cNvPr id="5" name="wave-model-icon-0-circle"/>
          <p:cNvSpPr/>
          <p:nvPr/>
        </p:nvSpPr>
        <p:spPr>
          <a:xfrm>
            <a:off x="822960" y="2304288"/>
            <a:ext cx="310896" cy="310896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6" name="wave-model-icon-0" descr="feat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57" y="2372685"/>
            <a:ext cx="174102" cy="174102"/>
          </a:xfrm>
          <a:prstGeom prst="rect">
            <a:avLst/>
          </a:prstGeom>
        </p:spPr>
      </p:pic>
      <p:sp>
        <p:nvSpPr>
          <p:cNvPr id="7" name="wave-model-0"/>
          <p:cNvSpPr txBox="1"/>
          <p:nvPr/>
        </p:nvSpPr>
        <p:spPr>
          <a:xfrm>
            <a:off x="1225296" y="23042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1600" dirty="0"/>
          </a:p>
        </p:txBody>
      </p:sp>
      <p:sp>
        <p:nvSpPr>
          <p:cNvPr id="8" name="wave-sub-0"/>
          <p:cNvSpPr txBox="1"/>
          <p:nvPr/>
        </p:nvSpPr>
        <p:spPr>
          <a:xfrm>
            <a:off x="822960" y="27249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lib-hash e os desafios</a:t>
            </a:r>
            <a:endParaRPr lang="en-US" sz="1500" dirty="0"/>
          </a:p>
        </p:txBody>
      </p:sp>
      <p:sp>
        <p:nvSpPr>
          <p:cNvPr id="9" name="hash"/>
          <p:cNvSpPr/>
          <p:nvPr/>
        </p:nvSpPr>
        <p:spPr>
          <a:xfrm>
            <a:off x="822960" y="3383280"/>
            <a:ext cx="384048" cy="384048"/>
          </a:xfrm>
          <a:prstGeom prst="rect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</p:sp>
      <p:sp>
        <p:nvSpPr>
          <p:cNvPr id="10" name="hash-label"/>
          <p:cNvSpPr txBox="1"/>
          <p:nvPr/>
        </p:nvSpPr>
        <p:spPr>
          <a:xfrm>
            <a:off x="1325880" y="3383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lib-hash</a:t>
            </a:r>
            <a:endParaRPr lang="en-US" sz="1400" dirty="0"/>
          </a:p>
        </p:txBody>
      </p:sp>
      <p:sp>
        <p:nvSpPr>
          <p:cNvPr id="11" name="task-0"/>
          <p:cNvSpPr/>
          <p:nvPr/>
        </p:nvSpPr>
        <p:spPr>
          <a:xfrm>
            <a:off x="822960" y="3931920"/>
            <a:ext cx="384048" cy="384048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sp>
        <p:nvSpPr>
          <p:cNvPr id="12" name="task-1"/>
          <p:cNvSpPr/>
          <p:nvPr/>
        </p:nvSpPr>
        <p:spPr>
          <a:xfrm>
            <a:off x="1389888" y="3931920"/>
            <a:ext cx="384048" cy="384048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sp>
        <p:nvSpPr>
          <p:cNvPr id="13" name="task-2"/>
          <p:cNvSpPr/>
          <p:nvPr/>
        </p:nvSpPr>
        <p:spPr>
          <a:xfrm>
            <a:off x="1956816" y="3931920"/>
            <a:ext cx="384048" cy="384048"/>
          </a:xfrm>
          <a:prstGeom prst="rect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</p:sp>
      <p:sp>
        <p:nvSpPr>
          <p:cNvPr id="14" name="task-3"/>
          <p:cNvSpPr/>
          <p:nvPr/>
        </p:nvSpPr>
        <p:spPr>
          <a:xfrm>
            <a:off x="2523744" y="3931920"/>
            <a:ext cx="384048" cy="384048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sp>
        <p:nvSpPr>
          <p:cNvPr id="15" name="task-4"/>
          <p:cNvSpPr/>
          <p:nvPr/>
        </p:nvSpPr>
        <p:spPr>
          <a:xfrm>
            <a:off x="3090672" y="3931920"/>
            <a:ext cx="384048" cy="384048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sp>
        <p:nvSpPr>
          <p:cNvPr id="16" name="task-5"/>
          <p:cNvSpPr/>
          <p:nvPr/>
        </p:nvSpPr>
        <p:spPr>
          <a:xfrm>
            <a:off x="3657600" y="3931920"/>
            <a:ext cx="384048" cy="384048"/>
          </a:xfrm>
          <a:prstGeom prst="rect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</p:sp>
      <p:sp>
        <p:nvSpPr>
          <p:cNvPr id="17" name="task-6"/>
          <p:cNvSpPr/>
          <p:nvPr/>
        </p:nvSpPr>
        <p:spPr>
          <a:xfrm>
            <a:off x="822960" y="4434840"/>
            <a:ext cx="384048" cy="384048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sp>
        <p:nvSpPr>
          <p:cNvPr id="18" name="task-7"/>
          <p:cNvSpPr/>
          <p:nvPr/>
        </p:nvSpPr>
        <p:spPr>
          <a:xfrm>
            <a:off x="1389888" y="4434840"/>
            <a:ext cx="384048" cy="384048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sp>
        <p:nvSpPr>
          <p:cNvPr id="19" name="task-8"/>
          <p:cNvSpPr/>
          <p:nvPr/>
        </p:nvSpPr>
        <p:spPr>
          <a:xfrm>
            <a:off x="1956816" y="4434840"/>
            <a:ext cx="384048" cy="384048"/>
          </a:xfrm>
          <a:prstGeom prst="rect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</p:sp>
      <p:sp>
        <p:nvSpPr>
          <p:cNvPr id="20" name="task-9"/>
          <p:cNvSpPr/>
          <p:nvPr/>
        </p:nvSpPr>
        <p:spPr>
          <a:xfrm>
            <a:off x="2523744" y="4434840"/>
            <a:ext cx="384048" cy="384048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sp>
        <p:nvSpPr>
          <p:cNvPr id="21" name="task-10"/>
          <p:cNvSpPr/>
          <p:nvPr/>
        </p:nvSpPr>
        <p:spPr>
          <a:xfrm>
            <a:off x="3090672" y="4434840"/>
            <a:ext cx="384048" cy="384048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sp>
        <p:nvSpPr>
          <p:cNvPr id="22" name="task-11"/>
          <p:cNvSpPr/>
          <p:nvPr/>
        </p:nvSpPr>
        <p:spPr>
          <a:xfrm>
            <a:off x="3657600" y="4434840"/>
            <a:ext cx="384048" cy="384048"/>
          </a:xfrm>
          <a:prstGeom prst="rect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</p:sp>
      <p:sp>
        <p:nvSpPr>
          <p:cNvPr id="23" name="crypto-0"/>
          <p:cNvSpPr/>
          <p:nvPr/>
        </p:nvSpPr>
        <p:spPr>
          <a:xfrm>
            <a:off x="822960" y="5029200"/>
            <a:ext cx="384048" cy="384048"/>
          </a:xfrm>
          <a:prstGeom prst="rect">
            <a:avLst/>
          </a:prstGeom>
          <a:solidFill>
            <a:srgbClr val="C4C7C1"/>
          </a:solidFill>
          <a:ln w="12700">
            <a:solidFill>
              <a:srgbClr val="C4C7C1"/>
            </a:solidFill>
            <a:prstDash val="solid"/>
          </a:ln>
        </p:spPr>
      </p:sp>
      <p:sp>
        <p:nvSpPr>
          <p:cNvPr id="24" name="crypto-1"/>
          <p:cNvSpPr/>
          <p:nvPr/>
        </p:nvSpPr>
        <p:spPr>
          <a:xfrm>
            <a:off x="1389888" y="5029200"/>
            <a:ext cx="384048" cy="384048"/>
          </a:xfrm>
          <a:prstGeom prst="rect">
            <a:avLst/>
          </a:prstGeom>
          <a:solidFill>
            <a:srgbClr val="C4C7C1"/>
          </a:solidFill>
          <a:ln w="12700">
            <a:solidFill>
              <a:srgbClr val="C4C7C1"/>
            </a:solidFill>
            <a:prstDash val="solid"/>
          </a:ln>
        </p:spPr>
      </p:sp>
      <p:sp>
        <p:nvSpPr>
          <p:cNvPr id="25" name="crypto-2"/>
          <p:cNvSpPr/>
          <p:nvPr/>
        </p:nvSpPr>
        <p:spPr>
          <a:xfrm>
            <a:off x="1956816" y="5029200"/>
            <a:ext cx="384048" cy="384048"/>
          </a:xfrm>
          <a:prstGeom prst="rect">
            <a:avLst/>
          </a:prstGeom>
          <a:solidFill>
            <a:srgbClr val="C4C7C1"/>
          </a:solidFill>
          <a:ln w="12700">
            <a:solidFill>
              <a:srgbClr val="C4C7C1"/>
            </a:solidFill>
            <a:prstDash val="solid"/>
          </a:ln>
        </p:spPr>
      </p:sp>
      <p:sp>
        <p:nvSpPr>
          <p:cNvPr id="26" name="crypto-label"/>
          <p:cNvSpPr txBox="1"/>
          <p:nvPr/>
        </p:nvSpPr>
        <p:spPr>
          <a:xfrm>
            <a:off x="2523744" y="4956048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3 de criptografia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esperam pelo lib-hash</a:t>
            </a:r>
            <a:endParaRPr lang="en-US" sz="1200" dirty="0"/>
          </a:p>
        </p:txBody>
      </p:sp>
      <p:sp>
        <p:nvSpPr>
          <p:cNvPr id="27" name="arrow-0"/>
          <p:cNvSpPr/>
          <p:nvPr/>
        </p:nvSpPr>
        <p:spPr>
          <a:xfrm>
            <a:off x="4626864" y="3575304"/>
            <a:ext cx="144170" cy="0"/>
          </a:xfrm>
          <a:prstGeom prst="line">
            <a:avLst/>
          </a:prstGeom>
          <a:noFill/>
          <a:ln w="31750">
            <a:solidFill>
              <a:srgbClr val="140920"/>
            </a:solidFill>
            <a:prstDash val="solid"/>
            <a:tailEnd type="triangle"/>
          </a:ln>
        </p:spPr>
      </p:sp>
      <p:sp>
        <p:nvSpPr>
          <p:cNvPr id="28" name="wave-1"/>
          <p:cNvSpPr/>
          <p:nvPr/>
        </p:nvSpPr>
        <p:spPr>
          <a:xfrm>
            <a:off x="4825898" y="1600200"/>
            <a:ext cx="2103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wave-name-1"/>
          <p:cNvSpPr txBox="1"/>
          <p:nvPr/>
        </p:nvSpPr>
        <p:spPr>
          <a:xfrm>
            <a:off x="5100218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Wave 2</a:t>
            </a:r>
            <a:endParaRPr lang="en-US" sz="2400" dirty="0"/>
          </a:p>
        </p:txBody>
      </p:sp>
      <p:sp>
        <p:nvSpPr>
          <p:cNvPr id="30" name="wave-model-icon-1-circle"/>
          <p:cNvSpPr/>
          <p:nvPr/>
        </p:nvSpPr>
        <p:spPr>
          <a:xfrm>
            <a:off x="5100218" y="2304288"/>
            <a:ext cx="310896" cy="310896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31" name="wave-model-icon-1" descr="puzz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616" y="2372685"/>
            <a:ext cx="174102" cy="174102"/>
          </a:xfrm>
          <a:prstGeom prst="rect">
            <a:avLst/>
          </a:prstGeom>
        </p:spPr>
      </p:pic>
      <p:sp>
        <p:nvSpPr>
          <p:cNvPr id="32" name="wave-model-1"/>
          <p:cNvSpPr txBox="1"/>
          <p:nvPr/>
        </p:nvSpPr>
        <p:spPr>
          <a:xfrm>
            <a:off x="5502554" y="23042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1600" dirty="0"/>
          </a:p>
        </p:txBody>
      </p:sp>
      <p:sp>
        <p:nvSpPr>
          <p:cNvPr id="33" name="wave-sub-1"/>
          <p:cNvSpPr txBox="1"/>
          <p:nvPr/>
        </p:nvSpPr>
        <p:spPr>
          <a:xfrm>
            <a:off x="5100218" y="27249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categorias e pontuação</a:t>
            </a:r>
            <a:endParaRPr lang="en-US" sz="1500" dirty="0"/>
          </a:p>
        </p:txBody>
      </p:sp>
      <p:sp>
        <p:nvSpPr>
          <p:cNvPr id="34" name="wave1-0"/>
          <p:cNvSpPr/>
          <p:nvPr/>
        </p:nvSpPr>
        <p:spPr>
          <a:xfrm>
            <a:off x="5100218" y="3383280"/>
            <a:ext cx="384048" cy="384048"/>
          </a:xfrm>
          <a:prstGeom prst="rect">
            <a:avLst/>
          </a:prstGeom>
          <a:solidFill>
            <a:srgbClr val="C4C7C1"/>
          </a:solidFill>
          <a:ln w="12700">
            <a:solidFill>
              <a:srgbClr val="C4C7C1"/>
            </a:solidFill>
            <a:prstDash val="solid"/>
          </a:ln>
        </p:spPr>
      </p:sp>
      <p:sp>
        <p:nvSpPr>
          <p:cNvPr id="35" name="wave1-1"/>
          <p:cNvSpPr/>
          <p:nvPr/>
        </p:nvSpPr>
        <p:spPr>
          <a:xfrm>
            <a:off x="5667146" y="3383280"/>
            <a:ext cx="384048" cy="384048"/>
          </a:xfrm>
          <a:prstGeom prst="rect">
            <a:avLst/>
          </a:prstGeom>
          <a:solidFill>
            <a:srgbClr val="C4C7C1"/>
          </a:solidFill>
          <a:ln w="12700">
            <a:solidFill>
              <a:srgbClr val="C4C7C1"/>
            </a:solidFill>
            <a:prstDash val="solid"/>
          </a:ln>
        </p:spPr>
      </p:sp>
      <p:sp>
        <p:nvSpPr>
          <p:cNvPr id="36" name="arrow-1"/>
          <p:cNvSpPr/>
          <p:nvPr/>
        </p:nvSpPr>
        <p:spPr>
          <a:xfrm>
            <a:off x="6983882" y="3575304"/>
            <a:ext cx="144170" cy="0"/>
          </a:xfrm>
          <a:prstGeom prst="line">
            <a:avLst/>
          </a:prstGeom>
          <a:noFill/>
          <a:ln w="31750">
            <a:solidFill>
              <a:srgbClr val="140920"/>
            </a:solidFill>
            <a:prstDash val="solid"/>
            <a:tailEnd type="triangle"/>
          </a:ln>
        </p:spPr>
      </p:sp>
      <p:sp>
        <p:nvSpPr>
          <p:cNvPr id="37" name="wave-2"/>
          <p:cNvSpPr/>
          <p:nvPr/>
        </p:nvSpPr>
        <p:spPr>
          <a:xfrm>
            <a:off x="7182917" y="1600200"/>
            <a:ext cx="2103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wave-name-2"/>
          <p:cNvSpPr txBox="1"/>
          <p:nvPr/>
        </p:nvSpPr>
        <p:spPr>
          <a:xfrm>
            <a:off x="7457237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Wave 3</a:t>
            </a:r>
            <a:endParaRPr lang="en-US" sz="2400" dirty="0"/>
          </a:p>
        </p:txBody>
      </p:sp>
      <p:sp>
        <p:nvSpPr>
          <p:cNvPr id="39" name="wave-model-icon-2-circle"/>
          <p:cNvSpPr/>
          <p:nvPr/>
        </p:nvSpPr>
        <p:spPr>
          <a:xfrm>
            <a:off x="7457237" y="2304288"/>
            <a:ext cx="310896" cy="310896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40" name="wave-model-icon-2" descr="puzz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634" y="2372685"/>
            <a:ext cx="174102" cy="174102"/>
          </a:xfrm>
          <a:prstGeom prst="rect">
            <a:avLst/>
          </a:prstGeom>
        </p:spPr>
      </p:pic>
      <p:sp>
        <p:nvSpPr>
          <p:cNvPr id="41" name="wave-model-2"/>
          <p:cNvSpPr txBox="1"/>
          <p:nvPr/>
        </p:nvSpPr>
        <p:spPr>
          <a:xfrm>
            <a:off x="7859573" y="23042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1600" dirty="0"/>
          </a:p>
        </p:txBody>
      </p:sp>
      <p:sp>
        <p:nvSpPr>
          <p:cNvPr id="42" name="wave-sub-2"/>
          <p:cNvSpPr txBox="1"/>
          <p:nvPr/>
        </p:nvSpPr>
        <p:spPr>
          <a:xfrm>
            <a:off x="7457237" y="27249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 suite de testes</a:t>
            </a:r>
            <a:endParaRPr lang="en-US" sz="1500" dirty="0"/>
          </a:p>
        </p:txBody>
      </p:sp>
      <p:sp>
        <p:nvSpPr>
          <p:cNvPr id="43" name="wave2-0"/>
          <p:cNvSpPr/>
          <p:nvPr/>
        </p:nvSpPr>
        <p:spPr>
          <a:xfrm>
            <a:off x="7457237" y="3383280"/>
            <a:ext cx="384048" cy="384048"/>
          </a:xfrm>
          <a:prstGeom prst="rect">
            <a:avLst/>
          </a:prstGeom>
          <a:solidFill>
            <a:srgbClr val="C4C7C1"/>
          </a:solidFill>
          <a:ln w="12700">
            <a:solidFill>
              <a:srgbClr val="C4C7C1"/>
            </a:solidFill>
            <a:prstDash val="solid"/>
          </a:ln>
        </p:spPr>
      </p:sp>
      <p:sp>
        <p:nvSpPr>
          <p:cNvPr id="44" name="arrow-2"/>
          <p:cNvSpPr/>
          <p:nvPr/>
        </p:nvSpPr>
        <p:spPr>
          <a:xfrm>
            <a:off x="9340901" y="3575304"/>
            <a:ext cx="144170" cy="0"/>
          </a:xfrm>
          <a:prstGeom prst="line">
            <a:avLst/>
          </a:prstGeom>
          <a:noFill/>
          <a:ln w="31750">
            <a:solidFill>
              <a:srgbClr val="140920"/>
            </a:solidFill>
            <a:prstDash val="solid"/>
            <a:tailEnd type="triangle"/>
          </a:ln>
        </p:spPr>
      </p:sp>
      <p:sp>
        <p:nvSpPr>
          <p:cNvPr id="45" name="wave-3"/>
          <p:cNvSpPr/>
          <p:nvPr/>
        </p:nvSpPr>
        <p:spPr>
          <a:xfrm>
            <a:off x="9539935" y="1600200"/>
            <a:ext cx="2103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wave-name-3"/>
          <p:cNvSpPr txBox="1"/>
          <p:nvPr/>
        </p:nvSpPr>
        <p:spPr>
          <a:xfrm>
            <a:off x="9814255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Wave 4</a:t>
            </a:r>
            <a:endParaRPr lang="en-US" sz="2400" dirty="0"/>
          </a:p>
        </p:txBody>
      </p:sp>
      <p:sp>
        <p:nvSpPr>
          <p:cNvPr id="47" name="wave-model-icon-3-circle"/>
          <p:cNvSpPr/>
          <p:nvPr/>
        </p:nvSpPr>
        <p:spPr>
          <a:xfrm>
            <a:off x="9814255" y="2304288"/>
            <a:ext cx="310896" cy="310896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48" name="wave-model-icon-3" descr="bra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2652" y="2372685"/>
            <a:ext cx="174102" cy="174102"/>
          </a:xfrm>
          <a:prstGeom prst="rect">
            <a:avLst/>
          </a:prstGeom>
        </p:spPr>
      </p:pic>
      <p:sp>
        <p:nvSpPr>
          <p:cNvPr id="49" name="wave-model-3"/>
          <p:cNvSpPr txBox="1"/>
          <p:nvPr/>
        </p:nvSpPr>
        <p:spPr>
          <a:xfrm>
            <a:off x="10216591" y="23042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1600" dirty="0"/>
          </a:p>
        </p:txBody>
      </p:sp>
      <p:sp>
        <p:nvSpPr>
          <p:cNvPr id="50" name="wave-sub-3"/>
          <p:cNvSpPr txBox="1"/>
          <p:nvPr/>
        </p:nvSpPr>
        <p:spPr>
          <a:xfrm>
            <a:off x="9814255" y="27249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e veredito</a:t>
            </a:r>
            <a:endParaRPr lang="en-US" sz="1500" dirty="0"/>
          </a:p>
        </p:txBody>
      </p:sp>
      <p:sp>
        <p:nvSpPr>
          <p:cNvPr id="51" name="wave3-0"/>
          <p:cNvSpPr/>
          <p:nvPr/>
        </p:nvSpPr>
        <p:spPr>
          <a:xfrm>
            <a:off x="9814255" y="3383280"/>
            <a:ext cx="384048" cy="384048"/>
          </a:xfrm>
          <a:prstGeom prst="rect">
            <a:avLst/>
          </a:prstGeom>
          <a:solidFill>
            <a:srgbClr val="C4C7C1"/>
          </a:solidFill>
          <a:ln w="12700">
            <a:solidFill>
              <a:srgbClr val="C4C7C1"/>
            </a:solidFill>
            <a:prstDash val="solid"/>
          </a:ln>
        </p:spPr>
      </p:sp>
      <p:sp>
        <p:nvSpPr>
          <p:cNvPr id="52" name="status-legend-title"/>
          <p:cNvSpPr txBox="1"/>
          <p:nvPr/>
        </p:nvSpPr>
        <p:spPr>
          <a:xfrm>
            <a:off x="548640" y="5833872"/>
            <a:ext cx="25856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quadrado é uma tarefa:</a:t>
            </a:r>
            <a:endParaRPr lang="en-US" sz="1300" dirty="0"/>
          </a:p>
        </p:txBody>
      </p:sp>
      <p:sp>
        <p:nvSpPr>
          <p:cNvPr id="53" name="status-legend-0"/>
          <p:cNvSpPr/>
          <p:nvPr/>
        </p:nvSpPr>
        <p:spPr>
          <a:xfrm>
            <a:off x="3134329" y="5861304"/>
            <a:ext cx="219456" cy="219456"/>
          </a:xfrm>
          <a:prstGeom prst="rect">
            <a:avLst/>
          </a:prstGeom>
          <a:solidFill>
            <a:srgbClr val="C4C7C1"/>
          </a:solidFill>
          <a:ln w="12700">
            <a:solidFill>
              <a:srgbClr val="C4C7C1"/>
            </a:solidFill>
            <a:prstDash val="solid"/>
          </a:ln>
        </p:spPr>
      </p:sp>
      <p:sp>
        <p:nvSpPr>
          <p:cNvPr id="54" name="status-legend-label-0"/>
          <p:cNvSpPr txBox="1"/>
          <p:nvPr/>
        </p:nvSpPr>
        <p:spPr>
          <a:xfrm>
            <a:off x="3463513" y="5833872"/>
            <a:ext cx="105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espera</a:t>
            </a:r>
            <a:endParaRPr lang="en-US" sz="1300" dirty="0"/>
          </a:p>
        </p:txBody>
      </p:sp>
      <p:sp>
        <p:nvSpPr>
          <p:cNvPr id="55" name="status-legend-1"/>
          <p:cNvSpPr/>
          <p:nvPr/>
        </p:nvSpPr>
        <p:spPr>
          <a:xfrm>
            <a:off x="4521657" y="5861304"/>
            <a:ext cx="219456" cy="219456"/>
          </a:xfrm>
          <a:prstGeom prst="rect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</p:sp>
      <p:sp>
        <p:nvSpPr>
          <p:cNvPr id="56" name="status-legend-label-1"/>
          <p:cNvSpPr txBox="1"/>
          <p:nvPr/>
        </p:nvSpPr>
        <p:spPr>
          <a:xfrm>
            <a:off x="4850841" y="5833872"/>
            <a:ext cx="18664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a trabalhar</a:t>
            </a:r>
            <a:endParaRPr lang="en-US" sz="1300" dirty="0"/>
          </a:p>
        </p:txBody>
      </p:sp>
      <p:sp>
        <p:nvSpPr>
          <p:cNvPr id="57" name="status-legend-2"/>
          <p:cNvSpPr/>
          <p:nvPr/>
        </p:nvSpPr>
        <p:spPr>
          <a:xfrm>
            <a:off x="6717314" y="5861304"/>
            <a:ext cx="219456" cy="219456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sp>
        <p:nvSpPr>
          <p:cNvPr id="58" name="status-legend-label-2"/>
          <p:cNvSpPr txBox="1"/>
          <p:nvPr/>
        </p:nvSpPr>
        <p:spPr>
          <a:xfrm>
            <a:off x="7046498" y="5833872"/>
            <a:ext cx="138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passou</a:t>
            </a:r>
            <a:endParaRPr lang="en-US" sz="1300" dirty="0"/>
          </a:p>
        </p:txBody>
      </p:sp>
      <p:sp>
        <p:nvSpPr>
          <p:cNvPr id="59" name="status-legend-3"/>
          <p:cNvSpPr/>
          <p:nvPr/>
        </p:nvSpPr>
        <p:spPr>
          <a:xfrm>
            <a:off x="8427974" y="5861304"/>
            <a:ext cx="219456" cy="219456"/>
          </a:xfrm>
          <a:prstGeom prst="rect">
            <a:avLst/>
          </a:prstGeom>
          <a:solidFill>
            <a:srgbClr val="D2463F"/>
          </a:solidFill>
          <a:ln w="12700">
            <a:solidFill>
              <a:srgbClr val="D2463F"/>
            </a:solidFill>
            <a:prstDash val="solid"/>
          </a:ln>
        </p:spPr>
      </p:sp>
      <p:sp>
        <p:nvSpPr>
          <p:cNvPr id="60" name="status-legend-label-3"/>
          <p:cNvSpPr txBox="1"/>
          <p:nvPr/>
        </p:nvSpPr>
        <p:spPr>
          <a:xfrm>
            <a:off x="8757158" y="5833872"/>
            <a:ext cx="138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falhou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3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Planeia o swarm</a:t>
            </a:r>
            <a:endParaRPr lang="en-US" sz="3400" dirty="0"/>
          </a:p>
        </p:txBody>
      </p:sp>
      <p:sp>
        <p:nvSpPr>
          <p:cNvPr id="5" name="do-it-steps"/>
          <p:cNvSpPr txBox="1"/>
          <p:nvPr/>
        </p:nvSpPr>
        <p:spPr>
          <a:xfrm>
            <a:off x="548640" y="1920240"/>
            <a:ext cx="4023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pasta da Arena, abre o Claude Code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"Yes, I trust this folder" (↓ e Enter: a opção já selecionada é sair)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/demo-plan</a:t>
            </a:r>
            <a:endParaRPr lang="en-US" sz="2000" dirty="0"/>
          </a:p>
        </p:txBody>
      </p:sp>
      <p:sp>
        <p:nvSpPr>
          <p:cNvPr id="6" name="code-background"/>
          <p:cNvSpPr/>
          <p:nvPr/>
        </p:nvSpPr>
        <p:spPr>
          <a:xfrm>
            <a:off x="4937760" y="1920240"/>
            <a:ext cx="6705295" cy="1764792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de-label"/>
          <p:cNvSpPr txBox="1"/>
          <p:nvPr/>
        </p:nvSpPr>
        <p:spPr>
          <a:xfrm>
            <a:off x="5166360" y="21031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1</a:t>
            </a:r>
            <a:endParaRPr lang="en-US" sz="1500" dirty="0"/>
          </a:p>
        </p:txBody>
      </p:sp>
      <p:sp>
        <p:nvSpPr>
          <p:cNvPr id="8" name="code"/>
          <p:cNvSpPr txBox="1"/>
          <p:nvPr/>
        </p:nvSpPr>
        <p:spPr>
          <a:xfrm>
            <a:off x="5166360" y="2487168"/>
            <a:ext cx="624809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~/workshop-claude/demo-project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/demo-plan</a:t>
            </a:r>
            <a:endParaRPr lang="en-US" sz="2000" dirty="0"/>
          </a:p>
        </p:txBody>
      </p:sp>
      <p:sp>
        <p:nvSpPr>
          <p:cNvPr id="9" name="code-background"/>
          <p:cNvSpPr/>
          <p:nvPr/>
        </p:nvSpPr>
        <p:spPr>
          <a:xfrm>
            <a:off x="4937760" y="3913632"/>
            <a:ext cx="6705295" cy="1426464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0" name="code-label"/>
          <p:cNvSpPr txBox="1"/>
          <p:nvPr/>
        </p:nvSpPr>
        <p:spPr>
          <a:xfrm>
            <a:off x="5166360" y="4096512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Opcional: tu escolhes o modelo da criptografia</a:t>
            </a:r>
            <a:endParaRPr lang="en-US" sz="1500" dirty="0"/>
          </a:p>
        </p:txBody>
      </p:sp>
      <p:sp>
        <p:nvSpPr>
          <p:cNvPr id="11" name="code"/>
          <p:cNvSpPr txBox="1"/>
          <p:nvPr/>
        </p:nvSpPr>
        <p:spPr>
          <a:xfrm>
            <a:off x="5166360" y="4480560"/>
            <a:ext cx="624809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/demo-plan --crypto haiku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/demo-plan --crypto sonnet</a:t>
            </a:r>
            <a:endParaRPr lang="en-US" sz="2000" dirty="0"/>
          </a:p>
        </p:txBody>
      </p:sp>
      <p:sp>
        <p:nvSpPr>
          <p:cNvPr id="12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3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4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diagrama Mermaid, 4 waves e uma estimativa perto de US$ 3,98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que faz o /demo-swarm</a:t>
            </a:r>
            <a:endParaRPr lang="en-US" sz="3200" dirty="0"/>
          </a:p>
        </p:txBody>
      </p:sp>
      <p:sp>
        <p:nvSpPr>
          <p:cNvPr id="3" name="code-background"/>
          <p:cNvSpPr/>
          <p:nvPr/>
        </p:nvSpPr>
        <p:spPr>
          <a:xfrm>
            <a:off x="548640" y="1508760"/>
            <a:ext cx="5760720" cy="413308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4" name="code-label"/>
          <p:cNvSpPr txBox="1"/>
          <p:nvPr/>
        </p:nvSpPr>
        <p:spPr>
          <a:xfrm>
            <a:off x="777240" y="1691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.claude/skills/demo-swarm/SKILL.md (resumo)</a:t>
            </a:r>
            <a:endParaRPr lang="en-US" sz="1500" dirty="0"/>
          </a:p>
        </p:txBody>
      </p:sp>
      <p:sp>
        <p:nvSpPr>
          <p:cNvPr id="5" name="code"/>
          <p:cNvSpPr txBox="1"/>
          <p:nvPr/>
        </p:nvSpPr>
        <p:spPr>
          <a:xfrm>
            <a:off x="777240" y="2075688"/>
            <a:ext cx="5303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demo-swarm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sonnet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allowed-tools: node tools/*, Agent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Repete até STATE: DONE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 next-wave.mjs → o próximo lote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 Lança o lote, em paralelo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 1 agente = 1 tarefa + o teste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4. Mostra agente, modelo e custo</a:t>
            </a:r>
            <a:endParaRPr lang="en-US" sz="2000" dirty="0"/>
          </a:p>
        </p:txBody>
      </p:sp>
      <p:sp>
        <p:nvSpPr>
          <p:cNvPr id="6" name="anatomy-mark-0-circle"/>
          <p:cNvSpPr/>
          <p:nvPr/>
        </p:nvSpPr>
        <p:spPr>
          <a:xfrm>
            <a:off x="6766560" y="1508760"/>
            <a:ext cx="438912" cy="438912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7" name="anatomy-mark-0" descr="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3121" y="1605321"/>
            <a:ext cx="245791" cy="245791"/>
          </a:xfrm>
          <a:prstGeom prst="rect">
            <a:avLst/>
          </a:prstGeom>
        </p:spPr>
      </p:pic>
      <p:sp>
        <p:nvSpPr>
          <p:cNvPr id="8" name="anatomy-title-0"/>
          <p:cNvSpPr txBox="1"/>
          <p:nvPr/>
        </p:nvSpPr>
        <p:spPr>
          <a:xfrm>
            <a:off x="7388352" y="1527048"/>
            <a:ext cx="42547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Um script decide</a:t>
            </a:r>
            <a:endParaRPr lang="en-US" sz="2200" dirty="0"/>
          </a:p>
        </p:txBody>
      </p:sp>
      <p:sp>
        <p:nvSpPr>
          <p:cNvPr id="9" name="anatomy-text-0"/>
          <p:cNvSpPr txBox="1"/>
          <p:nvPr/>
        </p:nvSpPr>
        <p:spPr>
          <a:xfrm>
            <a:off x="7388352" y="1984248"/>
            <a:ext cx="4254703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next-wave.mjs lê o grafo e diz o que corre agora. O Claude lança esse lote e não improvisa.</a:t>
            </a:r>
            <a:endParaRPr lang="en-US" sz="1800" dirty="0"/>
          </a:p>
        </p:txBody>
      </p:sp>
      <p:sp>
        <p:nvSpPr>
          <p:cNvPr id="10" name="anatomy-mark-1-circle"/>
          <p:cNvSpPr/>
          <p:nvPr/>
        </p:nvSpPr>
        <p:spPr>
          <a:xfrm>
            <a:off x="6766560" y="2956560"/>
            <a:ext cx="438912" cy="438912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1" name="anatomy-mark-1" descr="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121" y="3053121"/>
            <a:ext cx="245791" cy="245791"/>
          </a:xfrm>
          <a:prstGeom prst="rect">
            <a:avLst/>
          </a:prstGeom>
        </p:spPr>
      </p:pic>
      <p:sp>
        <p:nvSpPr>
          <p:cNvPr id="12" name="anatomy-title-1"/>
          <p:cNvSpPr txBox="1"/>
          <p:nvPr/>
        </p:nvSpPr>
        <p:spPr>
          <a:xfrm>
            <a:off x="7388352" y="2974848"/>
            <a:ext cx="42547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Um agente, uma tarefa</a:t>
            </a:r>
            <a:endParaRPr lang="en-US" sz="2200" dirty="0"/>
          </a:p>
        </p:txBody>
      </p:sp>
      <p:sp>
        <p:nvSpPr>
          <p:cNvPr id="13" name="anatomy-text-1"/>
          <p:cNvSpPr txBox="1"/>
          <p:nvPr/>
        </p:nvSpPr>
        <p:spPr>
          <a:xfrm>
            <a:off x="7388352" y="3432048"/>
            <a:ext cx="4254703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limpo, uma tarefa, o teste dela e o modelo certo: Haiku para o grosso.</a:t>
            </a:r>
            <a:endParaRPr lang="en-US" sz="1800" dirty="0"/>
          </a:p>
        </p:txBody>
      </p:sp>
      <p:sp>
        <p:nvSpPr>
          <p:cNvPr id="14" name="anatomy-mark-2-circle"/>
          <p:cNvSpPr/>
          <p:nvPr/>
        </p:nvSpPr>
        <p:spPr>
          <a:xfrm>
            <a:off x="6766560" y="4404360"/>
            <a:ext cx="438912" cy="438912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5" name="anatomy-mark-2" descr="folder-git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121" y="4500921"/>
            <a:ext cx="245791" cy="245791"/>
          </a:xfrm>
          <a:prstGeom prst="rect">
            <a:avLst/>
          </a:prstGeom>
        </p:spPr>
      </p:pic>
      <p:sp>
        <p:nvSpPr>
          <p:cNvPr id="16" name="anatomy-title-2"/>
          <p:cNvSpPr txBox="1"/>
          <p:nvPr/>
        </p:nvSpPr>
        <p:spPr>
          <a:xfrm>
            <a:off x="7388352" y="4422648"/>
            <a:ext cx="42547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No teu projeto</a:t>
            </a:r>
            <a:endParaRPr lang="en-US" sz="2200" dirty="0"/>
          </a:p>
        </p:txBody>
      </p:sp>
      <p:sp>
        <p:nvSpPr>
          <p:cNvPr id="17" name="anatomy-text-2"/>
          <p:cNvSpPr txBox="1"/>
          <p:nvPr/>
        </p:nvSpPr>
        <p:spPr>
          <a:xfrm>
            <a:off x="7388352" y="4879848"/>
            <a:ext cx="4254703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/task-swarm faz o mesmo com as subtarefas da tua issue.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2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Solta o swarm</a:t>
            </a:r>
            <a:endParaRPr lang="en-US" sz="3400" dirty="0"/>
          </a:p>
        </p:txBody>
      </p:sp>
      <p:sp>
        <p:nvSpPr>
          <p:cNvPr id="5" name="do-it-steps"/>
          <p:cNvSpPr txBox="1"/>
          <p:nvPr/>
        </p:nvSpPr>
        <p:spPr>
          <a:xfrm>
            <a:off x="548640" y="1920240"/>
            <a:ext cx="4023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/demo-swarm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um segundo terminal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Arranca o servidor e abre o endereço /status que ele mostra</a:t>
            </a:r>
            <a:endParaRPr lang="en-US" sz="2000" dirty="0"/>
          </a:p>
        </p:txBody>
      </p:sp>
      <p:sp>
        <p:nvSpPr>
          <p:cNvPr id="6" name="code-background"/>
          <p:cNvSpPr/>
          <p:nvPr/>
        </p:nvSpPr>
        <p:spPr>
          <a:xfrm>
            <a:off x="4937760" y="1920240"/>
            <a:ext cx="6705295" cy="108813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de-label"/>
          <p:cNvSpPr txBox="1"/>
          <p:nvPr/>
        </p:nvSpPr>
        <p:spPr>
          <a:xfrm>
            <a:off x="5166360" y="21031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1</a:t>
            </a:r>
            <a:endParaRPr lang="en-US" sz="1500" dirty="0"/>
          </a:p>
        </p:txBody>
      </p:sp>
      <p:sp>
        <p:nvSpPr>
          <p:cNvPr id="8" name="code"/>
          <p:cNvSpPr txBox="1"/>
          <p:nvPr/>
        </p:nvSpPr>
        <p:spPr>
          <a:xfrm>
            <a:off x="5166360" y="2487168"/>
            <a:ext cx="6248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/demo-swarm</a:t>
            </a:r>
            <a:endParaRPr lang="en-US" sz="2000" dirty="0"/>
          </a:p>
        </p:txBody>
      </p:sp>
      <p:sp>
        <p:nvSpPr>
          <p:cNvPr id="9" name="code-background"/>
          <p:cNvSpPr/>
          <p:nvPr/>
        </p:nvSpPr>
        <p:spPr>
          <a:xfrm>
            <a:off x="4937760" y="3236976"/>
            <a:ext cx="6705295" cy="1426464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0" name="code-label"/>
          <p:cNvSpPr txBox="1"/>
          <p:nvPr/>
        </p:nvSpPr>
        <p:spPr>
          <a:xfrm>
            <a:off x="5166360" y="3419856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2</a:t>
            </a:r>
            <a:endParaRPr lang="en-US" sz="1500" dirty="0"/>
          </a:p>
        </p:txBody>
      </p:sp>
      <p:sp>
        <p:nvSpPr>
          <p:cNvPr id="11" name="code"/>
          <p:cNvSpPr txBox="1"/>
          <p:nvPr/>
        </p:nvSpPr>
        <p:spPr>
          <a:xfrm>
            <a:off x="5166360" y="3803904"/>
            <a:ext cx="624809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~/workshop-claude/demo-project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server.js</a:t>
            </a:r>
            <a:endParaRPr lang="en-US" sz="2000" dirty="0"/>
          </a:p>
        </p:txBody>
      </p:sp>
      <p:sp>
        <p:nvSpPr>
          <p:cNvPr id="12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3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4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/status (normalmente http://localhost:3000/status; se a porta estiver ocupada, o node server.js mostra outra): os quadrados ficam amarelos e depois verdes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2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Pergunta sem interromper</a:t>
            </a:r>
            <a:endParaRPr lang="en-US" sz="3400" dirty="0"/>
          </a:p>
        </p:txBody>
      </p:sp>
      <p:sp>
        <p:nvSpPr>
          <p:cNvPr id="5" name="do-it-steps"/>
          <p:cNvSpPr txBox="1"/>
          <p:nvPr/>
        </p:nvSpPr>
        <p:spPr>
          <a:xfrm>
            <a:off x="548640" y="1920240"/>
            <a:ext cx="4023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 ao Terminal 1 sem parar o swarm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/btw e a tua pergunta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a resposta e fecha-a com Esc</a:t>
            </a:r>
            <a:endParaRPr lang="en-US" sz="2000" dirty="0"/>
          </a:p>
        </p:txBody>
      </p:sp>
      <p:sp>
        <p:nvSpPr>
          <p:cNvPr id="6" name="code-background"/>
          <p:cNvSpPr/>
          <p:nvPr/>
        </p:nvSpPr>
        <p:spPr>
          <a:xfrm>
            <a:off x="4937760" y="1920240"/>
            <a:ext cx="670529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de-label"/>
          <p:cNvSpPr txBox="1"/>
          <p:nvPr/>
        </p:nvSpPr>
        <p:spPr>
          <a:xfrm>
            <a:off x="5166360" y="21031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1</a:t>
            </a:r>
            <a:endParaRPr lang="en-US" sz="1500" dirty="0"/>
          </a:p>
        </p:txBody>
      </p:sp>
      <p:sp>
        <p:nvSpPr>
          <p:cNvPr id="8" name="code"/>
          <p:cNvSpPr txBox="1"/>
          <p:nvPr/>
        </p:nvSpPr>
        <p:spPr>
          <a:xfrm>
            <a:off x="5166360" y="2487168"/>
            <a:ext cx="624809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/btw porque é que a tarefa cr-01 espera pelo lib-hash?</a:t>
            </a:r>
            <a:endParaRPr lang="en-US" sz="1600" dirty="0"/>
          </a:p>
        </p:txBody>
      </p:sp>
      <p:sp>
        <p:nvSpPr>
          <p:cNvPr id="9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0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1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resposta à parte, fora da conversa; depois de Esc, o swarm segue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3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Num terceiro terminal: três funcionalidades</a:t>
            </a:r>
            <a:endParaRPr lang="en-US" sz="3400" dirty="0"/>
          </a:p>
        </p:txBody>
      </p:sp>
      <p:sp>
        <p:nvSpPr>
          <p:cNvPr id="5" name="do-it-steps"/>
          <p:cNvSpPr txBox="1"/>
          <p:nvPr/>
        </p:nvSpPr>
        <p:spPr>
          <a:xfrm>
            <a:off x="548640" y="1920240"/>
            <a:ext cx="4023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um terceiro terminal na pasta da Arena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mode: Shift+Tab até "plan mode"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Headless: uma pergunta sem abrir sessão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Rewind: Esc Esc para voltar atrás</a:t>
            </a:r>
            <a:endParaRPr lang="en-US" sz="2000" dirty="0"/>
          </a:p>
        </p:txBody>
      </p:sp>
      <p:sp>
        <p:nvSpPr>
          <p:cNvPr id="6" name="code-background"/>
          <p:cNvSpPr/>
          <p:nvPr/>
        </p:nvSpPr>
        <p:spPr>
          <a:xfrm>
            <a:off x="4937760" y="1920240"/>
            <a:ext cx="6705295" cy="1291133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de-label"/>
          <p:cNvSpPr txBox="1"/>
          <p:nvPr/>
        </p:nvSpPr>
        <p:spPr>
          <a:xfrm>
            <a:off x="5166360" y="21031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</a:t>
            </a:r>
            <a:endParaRPr lang="en-US" sz="1500" dirty="0"/>
          </a:p>
        </p:txBody>
      </p:sp>
      <p:sp>
        <p:nvSpPr>
          <p:cNvPr id="8" name="code"/>
          <p:cNvSpPr txBox="1"/>
          <p:nvPr/>
        </p:nvSpPr>
        <p:spPr>
          <a:xfrm>
            <a:off x="5166360" y="2487168"/>
            <a:ext cx="6248095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(Shift+Tab) Como acrescentarias uma 11.ª categoria?</a:t>
            </a:r>
            <a:endParaRPr lang="en-US" sz="1600" dirty="0"/>
          </a:p>
        </p:txBody>
      </p:sp>
      <p:sp>
        <p:nvSpPr>
          <p:cNvPr id="9" name="code-background"/>
          <p:cNvSpPr/>
          <p:nvPr/>
        </p:nvSpPr>
        <p:spPr>
          <a:xfrm>
            <a:off x="4937760" y="3439973"/>
            <a:ext cx="6705295" cy="1561795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0" name="code-label"/>
          <p:cNvSpPr txBox="1"/>
          <p:nvPr/>
        </p:nvSpPr>
        <p:spPr>
          <a:xfrm>
            <a:off x="5166360" y="3622853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</a:t>
            </a:r>
            <a:endParaRPr lang="en-US" sz="1500" dirty="0"/>
          </a:p>
        </p:txBody>
      </p:sp>
      <p:sp>
        <p:nvSpPr>
          <p:cNvPr id="11" name="code"/>
          <p:cNvSpPr txBox="1"/>
          <p:nvPr/>
        </p:nvSpPr>
        <p:spPr>
          <a:xfrm>
            <a:off x="5166360" y="4006901"/>
            <a:ext cx="624809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-p "Resume o PLAN.md numa frase" --model claude-haiku-5-5</a:t>
            </a:r>
            <a:endParaRPr lang="en-US" sz="1600" dirty="0"/>
          </a:p>
        </p:txBody>
      </p:sp>
      <p:sp>
        <p:nvSpPr>
          <p:cNvPr id="12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3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4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plano sem alterações, uma frase no terminal e um checkpoint para recuar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2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Cria um hook PostToolUse</a:t>
            </a:r>
            <a:endParaRPr lang="en-US" sz="3400" dirty="0"/>
          </a:p>
        </p:txBody>
      </p:sp>
      <p:sp>
        <p:nvSpPr>
          <p:cNvPr id="5" name="do-it-intro"/>
          <p:cNvSpPr txBox="1"/>
          <p:nvPr/>
        </p:nvSpPr>
        <p:spPr>
          <a:xfrm>
            <a:off x="548640" y="15727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hook é um comando que o Claude Code corre sozinho num evento. O kit mede o custo assim.</a:t>
            </a:r>
            <a:endParaRPr lang="en-US" sz="1900" dirty="0"/>
          </a:p>
        </p:txBody>
      </p:sp>
      <p:sp>
        <p:nvSpPr>
          <p:cNvPr id="6" name="do-it-steps"/>
          <p:cNvSpPr txBox="1"/>
          <p:nvPr/>
        </p:nvSpPr>
        <p:spPr>
          <a:xfrm>
            <a:off x="548640" y="224028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Terminal 3, abre o Claude no projeto de treino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 o hook por palavras tuas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o /hooks e confirma que está lá</a:t>
            </a:r>
            <a:endParaRPr lang="en-US" sz="2000" dirty="0"/>
          </a:p>
        </p:txBody>
      </p:sp>
      <p:sp>
        <p:nvSpPr>
          <p:cNvPr id="7" name="code-background"/>
          <p:cNvSpPr/>
          <p:nvPr/>
        </p:nvSpPr>
        <p:spPr>
          <a:xfrm>
            <a:off x="4937760" y="2240280"/>
            <a:ext cx="6705295" cy="277977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5166360" y="242316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</a:t>
            </a:r>
            <a:endParaRPr lang="en-US" sz="1500" dirty="0"/>
          </a:p>
        </p:txBody>
      </p:sp>
      <p:sp>
        <p:nvSpPr>
          <p:cNvPr id="9" name="code"/>
          <p:cNvSpPr txBox="1"/>
          <p:nvPr/>
        </p:nvSpPr>
        <p:spPr>
          <a:xfrm>
            <a:off x="5166360" y="2807208"/>
            <a:ext cx="6248095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~/workshop-claude/practice-project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Cria um hook PostToolUse em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.claude/settings.local.json: depois de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cada Edit ou Write, junta a hora e 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ficheiro a ~/workshop-claude/edits.log</a:t>
            </a:r>
            <a:endParaRPr lang="en-US" sz="2000" dirty="0"/>
          </a:p>
        </p:txBody>
      </p:sp>
      <p:sp>
        <p:nvSpPr>
          <p:cNvPr id="10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1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2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/hooks mostra o teu PostToolUse; no Projeto 2, cada ficheiro editado aparece no edits.log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2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 tua statusline</a:t>
            </a:r>
            <a:endParaRPr lang="en-US" sz="3400" dirty="0"/>
          </a:p>
        </p:txBody>
      </p:sp>
      <p:sp>
        <p:nvSpPr>
          <p:cNvPr id="5" name="do-it-intro"/>
          <p:cNvSpPr txBox="1"/>
          <p:nvPr/>
        </p:nvSpPr>
        <p:spPr>
          <a:xfrm>
            <a:off x="548640" y="15727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linha por baixo da caixa de texto é um script: recebe a sessão em JSON e devolve uma linha.</a:t>
            </a:r>
            <a:endParaRPr lang="en-US" sz="1900" dirty="0"/>
          </a:p>
        </p:txBody>
      </p:sp>
      <p:sp>
        <p:nvSpPr>
          <p:cNvPr id="6" name="do-it-steps"/>
          <p:cNvSpPr txBox="1"/>
          <p:nvPr/>
        </p:nvSpPr>
        <p:spPr>
          <a:xfrm>
            <a:off x="548640" y="224028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Ainda no Terminal 3, escreve /statusline e o que queres ver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 o script que o Claude escreve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a linha nova por baixo da caixa de texto</a:t>
            </a:r>
            <a:endParaRPr lang="en-US" sz="2000" dirty="0"/>
          </a:p>
        </p:txBody>
      </p:sp>
      <p:sp>
        <p:nvSpPr>
          <p:cNvPr id="7" name="code-background"/>
          <p:cNvSpPr/>
          <p:nvPr/>
        </p:nvSpPr>
        <p:spPr>
          <a:xfrm>
            <a:off x="4937760" y="2240280"/>
            <a:ext cx="6705295" cy="210312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5166360" y="242316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</a:t>
            </a:r>
            <a:endParaRPr lang="en-US" sz="1500" dirty="0"/>
          </a:p>
        </p:txBody>
      </p:sp>
      <p:sp>
        <p:nvSpPr>
          <p:cNvPr id="9" name="code"/>
          <p:cNvSpPr txBox="1"/>
          <p:nvPr/>
        </p:nvSpPr>
        <p:spPr>
          <a:xfrm>
            <a:off x="5166360" y="2807208"/>
            <a:ext cx="6248095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/statusline mostra o modelo, o branch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 git e o custo da sessão; grava-a só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neste projeto, em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.claude/settings.local.json</a:t>
            </a:r>
            <a:endParaRPr lang="en-US" sz="2000" dirty="0"/>
          </a:p>
        </p:txBody>
      </p:sp>
      <p:sp>
        <p:nvSpPr>
          <p:cNvPr id="10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1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2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tua linha neste projeto; no Terminal 1, a statusline do kit continua com o custo do swarm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5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Porque é que este cartão falhou?</a:t>
            </a:r>
            <a:endParaRPr lang="en-US" sz="3400" dirty="0"/>
          </a:p>
        </p:txBody>
      </p:sp>
      <p:sp>
        <p:nvSpPr>
          <p:cNvPr id="5" name="do-it-intro"/>
          <p:cNvSpPr txBox="1"/>
          <p:nvPr/>
        </p:nvSpPr>
        <p:spPr>
          <a:xfrm>
            <a:off x="548640" y="15727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cartões falham de propósito: a spec deixa de fora um detalhe que o teste verifica.</a:t>
            </a:r>
            <a:endParaRPr lang="en-US" sz="1900" dirty="0"/>
          </a:p>
        </p:txBody>
      </p:sp>
      <p:sp>
        <p:nvSpPr>
          <p:cNvPr id="6" name="do-it-steps"/>
          <p:cNvSpPr txBox="1"/>
          <p:nvPr/>
        </p:nvSpPr>
        <p:spPr>
          <a:xfrm>
            <a:off x="548640" y="224028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/status, clica num quadrado vermelho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a linha do teste que falhou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Acrescenta o detalhe que falta em cards/&lt;id&gt;/spec.md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de novo só esse cartão</a:t>
            </a:r>
            <a:endParaRPr lang="en-US" sz="2000" dirty="0"/>
          </a:p>
        </p:txBody>
      </p:sp>
      <p:sp>
        <p:nvSpPr>
          <p:cNvPr id="7" name="code-background"/>
          <p:cNvSpPr/>
          <p:nvPr/>
        </p:nvSpPr>
        <p:spPr>
          <a:xfrm>
            <a:off x="4937760" y="2240280"/>
            <a:ext cx="6705295" cy="108813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8" name="code-label"/>
          <p:cNvSpPr txBox="1"/>
          <p:nvPr/>
        </p:nvSpPr>
        <p:spPr>
          <a:xfrm>
            <a:off x="5166360" y="242316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500" dirty="0"/>
          </a:p>
        </p:txBody>
      </p:sp>
      <p:sp>
        <p:nvSpPr>
          <p:cNvPr id="9" name="code"/>
          <p:cNvSpPr txBox="1"/>
          <p:nvPr/>
        </p:nvSpPr>
        <p:spPr>
          <a:xfrm>
            <a:off x="5166360" y="2807208"/>
            <a:ext cx="6248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http://localhost:3000/status</a:t>
            </a:r>
            <a:endParaRPr lang="en-US" sz="2000" dirty="0"/>
          </a:p>
        </p:txBody>
      </p:sp>
      <p:sp>
        <p:nvSpPr>
          <p:cNvPr id="10" name="code-background"/>
          <p:cNvSpPr/>
          <p:nvPr/>
        </p:nvSpPr>
        <p:spPr>
          <a:xfrm>
            <a:off x="4937760" y="3557016"/>
            <a:ext cx="6705295" cy="108813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1" name="code-label"/>
          <p:cNvSpPr txBox="1"/>
          <p:nvPr/>
        </p:nvSpPr>
        <p:spPr>
          <a:xfrm>
            <a:off x="5166360" y="3739896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1</a:t>
            </a:r>
            <a:endParaRPr lang="en-US" sz="1500" dirty="0"/>
          </a:p>
        </p:txBody>
      </p:sp>
      <p:sp>
        <p:nvSpPr>
          <p:cNvPr id="12" name="code"/>
          <p:cNvSpPr txBox="1"/>
          <p:nvPr/>
        </p:nvSpPr>
        <p:spPr>
          <a:xfrm>
            <a:off x="5166360" y="4123944"/>
            <a:ext cx="6248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/demo-swarm --retry &lt;id&gt;</a:t>
            </a:r>
            <a:endParaRPr lang="en-US" sz="2000" dirty="0"/>
          </a:p>
        </p:txBody>
      </p:sp>
      <p:sp>
        <p:nvSpPr>
          <p:cNvPr id="13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4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5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quadrado fica verde: a qualidade da spec decide o swarm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2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gate de segurança</a:t>
            </a:r>
            <a:endParaRPr lang="en-US" sz="3400" dirty="0"/>
          </a:p>
        </p:txBody>
      </p:sp>
      <p:sp>
        <p:nvSpPr>
          <p:cNvPr id="5" name="do-it-steps"/>
          <p:cNvSpPr txBox="1"/>
          <p:nvPr/>
        </p:nvSpPr>
        <p:spPr>
          <a:xfrm>
            <a:off x="548640" y="1920240"/>
            <a:ext cx="4023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/demo-review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o veredito do revisor (Opus)</a:t>
            </a:r>
            <a:endParaRPr lang="en-US" sz="2000" dirty="0"/>
          </a:p>
        </p:txBody>
      </p:sp>
      <p:sp>
        <p:nvSpPr>
          <p:cNvPr id="6" name="code-background"/>
          <p:cNvSpPr/>
          <p:nvPr/>
        </p:nvSpPr>
        <p:spPr>
          <a:xfrm>
            <a:off x="4937760" y="1920240"/>
            <a:ext cx="6705295" cy="108813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de-label"/>
          <p:cNvSpPr txBox="1"/>
          <p:nvPr/>
        </p:nvSpPr>
        <p:spPr>
          <a:xfrm>
            <a:off x="5166360" y="21031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1</a:t>
            </a:r>
            <a:endParaRPr lang="en-US" sz="1500" dirty="0"/>
          </a:p>
        </p:txBody>
      </p:sp>
      <p:sp>
        <p:nvSpPr>
          <p:cNvPr id="8" name="code"/>
          <p:cNvSpPr txBox="1"/>
          <p:nvPr/>
        </p:nvSpPr>
        <p:spPr>
          <a:xfrm>
            <a:off x="5166360" y="2487168"/>
            <a:ext cx="6248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/demo-review</a:t>
            </a:r>
            <a:endParaRPr lang="en-US" sz="2000" dirty="0"/>
          </a:p>
        </p:txBody>
      </p:sp>
      <p:sp>
        <p:nvSpPr>
          <p:cNvPr id="9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0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1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APPROVED: testes verdes, CSP ativa, sem eval nem innerHTML, sem segredos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Medir, não adivinhar</a:t>
            </a:r>
            <a:endParaRPr lang="en-US" sz="3200" dirty="0"/>
          </a:p>
        </p:txBody>
      </p:sp>
      <p:sp>
        <p:nvSpPr>
          <p:cNvPr id="3" name="step-0"/>
          <p:cNvSpPr/>
          <p:nvPr/>
        </p:nvSpPr>
        <p:spPr>
          <a:xfrm>
            <a:off x="548640" y="1828800"/>
            <a:ext cx="1984797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tep-number-0"/>
          <p:cNvSpPr/>
          <p:nvPr/>
        </p:nvSpPr>
        <p:spPr>
          <a:xfrm>
            <a:off x="777240" y="2057400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tep-title-0"/>
          <p:cNvSpPr txBox="1"/>
          <p:nvPr/>
        </p:nvSpPr>
        <p:spPr>
          <a:xfrm>
            <a:off x="749808" y="269748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subagente termina</a:t>
            </a:r>
            <a:endParaRPr lang="en-US" sz="1500" dirty="0"/>
          </a:p>
        </p:txBody>
      </p:sp>
      <p:sp>
        <p:nvSpPr>
          <p:cNvPr id="6" name="step-text-0"/>
          <p:cNvSpPr txBox="1"/>
          <p:nvPr/>
        </p:nvSpPr>
        <p:spPr>
          <a:xfrm>
            <a:off x="749808" y="370332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agente do swarm, quando acaba</a:t>
            </a:r>
            <a:endParaRPr lang="en-US" sz="1600" dirty="0"/>
          </a:p>
        </p:txBody>
      </p:sp>
      <p:sp>
        <p:nvSpPr>
          <p:cNvPr id="7" name="flow-arrow-0"/>
          <p:cNvSpPr/>
          <p:nvPr/>
        </p:nvSpPr>
        <p:spPr>
          <a:xfrm>
            <a:off x="2579157" y="2276856"/>
            <a:ext cx="201168" cy="0"/>
          </a:xfrm>
          <a:prstGeom prst="line">
            <a:avLst/>
          </a:prstGeom>
          <a:noFill/>
          <a:ln w="31750">
            <a:solidFill>
              <a:srgbClr val="140920"/>
            </a:solidFill>
            <a:prstDash val="solid"/>
            <a:tailEnd type="triangle"/>
          </a:ln>
        </p:spPr>
      </p:sp>
      <p:sp>
        <p:nvSpPr>
          <p:cNvPr id="8" name="step-1"/>
          <p:cNvSpPr/>
          <p:nvPr/>
        </p:nvSpPr>
        <p:spPr>
          <a:xfrm>
            <a:off x="2826045" y="1828800"/>
            <a:ext cx="1984797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tep-number-1"/>
          <p:cNvSpPr/>
          <p:nvPr/>
        </p:nvSpPr>
        <p:spPr>
          <a:xfrm>
            <a:off x="3054645" y="2057400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tep-title-1"/>
          <p:cNvSpPr txBox="1"/>
          <p:nvPr/>
        </p:nvSpPr>
        <p:spPr>
          <a:xfrm>
            <a:off x="3027213" y="269748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hook SubagentStop corre</a:t>
            </a:r>
            <a:endParaRPr lang="en-US" sz="1500" dirty="0"/>
          </a:p>
        </p:txBody>
      </p:sp>
      <p:sp>
        <p:nvSpPr>
          <p:cNvPr id="11" name="step-text-1"/>
          <p:cNvSpPr txBox="1"/>
          <p:nvPr/>
        </p:nvSpPr>
        <p:spPr>
          <a:xfrm>
            <a:off x="3027213" y="370332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script do kit (o hook Stop mede a sessão principal)</a:t>
            </a:r>
            <a:endParaRPr lang="en-US" sz="1600" dirty="0"/>
          </a:p>
        </p:txBody>
      </p:sp>
      <p:sp>
        <p:nvSpPr>
          <p:cNvPr id="12" name="flow-arrow-1"/>
          <p:cNvSpPr/>
          <p:nvPr/>
        </p:nvSpPr>
        <p:spPr>
          <a:xfrm>
            <a:off x="4856561" y="2276856"/>
            <a:ext cx="201168" cy="0"/>
          </a:xfrm>
          <a:prstGeom prst="line">
            <a:avLst/>
          </a:prstGeom>
          <a:noFill/>
          <a:ln w="31750">
            <a:solidFill>
              <a:srgbClr val="140920"/>
            </a:solidFill>
            <a:prstDash val="solid"/>
            <a:tailEnd type="triangle"/>
          </a:ln>
        </p:spPr>
      </p:sp>
      <p:sp>
        <p:nvSpPr>
          <p:cNvPr id="13" name="step-2"/>
          <p:cNvSpPr/>
          <p:nvPr/>
        </p:nvSpPr>
        <p:spPr>
          <a:xfrm>
            <a:off x="5103449" y="1828800"/>
            <a:ext cx="1984797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tep-number-2"/>
          <p:cNvSpPr/>
          <p:nvPr/>
        </p:nvSpPr>
        <p:spPr>
          <a:xfrm>
            <a:off x="5332049" y="2057400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tep-title-2"/>
          <p:cNvSpPr txBox="1"/>
          <p:nvPr/>
        </p:nvSpPr>
        <p:spPr>
          <a:xfrm>
            <a:off x="5304617" y="269748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Tokens × preço</a:t>
            </a:r>
            <a:endParaRPr lang="en-US" sz="1500" dirty="0"/>
          </a:p>
        </p:txBody>
      </p:sp>
      <p:sp>
        <p:nvSpPr>
          <p:cNvPr id="16" name="step-text-2"/>
          <p:cNvSpPr txBox="1"/>
          <p:nvPr/>
        </p:nvSpPr>
        <p:spPr>
          <a:xfrm>
            <a:off x="5304617" y="370332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tokens reais do transcript, com os preços publicados</a:t>
            </a:r>
            <a:endParaRPr lang="en-US" sz="1600" dirty="0"/>
          </a:p>
        </p:txBody>
      </p:sp>
      <p:sp>
        <p:nvSpPr>
          <p:cNvPr id="17" name="flow-arrow-2"/>
          <p:cNvSpPr/>
          <p:nvPr/>
        </p:nvSpPr>
        <p:spPr>
          <a:xfrm>
            <a:off x="7133966" y="2276856"/>
            <a:ext cx="201168" cy="0"/>
          </a:xfrm>
          <a:prstGeom prst="line">
            <a:avLst/>
          </a:prstGeom>
          <a:noFill/>
          <a:ln w="31750">
            <a:solidFill>
              <a:srgbClr val="140920"/>
            </a:solidFill>
            <a:prstDash val="solid"/>
            <a:tailEnd type="triangle"/>
          </a:ln>
        </p:spPr>
      </p:sp>
      <p:sp>
        <p:nvSpPr>
          <p:cNvPr id="18" name="step-3"/>
          <p:cNvSpPr/>
          <p:nvPr/>
        </p:nvSpPr>
        <p:spPr>
          <a:xfrm>
            <a:off x="7380854" y="1828800"/>
            <a:ext cx="1984797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tep-number-3"/>
          <p:cNvSpPr/>
          <p:nvPr/>
        </p:nvSpPr>
        <p:spPr>
          <a:xfrm>
            <a:off x="7609454" y="2057400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tep-title-3"/>
          <p:cNvSpPr txBox="1"/>
          <p:nvPr/>
        </p:nvSpPr>
        <p:spPr>
          <a:xfrm>
            <a:off x="7582022" y="269748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Uma linha em usage.jsonl</a:t>
            </a:r>
            <a:endParaRPr lang="en-US" sz="1500" dirty="0"/>
          </a:p>
        </p:txBody>
      </p:sp>
      <p:sp>
        <p:nvSpPr>
          <p:cNvPr id="21" name="step-text-3"/>
          <p:cNvSpPr txBox="1"/>
          <p:nvPr/>
        </p:nvSpPr>
        <p:spPr>
          <a:xfrm>
            <a:off x="7582022" y="370332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agente, modelo, tempo e custo</a:t>
            </a:r>
            <a:endParaRPr lang="en-US" sz="1600" dirty="0"/>
          </a:p>
        </p:txBody>
      </p:sp>
      <p:sp>
        <p:nvSpPr>
          <p:cNvPr id="22" name="flow-arrow-3"/>
          <p:cNvSpPr/>
          <p:nvPr/>
        </p:nvSpPr>
        <p:spPr>
          <a:xfrm>
            <a:off x="9411371" y="2276856"/>
            <a:ext cx="201168" cy="0"/>
          </a:xfrm>
          <a:prstGeom prst="line">
            <a:avLst/>
          </a:prstGeom>
          <a:noFill/>
          <a:ln w="31750">
            <a:solidFill>
              <a:srgbClr val="140920"/>
            </a:solidFill>
            <a:prstDash val="solid"/>
            <a:tailEnd type="triangle"/>
          </a:ln>
        </p:spPr>
      </p:sp>
      <p:sp>
        <p:nvSpPr>
          <p:cNvPr id="23" name="step-4"/>
          <p:cNvSpPr/>
          <p:nvPr/>
        </p:nvSpPr>
        <p:spPr>
          <a:xfrm>
            <a:off x="9658259" y="1828800"/>
            <a:ext cx="1984797" cy="320040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24" name="step-number-4"/>
          <p:cNvSpPr/>
          <p:nvPr/>
        </p:nvSpPr>
        <p:spPr>
          <a:xfrm>
            <a:off x="9886859" y="2057400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step-title-4"/>
          <p:cNvSpPr txBox="1"/>
          <p:nvPr/>
        </p:nvSpPr>
        <p:spPr>
          <a:xfrm>
            <a:off x="9859427" y="269748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Statusline e /demo-cost</a:t>
            </a:r>
            <a:endParaRPr lang="en-US" sz="1500" dirty="0"/>
          </a:p>
        </p:txBody>
      </p:sp>
      <p:sp>
        <p:nvSpPr>
          <p:cNvPr id="26" name="step-text-4"/>
          <p:cNvSpPr txBox="1"/>
          <p:nvPr/>
        </p:nvSpPr>
        <p:spPr>
          <a:xfrm>
            <a:off x="9859427" y="370332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A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ao vivo e o relatório final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2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Quanto custou?</a:t>
            </a:r>
            <a:endParaRPr lang="en-US" sz="3400" dirty="0"/>
          </a:p>
        </p:txBody>
      </p:sp>
      <p:sp>
        <p:nvSpPr>
          <p:cNvPr id="5" name="do-it-steps"/>
          <p:cNvSpPr txBox="1"/>
          <p:nvPr/>
        </p:nvSpPr>
        <p:spPr>
          <a:xfrm>
            <a:off x="548640" y="1920240"/>
            <a:ext cx="4023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/demo-cost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os agentes Haiku com a sessão principal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com o vizinho: custo e cartões verdes</a:t>
            </a:r>
            <a:endParaRPr lang="en-US" sz="2000" dirty="0"/>
          </a:p>
        </p:txBody>
      </p:sp>
      <p:sp>
        <p:nvSpPr>
          <p:cNvPr id="6" name="code-background"/>
          <p:cNvSpPr/>
          <p:nvPr/>
        </p:nvSpPr>
        <p:spPr>
          <a:xfrm>
            <a:off x="4937760" y="1920240"/>
            <a:ext cx="6705295" cy="108813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de-label"/>
          <p:cNvSpPr txBox="1"/>
          <p:nvPr/>
        </p:nvSpPr>
        <p:spPr>
          <a:xfrm>
            <a:off x="5166360" y="21031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1</a:t>
            </a:r>
            <a:endParaRPr lang="en-US" sz="1500" dirty="0"/>
          </a:p>
        </p:txBody>
      </p:sp>
      <p:sp>
        <p:nvSpPr>
          <p:cNvPr id="8" name="code"/>
          <p:cNvSpPr txBox="1"/>
          <p:nvPr/>
        </p:nvSpPr>
        <p:spPr>
          <a:xfrm>
            <a:off x="5166360" y="2487168"/>
            <a:ext cx="6248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/demo-cost</a:t>
            </a:r>
            <a:endParaRPr lang="en-US" sz="2000" dirty="0"/>
          </a:p>
        </p:txBody>
      </p:sp>
      <p:sp>
        <p:nvSpPr>
          <p:cNvPr id="9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0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1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por agente, modelo e wave, perto de US$ 4,33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2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Joga o que o swarm construiu</a:t>
            </a:r>
            <a:endParaRPr lang="en-US" sz="3400" dirty="0"/>
          </a:p>
        </p:txBody>
      </p:sp>
      <p:sp>
        <p:nvSpPr>
          <p:cNvPr id="5" name="do-it-steps"/>
          <p:cNvSpPr txBox="1"/>
          <p:nvPr/>
        </p:nvSpPr>
        <p:spPr>
          <a:xfrm>
            <a:off x="548640" y="1920240"/>
            <a:ext cx="4023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galeria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um desafio e joga (o teu é o my-01)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Carrega em "Correr testes"</a:t>
            </a:r>
            <a:endParaRPr lang="en-US" sz="2000" dirty="0"/>
          </a:p>
        </p:txBody>
      </p:sp>
      <p:sp>
        <p:nvSpPr>
          <p:cNvPr id="6" name="code-background"/>
          <p:cNvSpPr/>
          <p:nvPr/>
        </p:nvSpPr>
        <p:spPr>
          <a:xfrm>
            <a:off x="4937760" y="1920240"/>
            <a:ext cx="6705295" cy="108813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de-label"/>
          <p:cNvSpPr txBox="1"/>
          <p:nvPr/>
        </p:nvSpPr>
        <p:spPr>
          <a:xfrm>
            <a:off x="5166360" y="21031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500" dirty="0"/>
          </a:p>
        </p:txBody>
      </p:sp>
      <p:sp>
        <p:nvSpPr>
          <p:cNvPr id="8" name="code"/>
          <p:cNvSpPr txBox="1"/>
          <p:nvPr/>
        </p:nvSpPr>
        <p:spPr>
          <a:xfrm>
            <a:off x="5166360" y="2487168"/>
            <a:ext cx="6248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endParaRPr lang="en-US" sz="2000" dirty="0"/>
          </a:p>
        </p:txBody>
      </p:sp>
      <p:sp>
        <p:nvSpPr>
          <p:cNvPr id="9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0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1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desafios das tarefas verdes jogam-se; os vermelhos mostram porque falharam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 memória do que fizeste</a:t>
            </a:r>
            <a:endParaRPr lang="en-US" sz="3200" dirty="0"/>
          </a:p>
        </p:txBody>
      </p:sp>
      <p:sp>
        <p:nvSpPr>
          <p:cNvPr id="3" name="frame"/>
          <p:cNvSpPr/>
          <p:nvPr/>
        </p:nvSpPr>
        <p:spPr>
          <a:xfrm>
            <a:off x="2202536" y="1389888"/>
            <a:ext cx="7786624" cy="444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" descr="Procura por projeto, issue ou épico (ex.: arena ou EX-1): lições, &quot;fazer&quot;, &quot;não fazer&quot; e histórico, ligados a projetos, épicos, tarefas e fichei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5688" y="1463040"/>
            <a:ext cx="7640320" cy="429768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 por projeto, issue ou épico (ex.: arena ou EX-1): lições, "fazer", "não fazer" e histórico, ligados a projetos, épicos, tarefas e ficheiros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3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Abre o teu primeiro grafo</a:t>
            </a:r>
            <a:endParaRPr lang="en-US" sz="3400" dirty="0"/>
          </a:p>
        </p:txBody>
      </p:sp>
      <p:sp>
        <p:nvSpPr>
          <p:cNvPr id="5" name="do-it-steps"/>
          <p:cNvSpPr txBox="1"/>
          <p:nvPr/>
        </p:nvSpPr>
        <p:spPr>
          <a:xfrm>
            <a:off x="548640" y="1920240"/>
            <a:ext cx="4023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app Agent Memory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 num nó para ler a lição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Arrasta o deslizador de tempo</a:t>
            </a:r>
            <a:endParaRPr lang="en-US" sz="2000" dirty="0"/>
          </a:p>
        </p:txBody>
      </p:sp>
      <p:sp>
        <p:nvSpPr>
          <p:cNvPr id="6" name="code-background"/>
          <p:cNvSpPr/>
          <p:nvPr/>
        </p:nvSpPr>
        <p:spPr>
          <a:xfrm>
            <a:off x="4937760" y="1920240"/>
            <a:ext cx="6705295" cy="1392631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de-label"/>
          <p:cNvSpPr txBox="1"/>
          <p:nvPr/>
        </p:nvSpPr>
        <p:spPr>
          <a:xfrm>
            <a:off x="5166360" y="21031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1500" dirty="0"/>
          </a:p>
        </p:txBody>
      </p:sp>
      <p:sp>
        <p:nvSpPr>
          <p:cNvPr id="8" name="code"/>
          <p:cNvSpPr txBox="1"/>
          <p:nvPr/>
        </p:nvSpPr>
        <p:spPr>
          <a:xfrm>
            <a:off x="5166360" y="2487168"/>
            <a:ext cx="6248095" cy="68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"$HOME/Applications/Agent Memory.app"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ou: agent-memory</a:t>
            </a:r>
            <a:endParaRPr lang="en-US" sz="1900" dirty="0"/>
          </a:p>
        </p:txBody>
      </p:sp>
      <p:sp>
        <p:nvSpPr>
          <p:cNvPr id="9" name="code-background"/>
          <p:cNvSpPr/>
          <p:nvPr/>
        </p:nvSpPr>
        <p:spPr>
          <a:xfrm>
            <a:off x="4937760" y="3541471"/>
            <a:ext cx="6705295" cy="1426464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0" name="code-label"/>
          <p:cNvSpPr txBox="1"/>
          <p:nvPr/>
        </p:nvSpPr>
        <p:spPr>
          <a:xfrm>
            <a:off x="5166360" y="3724351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500" dirty="0"/>
          </a:p>
        </p:txBody>
      </p:sp>
      <p:sp>
        <p:nvSpPr>
          <p:cNvPr id="11" name="code"/>
          <p:cNvSpPr txBox="1"/>
          <p:nvPr/>
        </p:nvSpPr>
        <p:spPr>
          <a:xfrm>
            <a:off x="5166360" y="4108399"/>
            <a:ext cx="624809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 Iniciar → Agent Memory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ou: agent-memory</a:t>
            </a:r>
            <a:endParaRPr lang="en-US" sz="2000" dirty="0"/>
          </a:p>
        </p:txBody>
      </p:sp>
      <p:sp>
        <p:nvSpPr>
          <p:cNvPr id="12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3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4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grafo da sessão da Arena, com as lições ligadas ao projeto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15975" y="105156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Projeto 2</a:t>
            </a:r>
            <a:endParaRPr lang="en-US" sz="4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15975" y="26974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tarefa real: a Biblioteca Municipal ou a tua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mesmo ciclo, noutro repositório</a:t>
            </a:r>
            <a:endParaRPr lang="en-US" sz="3200" dirty="0"/>
          </a:p>
        </p:txBody>
      </p:sp>
      <p:sp>
        <p:nvSpPr>
          <p:cNvPr id="3" name="step-0"/>
          <p:cNvSpPr/>
          <p:nvPr/>
        </p:nvSpPr>
        <p:spPr>
          <a:xfrm>
            <a:off x="548640" y="1828800"/>
            <a:ext cx="1984797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tep-number-0"/>
          <p:cNvSpPr/>
          <p:nvPr/>
        </p:nvSpPr>
        <p:spPr>
          <a:xfrm>
            <a:off x="777240" y="2057400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tep-title-0"/>
          <p:cNvSpPr txBox="1"/>
          <p:nvPr/>
        </p:nvSpPr>
        <p:spPr>
          <a:xfrm>
            <a:off x="749808" y="269748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/task-intake</a:t>
            </a:r>
            <a:endParaRPr lang="en-US" sz="1500" dirty="0"/>
          </a:p>
        </p:txBody>
      </p:sp>
      <p:sp>
        <p:nvSpPr>
          <p:cNvPr id="6" name="step-text-0"/>
          <p:cNvSpPr txBox="1"/>
          <p:nvPr/>
        </p:nvSpPr>
        <p:spPr>
          <a:xfrm>
            <a:off x="749808" y="370332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a issue: um JSON no projeto de treino, ou do Jira ou do GitHub</a:t>
            </a:r>
            <a:endParaRPr lang="en-US" sz="1600" dirty="0"/>
          </a:p>
        </p:txBody>
      </p:sp>
      <p:sp>
        <p:nvSpPr>
          <p:cNvPr id="7" name="flow-arrow-0"/>
          <p:cNvSpPr/>
          <p:nvPr/>
        </p:nvSpPr>
        <p:spPr>
          <a:xfrm>
            <a:off x="2579157" y="2276856"/>
            <a:ext cx="201168" cy="0"/>
          </a:xfrm>
          <a:prstGeom prst="line">
            <a:avLst/>
          </a:prstGeom>
          <a:noFill/>
          <a:ln w="31750">
            <a:solidFill>
              <a:srgbClr val="140920"/>
            </a:solidFill>
            <a:prstDash val="solid"/>
            <a:tailEnd type="triangle"/>
          </a:ln>
        </p:spPr>
      </p:sp>
      <p:sp>
        <p:nvSpPr>
          <p:cNvPr id="8" name="step-1"/>
          <p:cNvSpPr/>
          <p:nvPr/>
        </p:nvSpPr>
        <p:spPr>
          <a:xfrm>
            <a:off x="2826045" y="1828800"/>
            <a:ext cx="1984797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tep-number-1"/>
          <p:cNvSpPr/>
          <p:nvPr/>
        </p:nvSpPr>
        <p:spPr>
          <a:xfrm>
            <a:off x="3054645" y="2057400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tep-title-1"/>
          <p:cNvSpPr txBox="1"/>
          <p:nvPr/>
        </p:nvSpPr>
        <p:spPr>
          <a:xfrm>
            <a:off x="3027213" y="269748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/task-plan</a:t>
            </a:r>
            <a:endParaRPr lang="en-US" sz="1500" dirty="0"/>
          </a:p>
        </p:txBody>
      </p:sp>
      <p:sp>
        <p:nvSpPr>
          <p:cNvPr id="11" name="step-text-1"/>
          <p:cNvSpPr txBox="1"/>
          <p:nvPr/>
        </p:nvSpPr>
        <p:spPr>
          <a:xfrm>
            <a:off x="3027213" y="370332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quantos agentes e porquê</a:t>
            </a:r>
            <a:endParaRPr lang="en-US" sz="1600" dirty="0"/>
          </a:p>
        </p:txBody>
      </p:sp>
      <p:sp>
        <p:nvSpPr>
          <p:cNvPr id="12" name="flow-arrow-1"/>
          <p:cNvSpPr/>
          <p:nvPr/>
        </p:nvSpPr>
        <p:spPr>
          <a:xfrm>
            <a:off x="4856561" y="2276856"/>
            <a:ext cx="201168" cy="0"/>
          </a:xfrm>
          <a:prstGeom prst="line">
            <a:avLst/>
          </a:prstGeom>
          <a:noFill/>
          <a:ln w="31750">
            <a:solidFill>
              <a:srgbClr val="140920"/>
            </a:solidFill>
            <a:prstDash val="solid"/>
            <a:tailEnd type="triangle"/>
          </a:ln>
        </p:spPr>
      </p:sp>
      <p:sp>
        <p:nvSpPr>
          <p:cNvPr id="13" name="step-2"/>
          <p:cNvSpPr/>
          <p:nvPr/>
        </p:nvSpPr>
        <p:spPr>
          <a:xfrm>
            <a:off x="5103449" y="1828800"/>
            <a:ext cx="1984797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tep-number-2"/>
          <p:cNvSpPr/>
          <p:nvPr/>
        </p:nvSpPr>
        <p:spPr>
          <a:xfrm>
            <a:off x="5332049" y="2057400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tep-title-2"/>
          <p:cNvSpPr txBox="1"/>
          <p:nvPr/>
        </p:nvSpPr>
        <p:spPr>
          <a:xfrm>
            <a:off x="5304617" y="269748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/task-swarm</a:t>
            </a:r>
            <a:endParaRPr lang="en-US" sz="1500" dirty="0"/>
          </a:p>
        </p:txBody>
      </p:sp>
      <p:sp>
        <p:nvSpPr>
          <p:cNvPr id="16" name="step-text-2"/>
          <p:cNvSpPr txBox="1"/>
          <p:nvPr/>
        </p:nvSpPr>
        <p:spPr>
          <a:xfrm>
            <a:off x="5304617" y="370332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agentes trabalham em lotes</a:t>
            </a:r>
            <a:endParaRPr lang="en-US" sz="1600" dirty="0"/>
          </a:p>
        </p:txBody>
      </p:sp>
      <p:sp>
        <p:nvSpPr>
          <p:cNvPr id="17" name="flow-arrow-2"/>
          <p:cNvSpPr/>
          <p:nvPr/>
        </p:nvSpPr>
        <p:spPr>
          <a:xfrm>
            <a:off x="7133966" y="2276856"/>
            <a:ext cx="201168" cy="0"/>
          </a:xfrm>
          <a:prstGeom prst="line">
            <a:avLst/>
          </a:prstGeom>
          <a:noFill/>
          <a:ln w="31750">
            <a:solidFill>
              <a:srgbClr val="140920"/>
            </a:solidFill>
            <a:prstDash val="solid"/>
            <a:tailEnd type="triangle"/>
          </a:ln>
        </p:spPr>
      </p:sp>
      <p:sp>
        <p:nvSpPr>
          <p:cNvPr id="18" name="step-3"/>
          <p:cNvSpPr/>
          <p:nvPr/>
        </p:nvSpPr>
        <p:spPr>
          <a:xfrm>
            <a:off x="7380854" y="1828800"/>
            <a:ext cx="1984797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tep-number-3"/>
          <p:cNvSpPr/>
          <p:nvPr/>
        </p:nvSpPr>
        <p:spPr>
          <a:xfrm>
            <a:off x="7609454" y="2057400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tep-title-3"/>
          <p:cNvSpPr txBox="1"/>
          <p:nvPr/>
        </p:nvSpPr>
        <p:spPr>
          <a:xfrm>
            <a:off x="7582022" y="269748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/task-gate</a:t>
            </a:r>
            <a:endParaRPr lang="en-US" sz="1500" dirty="0"/>
          </a:p>
        </p:txBody>
      </p:sp>
      <p:sp>
        <p:nvSpPr>
          <p:cNvPr id="21" name="step-text-3"/>
          <p:cNvSpPr txBox="1"/>
          <p:nvPr/>
        </p:nvSpPr>
        <p:spPr>
          <a:xfrm>
            <a:off x="7582022" y="370332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testes, segredos e o veredito do Opus</a:t>
            </a:r>
            <a:endParaRPr lang="en-US" sz="1600" dirty="0"/>
          </a:p>
        </p:txBody>
      </p:sp>
      <p:sp>
        <p:nvSpPr>
          <p:cNvPr id="22" name="flow-arrow-3"/>
          <p:cNvSpPr/>
          <p:nvPr/>
        </p:nvSpPr>
        <p:spPr>
          <a:xfrm>
            <a:off x="9411371" y="2276856"/>
            <a:ext cx="201168" cy="0"/>
          </a:xfrm>
          <a:prstGeom prst="line">
            <a:avLst/>
          </a:prstGeom>
          <a:noFill/>
          <a:ln w="31750">
            <a:solidFill>
              <a:srgbClr val="140920"/>
            </a:solidFill>
            <a:prstDash val="solid"/>
            <a:tailEnd type="triangle"/>
          </a:ln>
        </p:spPr>
      </p:sp>
      <p:sp>
        <p:nvSpPr>
          <p:cNvPr id="23" name="step-4"/>
          <p:cNvSpPr/>
          <p:nvPr/>
        </p:nvSpPr>
        <p:spPr>
          <a:xfrm>
            <a:off x="9658259" y="1828800"/>
            <a:ext cx="1984797" cy="320040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24" name="step-number-4"/>
          <p:cNvSpPr/>
          <p:nvPr/>
        </p:nvSpPr>
        <p:spPr>
          <a:xfrm>
            <a:off x="9886859" y="2057400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step-title-4"/>
          <p:cNvSpPr txBox="1"/>
          <p:nvPr/>
        </p:nvSpPr>
        <p:spPr>
          <a:xfrm>
            <a:off x="9859427" y="269748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/task-report</a:t>
            </a:r>
            <a:endParaRPr lang="en-US" sz="1500" dirty="0"/>
          </a:p>
        </p:txBody>
      </p:sp>
      <p:sp>
        <p:nvSpPr>
          <p:cNvPr id="26" name="step-text-4"/>
          <p:cNvSpPr txBox="1"/>
          <p:nvPr/>
        </p:nvSpPr>
        <p:spPr>
          <a:xfrm>
            <a:off x="9859427" y="370332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A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comentários, worklog e PR, depois do teu sim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3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Começa pela issue EX-1</a:t>
            </a:r>
            <a:endParaRPr lang="en-US" sz="3400" dirty="0"/>
          </a:p>
        </p:txBody>
      </p:sp>
      <p:sp>
        <p:nvSpPr>
          <p:cNvPr id="5" name="do-it-steps"/>
          <p:cNvSpPr txBox="1"/>
          <p:nvPr/>
        </p:nvSpPr>
        <p:spPr>
          <a:xfrm>
            <a:off x="548640" y="1920240"/>
            <a:ext cx="4023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Terminal 3, no projeto de treino, abre o Claude Code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a issue EX-1 (sem login: é um JSON)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tens o Jira ou o GitHub a funcionar? Podes usar uma issue tua</a:t>
            </a:r>
            <a:endParaRPr lang="en-US" sz="2000" dirty="0"/>
          </a:p>
        </p:txBody>
      </p:sp>
      <p:sp>
        <p:nvSpPr>
          <p:cNvPr id="6" name="code-background"/>
          <p:cNvSpPr/>
          <p:nvPr/>
        </p:nvSpPr>
        <p:spPr>
          <a:xfrm>
            <a:off x="4937760" y="1920240"/>
            <a:ext cx="6705295" cy="160020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de-label"/>
          <p:cNvSpPr txBox="1"/>
          <p:nvPr/>
        </p:nvSpPr>
        <p:spPr>
          <a:xfrm>
            <a:off x="5166360" y="21031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 · projeto de treino</a:t>
            </a:r>
            <a:endParaRPr lang="en-US" sz="1500" dirty="0"/>
          </a:p>
        </p:txBody>
      </p:sp>
      <p:sp>
        <p:nvSpPr>
          <p:cNvPr id="8" name="code"/>
          <p:cNvSpPr txBox="1"/>
          <p:nvPr/>
        </p:nvSpPr>
        <p:spPr>
          <a:xfrm>
            <a:off x="5166360" y="2487168"/>
            <a:ext cx="62480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~/workshop-claude/practice-project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/task-intake issues/EX-1.json</a:t>
            </a:r>
            <a:endParaRPr lang="en-US" sz="1700" dirty="0"/>
          </a:p>
        </p:txBody>
      </p:sp>
      <p:sp>
        <p:nvSpPr>
          <p:cNvPr id="9" name="code-background"/>
          <p:cNvSpPr/>
          <p:nvPr/>
        </p:nvSpPr>
        <p:spPr>
          <a:xfrm>
            <a:off x="4937760" y="3749040"/>
            <a:ext cx="6705295" cy="1600200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0" name="code-label"/>
          <p:cNvSpPr txBox="1"/>
          <p:nvPr/>
        </p:nvSpPr>
        <p:spPr>
          <a:xfrm>
            <a:off x="5166360" y="39319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 · o teu repositório</a:t>
            </a:r>
            <a:endParaRPr lang="en-US" sz="1500" dirty="0"/>
          </a:p>
        </p:txBody>
      </p:sp>
      <p:sp>
        <p:nvSpPr>
          <p:cNvPr id="11" name="code"/>
          <p:cNvSpPr txBox="1"/>
          <p:nvPr/>
        </p:nvSpPr>
        <p:spPr>
          <a:xfrm>
            <a:off x="5166360" y="4315968"/>
            <a:ext cx="62480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&lt;o teu repositório&gt;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/task-intake ABC-123</a:t>
            </a:r>
            <a:endParaRPr lang="en-US" sz="1700" dirty="0"/>
          </a:p>
        </p:txBody>
      </p:sp>
      <p:sp>
        <p:nvSpPr>
          <p:cNvPr id="12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3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4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Título, critérios de aceitação e o comando de teste do projeto (npm test)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4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O planner decide quantos agentes</a:t>
            </a:r>
            <a:endParaRPr lang="en-US" sz="3400" dirty="0"/>
          </a:p>
        </p:txBody>
      </p:sp>
      <p:sp>
        <p:nvSpPr>
          <p:cNvPr id="5" name="do-it-steps"/>
          <p:cNvSpPr txBox="1"/>
          <p:nvPr/>
        </p:nvSpPr>
        <p:spPr>
          <a:xfrm>
            <a:off x="548640" y="1920240"/>
            <a:ext cx="4023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/task-plan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o porquê do número de agentes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 ou ajusta</a:t>
            </a:r>
            <a:endParaRPr lang="en-US" sz="2000" dirty="0"/>
          </a:p>
        </p:txBody>
      </p:sp>
      <p:sp>
        <p:nvSpPr>
          <p:cNvPr id="6" name="code-background"/>
          <p:cNvSpPr/>
          <p:nvPr/>
        </p:nvSpPr>
        <p:spPr>
          <a:xfrm>
            <a:off x="4937760" y="1920240"/>
            <a:ext cx="6705295" cy="108813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de-label"/>
          <p:cNvSpPr txBox="1"/>
          <p:nvPr/>
        </p:nvSpPr>
        <p:spPr>
          <a:xfrm>
            <a:off x="5166360" y="21031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</a:t>
            </a:r>
            <a:endParaRPr lang="en-US" sz="1500" dirty="0"/>
          </a:p>
        </p:txBody>
      </p:sp>
      <p:sp>
        <p:nvSpPr>
          <p:cNvPr id="8" name="code"/>
          <p:cNvSpPr txBox="1"/>
          <p:nvPr/>
        </p:nvSpPr>
        <p:spPr>
          <a:xfrm>
            <a:off x="5166360" y="2487168"/>
            <a:ext cx="6248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/task-plan</a:t>
            </a:r>
            <a:endParaRPr lang="en-US" sz="2000" dirty="0"/>
          </a:p>
        </p:txBody>
      </p:sp>
      <p:sp>
        <p:nvSpPr>
          <p:cNvPr id="9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0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1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EX-1 é pequena: 1 a 3 agentes, com a justificação e a estimativa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-it-tag"/>
          <p:cNvSpPr/>
          <p:nvPr/>
        </p:nvSpPr>
        <p:spPr>
          <a:xfrm>
            <a:off x="548640" y="384048"/>
            <a:ext cx="2834640" cy="384048"/>
          </a:xfrm>
          <a:prstGeom prst="rect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sp>
        <p:nvSpPr>
          <p:cNvPr id="3" name="do-it-label"/>
          <p:cNvSpPr txBox="1"/>
          <p:nvPr/>
        </p:nvSpPr>
        <p:spPr>
          <a:xfrm>
            <a:off x="685800" y="384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Faz agora · 11 min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9611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Põe o swarm a trabalhar</a:t>
            </a:r>
            <a:endParaRPr lang="en-US" sz="3400" dirty="0"/>
          </a:p>
        </p:txBody>
      </p:sp>
      <p:sp>
        <p:nvSpPr>
          <p:cNvPr id="5" name="do-it-steps"/>
          <p:cNvSpPr txBox="1"/>
          <p:nvPr/>
        </p:nvSpPr>
        <p:spPr>
          <a:xfrm>
            <a:off x="548640" y="1920240"/>
            <a:ext cx="4023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/task-swarm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Noutro terminal, na pasta do projeto, abre o painel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Interrompe com Esc; corre /task-swarm de novo para retomar</a:t>
            </a:r>
            <a:endParaRPr lang="en-US" sz="2000" dirty="0"/>
          </a:p>
        </p:txBody>
      </p:sp>
      <p:sp>
        <p:nvSpPr>
          <p:cNvPr id="6" name="code-background"/>
          <p:cNvSpPr/>
          <p:nvPr/>
        </p:nvSpPr>
        <p:spPr>
          <a:xfrm>
            <a:off x="4937760" y="1920240"/>
            <a:ext cx="6705295" cy="1088136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7" name="code-label"/>
          <p:cNvSpPr txBox="1"/>
          <p:nvPr/>
        </p:nvSpPr>
        <p:spPr>
          <a:xfrm>
            <a:off x="5166360" y="210312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3</a:t>
            </a:r>
            <a:endParaRPr lang="en-US" sz="1500" dirty="0"/>
          </a:p>
        </p:txBody>
      </p:sp>
      <p:sp>
        <p:nvSpPr>
          <p:cNvPr id="8" name="code"/>
          <p:cNvSpPr txBox="1"/>
          <p:nvPr/>
        </p:nvSpPr>
        <p:spPr>
          <a:xfrm>
            <a:off x="5166360" y="2487168"/>
            <a:ext cx="6248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/task-swarm</a:t>
            </a:r>
            <a:endParaRPr lang="en-US" sz="2000" dirty="0"/>
          </a:p>
        </p:txBody>
      </p:sp>
      <p:sp>
        <p:nvSpPr>
          <p:cNvPr id="9" name="code-background"/>
          <p:cNvSpPr/>
          <p:nvPr/>
        </p:nvSpPr>
        <p:spPr>
          <a:xfrm>
            <a:off x="4937760" y="3236976"/>
            <a:ext cx="6705295" cy="1832458"/>
          </a:xfrm>
          <a:prstGeom prst="rect">
            <a:avLst/>
          </a:prstGeom>
          <a:solidFill>
            <a:srgbClr val="140920"/>
          </a:solidFill>
          <a:ln w="12700">
            <a:solidFill>
              <a:srgbClr val="140920"/>
            </a:solidFill>
            <a:prstDash val="solid"/>
          </a:ln>
        </p:spPr>
      </p:sp>
      <p:sp>
        <p:nvSpPr>
          <p:cNvPr id="10" name="code-label"/>
          <p:cNvSpPr txBox="1"/>
          <p:nvPr/>
        </p:nvSpPr>
        <p:spPr>
          <a:xfrm>
            <a:off x="5166360" y="3419856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Outro terminal</a:t>
            </a:r>
            <a:endParaRPr lang="en-US" sz="1500" dirty="0"/>
          </a:p>
        </p:txBody>
      </p:sp>
      <p:sp>
        <p:nvSpPr>
          <p:cNvPr id="11" name="code"/>
          <p:cNvSpPr txBox="1"/>
          <p:nvPr/>
        </p:nvSpPr>
        <p:spPr>
          <a:xfrm>
            <a:off x="5166360" y="3803904"/>
            <a:ext cx="6248095" cy="1128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~/workshop-claude/practice-project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CF9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"$HOME/.workshop-claude/kit/orchestrator/dashboard.mjs"</a:t>
            </a:r>
            <a:endParaRPr lang="en-US" sz="1600" dirty="0"/>
          </a:p>
        </p:txBody>
      </p:sp>
      <p:sp>
        <p:nvSpPr>
          <p:cNvPr id="12" name="expected-mark-circle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3" name="expected-mar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" y="5676595"/>
            <a:ext cx="204826" cy="204826"/>
          </a:xfrm>
          <a:prstGeom prst="rect">
            <a:avLst/>
          </a:prstGeom>
        </p:spPr>
      </p:pic>
      <p:sp>
        <p:nvSpPr>
          <p:cNvPr id="14" name="do-it-expected"/>
          <p:cNvSpPr txBox="1"/>
          <p:nvPr/>
        </p:nvSpPr>
        <p:spPr>
          <a:xfrm>
            <a:off x="1051560" y="559612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</a:t>
            </a:r>
            <a:pPr indent="0" marL="0">
              <a:buNone/>
            </a:pPr>
            <a:r>
              <a:rPr lang="en-US" sz="18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Lotes de agentes a terminar e o npm test verde; nunca dois no mesmo ficheiro ao mesmo tempo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Depois do workshop</a:t>
            </a:r>
            <a:endParaRPr lang="en-US" sz="3200" dirty="0"/>
          </a:p>
        </p:txBody>
      </p:sp>
      <p:sp>
        <p:nvSpPr>
          <p:cNvPr id="3" name="column-0"/>
          <p:cNvSpPr/>
          <p:nvPr/>
        </p:nvSpPr>
        <p:spPr>
          <a:xfrm>
            <a:off x="548640" y="1691640"/>
            <a:ext cx="348477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mark-0-circle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5" name="mark-0" descr="shield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132381"/>
            <a:ext cx="307238" cy="307238"/>
          </a:xfrm>
          <a:prstGeom prst="rect">
            <a:avLst/>
          </a:prstGeom>
        </p:spPr>
      </p:pic>
      <p:sp>
        <p:nvSpPr>
          <p:cNvPr id="6" name="column-title-0"/>
          <p:cNvSpPr txBox="1"/>
          <p:nvPr/>
        </p:nvSpPr>
        <p:spPr>
          <a:xfrm>
            <a:off x="868680" y="27889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/task-gate</a:t>
            </a:r>
            <a:endParaRPr lang="en-US" sz="2600" dirty="0"/>
          </a:p>
        </p:txBody>
      </p:sp>
      <p:sp>
        <p:nvSpPr>
          <p:cNvPr id="7" name="column-text-0"/>
          <p:cNvSpPr txBox="1"/>
          <p:nvPr/>
        </p:nvSpPr>
        <p:spPr>
          <a:xfrm>
            <a:off x="868680" y="3703320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testes, segredos, código perigoso e o veredito do Opus</a:t>
            </a:r>
            <a:endParaRPr lang="en-US" sz="2000" dirty="0"/>
          </a:p>
        </p:txBody>
      </p:sp>
      <p:sp>
        <p:nvSpPr>
          <p:cNvPr id="8" name="column-1"/>
          <p:cNvSpPr/>
          <p:nvPr/>
        </p:nvSpPr>
        <p:spPr>
          <a:xfrm>
            <a:off x="4353458" y="1691640"/>
            <a:ext cx="348477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mark-1-circle"/>
          <p:cNvSpPr/>
          <p:nvPr/>
        </p:nvSpPr>
        <p:spPr>
          <a:xfrm>
            <a:off x="4673498" y="2011680"/>
            <a:ext cx="548640" cy="54864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0" name="mark-1" descr="message-squar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9" y="2132381"/>
            <a:ext cx="307238" cy="307238"/>
          </a:xfrm>
          <a:prstGeom prst="rect">
            <a:avLst/>
          </a:prstGeom>
        </p:spPr>
      </p:pic>
      <p:sp>
        <p:nvSpPr>
          <p:cNvPr id="11" name="column-title-1"/>
          <p:cNvSpPr txBox="1"/>
          <p:nvPr/>
        </p:nvSpPr>
        <p:spPr>
          <a:xfrm>
            <a:off x="4673498" y="27889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/task-report</a:t>
            </a:r>
            <a:endParaRPr lang="en-US" sz="2600" dirty="0"/>
          </a:p>
        </p:txBody>
      </p:sp>
      <p:sp>
        <p:nvSpPr>
          <p:cNvPr id="12" name="column-text-1"/>
          <p:cNvSpPr txBox="1"/>
          <p:nvPr/>
        </p:nvSpPr>
        <p:spPr>
          <a:xfrm>
            <a:off x="4673498" y="3703320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(MCP ou acli) ou GitHub (gh): comentários, worklog e PR, só depois do teu sim</a:t>
            </a:r>
            <a:endParaRPr lang="en-US" sz="2000" dirty="0"/>
          </a:p>
        </p:txBody>
      </p:sp>
      <p:sp>
        <p:nvSpPr>
          <p:cNvPr id="13" name="column-2"/>
          <p:cNvSpPr/>
          <p:nvPr/>
        </p:nvSpPr>
        <p:spPr>
          <a:xfrm>
            <a:off x="8158277" y="1691640"/>
            <a:ext cx="348477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mark-2-circle"/>
          <p:cNvSpPr/>
          <p:nvPr/>
        </p:nvSpPr>
        <p:spPr>
          <a:xfrm>
            <a:off x="8478317" y="2011680"/>
            <a:ext cx="548640" cy="548640"/>
          </a:xfrm>
          <a:prstGeom prst="ellipse">
            <a:avLst/>
          </a:prstGeom>
          <a:solidFill>
            <a:srgbClr val="6B34FD"/>
          </a:solidFill>
          <a:ln w="12700">
            <a:solidFill>
              <a:srgbClr val="6B34FD"/>
            </a:solidFill>
            <a:prstDash val="solid"/>
          </a:ln>
        </p:spPr>
      </p:sp>
      <p:pic>
        <p:nvPicPr>
          <p:cNvPr id="15" name="mark-2" descr="share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18" y="2132381"/>
            <a:ext cx="307238" cy="307238"/>
          </a:xfrm>
          <a:prstGeom prst="rect">
            <a:avLst/>
          </a:prstGeom>
        </p:spPr>
      </p:pic>
      <p:sp>
        <p:nvSpPr>
          <p:cNvPr id="16" name="column-title-2"/>
          <p:cNvSpPr txBox="1"/>
          <p:nvPr/>
        </p:nvSpPr>
        <p:spPr>
          <a:xfrm>
            <a:off x="8478317" y="27889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/memory</a:t>
            </a:r>
            <a:endParaRPr lang="en-US" sz="2600" dirty="0"/>
          </a:p>
        </p:txBody>
      </p:sp>
      <p:sp>
        <p:nvSpPr>
          <p:cNvPr id="17" name="column-text-2"/>
          <p:cNvSpPr txBox="1"/>
          <p:nvPr/>
        </p:nvSpPr>
        <p:spPr>
          <a:xfrm>
            <a:off x="8478317" y="3703320"/>
            <a:ext cx="2844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lições desta tarefa ficam para a próxima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Cinco ideias para levar</a:t>
            </a:r>
            <a:endParaRPr lang="en-US" sz="3200" dirty="0"/>
          </a:p>
        </p:txBody>
      </p:sp>
      <p:sp>
        <p:nvSpPr>
          <p:cNvPr id="3" name="list-number-0"/>
          <p:cNvSpPr/>
          <p:nvPr/>
        </p:nvSpPr>
        <p:spPr>
          <a:xfrm>
            <a:off x="548640" y="1664208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list-item-0"/>
          <p:cNvSpPr txBox="1"/>
          <p:nvPr/>
        </p:nvSpPr>
        <p:spPr>
          <a:xfrm>
            <a:off x="1280160" y="1645920"/>
            <a:ext cx="103628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Skills tornam o trabalho repetível</a:t>
            </a:r>
            <a:endParaRPr lang="en-US" sz="2400" dirty="0"/>
          </a:p>
        </p:txBody>
      </p:sp>
      <p:sp>
        <p:nvSpPr>
          <p:cNvPr id="5" name="list-number-1"/>
          <p:cNvSpPr/>
          <p:nvPr/>
        </p:nvSpPr>
        <p:spPr>
          <a:xfrm>
            <a:off x="548640" y="2487168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list-item-1"/>
          <p:cNvSpPr txBox="1"/>
          <p:nvPr/>
        </p:nvSpPr>
        <p:spPr>
          <a:xfrm>
            <a:off x="1280160" y="2468880"/>
            <a:ext cx="103628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Subagentes dão contexto limpo e o modelo certo para cada peça</a:t>
            </a:r>
            <a:endParaRPr lang="en-US" sz="2400" dirty="0"/>
          </a:p>
        </p:txBody>
      </p:sp>
      <p:sp>
        <p:nvSpPr>
          <p:cNvPr id="7" name="list-number-2"/>
          <p:cNvSpPr/>
          <p:nvPr/>
        </p:nvSpPr>
        <p:spPr>
          <a:xfrm>
            <a:off x="548640" y="3675888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list-item-2"/>
          <p:cNvSpPr txBox="1"/>
          <p:nvPr/>
        </p:nvSpPr>
        <p:spPr>
          <a:xfrm>
            <a:off x="1280160" y="3657600"/>
            <a:ext cx="103628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Um script decide o grafo; a spec decide o resultado</a:t>
            </a:r>
            <a:endParaRPr lang="en-US" sz="2400" dirty="0"/>
          </a:p>
        </p:txBody>
      </p:sp>
      <p:sp>
        <p:nvSpPr>
          <p:cNvPr id="9" name="list-number-3"/>
          <p:cNvSpPr/>
          <p:nvPr/>
        </p:nvSpPr>
        <p:spPr>
          <a:xfrm>
            <a:off x="548640" y="4498848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list-item-3"/>
          <p:cNvSpPr txBox="1"/>
          <p:nvPr/>
        </p:nvSpPr>
        <p:spPr>
          <a:xfrm>
            <a:off x="1280160" y="4480560"/>
            <a:ext cx="103628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Mede-se com hooks; o custo não se adivinha</a:t>
            </a:r>
            <a:endParaRPr lang="en-US" sz="2400" dirty="0"/>
          </a:p>
        </p:txBody>
      </p:sp>
      <p:sp>
        <p:nvSpPr>
          <p:cNvPr id="11" name="list-number-4"/>
          <p:cNvSpPr/>
          <p:nvPr/>
        </p:nvSpPr>
        <p:spPr>
          <a:xfrm>
            <a:off x="548640" y="5321808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list-item-4"/>
          <p:cNvSpPr txBox="1"/>
          <p:nvPr/>
        </p:nvSpPr>
        <p:spPr>
          <a:xfrm>
            <a:off x="1280160" y="5303520"/>
            <a:ext cx="103628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 memória faz cada tarefa ensinar a próxima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5391" y="411480"/>
            <a:ext cx="10957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Amanhã</a:t>
            </a:r>
            <a:endParaRPr lang="en-US" sz="3200" dirty="0"/>
          </a:p>
        </p:txBody>
      </p:sp>
      <p:sp>
        <p:nvSpPr>
          <p:cNvPr id="3" name="list-number-0"/>
          <p:cNvSpPr/>
          <p:nvPr/>
        </p:nvSpPr>
        <p:spPr>
          <a:xfrm>
            <a:off x="548640" y="1664208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list-item-0"/>
          <p:cNvSpPr txBox="1"/>
          <p:nvPr/>
        </p:nvSpPr>
        <p:spPr>
          <a:xfrm>
            <a:off x="1280160" y="1645920"/>
            <a:ext cx="103628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Corre /task-intake na próxima issue que te atribuírem</a:t>
            </a:r>
            <a:endParaRPr lang="en-US" sz="2400" dirty="0"/>
          </a:p>
        </p:txBody>
      </p:sp>
      <p:sp>
        <p:nvSpPr>
          <p:cNvPr id="5" name="list-number-1"/>
          <p:cNvSpPr/>
          <p:nvPr/>
        </p:nvSpPr>
        <p:spPr>
          <a:xfrm>
            <a:off x="548640" y="2487168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list-item-1"/>
          <p:cNvSpPr txBox="1"/>
          <p:nvPr/>
        </p:nvSpPr>
        <p:spPr>
          <a:xfrm>
            <a:off x="1280160" y="2468880"/>
            <a:ext cx="103628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Escreve uma skill para uma tarefa que repetes todas as semanas</a:t>
            </a:r>
            <a:endParaRPr lang="en-US" sz="2400" dirty="0"/>
          </a:p>
        </p:txBody>
      </p:sp>
      <p:sp>
        <p:nvSpPr>
          <p:cNvPr id="7" name="list-number-2"/>
          <p:cNvSpPr/>
          <p:nvPr/>
        </p:nvSpPr>
        <p:spPr>
          <a:xfrm>
            <a:off x="548640" y="3675888"/>
            <a:ext cx="438912" cy="438912"/>
          </a:xfrm>
          <a:prstGeom prst="ellipse">
            <a:avLst/>
          </a:prstGeom>
          <a:solidFill>
            <a:srgbClr val="6B34FD"/>
          </a:solidFill>
          <a:ln>
            <a:solidFill>
              <a:srgbClr val="6B34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list-item-2"/>
          <p:cNvSpPr txBox="1"/>
          <p:nvPr/>
        </p:nvSpPr>
        <p:spPr>
          <a:xfrm>
            <a:off x="1280160" y="3657600"/>
            <a:ext cx="103628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0920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Abre a Agent Memory antes de planear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91295" y="6464808"/>
            <a:ext cx="2743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CF9F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201168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CF9FE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Perguntas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25928"/>
                </a:solidFill>
                <a:latin typeface="Founders Grotesk Medium" pitchFamily="34" charset="0"/>
                <a:ea typeface="Founders Grotesk Medium" pitchFamily="34" charset="-122"/>
                <a:cs typeface="Founders Grotesk Medium" pitchFamily="34" charset="-120"/>
              </a:rPr>
              <a:t>Sem limite de tempo</a:t>
            </a:r>
            <a:endParaRPr lang="en-US" sz="2800" dirty="0"/>
          </a:p>
        </p:txBody>
      </p:sp>
      <p:sp>
        <p:nvSpPr>
          <p:cNvPr id="4" name="footer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A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https://github.com/cx-guilherme-pinto/workshop-claude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ounders Grotesk Medium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Orquestração de agentes com Claude</dc:title>
  <dc:subject>PptxGenJS Presentation</dc:subject>
  <dc:creator>Workshop Claude</dc:creator>
  <cp:lastModifiedBy>Workshop Claude</cp:lastModifiedBy>
  <cp:revision>1</cp:revision>
  <dcterms:created xsi:type="dcterms:W3CDTF">2026-10-19T10:30:23Z</dcterms:created>
  <dcterms:modified xsi:type="dcterms:W3CDTF">2026-10-19T10:30:23Z</dcterms:modified>
</cp:coreProperties>
</file>