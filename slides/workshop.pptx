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9bbb644f-5875-ea7e-0a37-c1b8574e5d29}">
          <p14:sldIdLst>
            <p14:sldId id="256"/>
            <p14:sldId id="257"/>
            <p14:sldId id="258"/>
            <p14:sldId id="259"/>
          </p14:sldIdLst>
        </p14:section>
        <p14:section name="Verificar" id="{e942d71f-fa3d-9606-3562-288d2573e98c}">
          <p14:sldIdLst>
            <p14:sldId id="260"/>
            <p14:sldId id="261"/>
          </p14:sldIdLst>
        </p14:section>
        <p14:section name="Conceitos" id="{7569209d-1707-92cb-7b13-80c1a82b639a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Preview" id="{3f2ef3e5-5560-0294-cfd5-117938484fad}">
          <p14:sldIdLst>
            <p14:sldId id="272"/>
            <p14:sldId id="273"/>
          </p14:sldIdLst>
        </p14:section>
        <p14:section name="Projeto 1" id="{4cecc14e-43b7-ca37-0de4-5f9cf9647171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Memória" id="{914b7bdf-8f0f-5933-6b72-4b3faf1d3c61}">
          <p14:sldIdLst>
            <p14:sldId id="287"/>
            <p14:sldId id="288"/>
          </p14:sldIdLst>
        </p14:section>
        <p14:section name="Projeto 2" id="{940f80c7-28d2-16d9-beeb-71d180f1e4d9}">
          <p14:sldIdLst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Encerramento" id="{8343ad20-ccf4-dd83-6387-81e7ddd07efd}">
          <p14:sldIdLst>
            <p14:sldId id="297"/>
            <p14:sldId id="298"/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1:00] 1 min · deves estar aqui aos 0 min
Boas-vindas. Em 90 minutos vamos pôr um enxame de agentes a construir um jogo e, depois, a trabalhar numa tarefa real de cada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→ 2:30] 1.5 min · deves estar aqui aos 1 min
Três resultados concretos. Tudo fica instalado no portátil de cada um e continua a funcionar depois de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 → 3:30] 1 min · deves estar aqui aos 3 min
O relógio está nas notas de cada slide. As perguntas ficam para o fim, sem limite de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[3:30 → 5:00] 1.5 min · deves estar aqui aos 4 min
O orçamento é garantido pelo benchmark, não por cortes. Se alguém passar o alvo, aparece um aviso e continua a trabalhar.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 → 8:00] 3 min · deves estar aqui aos 5 min
Toda a gente corre o check. Demora 2 a 3 minutos e não instala nada. Quem não fez o setup segue com o vizinho e instala no intervalo das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[8:00 → 10:00] 2 min · deves estar aqui aos 8 min
O Claude lê só o excerto do log daquele passo, sem segredos, e propõe comandos. Nunca executa nada sem confirmação. Se o Claude ainda não estiver instalado, aparece a mensagem pré-escrita do TROUBLESHOOTING.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[10:00 → 10:30] 0.5 min · deves estar aqui aos 10 min
Quinze minutos de ideias, um conceito por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[10:30 → 12:00] 1.5 min · deves estar aqui aos 11 min
O Claude Code não é um chat: é um agente que age no repositório. Tudo o que faz passa por permissões. Plan mode (Shift+Tab) faz com que só planeie, sem tocar em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 → 14:00] 2 min · deves estar aqui aos 12 min
As skills substituíram os slash commands antigos. O frontmatter fixa o modelo e as ferramentas autorizadas. Hoje vamos usar dois sets: os /demo-* na Arena e os /task-* no dia a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→ 16:00] 2 min · deves estar aqui aos 14 min
Um subagente é uma instância do Claude com contexto limpo, ferramentas próprias e o modelo que quisermos. É definido num ficheiro .claude/agents/&lt;nome&gt;.md. O comando /agents já não abre um assistente: edita-se o ficheiro.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 → 18:00] 2 min · deves estar aqui aos 16 min
O enxame barato é o de muitos agentes pequenos com instruções claras. O que custa é a coordenação. Por isso o orquestrador é um script e os workers respondem com uma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→ 20:00] 2 min · deves estar aqui aos 18 min
O plano é um grafo de dependências. Executamos por ondas: tudo o que está pronto corre em paralelo. Os três cartões de criptografia esperam pelo lib/hash, uma dependência real dentro da onda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[20:00 → 21:30] 1.5 min · deves estar aqui aos 20 min
Com 15 chamadas em paralelo, um modelo esquece dependências ou reescreve prompts. O script é reproduzível: é isso que torna o custo previsível e o benchmark comparável.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[21:30 → 23:00] 1.5 min · deves estar aqui aos 22 min
Os hooks são comandos que o Claude Code corre em eventos. O nosso só mede: lê os tokens reais do transcript, multiplica pelos preços publicados e acrescenta uma linha. Nunca bloqueia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 → 24:00] 1 min · deves estar aqui aos 23 min
É o mesmo ciclo nos dois projetos: planear com Opus, executar em enxame, um gate de segurança, medir e guardar o que se aprendeu.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[24:00 → 25:00] 1 min · PODE SALTAR · deves estar aqui aos 24 min
Saltar se houver atraso. O Claude Code recusa o 21.º subagente em simultâneo. Os limites de taxa da API são por organização. Por isso trabalhamos em lotes.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 → 29:00] 4 min · deves estar aqui aos 25 min
Vídeo acelerado de uma execução real do modo apresentador. O tempo e o custo que aparecem no ecrã são os reais. Plano B se o vídeo falhar: abrir /estado?replay=gravacao na Arena gravada.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[29:00 → 30:00] 1 min · deves estar aqui aos 29 min
Abrir a Arena final no browser e jogar um cartão. É uma app estática, sem risco.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[30:00 → 30:30] 0.5 min · deves estar aqui aos 30 min
25 minutos de hands-on. No benchmark, o enxame de 15 cartões demorou 4 a 6 minutos; em modo interativo e com contas novas pode demorar mais. Usamos esse tempo para ver funcionalidades.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[30:30 → 31:30] 1 min · deves estar aqui aos 31 min
Os testes já existem: cada agente só tem de pôr o seu teste verde. É isto que deixa o Haiku fazer o grosso do trabalho com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[31:30 → 34:30] 3 min · deves estar aqui aos 32 min
O diálogo de confiança é importante: sem ele, as permissões do projeto ficam desligadas. O /demo-plan consulta a memória, gera o grafo e pede ao planner (Opus) para o 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[34:30 → 36:00] 1.5 min · deves estar aqui aos 35 min
Mostrar o plano de alguém no projetor. Na onda 1, o lib/hash e os cartões arrancam juntos; os de criptografia entram assim que o hash fica verde.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[36:00 → 38:00] 2 min · deves estar aqui aos 36 min
A partir daqui o enxame trabalha alguns minutos (4 a 6 no benchmark). Os próximos slides usam esse tempo; quem acabar primeiro joga a Arena.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[38:00 → 40:00] 2 min · deves estar aqui aos 38 min
O /btw responde ao lado. É a forma certa de tirar dúvidas durante uma execução longa.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[40:00 → 42:00] 2 min · deves estar aqui aos 40 min
Mostrar a statusline a mudar enquanto os agentes terminam. Explicar porque é que o /usage pode mostrar mais: versões que ainda não conhecem os preços mais recentes.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[42:00 → 45:00] 3 min · deves estar aqui aos 42 min
Plan mode só lê e propõe. O claude -p é a base dos scripts e do CI. Esc Esc abre o rewind: repõe código e conversa até um checkpoint, mas não o que foi feito por Bash nem a maior parte do que os subagentes fizeram.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[45:00 → 47:00] 2 min · PODE SALTAR · deves estar aqui aos 45 min
Saltar se houver atraso. Exemplo de rotina: uma revisão de segurança diária com node tools/rotina.mjs --instalar, que regista no launchd ou no Agendador de Tarefas um claude -p "/demo-review --auto".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[47:00 → 49:00] 2 min · deves estar aqui aos 47 min
O /loop repete um prompt a cada intervalo, com a sessão aberta. Esc cancela.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[49:00 → 51:00] 2 min · deves estar aqui aos 49 min
Um jogo de segurança com falhas de segurança seria o pior exemplo. O gate liga cada verificação ao OWASP Top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[51:00 → 53:00] 2 min · deves estar aqui aos 51 min
O relatório usa tokens reais e preços publicados. No fim grava as lições na app de memória.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[53:00 → 55:00] 2 min · deves estar aqui aos 53 min
Os testes também correm no browser. É o mesmo teste que decidiu a cor do quadrado.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[55:00 → 57:00] 2 min · deves estar aqui aos 55 min
São ficheiros Markdown em ~/.memoria, com um índice SQLite. Fica tudo só no teu PC. Cada memória fica ligada ao ticket do Jira ou do GitHub e ao seu épico: procurar ABC-123 traz tudo desse ticket e do épico. O /task-intake e o /task-plan consultam-na antes de planear ("da última vez neste épico, não fazer X").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[57:00 → 60:00] 3 min · deves estar aqui aos 57 min
Rotinas, worktrees e o modo headless já ficaram vistos nos momentos de espera.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[60:00 → 60:30] 0.5 min · deves estar aqui aos 60 min
25 minutos. A tarefa pode não terminar aqui: o objetivo é sair com a orquestração a correr e saber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[60:30 → 62:00] 1.5 min · deves estar aqui aos 61 min
Os /task-* estão instalados ao nível do utilizador e funcionam em qualquer repositório. Toda a escrita no Jira ou no GitHub pede confirmação.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[62:00 → 66:00] 4 min · deves estar aqui aos 62 min
Para o Jira é preciso ter feito login no /mcp (atlassian). O GitHub usa o gh. O intake só lê; não escreve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[66:00 → 71:00] 5 min · deves estar aqui aos 66 min
O planner (Opus) propõe o grafo e um script valida-o: ciclos, ficheiros em comum, agentes conhecidos. A integração e a revisão são acrescentadas sozinhas.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[71:00 → 81:00] 10 min · deves estar aqui aos 71 min
O estado fica em .workshop/. Voltar a correr /task-swarm retoma. Tarefas que mexem nos mesmos ficheiros vão em lotes diferentes, ou em git worktrees se o planner o decidir.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[81:00 → 82:00] 1 min · PODE SALTAR · deves estar aqui aos 81 min
Saltar se houver atraso. O MCP da Atlassian gasta créditos Rovo da empresa e o administrador pode limitá-lo. Se o MCP falhar, as skills usam o Atlassian CLI oficial (acli), que o setup já instalou: lê a issue e publica os comentários; as horas registam-se à mão.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[82:00 → 84:00] 2 min · deves estar aqui aos 82 min
Exemplo de comentário: agente ws-worker-07 · Haiku · 5 s · US$ 0,004.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[84:00 → 85:00] 1 min · PODE SALTAR · deves estar aqui aos 84 min
Saltar se houver atraso. Com assinatura, a mesma sessão pode continuar no telemóvel e as rotinas correm na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[85:00 → 87:00] 2 min · deves estar aqui aos 85 min
Resumo em cinco frases.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[87:00 → 88:30] 1.5 min · deves estar aqui aos 87 min
Os comandos são gerados a partir do repos.conf: estão sempre certos para a versão publicada.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[88:30 → 89:30] 1 min · deves estar aqui aos 89 min
Três ações concretas.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[89:30 → 90:00] 0.5 min · deves estar aqui aos 90 min
As perguntas podem passar dos 90 minutos. Quem não fez o setup instala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O">
    <p:bg>
      <p:bgPr>
        <a:solidFill>
          <a:srgbClr val="0F13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786384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77640"/>
            <a:ext cx="78638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AO">
    <p:bg>
      <p:bgPr>
        <a:solidFill>
          <a:srgbClr val="0F13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9728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2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Orquestração de agentes com Claude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CA">
    <p:bg>
      <p:bgPr>
        <a:solidFill>
          <a:srgbClr val="F1C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7-1.mp4"/><Relationship Id="rId2" Type="http://schemas.microsoft.com/office/2007/relationships/media" Target="../media/media-17-1.mp4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7863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Orquestração de agentes com Claude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77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subagentes e enxames paralelos, com custo medido</a:t>
            </a:r>
            <a:endParaRPr lang="en-US" sz="2200" dirty="0"/>
          </a:p>
        </p:txBody>
      </p:sp>
      <p:sp>
        <p:nvSpPr>
          <p:cNvPr id="4" name="estado-0-0"/>
          <p:cNvSpPr/>
          <p:nvPr/>
        </p:nvSpPr>
        <p:spPr>
          <a:xfrm>
            <a:off x="9052560" y="14630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estado-0-1"/>
          <p:cNvSpPr/>
          <p:nvPr/>
        </p:nvSpPr>
        <p:spPr>
          <a:xfrm>
            <a:off x="9546336" y="14630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estado-0-2"/>
          <p:cNvSpPr/>
          <p:nvPr/>
        </p:nvSpPr>
        <p:spPr>
          <a:xfrm>
            <a:off x="10040112" y="1463040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7" name="estado-0-3"/>
          <p:cNvSpPr/>
          <p:nvPr/>
        </p:nvSpPr>
        <p:spPr>
          <a:xfrm>
            <a:off x="10533888" y="146304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8" name="estado-0-4"/>
          <p:cNvSpPr/>
          <p:nvPr/>
        </p:nvSpPr>
        <p:spPr>
          <a:xfrm>
            <a:off x="11027664" y="14630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estado-1-0"/>
          <p:cNvSpPr/>
          <p:nvPr/>
        </p:nvSpPr>
        <p:spPr>
          <a:xfrm>
            <a:off x="9052560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estado-1-1"/>
          <p:cNvSpPr/>
          <p:nvPr/>
        </p:nvSpPr>
        <p:spPr>
          <a:xfrm>
            <a:off x="9546336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estado-1-2"/>
          <p:cNvSpPr/>
          <p:nvPr/>
        </p:nvSpPr>
        <p:spPr>
          <a:xfrm>
            <a:off x="10040112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estado-1-3"/>
          <p:cNvSpPr/>
          <p:nvPr/>
        </p:nvSpPr>
        <p:spPr>
          <a:xfrm>
            <a:off x="10533888" y="1956816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13" name="estado-1-4"/>
          <p:cNvSpPr/>
          <p:nvPr/>
        </p:nvSpPr>
        <p:spPr>
          <a:xfrm>
            <a:off x="11027664" y="1956816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14" name="estado-2-0"/>
          <p:cNvSpPr/>
          <p:nvPr/>
        </p:nvSpPr>
        <p:spPr>
          <a:xfrm>
            <a:off x="9052560" y="2450592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15" name="estado-2-1"/>
          <p:cNvSpPr/>
          <p:nvPr/>
        </p:nvSpPr>
        <p:spPr>
          <a:xfrm>
            <a:off x="9546336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estado-2-2"/>
          <p:cNvSpPr/>
          <p:nvPr/>
        </p:nvSpPr>
        <p:spPr>
          <a:xfrm>
            <a:off x="10040112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estado-2-3"/>
          <p:cNvSpPr/>
          <p:nvPr/>
        </p:nvSpPr>
        <p:spPr>
          <a:xfrm>
            <a:off x="10533888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estado-2-4"/>
          <p:cNvSpPr/>
          <p:nvPr/>
        </p:nvSpPr>
        <p:spPr>
          <a:xfrm>
            <a:off x="11027664" y="2450592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19" name="estado-3-0"/>
          <p:cNvSpPr/>
          <p:nvPr/>
        </p:nvSpPr>
        <p:spPr>
          <a:xfrm>
            <a:off x="9052560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0" name="estado-3-1"/>
          <p:cNvSpPr/>
          <p:nvPr/>
        </p:nvSpPr>
        <p:spPr>
          <a:xfrm>
            <a:off x="9546336" y="2944368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1" name="estado-3-2"/>
          <p:cNvSpPr/>
          <p:nvPr/>
        </p:nvSpPr>
        <p:spPr>
          <a:xfrm>
            <a:off x="10040112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estado-3-3"/>
          <p:cNvSpPr/>
          <p:nvPr/>
        </p:nvSpPr>
        <p:spPr>
          <a:xfrm>
            <a:off x="10533888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3" name="estado-3-4"/>
          <p:cNvSpPr/>
          <p:nvPr/>
        </p:nvSpPr>
        <p:spPr>
          <a:xfrm>
            <a:off x="11027664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4" name="estado-4-0"/>
          <p:cNvSpPr/>
          <p:nvPr/>
        </p:nvSpPr>
        <p:spPr>
          <a:xfrm>
            <a:off x="9052560" y="3438144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5" name="estado-4-1"/>
          <p:cNvSpPr/>
          <p:nvPr/>
        </p:nvSpPr>
        <p:spPr>
          <a:xfrm>
            <a:off x="9546336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6" name="estado-4-2"/>
          <p:cNvSpPr/>
          <p:nvPr/>
        </p:nvSpPr>
        <p:spPr>
          <a:xfrm>
            <a:off x="10040112" y="3438144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7" name="estado-4-3"/>
          <p:cNvSpPr/>
          <p:nvPr/>
        </p:nvSpPr>
        <p:spPr>
          <a:xfrm>
            <a:off x="10533888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8" name="estado-4-4"/>
          <p:cNvSpPr/>
          <p:nvPr/>
        </p:nvSpPr>
        <p:spPr>
          <a:xfrm>
            <a:off x="11027664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9" name="estado-5-0"/>
          <p:cNvSpPr/>
          <p:nvPr/>
        </p:nvSpPr>
        <p:spPr>
          <a:xfrm>
            <a:off x="90525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0" name="estado-5-1"/>
          <p:cNvSpPr/>
          <p:nvPr/>
        </p:nvSpPr>
        <p:spPr>
          <a:xfrm>
            <a:off x="954633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1" name="estado-5-2"/>
          <p:cNvSpPr/>
          <p:nvPr/>
        </p:nvSpPr>
        <p:spPr>
          <a:xfrm>
            <a:off x="1004011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2" name="estado-5-3"/>
          <p:cNvSpPr/>
          <p:nvPr/>
        </p:nvSpPr>
        <p:spPr>
          <a:xfrm>
            <a:off x="10533888" y="393192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3" name="estado-5-4"/>
          <p:cNvSpPr/>
          <p:nvPr/>
        </p:nvSpPr>
        <p:spPr>
          <a:xfrm>
            <a:off x="1102766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4" name="estado-6-0"/>
          <p:cNvSpPr/>
          <p:nvPr/>
        </p:nvSpPr>
        <p:spPr>
          <a:xfrm>
            <a:off x="9052560" y="4425696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5" name="estado-6-1"/>
          <p:cNvSpPr/>
          <p:nvPr/>
        </p:nvSpPr>
        <p:spPr>
          <a:xfrm>
            <a:off x="9546336" y="442569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6" name="estado-6-2"/>
          <p:cNvSpPr/>
          <p:nvPr/>
        </p:nvSpPr>
        <p:spPr>
          <a:xfrm>
            <a:off x="10040112" y="4425696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7" name="estado-6-3"/>
          <p:cNvSpPr/>
          <p:nvPr/>
        </p:nvSpPr>
        <p:spPr>
          <a:xfrm>
            <a:off x="10533888" y="442569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8" name="estado-6-4"/>
          <p:cNvSpPr/>
          <p:nvPr/>
        </p:nvSpPr>
        <p:spPr>
          <a:xfrm>
            <a:off x="11027664" y="4425696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9" name="estado-7-0"/>
          <p:cNvSpPr/>
          <p:nvPr/>
        </p:nvSpPr>
        <p:spPr>
          <a:xfrm>
            <a:off x="9052560" y="4919472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0" name="estado-7-1"/>
          <p:cNvSpPr/>
          <p:nvPr/>
        </p:nvSpPr>
        <p:spPr>
          <a:xfrm>
            <a:off x="9546336" y="4919472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1" name="estado-7-2"/>
          <p:cNvSpPr/>
          <p:nvPr/>
        </p:nvSpPr>
        <p:spPr>
          <a:xfrm>
            <a:off x="10040112" y="491947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2" name="estado-7-3"/>
          <p:cNvSpPr/>
          <p:nvPr/>
        </p:nvSpPr>
        <p:spPr>
          <a:xfrm>
            <a:off x="10533888" y="4919472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3" name="estado-7-4"/>
          <p:cNvSpPr/>
          <p:nvPr/>
        </p:nvSpPr>
        <p:spPr>
          <a:xfrm>
            <a:off x="11027664" y="491947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4" name="estado-8-0"/>
          <p:cNvSpPr/>
          <p:nvPr/>
        </p:nvSpPr>
        <p:spPr>
          <a:xfrm>
            <a:off x="9052560" y="5413248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45" name="estado-8-1"/>
          <p:cNvSpPr/>
          <p:nvPr/>
        </p:nvSpPr>
        <p:spPr>
          <a:xfrm>
            <a:off x="9546336" y="5413248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6" name="estado-8-2"/>
          <p:cNvSpPr/>
          <p:nvPr/>
        </p:nvSpPr>
        <p:spPr>
          <a:xfrm>
            <a:off x="10040112" y="5413248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7" name="estado-8-3"/>
          <p:cNvSpPr/>
          <p:nvPr/>
        </p:nvSpPr>
        <p:spPr>
          <a:xfrm>
            <a:off x="10533888" y="541324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8" name="estado-8-4"/>
          <p:cNvSpPr/>
          <p:nvPr/>
        </p:nvSpPr>
        <p:spPr>
          <a:xfrm>
            <a:off x="11027664" y="5413248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que levas para casa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 enxame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constrói um jogo de segurança com 15 agentes em paralelo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tua tarefa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real, do Jira ou do GitHub, decomposta e a correr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Uma memória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grafo do que aprendeste, para usar amanhã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90 minutos</a:t>
            </a:r>
            <a:endParaRPr lang="en-US" sz="3600" dirty="0"/>
          </a:p>
        </p:txBody>
      </p:sp>
      <p:sp>
        <p:nvSpPr>
          <p:cNvPr id="3" name="bloco-0"/>
          <p:cNvSpPr/>
          <p:nvPr/>
        </p:nvSpPr>
        <p:spPr>
          <a:xfrm>
            <a:off x="548640" y="2011680"/>
            <a:ext cx="570636" cy="1463040"/>
          </a:xfrm>
          <a:prstGeom prst="rect">
            <a:avLst/>
          </a:prstGeom>
          <a:solidFill>
            <a:srgbClr val="D9DAD3"/>
          </a:solidFill>
          <a:ln w="12700">
            <a:solidFill>
              <a:srgbClr val="D9DAD3"/>
            </a:solidFill>
            <a:prstDash val="solid"/>
          </a:ln>
        </p:spPr>
      </p:sp>
      <p:sp>
        <p:nvSpPr>
          <p:cNvPr id="4" name="bloco-min-0"/>
          <p:cNvSpPr txBox="1"/>
          <p:nvPr/>
        </p:nvSpPr>
        <p:spPr>
          <a:xfrm>
            <a:off x="548640" y="3657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0′</a:t>
            </a:r>
            <a:endParaRPr lang="en-US" sz="1400" dirty="0"/>
          </a:p>
        </p:txBody>
      </p:sp>
      <p:sp>
        <p:nvSpPr>
          <p:cNvPr id="5" name="bloco-nome-0"/>
          <p:cNvSpPr txBox="1"/>
          <p:nvPr/>
        </p:nvSpPr>
        <p:spPr>
          <a:xfrm>
            <a:off x="548640" y="3931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Abertura</a:t>
            </a:r>
            <a:endParaRPr lang="en-US" sz="1800" dirty="0"/>
          </a:p>
        </p:txBody>
      </p:sp>
      <p:sp>
        <p:nvSpPr>
          <p:cNvPr id="6" name="bloco-1"/>
          <p:cNvSpPr/>
          <p:nvPr/>
        </p:nvSpPr>
        <p:spPr>
          <a:xfrm>
            <a:off x="1164996" y="2011680"/>
            <a:ext cx="570636" cy="146304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7" name="bloco-min-1"/>
          <p:cNvSpPr txBox="1"/>
          <p:nvPr/>
        </p:nvSpPr>
        <p:spPr>
          <a:xfrm>
            <a:off x="1164996" y="4526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5′</a:t>
            </a:r>
            <a:endParaRPr lang="en-US" sz="1400" dirty="0"/>
          </a:p>
        </p:txBody>
      </p:sp>
      <p:sp>
        <p:nvSpPr>
          <p:cNvPr id="8" name="bloco-nome-1"/>
          <p:cNvSpPr txBox="1"/>
          <p:nvPr/>
        </p:nvSpPr>
        <p:spPr>
          <a:xfrm>
            <a:off x="1164996" y="48006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Verificar</a:t>
            </a:r>
            <a:endParaRPr lang="en-US" sz="1800" dirty="0"/>
          </a:p>
        </p:txBody>
      </p:sp>
      <p:sp>
        <p:nvSpPr>
          <p:cNvPr id="9" name="bloco-2"/>
          <p:cNvSpPr/>
          <p:nvPr/>
        </p:nvSpPr>
        <p:spPr>
          <a:xfrm>
            <a:off x="1781353" y="2011680"/>
            <a:ext cx="1803349" cy="1463040"/>
          </a:xfrm>
          <a:prstGeom prst="rect">
            <a:avLst/>
          </a:prstGeom>
          <a:solidFill>
            <a:srgbClr val="D9DAD3"/>
          </a:solidFill>
          <a:ln w="12700">
            <a:solidFill>
              <a:srgbClr val="D9DAD3"/>
            </a:solidFill>
            <a:prstDash val="solid"/>
          </a:ln>
        </p:spPr>
      </p:sp>
      <p:sp>
        <p:nvSpPr>
          <p:cNvPr id="10" name="bloco-min-2"/>
          <p:cNvSpPr txBox="1"/>
          <p:nvPr/>
        </p:nvSpPr>
        <p:spPr>
          <a:xfrm>
            <a:off x="1781353" y="3657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10′</a:t>
            </a:r>
            <a:endParaRPr lang="en-US" sz="1400" dirty="0"/>
          </a:p>
        </p:txBody>
      </p:sp>
      <p:sp>
        <p:nvSpPr>
          <p:cNvPr id="11" name="bloco-nome-2"/>
          <p:cNvSpPr txBox="1"/>
          <p:nvPr/>
        </p:nvSpPr>
        <p:spPr>
          <a:xfrm>
            <a:off x="1781353" y="3931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Conceitos</a:t>
            </a:r>
            <a:endParaRPr lang="en-US" sz="1800" dirty="0"/>
          </a:p>
        </p:txBody>
      </p:sp>
      <p:sp>
        <p:nvSpPr>
          <p:cNvPr id="12" name="bloco-3"/>
          <p:cNvSpPr/>
          <p:nvPr/>
        </p:nvSpPr>
        <p:spPr>
          <a:xfrm>
            <a:off x="3630422" y="2011680"/>
            <a:ext cx="570636" cy="146304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13" name="bloco-min-3"/>
          <p:cNvSpPr txBox="1"/>
          <p:nvPr/>
        </p:nvSpPr>
        <p:spPr>
          <a:xfrm>
            <a:off x="3630422" y="4526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25′</a:t>
            </a:r>
            <a:endParaRPr lang="en-US" sz="1400" dirty="0"/>
          </a:p>
        </p:txBody>
      </p:sp>
      <p:sp>
        <p:nvSpPr>
          <p:cNvPr id="14" name="bloco-nome-3"/>
          <p:cNvSpPr txBox="1"/>
          <p:nvPr/>
        </p:nvSpPr>
        <p:spPr>
          <a:xfrm>
            <a:off x="3630422" y="48006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Preview</a:t>
            </a:r>
            <a:endParaRPr lang="en-US" sz="1800" dirty="0"/>
          </a:p>
        </p:txBody>
      </p:sp>
      <p:sp>
        <p:nvSpPr>
          <p:cNvPr id="15" name="bloco-4"/>
          <p:cNvSpPr/>
          <p:nvPr/>
        </p:nvSpPr>
        <p:spPr>
          <a:xfrm>
            <a:off x="4246778" y="2011680"/>
            <a:ext cx="3036062" cy="146304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bloco-min-4"/>
          <p:cNvSpPr txBox="1"/>
          <p:nvPr/>
        </p:nvSpPr>
        <p:spPr>
          <a:xfrm>
            <a:off x="4246778" y="3657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30′</a:t>
            </a:r>
            <a:endParaRPr lang="en-US" sz="1400" dirty="0"/>
          </a:p>
        </p:txBody>
      </p:sp>
      <p:sp>
        <p:nvSpPr>
          <p:cNvPr id="17" name="bloco-nome-4"/>
          <p:cNvSpPr txBox="1"/>
          <p:nvPr/>
        </p:nvSpPr>
        <p:spPr>
          <a:xfrm>
            <a:off x="4246778" y="3931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Projeto 1</a:t>
            </a:r>
            <a:endParaRPr lang="en-US" sz="1800" dirty="0"/>
          </a:p>
        </p:txBody>
      </p:sp>
      <p:sp>
        <p:nvSpPr>
          <p:cNvPr id="18" name="bloco-5"/>
          <p:cNvSpPr/>
          <p:nvPr/>
        </p:nvSpPr>
        <p:spPr>
          <a:xfrm>
            <a:off x="7328560" y="2011680"/>
            <a:ext cx="570636" cy="1463040"/>
          </a:xfrm>
          <a:prstGeom prst="rect">
            <a:avLst/>
          </a:prstGeom>
          <a:solidFill>
            <a:srgbClr val="D9DAD3"/>
          </a:solidFill>
          <a:ln w="12700">
            <a:solidFill>
              <a:srgbClr val="D9DAD3"/>
            </a:solidFill>
            <a:prstDash val="solid"/>
          </a:ln>
        </p:spPr>
      </p:sp>
      <p:sp>
        <p:nvSpPr>
          <p:cNvPr id="19" name="bloco-min-5"/>
          <p:cNvSpPr txBox="1"/>
          <p:nvPr/>
        </p:nvSpPr>
        <p:spPr>
          <a:xfrm>
            <a:off x="7328560" y="4526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55′</a:t>
            </a:r>
            <a:endParaRPr lang="en-US" sz="1400" dirty="0"/>
          </a:p>
        </p:txBody>
      </p:sp>
      <p:sp>
        <p:nvSpPr>
          <p:cNvPr id="20" name="bloco-nome-5"/>
          <p:cNvSpPr txBox="1"/>
          <p:nvPr/>
        </p:nvSpPr>
        <p:spPr>
          <a:xfrm>
            <a:off x="7328560" y="48006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Memória</a:t>
            </a:r>
            <a:endParaRPr lang="en-US" sz="1800" dirty="0"/>
          </a:p>
        </p:txBody>
      </p:sp>
      <p:sp>
        <p:nvSpPr>
          <p:cNvPr id="21" name="bloco-6"/>
          <p:cNvSpPr/>
          <p:nvPr/>
        </p:nvSpPr>
        <p:spPr>
          <a:xfrm>
            <a:off x="7944917" y="2011680"/>
            <a:ext cx="3036062" cy="146304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22" name="bloco-min-6"/>
          <p:cNvSpPr txBox="1"/>
          <p:nvPr/>
        </p:nvSpPr>
        <p:spPr>
          <a:xfrm>
            <a:off x="7944917" y="3657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60′</a:t>
            </a:r>
            <a:endParaRPr lang="en-US" sz="1400" dirty="0"/>
          </a:p>
        </p:txBody>
      </p:sp>
      <p:sp>
        <p:nvSpPr>
          <p:cNvPr id="23" name="bloco-nome-6"/>
          <p:cNvSpPr txBox="1"/>
          <p:nvPr/>
        </p:nvSpPr>
        <p:spPr>
          <a:xfrm>
            <a:off x="7944917" y="3931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Projeto 2</a:t>
            </a:r>
            <a:endParaRPr lang="en-US" sz="1800" dirty="0"/>
          </a:p>
        </p:txBody>
      </p:sp>
      <p:sp>
        <p:nvSpPr>
          <p:cNvPr id="24" name="bloco-7"/>
          <p:cNvSpPr/>
          <p:nvPr/>
        </p:nvSpPr>
        <p:spPr>
          <a:xfrm>
            <a:off x="11026699" y="2011680"/>
            <a:ext cx="570636" cy="1463040"/>
          </a:xfrm>
          <a:prstGeom prst="rect">
            <a:avLst/>
          </a:prstGeom>
          <a:solidFill>
            <a:srgbClr val="D9DAD3"/>
          </a:solidFill>
          <a:ln w="12700">
            <a:solidFill>
              <a:srgbClr val="D9DAD3"/>
            </a:solidFill>
            <a:prstDash val="solid"/>
          </a:ln>
        </p:spPr>
      </p:sp>
      <p:sp>
        <p:nvSpPr>
          <p:cNvPr id="25" name="bloco-min-7"/>
          <p:cNvSpPr txBox="1"/>
          <p:nvPr/>
        </p:nvSpPr>
        <p:spPr>
          <a:xfrm>
            <a:off x="11026699" y="4526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85′</a:t>
            </a:r>
            <a:endParaRPr lang="en-US" sz="1400" dirty="0"/>
          </a:p>
        </p:txBody>
      </p:sp>
      <p:sp>
        <p:nvSpPr>
          <p:cNvPr id="26" name="bloco-nome-7"/>
          <p:cNvSpPr txBox="1"/>
          <p:nvPr/>
        </p:nvSpPr>
        <p:spPr>
          <a:xfrm>
            <a:off x="11026699" y="48006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Fecho</a:t>
            </a:r>
            <a:endParaRPr lang="en-US" sz="1800" dirty="0"/>
          </a:p>
        </p:txBody>
      </p:sp>
      <p:sp>
        <p:nvSpPr>
          <p:cNvPr id="27" name="agenda-fim"/>
          <p:cNvSpPr txBox="1"/>
          <p:nvPr/>
        </p:nvSpPr>
        <p:spPr>
          <a:xfrm>
            <a:off x="7528255" y="5669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90′ e depois perguntas, sem limite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As regras do custo</a:t>
            </a:r>
            <a:endParaRPr lang="en-US" sz="36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4" name="stat-valor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US$ 5</a:t>
            </a:r>
            <a:endParaRPr lang="en-US" sz="6000" dirty="0"/>
          </a:p>
        </p:txBody>
      </p:sp>
      <p:sp>
        <p:nvSpPr>
          <p:cNvPr id="5" name="stat-rotulo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tudo o que fizeres hoje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7" name="stat-valor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US$ 10</a:t>
            </a:r>
            <a:endParaRPr lang="en-US" sz="6000" dirty="0"/>
          </a:p>
        </p:txBody>
      </p:sp>
      <p:sp>
        <p:nvSpPr>
          <p:cNvPr id="8" name="stat-rotulo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0" name="stat-valor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0</a:t>
            </a:r>
            <a:endParaRPr lang="en-US" sz="6000" dirty="0"/>
          </a:p>
        </p:txBody>
      </p:sp>
      <p:sp>
        <p:nvSpPr>
          <p:cNvPr id="11" name="stat-rotulo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interrompidas por custo</a:t>
            </a:r>
            <a:endParaRPr lang="en-US" sz="1800" dirty="0"/>
          </a:p>
        </p:txBody>
      </p:sp>
      <p:sp>
        <p:nvSpPr>
          <p:cNvPr id="12" name="rodape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 em 10 execuções reais: média US$ 1,03, máximo US$ 1,12.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3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Verifica a instalação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 pela tabela-resumo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18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166567"/>
            <a:ext cx="6705295" cy="118689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696919"/>
            <a:ext cx="6248095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"$HOME\.workshop-claude\setup-windows.ps1" -Check</a:t>
            </a:r>
            <a:endParaRPr lang="en-US" sz="14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"Está tudo pronto para o workshop"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Algum passo falhou?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modo doctor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Aceita a análise do Claude (menos de US$ 0,01)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 os comandos um a um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18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166567"/>
            <a:ext cx="6705295" cy="118689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696919"/>
            <a:ext cx="6248095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"$HOME\.workshop-claude\setup-windows.ps1" -Doctor</a:t>
            </a:r>
            <a:endParaRPr lang="en-US" sz="14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passo que falhou é repetido e fica feito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Conceitos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4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agentes, grafos e dinheiro</a:t>
            </a:r>
            <a:endParaRPr lang="en-US" sz="2400" dirty="0"/>
          </a:p>
        </p:txBody>
      </p:sp>
      <p:sp>
        <p:nvSpPr>
          <p:cNvPr id="4" name="estado-0-0"/>
          <p:cNvSpPr/>
          <p:nvPr/>
        </p:nvSpPr>
        <p:spPr>
          <a:xfrm>
            <a:off x="54864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estado-0-1"/>
          <p:cNvSpPr/>
          <p:nvPr/>
        </p:nvSpPr>
        <p:spPr>
          <a:xfrm>
            <a:off x="104241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estado-0-2"/>
          <p:cNvSpPr/>
          <p:nvPr/>
        </p:nvSpPr>
        <p:spPr>
          <a:xfrm>
            <a:off x="153619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7" name="estado-0-3"/>
          <p:cNvSpPr/>
          <p:nvPr/>
        </p:nvSpPr>
        <p:spPr>
          <a:xfrm>
            <a:off x="202996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8" name="estado-0-4"/>
          <p:cNvSpPr/>
          <p:nvPr/>
        </p:nvSpPr>
        <p:spPr>
          <a:xfrm>
            <a:off x="252374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estado-0-5"/>
          <p:cNvSpPr/>
          <p:nvPr/>
        </p:nvSpPr>
        <p:spPr>
          <a:xfrm>
            <a:off x="301752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estado-0-6"/>
          <p:cNvSpPr/>
          <p:nvPr/>
        </p:nvSpPr>
        <p:spPr>
          <a:xfrm>
            <a:off x="351129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estado-0-7"/>
          <p:cNvSpPr/>
          <p:nvPr/>
        </p:nvSpPr>
        <p:spPr>
          <a:xfrm>
            <a:off x="400507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estado-0-8"/>
          <p:cNvSpPr/>
          <p:nvPr/>
        </p:nvSpPr>
        <p:spPr>
          <a:xfrm>
            <a:off x="449884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estado-0-9"/>
          <p:cNvSpPr/>
          <p:nvPr/>
        </p:nvSpPr>
        <p:spPr>
          <a:xfrm>
            <a:off x="499262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estado-0-10"/>
          <p:cNvSpPr/>
          <p:nvPr/>
        </p:nvSpPr>
        <p:spPr>
          <a:xfrm>
            <a:off x="548640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estado-0-11"/>
          <p:cNvSpPr/>
          <p:nvPr/>
        </p:nvSpPr>
        <p:spPr>
          <a:xfrm>
            <a:off x="598017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estado-0-12"/>
          <p:cNvSpPr/>
          <p:nvPr/>
        </p:nvSpPr>
        <p:spPr>
          <a:xfrm>
            <a:off x="647395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estado-0-13"/>
          <p:cNvSpPr/>
          <p:nvPr/>
        </p:nvSpPr>
        <p:spPr>
          <a:xfrm>
            <a:off x="696772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estado-0-14"/>
          <p:cNvSpPr/>
          <p:nvPr/>
        </p:nvSpPr>
        <p:spPr>
          <a:xfrm>
            <a:off x="746150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Claude Code trabalha no teu projeto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Lê e escreve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ficheiros do projeto, com permissões que tu controlas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Corre comandos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git, scripts: vê o resultado e corrige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Liga-se a ferramentas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Jira, GitHub e a tua memória, via MCP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Uma skill é uma receita com nome</a:t>
            </a:r>
            <a:endParaRPr lang="en-US" sz="36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SKILL.md numa pasta. Escreves /nome e o Claude segue a receita.</a:t>
            </a:r>
            <a:endParaRPr lang="en-US" sz="2000" dirty="0"/>
          </a:p>
        </p:txBody>
      </p:sp>
      <p:sp>
        <p:nvSpPr>
          <p:cNvPr id="4" name="codigo-fundo"/>
          <p:cNvSpPr/>
          <p:nvPr/>
        </p:nvSpPr>
        <p:spPr>
          <a:xfrm>
            <a:off x="548640" y="2148840"/>
            <a:ext cx="11094415" cy="34290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5" name="codigo"/>
          <p:cNvSpPr txBox="1"/>
          <p:nvPr/>
        </p:nvSpPr>
        <p:spPr>
          <a:xfrm>
            <a:off x="777240" y="2331720"/>
            <a:ext cx="106372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Executa o enxame da Arena em ondas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Bash(node tools/*)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Agent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Corre next-wave.mjs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Lança exatamente as chamadas que ele devolve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Repete até ESTADO: FIM</a:t>
            </a:r>
            <a:endParaRPr lang="en-US" sz="1600" dirty="0"/>
          </a:p>
        </p:txBody>
      </p:sp>
      <p:sp>
        <p:nvSpPr>
          <p:cNvPr id="6" name="depois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 no projeto · ~/.claude/skills/ para todos os projetos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Subagentes: contexto e modelo próprios</a:t>
            </a:r>
            <a:endParaRPr lang="en-US" sz="3600" dirty="0"/>
          </a:p>
        </p:txBody>
      </p:sp>
      <p:sp>
        <p:nvSpPr>
          <p:cNvPr id="3" name="modelo-0"/>
          <p:cNvSpPr/>
          <p:nvPr/>
        </p:nvSpPr>
        <p:spPr>
          <a:xfrm>
            <a:off x="548640" y="1691640"/>
            <a:ext cx="3484778" cy="37490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odelo-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5" name="modelo-nome-0"/>
          <p:cNvSpPr txBox="1"/>
          <p:nvPr/>
        </p:nvSpPr>
        <p:spPr>
          <a:xfrm>
            <a:off x="868680" y="2606040"/>
            <a:ext cx="28446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Opus</a:t>
            </a:r>
            <a:endParaRPr lang="en-US" sz="4800" dirty="0"/>
          </a:p>
        </p:txBody>
      </p:sp>
      <p:sp>
        <p:nvSpPr>
          <p:cNvPr id="6" name="modelo-papel-0"/>
          <p:cNvSpPr txBox="1"/>
          <p:nvPr/>
        </p:nvSpPr>
        <p:spPr>
          <a:xfrm>
            <a:off x="868680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planear e rever</a:t>
            </a:r>
            <a:endParaRPr lang="en-US" sz="2000" dirty="0"/>
          </a:p>
        </p:txBody>
      </p:sp>
      <p:sp>
        <p:nvSpPr>
          <p:cNvPr id="7" name="modelo-preco-0"/>
          <p:cNvSpPr txBox="1"/>
          <p:nvPr/>
        </p:nvSpPr>
        <p:spPr>
          <a:xfrm>
            <a:off x="868680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US$ 4 / 20</a:t>
            </a:r>
            <a:endParaRPr lang="en-US" sz="1800" dirty="0"/>
          </a:p>
        </p:txBody>
      </p:sp>
      <p:sp>
        <p:nvSpPr>
          <p:cNvPr id="8" name="modelo-1"/>
          <p:cNvSpPr/>
          <p:nvPr/>
        </p:nvSpPr>
        <p:spPr>
          <a:xfrm>
            <a:off x="4353458" y="1691640"/>
            <a:ext cx="3484778" cy="37490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9" name="modelo-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modelo-nome-1"/>
          <p:cNvSpPr txBox="1"/>
          <p:nvPr/>
        </p:nvSpPr>
        <p:spPr>
          <a:xfrm>
            <a:off x="4673498" y="2606040"/>
            <a:ext cx="28446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Sonnet</a:t>
            </a:r>
            <a:endParaRPr lang="en-US" sz="4800" dirty="0"/>
          </a:p>
        </p:txBody>
      </p:sp>
      <p:sp>
        <p:nvSpPr>
          <p:cNvPr id="11" name="modelo-papel-1"/>
          <p:cNvSpPr txBox="1"/>
          <p:nvPr/>
        </p:nvSpPr>
        <p:spPr>
          <a:xfrm>
            <a:off x="4673498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integrar e lógica difícil</a:t>
            </a:r>
            <a:endParaRPr lang="en-US" sz="2000" dirty="0"/>
          </a:p>
        </p:txBody>
      </p:sp>
      <p:sp>
        <p:nvSpPr>
          <p:cNvPr id="12" name="modelo-preco-1"/>
          <p:cNvSpPr txBox="1"/>
          <p:nvPr/>
        </p:nvSpPr>
        <p:spPr>
          <a:xfrm>
            <a:off x="4673498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US$ 2 / 10</a:t>
            </a:r>
            <a:endParaRPr lang="en-US" sz="1800" dirty="0"/>
          </a:p>
        </p:txBody>
      </p:sp>
      <p:sp>
        <p:nvSpPr>
          <p:cNvPr id="13" name="modelo-2"/>
          <p:cNvSpPr/>
          <p:nvPr/>
        </p:nvSpPr>
        <p:spPr>
          <a:xfrm>
            <a:off x="8158277" y="1691640"/>
            <a:ext cx="3484778" cy="37490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4" name="modelo-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5" name="modelo-nome-2"/>
          <p:cNvSpPr txBox="1"/>
          <p:nvPr/>
        </p:nvSpPr>
        <p:spPr>
          <a:xfrm>
            <a:off x="8478317" y="2606040"/>
            <a:ext cx="28446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Haiku</a:t>
            </a:r>
            <a:endParaRPr lang="en-US" sz="4800" dirty="0"/>
          </a:p>
        </p:txBody>
      </p:sp>
      <p:sp>
        <p:nvSpPr>
          <p:cNvPr id="16" name="modelo-papel-2"/>
          <p:cNvSpPr txBox="1"/>
          <p:nvPr/>
        </p:nvSpPr>
        <p:spPr>
          <a:xfrm>
            <a:off x="8478317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grosso do enxame</a:t>
            </a:r>
            <a:endParaRPr lang="en-US" sz="2000" dirty="0"/>
          </a:p>
        </p:txBody>
      </p:sp>
      <p:sp>
        <p:nvSpPr>
          <p:cNvPr id="17" name="modelo-preco-2"/>
          <p:cNvSpPr txBox="1"/>
          <p:nvPr/>
        </p:nvSpPr>
        <p:spPr>
          <a:xfrm>
            <a:off x="8478317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US$ 0,10 / 0,50</a:t>
            </a:r>
            <a:endParaRPr lang="en-US" sz="1800" dirty="0"/>
          </a:p>
        </p:txBody>
      </p:sp>
      <p:sp>
        <p:nvSpPr>
          <p:cNvPr id="18" name="rodape"/>
          <p:cNvSpPr txBox="1"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 por milhão de tokens: entrada / saída. Fonte: pricing.json (2026-10-16).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regra económica</a:t>
            </a:r>
            <a:endParaRPr lang="en-US" sz="36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4" name="stat-valor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20×</a:t>
            </a:r>
            <a:endParaRPr lang="en-US" sz="6000" dirty="0"/>
          </a:p>
        </p:txBody>
      </p:sp>
      <p:sp>
        <p:nvSpPr>
          <p:cNvPr id="5" name="stat-rotulo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Haiku é 20 vezes mais barato que o Sonnet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7" name="stat-valor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US$ 0,0017</a:t>
            </a:r>
            <a:endParaRPr lang="en-US" sz="4400" dirty="0"/>
          </a:p>
        </p:txBody>
      </p:sp>
      <p:sp>
        <p:nvSpPr>
          <p:cNvPr id="8" name="stat-rotulo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médio de um cartão feito por um agente Haiku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0" name="stat-valor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50%</a:t>
            </a:r>
            <a:endParaRPr lang="en-US" sz="6000" dirty="0"/>
          </a:p>
        </p:txBody>
      </p:sp>
      <p:sp>
        <p:nvSpPr>
          <p:cNvPr id="11" name="stat-rotulo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custo vai para a sessão principal, não para o enxame</a:t>
            </a:r>
            <a:endParaRPr lang="en-US" sz="1800" dirty="0"/>
          </a:p>
        </p:txBody>
      </p:sp>
      <p:sp>
        <p:nvSpPr>
          <p:cNvPr id="12" name="rodape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máximo possível em Haiku. Sonnet só onde o Haiku falha. Opus só para pensar e rever.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Tarefa → grafo → ondas</a:t>
            </a:r>
            <a:endParaRPr lang="en-US" sz="3600" dirty="0"/>
          </a:p>
        </p:txBody>
      </p:sp>
      <p:sp>
        <p:nvSpPr>
          <p:cNvPr id="3" name="onda-0"/>
          <p:cNvSpPr/>
          <p:nvPr/>
        </p:nvSpPr>
        <p:spPr>
          <a:xfrm>
            <a:off x="548640" y="1691640"/>
            <a:ext cx="411480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onda-nome-0"/>
          <p:cNvSpPr txBox="1"/>
          <p:nvPr/>
        </p:nvSpPr>
        <p:spPr>
          <a:xfrm>
            <a:off x="822960" y="1920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1</a:t>
            </a:r>
            <a:endParaRPr lang="en-US" sz="2400" dirty="0"/>
          </a:p>
        </p:txBody>
      </p:sp>
      <p:sp>
        <p:nvSpPr>
          <p:cNvPr id="5" name="onda-cor-0"/>
          <p:cNvSpPr/>
          <p:nvPr/>
        </p:nvSpPr>
        <p:spPr>
          <a:xfrm>
            <a:off x="822960" y="2487168"/>
            <a:ext cx="201168" cy="20116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6" name="onda-modelo-0"/>
          <p:cNvSpPr txBox="1"/>
          <p:nvPr/>
        </p:nvSpPr>
        <p:spPr>
          <a:xfrm>
            <a:off x="1115568" y="243230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7" name="onda-sub-0"/>
          <p:cNvSpPr txBox="1"/>
          <p:nvPr/>
        </p:nvSpPr>
        <p:spPr>
          <a:xfrm>
            <a:off x="822960" y="2834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15 cartões</a:t>
            </a:r>
            <a:endParaRPr lang="en-US" sz="1500" dirty="0"/>
          </a:p>
        </p:txBody>
      </p:sp>
      <p:sp>
        <p:nvSpPr>
          <p:cNvPr id="8" name="hash"/>
          <p:cNvSpPr/>
          <p:nvPr/>
        </p:nvSpPr>
        <p:spPr>
          <a:xfrm>
            <a:off x="822960" y="3474720"/>
            <a:ext cx="411480" cy="41148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hash-rotulo"/>
          <p:cNvSpPr txBox="1"/>
          <p:nvPr/>
        </p:nvSpPr>
        <p:spPr>
          <a:xfrm>
            <a:off x="1325880" y="354787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0" name="cartao-0"/>
          <p:cNvSpPr/>
          <p:nvPr/>
        </p:nvSpPr>
        <p:spPr>
          <a:xfrm>
            <a:off x="822960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cartao-1"/>
          <p:cNvSpPr/>
          <p:nvPr/>
        </p:nvSpPr>
        <p:spPr>
          <a:xfrm>
            <a:off x="1426464" y="40690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2" name="cartao-2"/>
          <p:cNvSpPr/>
          <p:nvPr/>
        </p:nvSpPr>
        <p:spPr>
          <a:xfrm>
            <a:off x="2029968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cartao-3"/>
          <p:cNvSpPr/>
          <p:nvPr/>
        </p:nvSpPr>
        <p:spPr>
          <a:xfrm>
            <a:off x="2633472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cartao-4"/>
          <p:cNvSpPr/>
          <p:nvPr/>
        </p:nvSpPr>
        <p:spPr>
          <a:xfrm>
            <a:off x="3236976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cartao-5"/>
          <p:cNvSpPr/>
          <p:nvPr/>
        </p:nvSpPr>
        <p:spPr>
          <a:xfrm>
            <a:off x="822960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cartao-6"/>
          <p:cNvSpPr/>
          <p:nvPr/>
        </p:nvSpPr>
        <p:spPr>
          <a:xfrm>
            <a:off x="1426464" y="4526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cartao-7"/>
          <p:cNvSpPr/>
          <p:nvPr/>
        </p:nvSpPr>
        <p:spPr>
          <a:xfrm>
            <a:off x="2029968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cartao-8"/>
          <p:cNvSpPr/>
          <p:nvPr/>
        </p:nvSpPr>
        <p:spPr>
          <a:xfrm>
            <a:off x="2633472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cartao-9"/>
          <p:cNvSpPr/>
          <p:nvPr/>
        </p:nvSpPr>
        <p:spPr>
          <a:xfrm>
            <a:off x="3236976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0" name="cartao-10"/>
          <p:cNvSpPr/>
          <p:nvPr/>
        </p:nvSpPr>
        <p:spPr>
          <a:xfrm>
            <a:off x="822960" y="49834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cartao-11"/>
          <p:cNvSpPr/>
          <p:nvPr/>
        </p:nvSpPr>
        <p:spPr>
          <a:xfrm>
            <a:off x="1426464" y="49834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2" name="cartao-12"/>
          <p:cNvSpPr/>
          <p:nvPr/>
        </p:nvSpPr>
        <p:spPr>
          <a:xfrm>
            <a:off x="2029968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3" name="cartao-13"/>
          <p:cNvSpPr/>
          <p:nvPr/>
        </p:nvSpPr>
        <p:spPr>
          <a:xfrm>
            <a:off x="2633472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artao-14"/>
          <p:cNvSpPr/>
          <p:nvPr/>
        </p:nvSpPr>
        <p:spPr>
          <a:xfrm>
            <a:off x="3236976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seta-0"/>
          <p:cNvSpPr/>
          <p:nvPr/>
        </p:nvSpPr>
        <p:spPr>
          <a:xfrm>
            <a:off x="4718304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26" name="onda-1"/>
          <p:cNvSpPr/>
          <p:nvPr/>
        </p:nvSpPr>
        <p:spPr>
          <a:xfrm>
            <a:off x="4795418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27" name="onda-nome-1"/>
          <p:cNvSpPr txBox="1"/>
          <p:nvPr/>
        </p:nvSpPr>
        <p:spPr>
          <a:xfrm>
            <a:off x="5069738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2</a:t>
            </a:r>
            <a:endParaRPr lang="en-US" sz="2400" dirty="0"/>
          </a:p>
        </p:txBody>
      </p:sp>
      <p:sp>
        <p:nvSpPr>
          <p:cNvPr id="28" name="onda-cor-1"/>
          <p:cNvSpPr/>
          <p:nvPr/>
        </p:nvSpPr>
        <p:spPr>
          <a:xfrm>
            <a:off x="5069738" y="2487168"/>
            <a:ext cx="201168" cy="20116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9" name="onda-modelo-1"/>
          <p:cNvSpPr txBox="1"/>
          <p:nvPr/>
        </p:nvSpPr>
        <p:spPr>
          <a:xfrm>
            <a:off x="5362346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0" name="onda-sub-1"/>
          <p:cNvSpPr txBox="1"/>
          <p:nvPr/>
        </p:nvSpPr>
        <p:spPr>
          <a:xfrm>
            <a:off x="5069738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1" name="onda1-0"/>
          <p:cNvSpPr/>
          <p:nvPr/>
        </p:nvSpPr>
        <p:spPr>
          <a:xfrm>
            <a:off x="5069738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2" name="onda1-1"/>
          <p:cNvSpPr/>
          <p:nvPr/>
        </p:nvSpPr>
        <p:spPr>
          <a:xfrm>
            <a:off x="5709818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3" name="seta-1"/>
          <p:cNvSpPr/>
          <p:nvPr/>
        </p:nvSpPr>
        <p:spPr>
          <a:xfrm>
            <a:off x="7044842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34" name="onda-2"/>
          <p:cNvSpPr/>
          <p:nvPr/>
        </p:nvSpPr>
        <p:spPr>
          <a:xfrm>
            <a:off x="7121957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35" name="onda-nome-2"/>
          <p:cNvSpPr txBox="1"/>
          <p:nvPr/>
        </p:nvSpPr>
        <p:spPr>
          <a:xfrm>
            <a:off x="7396277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3</a:t>
            </a:r>
            <a:endParaRPr lang="en-US" sz="2400" dirty="0"/>
          </a:p>
        </p:txBody>
      </p:sp>
      <p:sp>
        <p:nvSpPr>
          <p:cNvPr id="36" name="onda-cor-2"/>
          <p:cNvSpPr/>
          <p:nvPr/>
        </p:nvSpPr>
        <p:spPr>
          <a:xfrm>
            <a:off x="7396277" y="2487168"/>
            <a:ext cx="201168" cy="20116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7" name="onda-modelo-2"/>
          <p:cNvSpPr txBox="1"/>
          <p:nvPr/>
        </p:nvSpPr>
        <p:spPr>
          <a:xfrm>
            <a:off x="7688885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8" name="onda-sub-2"/>
          <p:cNvSpPr txBox="1"/>
          <p:nvPr/>
        </p:nvSpPr>
        <p:spPr>
          <a:xfrm>
            <a:off x="7396277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</a:t>
            </a:r>
            <a:endParaRPr lang="en-US" sz="1500" dirty="0"/>
          </a:p>
        </p:txBody>
      </p:sp>
      <p:sp>
        <p:nvSpPr>
          <p:cNvPr id="39" name="onda2-0"/>
          <p:cNvSpPr/>
          <p:nvPr/>
        </p:nvSpPr>
        <p:spPr>
          <a:xfrm>
            <a:off x="7396277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0" name="seta-2"/>
          <p:cNvSpPr/>
          <p:nvPr/>
        </p:nvSpPr>
        <p:spPr>
          <a:xfrm>
            <a:off x="9371381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41" name="onda-3"/>
          <p:cNvSpPr/>
          <p:nvPr/>
        </p:nvSpPr>
        <p:spPr>
          <a:xfrm>
            <a:off x="9448495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2" name="onda-nome-3"/>
          <p:cNvSpPr txBox="1"/>
          <p:nvPr/>
        </p:nvSpPr>
        <p:spPr>
          <a:xfrm>
            <a:off x="9722815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4</a:t>
            </a:r>
            <a:endParaRPr lang="en-US" sz="2400" dirty="0"/>
          </a:p>
        </p:txBody>
      </p:sp>
      <p:sp>
        <p:nvSpPr>
          <p:cNvPr id="43" name="onda-cor-3"/>
          <p:cNvSpPr/>
          <p:nvPr/>
        </p:nvSpPr>
        <p:spPr>
          <a:xfrm>
            <a:off x="9722815" y="2487168"/>
            <a:ext cx="201168" cy="20116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44" name="onda-modelo-3"/>
          <p:cNvSpPr txBox="1"/>
          <p:nvPr/>
        </p:nvSpPr>
        <p:spPr>
          <a:xfrm>
            <a:off x="10015423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45" name="onda-sub-3"/>
          <p:cNvSpPr txBox="1"/>
          <p:nvPr/>
        </p:nvSpPr>
        <p:spPr>
          <a:xfrm>
            <a:off x="9722815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46" name="onda3-0"/>
          <p:cNvSpPr/>
          <p:nvPr/>
        </p:nvSpPr>
        <p:spPr>
          <a:xfrm>
            <a:off x="9722815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7" name="legenda-dag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Cinzento: à espera. Os 3 de criptografia arrancam quando o lib-hash fica verde.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Quem decide o grafo é um script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next-wave.mjs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plano e o estado e devolve o próximo lote de chamadas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modelo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exatamente essas chamadas, todas na mesma mensagem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grade.mjs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teste de cada tarefa e decide: verde ou vermelho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Medir, não adivinhar</a:t>
            </a:r>
            <a:endParaRPr lang="en-US" sz="3600" dirty="0"/>
          </a:p>
        </p:txBody>
      </p:sp>
      <p:sp>
        <p:nvSpPr>
          <p:cNvPr id="3" name="passo-0"/>
          <p:cNvSpPr/>
          <p:nvPr/>
        </p:nvSpPr>
        <p:spPr>
          <a:xfrm>
            <a:off x="548640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passo-marca-0"/>
          <p:cNvSpPr/>
          <p:nvPr/>
        </p:nvSpPr>
        <p:spPr>
          <a:xfrm>
            <a:off x="777240" y="2606040"/>
            <a:ext cx="274320" cy="2743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" name="passo-texto-0"/>
          <p:cNvSpPr txBox="1"/>
          <p:nvPr/>
        </p:nvSpPr>
        <p:spPr>
          <a:xfrm>
            <a:off x="777240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subagente termina</a:t>
            </a:r>
            <a:endParaRPr lang="en-US" sz="1600" dirty="0"/>
          </a:p>
        </p:txBody>
      </p:sp>
      <p:sp>
        <p:nvSpPr>
          <p:cNvPr id="6" name="fluxo-seta-0"/>
          <p:cNvSpPr/>
          <p:nvPr/>
        </p:nvSpPr>
        <p:spPr>
          <a:xfrm>
            <a:off x="2484059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7" name="passo-1"/>
          <p:cNvSpPr/>
          <p:nvPr/>
        </p:nvSpPr>
        <p:spPr>
          <a:xfrm>
            <a:off x="2849819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passo-marca-1"/>
          <p:cNvSpPr/>
          <p:nvPr/>
        </p:nvSpPr>
        <p:spPr>
          <a:xfrm>
            <a:off x="3078419" y="2606040"/>
            <a:ext cx="274320" cy="27432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passo-texto-1"/>
          <p:cNvSpPr txBox="1"/>
          <p:nvPr/>
        </p:nvSpPr>
        <p:spPr>
          <a:xfrm>
            <a:off x="3078419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hook SubagentStop corre</a:t>
            </a:r>
            <a:endParaRPr lang="en-US" sz="1600" dirty="0"/>
          </a:p>
        </p:txBody>
      </p:sp>
      <p:sp>
        <p:nvSpPr>
          <p:cNvPr id="10" name="fluxo-seta-1"/>
          <p:cNvSpPr/>
          <p:nvPr/>
        </p:nvSpPr>
        <p:spPr>
          <a:xfrm>
            <a:off x="4785238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1" name="passo-2"/>
          <p:cNvSpPr/>
          <p:nvPr/>
        </p:nvSpPr>
        <p:spPr>
          <a:xfrm>
            <a:off x="5150998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passo-marca-2"/>
          <p:cNvSpPr/>
          <p:nvPr/>
        </p:nvSpPr>
        <p:spPr>
          <a:xfrm>
            <a:off x="5379598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passo-texto-2"/>
          <p:cNvSpPr txBox="1"/>
          <p:nvPr/>
        </p:nvSpPr>
        <p:spPr>
          <a:xfrm>
            <a:off x="5379598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Tokens do transcript × preço</a:t>
            </a:r>
            <a:endParaRPr lang="en-US" sz="1600" dirty="0"/>
          </a:p>
        </p:txBody>
      </p:sp>
      <p:sp>
        <p:nvSpPr>
          <p:cNvPr id="14" name="fluxo-seta-2"/>
          <p:cNvSpPr/>
          <p:nvPr/>
        </p:nvSpPr>
        <p:spPr>
          <a:xfrm>
            <a:off x="7086417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5" name="passo-3"/>
          <p:cNvSpPr/>
          <p:nvPr/>
        </p:nvSpPr>
        <p:spPr>
          <a:xfrm>
            <a:off x="7452177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6" name="passo-marca-3"/>
          <p:cNvSpPr/>
          <p:nvPr/>
        </p:nvSpPr>
        <p:spPr>
          <a:xfrm>
            <a:off x="7680777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passo-texto-3"/>
          <p:cNvSpPr txBox="1"/>
          <p:nvPr/>
        </p:nvSpPr>
        <p:spPr>
          <a:xfrm>
            <a:off x="7680777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Uma linha em usage.jsonl</a:t>
            </a:r>
            <a:endParaRPr lang="en-US" sz="1600" dirty="0"/>
          </a:p>
        </p:txBody>
      </p:sp>
      <p:sp>
        <p:nvSpPr>
          <p:cNvPr id="18" name="fluxo-seta-3"/>
          <p:cNvSpPr/>
          <p:nvPr/>
        </p:nvSpPr>
        <p:spPr>
          <a:xfrm>
            <a:off x="9387596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9" name="passo-4"/>
          <p:cNvSpPr/>
          <p:nvPr/>
        </p:nvSpPr>
        <p:spPr>
          <a:xfrm>
            <a:off x="9753356" y="2377440"/>
            <a:ext cx="1889699" cy="18288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20" name="passo-marca-4"/>
          <p:cNvSpPr/>
          <p:nvPr/>
        </p:nvSpPr>
        <p:spPr>
          <a:xfrm>
            <a:off x="9981956" y="2606040"/>
            <a:ext cx="274320" cy="27432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21" name="passo-texto-4"/>
          <p:cNvSpPr txBox="1"/>
          <p:nvPr/>
        </p:nvSpPr>
        <p:spPr>
          <a:xfrm>
            <a:off x="9981956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Statusline e /demo-cost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ciclo de cada tarefa</a:t>
            </a:r>
            <a:endParaRPr lang="en-US" sz="3600" dirty="0"/>
          </a:p>
        </p:txBody>
      </p:sp>
      <p:sp>
        <p:nvSpPr>
          <p:cNvPr id="3" name="passo-0"/>
          <p:cNvSpPr/>
          <p:nvPr/>
        </p:nvSpPr>
        <p:spPr>
          <a:xfrm>
            <a:off x="548640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passo-marca-0"/>
          <p:cNvSpPr/>
          <p:nvPr/>
        </p:nvSpPr>
        <p:spPr>
          <a:xfrm>
            <a:off x="777240" y="2606040"/>
            <a:ext cx="274320" cy="2743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" name="passo-texto-0"/>
          <p:cNvSpPr txBox="1"/>
          <p:nvPr/>
        </p:nvSpPr>
        <p:spPr>
          <a:xfrm>
            <a:off x="777240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plan</a:t>
            </a:r>
            <a:endParaRPr lang="en-US" sz="1600" dirty="0"/>
          </a:p>
        </p:txBody>
      </p:sp>
      <p:sp>
        <p:nvSpPr>
          <p:cNvPr id="6" name="fluxo-seta-0"/>
          <p:cNvSpPr/>
          <p:nvPr/>
        </p:nvSpPr>
        <p:spPr>
          <a:xfrm>
            <a:off x="2484059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7" name="passo-1"/>
          <p:cNvSpPr/>
          <p:nvPr/>
        </p:nvSpPr>
        <p:spPr>
          <a:xfrm>
            <a:off x="2849819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passo-marca-1"/>
          <p:cNvSpPr/>
          <p:nvPr/>
        </p:nvSpPr>
        <p:spPr>
          <a:xfrm>
            <a:off x="3078419" y="2606040"/>
            <a:ext cx="274320" cy="27432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passo-texto-1"/>
          <p:cNvSpPr txBox="1"/>
          <p:nvPr/>
        </p:nvSpPr>
        <p:spPr>
          <a:xfrm>
            <a:off x="3078419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swarm</a:t>
            </a:r>
            <a:endParaRPr lang="en-US" sz="1600" dirty="0"/>
          </a:p>
        </p:txBody>
      </p:sp>
      <p:sp>
        <p:nvSpPr>
          <p:cNvPr id="10" name="fluxo-seta-1"/>
          <p:cNvSpPr/>
          <p:nvPr/>
        </p:nvSpPr>
        <p:spPr>
          <a:xfrm>
            <a:off x="4785238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1" name="passo-2"/>
          <p:cNvSpPr/>
          <p:nvPr/>
        </p:nvSpPr>
        <p:spPr>
          <a:xfrm>
            <a:off x="5150998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passo-marca-2"/>
          <p:cNvSpPr/>
          <p:nvPr/>
        </p:nvSpPr>
        <p:spPr>
          <a:xfrm>
            <a:off x="5379598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passo-texto-2"/>
          <p:cNvSpPr txBox="1"/>
          <p:nvPr/>
        </p:nvSpPr>
        <p:spPr>
          <a:xfrm>
            <a:off x="5379598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review</a:t>
            </a:r>
            <a:endParaRPr lang="en-US" sz="1600" dirty="0"/>
          </a:p>
        </p:txBody>
      </p:sp>
      <p:sp>
        <p:nvSpPr>
          <p:cNvPr id="14" name="fluxo-seta-2"/>
          <p:cNvSpPr/>
          <p:nvPr/>
        </p:nvSpPr>
        <p:spPr>
          <a:xfrm>
            <a:off x="7086417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5" name="passo-3"/>
          <p:cNvSpPr/>
          <p:nvPr/>
        </p:nvSpPr>
        <p:spPr>
          <a:xfrm>
            <a:off x="7452177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6" name="passo-marca-3"/>
          <p:cNvSpPr/>
          <p:nvPr/>
        </p:nvSpPr>
        <p:spPr>
          <a:xfrm>
            <a:off x="7680777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passo-texto-3"/>
          <p:cNvSpPr txBox="1"/>
          <p:nvPr/>
        </p:nvSpPr>
        <p:spPr>
          <a:xfrm>
            <a:off x="7680777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cost</a:t>
            </a:r>
            <a:endParaRPr lang="en-US" sz="1600" dirty="0"/>
          </a:p>
        </p:txBody>
      </p:sp>
      <p:sp>
        <p:nvSpPr>
          <p:cNvPr id="18" name="fluxo-seta-3"/>
          <p:cNvSpPr/>
          <p:nvPr/>
        </p:nvSpPr>
        <p:spPr>
          <a:xfrm>
            <a:off x="9387596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9" name="passo-4"/>
          <p:cNvSpPr/>
          <p:nvPr/>
        </p:nvSpPr>
        <p:spPr>
          <a:xfrm>
            <a:off x="9753356" y="2377440"/>
            <a:ext cx="1889699" cy="18288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20" name="passo-marca-4"/>
          <p:cNvSpPr/>
          <p:nvPr/>
        </p:nvSpPr>
        <p:spPr>
          <a:xfrm>
            <a:off x="9981956" y="2606040"/>
            <a:ext cx="274320" cy="27432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21" name="passo-texto-4"/>
          <p:cNvSpPr txBox="1"/>
          <p:nvPr/>
        </p:nvSpPr>
        <p:spPr>
          <a:xfrm>
            <a:off x="9981956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memória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Limites que respeitamos</a:t>
            </a:r>
            <a:endParaRPr lang="en-US" sz="36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4" name="stat-valor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20</a:t>
            </a:r>
            <a:endParaRPr lang="en-US" sz="6000" dirty="0"/>
          </a:p>
        </p:txBody>
      </p:sp>
      <p:sp>
        <p:nvSpPr>
          <p:cNvPr id="5" name="stat-rotulo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subagentes em simultâneo, no máximo, por sessão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7" name="stat-valor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8</a:t>
            </a:r>
            <a:endParaRPr lang="en-US" sz="6000" dirty="0"/>
          </a:p>
        </p:txBody>
      </p:sp>
      <p:sp>
        <p:nvSpPr>
          <p:cNvPr id="8" name="stat-rotulo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paralelo por defeito hoje, para contas novas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0" name="stat-valor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16</a:t>
            </a:r>
            <a:endParaRPr lang="en-US" sz="6000" dirty="0"/>
          </a:p>
        </p:txBody>
      </p:sp>
      <p:sp>
        <p:nvSpPr>
          <p:cNvPr id="11" name="stat-rotulo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modo apresentador (100 agentes em lotes)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100 agentes a construir a Arena</a:t>
            </a:r>
            <a:endParaRPr lang="en-US" sz="3600" dirty="0"/>
          </a:p>
        </p:txBody>
      </p:sp>
      <p:pic>
        <p:nvPicPr>
          <p:cNvPr id="3" name="video-enxam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463040"/>
            <a:ext cx="11094415" cy="4343400"/>
          </a:xfrm>
          <a:prstGeom prst="rect">
            <a:avLst/>
          </a:prstGeom>
        </p:spPr>
      </p:pic>
      <p:sp>
        <p:nvSpPr>
          <p:cNvPr id="4" name="legenda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real gravada: 6,9 min · US$ 2,55 · 107 agentes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resultado: um jogo para jogar</a:t>
            </a:r>
            <a:endParaRPr lang="en-US" sz="3600" dirty="0"/>
          </a:p>
        </p:txBody>
      </p:sp>
      <p:pic>
        <p:nvPicPr>
          <p:cNvPr id="3" name="imagem" descr="Verde: o teste passou · vermelho: falhou. O que não funcionou também se vê.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11094415" cy="4343400"/>
          </a:xfrm>
          <a:prstGeom prst="rect">
            <a:avLst/>
          </a:prstGeom>
        </p:spPr>
      </p:pic>
      <p:sp>
        <p:nvSpPr>
          <p:cNvPr id="4" name="legenda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Verde: o teste passou · vermelho: falhou. O que não funcionou também se vê.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Projeto 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4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de Segurança</a:t>
            </a:r>
            <a:endParaRPr lang="en-US" sz="2400" dirty="0"/>
          </a:p>
        </p:txBody>
      </p:sp>
      <p:sp>
        <p:nvSpPr>
          <p:cNvPr id="4" name="estado-0-0"/>
          <p:cNvSpPr/>
          <p:nvPr/>
        </p:nvSpPr>
        <p:spPr>
          <a:xfrm>
            <a:off x="54864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estado-0-1"/>
          <p:cNvSpPr/>
          <p:nvPr/>
        </p:nvSpPr>
        <p:spPr>
          <a:xfrm>
            <a:off x="104241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estado-0-2"/>
          <p:cNvSpPr/>
          <p:nvPr/>
        </p:nvSpPr>
        <p:spPr>
          <a:xfrm>
            <a:off x="153619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7" name="estado-0-3"/>
          <p:cNvSpPr/>
          <p:nvPr/>
        </p:nvSpPr>
        <p:spPr>
          <a:xfrm>
            <a:off x="202996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8" name="estado-0-4"/>
          <p:cNvSpPr/>
          <p:nvPr/>
        </p:nvSpPr>
        <p:spPr>
          <a:xfrm>
            <a:off x="252374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estado-0-5"/>
          <p:cNvSpPr/>
          <p:nvPr/>
        </p:nvSpPr>
        <p:spPr>
          <a:xfrm>
            <a:off x="301752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estado-0-6"/>
          <p:cNvSpPr/>
          <p:nvPr/>
        </p:nvSpPr>
        <p:spPr>
          <a:xfrm>
            <a:off x="351129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estado-0-7"/>
          <p:cNvSpPr/>
          <p:nvPr/>
        </p:nvSpPr>
        <p:spPr>
          <a:xfrm>
            <a:off x="400507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estado-0-8"/>
          <p:cNvSpPr/>
          <p:nvPr/>
        </p:nvSpPr>
        <p:spPr>
          <a:xfrm>
            <a:off x="449884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estado-0-9"/>
          <p:cNvSpPr/>
          <p:nvPr/>
        </p:nvSpPr>
        <p:spPr>
          <a:xfrm>
            <a:off x="499262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estado-0-10"/>
          <p:cNvSpPr/>
          <p:nvPr/>
        </p:nvSpPr>
        <p:spPr>
          <a:xfrm>
            <a:off x="548640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estado-0-11"/>
          <p:cNvSpPr/>
          <p:nvPr/>
        </p:nvSpPr>
        <p:spPr>
          <a:xfrm>
            <a:off x="598017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estado-0-12"/>
          <p:cNvSpPr/>
          <p:nvPr/>
        </p:nvSpPr>
        <p:spPr>
          <a:xfrm>
            <a:off x="647395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estado-0-13"/>
          <p:cNvSpPr/>
          <p:nvPr/>
        </p:nvSpPr>
        <p:spPr>
          <a:xfrm>
            <a:off x="696772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estado-0-14"/>
          <p:cNvSpPr/>
          <p:nvPr/>
        </p:nvSpPr>
        <p:spPr>
          <a:xfrm>
            <a:off x="746150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que já está pronto e o que falta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Pronto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casca da app, 4 modelos de cartão e um teste para cada cartão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Por fazer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cartões, o lib/hash e duas páginas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Quem faz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enxame: Haiku, Sonnet e Opus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3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Planeia o enxame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e aceita confiar na pasta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/demo-plan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728216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</a:t>
            </a:r>
            <a:endParaRPr lang="en-US" sz="20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diagrama Mermaid, 4 ondas e uma estimativa perto de US$ 1,00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teu plano: 4 ondas</a:t>
            </a:r>
            <a:endParaRPr lang="en-US" sz="3600" dirty="0"/>
          </a:p>
        </p:txBody>
      </p:sp>
      <p:sp>
        <p:nvSpPr>
          <p:cNvPr id="3" name="onda-0"/>
          <p:cNvSpPr/>
          <p:nvPr/>
        </p:nvSpPr>
        <p:spPr>
          <a:xfrm>
            <a:off x="548640" y="1691640"/>
            <a:ext cx="411480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onda-nome-0"/>
          <p:cNvSpPr txBox="1"/>
          <p:nvPr/>
        </p:nvSpPr>
        <p:spPr>
          <a:xfrm>
            <a:off x="822960" y="1920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1</a:t>
            </a:r>
            <a:endParaRPr lang="en-US" sz="2400" dirty="0"/>
          </a:p>
        </p:txBody>
      </p:sp>
      <p:sp>
        <p:nvSpPr>
          <p:cNvPr id="5" name="onda-cor-0"/>
          <p:cNvSpPr/>
          <p:nvPr/>
        </p:nvSpPr>
        <p:spPr>
          <a:xfrm>
            <a:off x="822960" y="2487168"/>
            <a:ext cx="201168" cy="20116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6" name="onda-modelo-0"/>
          <p:cNvSpPr txBox="1"/>
          <p:nvPr/>
        </p:nvSpPr>
        <p:spPr>
          <a:xfrm>
            <a:off x="1115568" y="243230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7" name="onda-sub-0"/>
          <p:cNvSpPr txBox="1"/>
          <p:nvPr/>
        </p:nvSpPr>
        <p:spPr>
          <a:xfrm>
            <a:off x="822960" y="2834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15 cartões</a:t>
            </a:r>
            <a:endParaRPr lang="en-US" sz="1500" dirty="0"/>
          </a:p>
        </p:txBody>
      </p:sp>
      <p:sp>
        <p:nvSpPr>
          <p:cNvPr id="8" name="hash"/>
          <p:cNvSpPr/>
          <p:nvPr/>
        </p:nvSpPr>
        <p:spPr>
          <a:xfrm>
            <a:off x="822960" y="3474720"/>
            <a:ext cx="411480" cy="41148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hash-rotulo"/>
          <p:cNvSpPr txBox="1"/>
          <p:nvPr/>
        </p:nvSpPr>
        <p:spPr>
          <a:xfrm>
            <a:off x="1325880" y="354787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0" name="cartao-0"/>
          <p:cNvSpPr/>
          <p:nvPr/>
        </p:nvSpPr>
        <p:spPr>
          <a:xfrm>
            <a:off x="822960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cartao-1"/>
          <p:cNvSpPr/>
          <p:nvPr/>
        </p:nvSpPr>
        <p:spPr>
          <a:xfrm>
            <a:off x="1426464" y="40690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2" name="cartao-2"/>
          <p:cNvSpPr/>
          <p:nvPr/>
        </p:nvSpPr>
        <p:spPr>
          <a:xfrm>
            <a:off x="2029968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cartao-3"/>
          <p:cNvSpPr/>
          <p:nvPr/>
        </p:nvSpPr>
        <p:spPr>
          <a:xfrm>
            <a:off x="2633472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cartao-4"/>
          <p:cNvSpPr/>
          <p:nvPr/>
        </p:nvSpPr>
        <p:spPr>
          <a:xfrm>
            <a:off x="3236976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cartao-5"/>
          <p:cNvSpPr/>
          <p:nvPr/>
        </p:nvSpPr>
        <p:spPr>
          <a:xfrm>
            <a:off x="822960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cartao-6"/>
          <p:cNvSpPr/>
          <p:nvPr/>
        </p:nvSpPr>
        <p:spPr>
          <a:xfrm>
            <a:off x="1426464" y="4526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cartao-7"/>
          <p:cNvSpPr/>
          <p:nvPr/>
        </p:nvSpPr>
        <p:spPr>
          <a:xfrm>
            <a:off x="2029968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cartao-8"/>
          <p:cNvSpPr/>
          <p:nvPr/>
        </p:nvSpPr>
        <p:spPr>
          <a:xfrm>
            <a:off x="2633472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cartao-9"/>
          <p:cNvSpPr/>
          <p:nvPr/>
        </p:nvSpPr>
        <p:spPr>
          <a:xfrm>
            <a:off x="3236976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0" name="cartao-10"/>
          <p:cNvSpPr/>
          <p:nvPr/>
        </p:nvSpPr>
        <p:spPr>
          <a:xfrm>
            <a:off x="822960" y="49834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cartao-11"/>
          <p:cNvSpPr/>
          <p:nvPr/>
        </p:nvSpPr>
        <p:spPr>
          <a:xfrm>
            <a:off x="1426464" y="49834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2" name="cartao-12"/>
          <p:cNvSpPr/>
          <p:nvPr/>
        </p:nvSpPr>
        <p:spPr>
          <a:xfrm>
            <a:off x="2029968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3" name="cartao-13"/>
          <p:cNvSpPr/>
          <p:nvPr/>
        </p:nvSpPr>
        <p:spPr>
          <a:xfrm>
            <a:off x="2633472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artao-14"/>
          <p:cNvSpPr/>
          <p:nvPr/>
        </p:nvSpPr>
        <p:spPr>
          <a:xfrm>
            <a:off x="3236976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seta-0"/>
          <p:cNvSpPr/>
          <p:nvPr/>
        </p:nvSpPr>
        <p:spPr>
          <a:xfrm>
            <a:off x="4718304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26" name="onda-1"/>
          <p:cNvSpPr/>
          <p:nvPr/>
        </p:nvSpPr>
        <p:spPr>
          <a:xfrm>
            <a:off x="4795418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27" name="onda-nome-1"/>
          <p:cNvSpPr txBox="1"/>
          <p:nvPr/>
        </p:nvSpPr>
        <p:spPr>
          <a:xfrm>
            <a:off x="5069738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2</a:t>
            </a:r>
            <a:endParaRPr lang="en-US" sz="2400" dirty="0"/>
          </a:p>
        </p:txBody>
      </p:sp>
      <p:sp>
        <p:nvSpPr>
          <p:cNvPr id="28" name="onda-cor-1"/>
          <p:cNvSpPr/>
          <p:nvPr/>
        </p:nvSpPr>
        <p:spPr>
          <a:xfrm>
            <a:off x="5069738" y="2487168"/>
            <a:ext cx="201168" cy="20116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9" name="onda-modelo-1"/>
          <p:cNvSpPr txBox="1"/>
          <p:nvPr/>
        </p:nvSpPr>
        <p:spPr>
          <a:xfrm>
            <a:off x="5362346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0" name="onda-sub-1"/>
          <p:cNvSpPr txBox="1"/>
          <p:nvPr/>
        </p:nvSpPr>
        <p:spPr>
          <a:xfrm>
            <a:off x="5069738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1" name="onda1-0"/>
          <p:cNvSpPr/>
          <p:nvPr/>
        </p:nvSpPr>
        <p:spPr>
          <a:xfrm>
            <a:off x="5069738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2" name="onda1-1"/>
          <p:cNvSpPr/>
          <p:nvPr/>
        </p:nvSpPr>
        <p:spPr>
          <a:xfrm>
            <a:off x="5709818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3" name="seta-1"/>
          <p:cNvSpPr/>
          <p:nvPr/>
        </p:nvSpPr>
        <p:spPr>
          <a:xfrm>
            <a:off x="7044842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34" name="onda-2"/>
          <p:cNvSpPr/>
          <p:nvPr/>
        </p:nvSpPr>
        <p:spPr>
          <a:xfrm>
            <a:off x="7121957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35" name="onda-nome-2"/>
          <p:cNvSpPr txBox="1"/>
          <p:nvPr/>
        </p:nvSpPr>
        <p:spPr>
          <a:xfrm>
            <a:off x="7396277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3</a:t>
            </a:r>
            <a:endParaRPr lang="en-US" sz="2400" dirty="0"/>
          </a:p>
        </p:txBody>
      </p:sp>
      <p:sp>
        <p:nvSpPr>
          <p:cNvPr id="36" name="onda-cor-2"/>
          <p:cNvSpPr/>
          <p:nvPr/>
        </p:nvSpPr>
        <p:spPr>
          <a:xfrm>
            <a:off x="7396277" y="2487168"/>
            <a:ext cx="201168" cy="20116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7" name="onda-modelo-2"/>
          <p:cNvSpPr txBox="1"/>
          <p:nvPr/>
        </p:nvSpPr>
        <p:spPr>
          <a:xfrm>
            <a:off x="7688885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8" name="onda-sub-2"/>
          <p:cNvSpPr txBox="1"/>
          <p:nvPr/>
        </p:nvSpPr>
        <p:spPr>
          <a:xfrm>
            <a:off x="7396277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</a:t>
            </a:r>
            <a:endParaRPr lang="en-US" sz="1500" dirty="0"/>
          </a:p>
        </p:txBody>
      </p:sp>
      <p:sp>
        <p:nvSpPr>
          <p:cNvPr id="39" name="onda2-0"/>
          <p:cNvSpPr/>
          <p:nvPr/>
        </p:nvSpPr>
        <p:spPr>
          <a:xfrm>
            <a:off x="7396277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0" name="seta-2"/>
          <p:cNvSpPr/>
          <p:nvPr/>
        </p:nvSpPr>
        <p:spPr>
          <a:xfrm>
            <a:off x="9371381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41" name="onda-3"/>
          <p:cNvSpPr/>
          <p:nvPr/>
        </p:nvSpPr>
        <p:spPr>
          <a:xfrm>
            <a:off x="9448495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2" name="onda-nome-3"/>
          <p:cNvSpPr txBox="1"/>
          <p:nvPr/>
        </p:nvSpPr>
        <p:spPr>
          <a:xfrm>
            <a:off x="9722815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4</a:t>
            </a:r>
            <a:endParaRPr lang="en-US" sz="2400" dirty="0"/>
          </a:p>
        </p:txBody>
      </p:sp>
      <p:sp>
        <p:nvSpPr>
          <p:cNvPr id="43" name="onda-cor-3"/>
          <p:cNvSpPr/>
          <p:nvPr/>
        </p:nvSpPr>
        <p:spPr>
          <a:xfrm>
            <a:off x="9722815" y="2487168"/>
            <a:ext cx="201168" cy="20116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44" name="onda-modelo-3"/>
          <p:cNvSpPr txBox="1"/>
          <p:nvPr/>
        </p:nvSpPr>
        <p:spPr>
          <a:xfrm>
            <a:off x="10015423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45" name="onda-sub-3"/>
          <p:cNvSpPr txBox="1"/>
          <p:nvPr/>
        </p:nvSpPr>
        <p:spPr>
          <a:xfrm>
            <a:off x="9722815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46" name="onda3-0"/>
          <p:cNvSpPr/>
          <p:nvPr/>
        </p:nvSpPr>
        <p:spPr>
          <a:xfrm>
            <a:off x="9722815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7" name="legenda-dag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Cinzento: à espera. Os 3 de criptografia arrancam quando o lib-hash fica verde.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Solta o enxame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segundo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Arranca o servidor e abre /estado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0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200400"/>
            <a:ext cx="6705295" cy="1389888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730752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0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http://localhost:3000/estado: os quadrados ficam amarelos e depois verdes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Pergunta sem interromper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Enquanto o enxame trabalha, no Terminal 1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/btw para uma pergunta lateral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0081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33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/btw porque é que o cr-01 espera pelo lib-hash?</a:t>
            </a:r>
            <a:endParaRPr lang="en-US" sz="17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resposta que não entra na conversa nem para o enxame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statusline e o hook que a alimenta</a:t>
            </a:r>
            <a:endParaRPr lang="en-US" sz="36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baixo: modelo · sessão · projeto contra o alvo · tempo · enxame.</a:t>
            </a:r>
            <a:endParaRPr lang="en-US" sz="2000" dirty="0"/>
          </a:p>
        </p:txBody>
      </p:sp>
      <p:sp>
        <p:nvSpPr>
          <p:cNvPr id="4" name="codigo-fundo"/>
          <p:cNvSpPr/>
          <p:nvPr/>
        </p:nvSpPr>
        <p:spPr>
          <a:xfrm>
            <a:off x="548640" y="2148840"/>
            <a:ext cx="11094415" cy="34290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5" name="codigo"/>
          <p:cNvSpPr txBox="1"/>
          <p:nvPr/>
        </p:nvSpPr>
        <p:spPr>
          <a:xfrm>
            <a:off x="777240" y="2331720"/>
            <a:ext cx="106372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"hooks":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"SubagentStop": [{ "hooks": [{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"type": "command",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"command": "node tools/workshop/hooks/subagent-stop.mjs"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}]}]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"statusLine":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"type": "command",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"command": "node tools/workshop/statusline/statusline.mjs"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6" name="depois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.claude/settings.json da Arena. O /usage do Claude Code dá outra estimativa; o /demo-cost usa os preços publicados.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3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No Terminal 2: três funcionalidades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mode: Shift+Tab até "plan mode"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Headless: uma pergunta sem abrir sessão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Rewind: Esc Esc para voltar atrás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254557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5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(Shift+Tab) Como acrescentavas uma 11.ª categoria?</a:t>
            </a:r>
            <a:endParaRPr lang="en-US" sz="16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403397"/>
            <a:ext cx="6705295" cy="118689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58627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933749"/>
            <a:ext cx="6248095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-p "Resume o PLANO.md numa frase" --model claude-haiku-5-5</a:t>
            </a:r>
            <a:endParaRPr lang="en-US" sz="14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sem alterações, uma frase no terminal e um checkpoint para recuar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Worktrees e rotinas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claude -w experiencia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cópia isolada do repositório, num branch próprio, para trabalhar em paralelo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isolation: worktree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subagente no seu próprio worktree, quando as tarefas mexem nos mesmos ficheiros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Rotina local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agendador do sistema corre claude -p todos os dias. O /schedule na cloud exige assinatura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Até ficar tudo verde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houver quadrados vermelhos no fim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Deixa um /loop a trabalhar por ti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42372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2m corre node tools/check-integracao.mjs e corrige o primeiro teste vermelho com o implementer; para quando estiver tudo verde</a:t>
            </a:r>
            <a:endParaRPr lang="en-US" sz="14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loop pára sozinho quando a suite fica verde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gate de segurança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/demo-review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do revisor (Opus)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0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APROVADO, com testes, CSP, sem eval nem innerHTML, sem segredos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Quanto custou?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/demo-cost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o Haiku com o orquestrador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0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agente, modelo e onda, perto de US$ 1,03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Joga o que o enxame construiu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galeria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 cartão e joga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"Correr testes"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0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Cartões verdes jogáveis; os vermelhos mostram porque falharam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memória do que fizeste</a:t>
            </a:r>
            <a:endParaRPr lang="en-US" sz="3600" dirty="0"/>
          </a:p>
        </p:txBody>
      </p:sp>
      <p:pic>
        <p:nvPicPr>
          <p:cNvPr id="3" name="imagem" descr="Procura por ticket ou épico (ex.: ARENA-1): lições, fazer, não fazer e histórico ligados a projetos, épicos, tarefas e ficheiro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11094415" cy="4343400"/>
          </a:xfrm>
          <a:prstGeom prst="rect">
            <a:avLst/>
          </a:prstGeom>
        </p:spPr>
      </p:pic>
      <p:sp>
        <p:nvSpPr>
          <p:cNvPr id="4" name="legenda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por ticket ou épico (ex.: ARENA-1): lições, fazer, não fazer e histórico ligados a projetos, épicos, tarefas e ficheiros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3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Abre o teu primeiro grafo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app Memória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 num nó para ler a lição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Arrasta o deslizador de tempo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0081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33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~/Applications/Memória.app   (ou: memoria)</a:t>
            </a:r>
            <a:endParaRPr lang="en-US" sz="17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149651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332531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680003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 Iniciar → Memória   (ou: memoria)</a:t>
            </a:r>
            <a:endParaRPr lang="en-US" sz="20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da sessão da Arena, com as lições ligadas ao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Projeto 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4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tarefa real</a:t>
            </a:r>
            <a:endParaRPr lang="en-US" sz="2400" dirty="0"/>
          </a:p>
        </p:txBody>
      </p:sp>
      <p:sp>
        <p:nvSpPr>
          <p:cNvPr id="4" name="estado-0-0"/>
          <p:cNvSpPr/>
          <p:nvPr/>
        </p:nvSpPr>
        <p:spPr>
          <a:xfrm>
            <a:off x="54864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estado-0-1"/>
          <p:cNvSpPr/>
          <p:nvPr/>
        </p:nvSpPr>
        <p:spPr>
          <a:xfrm>
            <a:off x="104241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estado-0-2"/>
          <p:cNvSpPr/>
          <p:nvPr/>
        </p:nvSpPr>
        <p:spPr>
          <a:xfrm>
            <a:off x="153619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7" name="estado-0-3"/>
          <p:cNvSpPr/>
          <p:nvPr/>
        </p:nvSpPr>
        <p:spPr>
          <a:xfrm>
            <a:off x="202996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8" name="estado-0-4"/>
          <p:cNvSpPr/>
          <p:nvPr/>
        </p:nvSpPr>
        <p:spPr>
          <a:xfrm>
            <a:off x="252374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estado-0-5"/>
          <p:cNvSpPr/>
          <p:nvPr/>
        </p:nvSpPr>
        <p:spPr>
          <a:xfrm>
            <a:off x="301752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estado-0-6"/>
          <p:cNvSpPr/>
          <p:nvPr/>
        </p:nvSpPr>
        <p:spPr>
          <a:xfrm>
            <a:off x="351129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estado-0-7"/>
          <p:cNvSpPr/>
          <p:nvPr/>
        </p:nvSpPr>
        <p:spPr>
          <a:xfrm>
            <a:off x="400507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estado-0-8"/>
          <p:cNvSpPr/>
          <p:nvPr/>
        </p:nvSpPr>
        <p:spPr>
          <a:xfrm>
            <a:off x="449884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estado-0-9"/>
          <p:cNvSpPr/>
          <p:nvPr/>
        </p:nvSpPr>
        <p:spPr>
          <a:xfrm>
            <a:off x="499262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estado-0-10"/>
          <p:cNvSpPr/>
          <p:nvPr/>
        </p:nvSpPr>
        <p:spPr>
          <a:xfrm>
            <a:off x="548640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estado-0-11"/>
          <p:cNvSpPr/>
          <p:nvPr/>
        </p:nvSpPr>
        <p:spPr>
          <a:xfrm>
            <a:off x="598017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estado-0-12"/>
          <p:cNvSpPr/>
          <p:nvPr/>
        </p:nvSpPr>
        <p:spPr>
          <a:xfrm>
            <a:off x="647395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estado-0-13"/>
          <p:cNvSpPr/>
          <p:nvPr/>
        </p:nvSpPr>
        <p:spPr>
          <a:xfrm>
            <a:off x="696772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estado-0-14"/>
          <p:cNvSpPr/>
          <p:nvPr/>
        </p:nvSpPr>
        <p:spPr>
          <a:xfrm>
            <a:off x="746150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mesmo ciclo, no teu repositório</a:t>
            </a:r>
            <a:endParaRPr lang="en-US" sz="3600" dirty="0"/>
          </a:p>
        </p:txBody>
      </p:sp>
      <p:sp>
        <p:nvSpPr>
          <p:cNvPr id="3" name="passo-0"/>
          <p:cNvSpPr/>
          <p:nvPr/>
        </p:nvSpPr>
        <p:spPr>
          <a:xfrm>
            <a:off x="548640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passo-marca-0"/>
          <p:cNvSpPr/>
          <p:nvPr/>
        </p:nvSpPr>
        <p:spPr>
          <a:xfrm>
            <a:off x="777240" y="2606040"/>
            <a:ext cx="274320" cy="2743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" name="passo-texto-0"/>
          <p:cNvSpPr txBox="1"/>
          <p:nvPr/>
        </p:nvSpPr>
        <p:spPr>
          <a:xfrm>
            <a:off x="777240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/task-intake</a:t>
            </a:r>
            <a:endParaRPr lang="en-US" sz="1600" dirty="0"/>
          </a:p>
        </p:txBody>
      </p:sp>
      <p:sp>
        <p:nvSpPr>
          <p:cNvPr id="6" name="fluxo-seta-0"/>
          <p:cNvSpPr/>
          <p:nvPr/>
        </p:nvSpPr>
        <p:spPr>
          <a:xfrm>
            <a:off x="2484059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7" name="passo-1"/>
          <p:cNvSpPr/>
          <p:nvPr/>
        </p:nvSpPr>
        <p:spPr>
          <a:xfrm>
            <a:off x="2849819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passo-marca-1"/>
          <p:cNvSpPr/>
          <p:nvPr/>
        </p:nvSpPr>
        <p:spPr>
          <a:xfrm>
            <a:off x="3078419" y="2606040"/>
            <a:ext cx="274320" cy="27432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passo-texto-1"/>
          <p:cNvSpPr txBox="1"/>
          <p:nvPr/>
        </p:nvSpPr>
        <p:spPr>
          <a:xfrm>
            <a:off x="3078419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/task-plan</a:t>
            </a:r>
            <a:endParaRPr lang="en-US" sz="1600" dirty="0"/>
          </a:p>
        </p:txBody>
      </p:sp>
      <p:sp>
        <p:nvSpPr>
          <p:cNvPr id="10" name="fluxo-seta-1"/>
          <p:cNvSpPr/>
          <p:nvPr/>
        </p:nvSpPr>
        <p:spPr>
          <a:xfrm>
            <a:off x="4785238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1" name="passo-2"/>
          <p:cNvSpPr/>
          <p:nvPr/>
        </p:nvSpPr>
        <p:spPr>
          <a:xfrm>
            <a:off x="5150998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passo-marca-2"/>
          <p:cNvSpPr/>
          <p:nvPr/>
        </p:nvSpPr>
        <p:spPr>
          <a:xfrm>
            <a:off x="5379598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passo-texto-2"/>
          <p:cNvSpPr txBox="1"/>
          <p:nvPr/>
        </p:nvSpPr>
        <p:spPr>
          <a:xfrm>
            <a:off x="5379598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/task-swarm</a:t>
            </a:r>
            <a:endParaRPr lang="en-US" sz="1600" dirty="0"/>
          </a:p>
        </p:txBody>
      </p:sp>
      <p:sp>
        <p:nvSpPr>
          <p:cNvPr id="14" name="fluxo-seta-2"/>
          <p:cNvSpPr/>
          <p:nvPr/>
        </p:nvSpPr>
        <p:spPr>
          <a:xfrm>
            <a:off x="7086417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5" name="passo-3"/>
          <p:cNvSpPr/>
          <p:nvPr/>
        </p:nvSpPr>
        <p:spPr>
          <a:xfrm>
            <a:off x="7452177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6" name="passo-marca-3"/>
          <p:cNvSpPr/>
          <p:nvPr/>
        </p:nvSpPr>
        <p:spPr>
          <a:xfrm>
            <a:off x="7680777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passo-texto-3"/>
          <p:cNvSpPr txBox="1"/>
          <p:nvPr/>
        </p:nvSpPr>
        <p:spPr>
          <a:xfrm>
            <a:off x="7680777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/task-gate</a:t>
            </a:r>
            <a:endParaRPr lang="en-US" sz="1600" dirty="0"/>
          </a:p>
        </p:txBody>
      </p:sp>
      <p:sp>
        <p:nvSpPr>
          <p:cNvPr id="18" name="fluxo-seta-3"/>
          <p:cNvSpPr/>
          <p:nvPr/>
        </p:nvSpPr>
        <p:spPr>
          <a:xfrm>
            <a:off x="9387596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9" name="passo-4"/>
          <p:cNvSpPr/>
          <p:nvPr/>
        </p:nvSpPr>
        <p:spPr>
          <a:xfrm>
            <a:off x="9753356" y="2377440"/>
            <a:ext cx="1889699" cy="18288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20" name="passo-marca-4"/>
          <p:cNvSpPr/>
          <p:nvPr/>
        </p:nvSpPr>
        <p:spPr>
          <a:xfrm>
            <a:off x="9981956" y="2606040"/>
            <a:ext cx="274320" cy="27432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21" name="passo-texto-4"/>
          <p:cNvSpPr txBox="1"/>
          <p:nvPr/>
        </p:nvSpPr>
        <p:spPr>
          <a:xfrm>
            <a:off x="9981956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/task-report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4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Traz a tua tarefa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na raiz do teu projeto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Dá-lhe a issue do Jira ou do GitHub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acesso? Usa o projeto de treino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728216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projeto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20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877056"/>
            <a:ext cx="6705295" cy="1728216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4059936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de treino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4407408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~/workshop-claude/exemplo-projeto-real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20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Título, critérios de aceitação e o comando de teste do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5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planner decide quantos agentes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/task-plan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porquê do número de agentes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 ou ajusta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0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Pequena: 1–3 agentes. Grande: mais, com justificação e estimativa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10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Põe o enxame a trabalhar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painel noutro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Pára com Esc e retoma quando quiseres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0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200400"/>
            <a:ext cx="6705295" cy="983894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730752"/>
            <a:ext cx="6248095" cy="31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~/.workshop-claude/kit/orquestrador/painel.mjs</a:t>
            </a:r>
            <a:endParaRPr lang="en-US" sz="16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Lotes de agentes a terminar; nunca dois no mesmo ficheiro ao mesmo tempo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Jira e GitHub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Jira (MCP + acli)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com login no /mcp; se falhar, o Atlassian CLI (acli auth login)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GitHub (gh)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 auth login: menos contexto do que um MCP e sem tokens partilhados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Sempre com confirmação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 só depois do teu sim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Depois do workshop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/task-gate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segredos, código perigoso e o veredito do Opus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/task-report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Jira: um comentário por subtarefa, com agente, modelo, tempo e custo, e o worklog. GitHub: o PR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/memoria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desta tarefa ficam para a próxima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Claude Desktop e telemóvel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Desktop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conversar, com conta claude.ai; o separador Code exige assinatura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Telemóvel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Remote Control exige assinatura e não aceita API keys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Hoje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no Claude Code, com a tua conta Console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Cinco ideias para levar</a:t>
            </a:r>
            <a:endParaRPr lang="en-US" sz="3600" dirty="0"/>
          </a:p>
        </p:txBody>
      </p:sp>
      <p:sp>
        <p:nvSpPr>
          <p:cNvPr id="3" name="lista-marca-0"/>
          <p:cNvSpPr/>
          <p:nvPr/>
        </p:nvSpPr>
        <p:spPr>
          <a:xfrm>
            <a:off x="548640" y="1783080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" name="lista-item-0"/>
          <p:cNvSpPr txBox="1"/>
          <p:nvPr/>
        </p:nvSpPr>
        <p:spPr>
          <a:xfrm>
            <a:off x="1097280" y="16916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Skills tornam o trabalho repetível</a:t>
            </a:r>
            <a:endParaRPr lang="en-US" sz="2600" dirty="0"/>
          </a:p>
        </p:txBody>
      </p:sp>
      <p:sp>
        <p:nvSpPr>
          <p:cNvPr id="5" name="lista-marca-1"/>
          <p:cNvSpPr/>
          <p:nvPr/>
        </p:nvSpPr>
        <p:spPr>
          <a:xfrm>
            <a:off x="548640" y="2624328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lista-item-1"/>
          <p:cNvSpPr txBox="1"/>
          <p:nvPr/>
        </p:nvSpPr>
        <p:spPr>
          <a:xfrm>
            <a:off x="1097280" y="2532888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Subagentes dão contexto limpo e o modelo certo para cada peça</a:t>
            </a:r>
            <a:endParaRPr lang="en-US" sz="2600" dirty="0"/>
          </a:p>
        </p:txBody>
      </p:sp>
      <p:sp>
        <p:nvSpPr>
          <p:cNvPr id="7" name="lista-marca-2"/>
          <p:cNvSpPr/>
          <p:nvPr/>
        </p:nvSpPr>
        <p:spPr>
          <a:xfrm>
            <a:off x="548640" y="3465576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8" name="lista-item-2"/>
          <p:cNvSpPr txBox="1"/>
          <p:nvPr/>
        </p:nvSpPr>
        <p:spPr>
          <a:xfrm>
            <a:off x="1097280" y="337413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 script decide o grafo; o modelo executa</a:t>
            </a:r>
            <a:endParaRPr lang="en-US" sz="2600" dirty="0"/>
          </a:p>
        </p:txBody>
      </p:sp>
      <p:sp>
        <p:nvSpPr>
          <p:cNvPr id="9" name="lista-marca-3"/>
          <p:cNvSpPr/>
          <p:nvPr/>
        </p:nvSpPr>
        <p:spPr>
          <a:xfrm>
            <a:off x="548640" y="4306824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lista-item-3"/>
          <p:cNvSpPr txBox="1"/>
          <p:nvPr/>
        </p:nvSpPr>
        <p:spPr>
          <a:xfrm>
            <a:off x="1097280" y="421538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Mede-se com hooks; o custo não se adivinha</a:t>
            </a:r>
            <a:endParaRPr lang="en-US" sz="2600" dirty="0"/>
          </a:p>
        </p:txBody>
      </p:sp>
      <p:sp>
        <p:nvSpPr>
          <p:cNvPr id="11" name="lista-marca-4"/>
          <p:cNvSpPr/>
          <p:nvPr/>
        </p:nvSpPr>
        <p:spPr>
          <a:xfrm>
            <a:off x="548640" y="5148072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lista-item-4"/>
          <p:cNvSpPr txBox="1"/>
          <p:nvPr/>
        </p:nvSpPr>
        <p:spPr>
          <a:xfrm>
            <a:off x="1097280" y="5056632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memória faz cada tarefa ensinar a próxima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Onde está tudo</a:t>
            </a:r>
            <a:endParaRPr lang="en-US" sz="36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Instalar noutra máquina:</a:t>
            </a:r>
            <a:endParaRPr lang="en-US" sz="2000" dirty="0"/>
          </a:p>
        </p:txBody>
      </p:sp>
      <p:sp>
        <p:nvSpPr>
          <p:cNvPr id="4" name="codigo-fundo"/>
          <p:cNvSpPr/>
          <p:nvPr/>
        </p:nvSpPr>
        <p:spPr>
          <a:xfrm>
            <a:off x="548640" y="2148840"/>
            <a:ext cx="11094415" cy="20574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5" name="codigo"/>
          <p:cNvSpPr txBox="1"/>
          <p:nvPr/>
        </p:nvSpPr>
        <p:spPr>
          <a:xfrm>
            <a:off x="777240" y="2331720"/>
            <a:ext cx="106372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https://gitea.guilhermepinto.pt/guilherme/workshop-claude/releases/download/v1.0.0-dev.3/setup-mac.sh | bash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https://gitea.guilhermepinto.pt/guilherme/workshop-claude/releases/download/v1.0.0-dev.3/bootstrap-windows.ps1 | iex</a:t>
            </a:r>
            <a:endParaRPr lang="en-US" sz="2000" dirty="0"/>
          </a:p>
        </p:txBody>
      </p:sp>
      <p:sp>
        <p:nvSpPr>
          <p:cNvPr id="6" name="depois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Repositório: https://gitea.guilhermepinto.pt/guilherme/workshop-claude · versão v1.0.0-dev.3 · atualizar a memória: memoria update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Amanhã</a:t>
            </a:r>
            <a:endParaRPr lang="en-US" sz="3600" dirty="0"/>
          </a:p>
        </p:txBody>
      </p:sp>
      <p:sp>
        <p:nvSpPr>
          <p:cNvPr id="3" name="lista-marca-0"/>
          <p:cNvSpPr/>
          <p:nvPr/>
        </p:nvSpPr>
        <p:spPr>
          <a:xfrm>
            <a:off x="548640" y="1783080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" name="lista-item-0"/>
          <p:cNvSpPr txBox="1"/>
          <p:nvPr/>
        </p:nvSpPr>
        <p:spPr>
          <a:xfrm>
            <a:off x="1097280" y="16916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Corre /task-intake na próxima issue que te atribuírem</a:t>
            </a:r>
            <a:endParaRPr lang="en-US" sz="2600" dirty="0"/>
          </a:p>
        </p:txBody>
      </p:sp>
      <p:sp>
        <p:nvSpPr>
          <p:cNvPr id="5" name="lista-marca-1"/>
          <p:cNvSpPr/>
          <p:nvPr/>
        </p:nvSpPr>
        <p:spPr>
          <a:xfrm>
            <a:off x="548640" y="2624328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lista-item-1"/>
          <p:cNvSpPr txBox="1"/>
          <p:nvPr/>
        </p:nvSpPr>
        <p:spPr>
          <a:xfrm>
            <a:off x="1097280" y="2532888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Escreve uma skill para uma tarefa que repetes todas as semanas</a:t>
            </a:r>
            <a:endParaRPr lang="en-US" sz="2600" dirty="0"/>
          </a:p>
        </p:txBody>
      </p:sp>
      <p:sp>
        <p:nvSpPr>
          <p:cNvPr id="7" name="lista-marca-2"/>
          <p:cNvSpPr/>
          <p:nvPr/>
        </p:nvSpPr>
        <p:spPr>
          <a:xfrm>
            <a:off x="548640" y="3465576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8" name="lista-item-2"/>
          <p:cNvSpPr txBox="1"/>
          <p:nvPr/>
        </p:nvSpPr>
        <p:spPr>
          <a:xfrm>
            <a:off x="1097280" y="337413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Abre a Memória antes de planear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7863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Perguntas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77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limite de tempo</a:t>
            </a:r>
            <a:endParaRPr lang="en-US" sz="2200" dirty="0"/>
          </a:p>
        </p:txBody>
      </p:sp>
      <p:sp>
        <p:nvSpPr>
          <p:cNvPr id="4" name="estado-0-0"/>
          <p:cNvSpPr/>
          <p:nvPr/>
        </p:nvSpPr>
        <p:spPr>
          <a:xfrm>
            <a:off x="9052560" y="14630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estado-0-1"/>
          <p:cNvSpPr/>
          <p:nvPr/>
        </p:nvSpPr>
        <p:spPr>
          <a:xfrm>
            <a:off x="9546336" y="14630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estado-0-2"/>
          <p:cNvSpPr/>
          <p:nvPr/>
        </p:nvSpPr>
        <p:spPr>
          <a:xfrm>
            <a:off x="10040112" y="1463040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7" name="estado-0-3"/>
          <p:cNvSpPr/>
          <p:nvPr/>
        </p:nvSpPr>
        <p:spPr>
          <a:xfrm>
            <a:off x="10533888" y="146304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8" name="estado-0-4"/>
          <p:cNvSpPr/>
          <p:nvPr/>
        </p:nvSpPr>
        <p:spPr>
          <a:xfrm>
            <a:off x="11027664" y="14630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estado-1-0"/>
          <p:cNvSpPr/>
          <p:nvPr/>
        </p:nvSpPr>
        <p:spPr>
          <a:xfrm>
            <a:off x="9052560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estado-1-1"/>
          <p:cNvSpPr/>
          <p:nvPr/>
        </p:nvSpPr>
        <p:spPr>
          <a:xfrm>
            <a:off x="9546336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estado-1-2"/>
          <p:cNvSpPr/>
          <p:nvPr/>
        </p:nvSpPr>
        <p:spPr>
          <a:xfrm>
            <a:off x="10040112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estado-1-3"/>
          <p:cNvSpPr/>
          <p:nvPr/>
        </p:nvSpPr>
        <p:spPr>
          <a:xfrm>
            <a:off x="10533888" y="1956816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13" name="estado-1-4"/>
          <p:cNvSpPr/>
          <p:nvPr/>
        </p:nvSpPr>
        <p:spPr>
          <a:xfrm>
            <a:off x="11027664" y="1956816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14" name="estado-2-0"/>
          <p:cNvSpPr/>
          <p:nvPr/>
        </p:nvSpPr>
        <p:spPr>
          <a:xfrm>
            <a:off x="9052560" y="2450592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15" name="estado-2-1"/>
          <p:cNvSpPr/>
          <p:nvPr/>
        </p:nvSpPr>
        <p:spPr>
          <a:xfrm>
            <a:off x="9546336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estado-2-2"/>
          <p:cNvSpPr/>
          <p:nvPr/>
        </p:nvSpPr>
        <p:spPr>
          <a:xfrm>
            <a:off x="10040112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estado-2-3"/>
          <p:cNvSpPr/>
          <p:nvPr/>
        </p:nvSpPr>
        <p:spPr>
          <a:xfrm>
            <a:off x="10533888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estado-2-4"/>
          <p:cNvSpPr/>
          <p:nvPr/>
        </p:nvSpPr>
        <p:spPr>
          <a:xfrm>
            <a:off x="11027664" y="2450592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19" name="estado-3-0"/>
          <p:cNvSpPr/>
          <p:nvPr/>
        </p:nvSpPr>
        <p:spPr>
          <a:xfrm>
            <a:off x="9052560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0" name="estado-3-1"/>
          <p:cNvSpPr/>
          <p:nvPr/>
        </p:nvSpPr>
        <p:spPr>
          <a:xfrm>
            <a:off x="9546336" y="2944368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1" name="estado-3-2"/>
          <p:cNvSpPr/>
          <p:nvPr/>
        </p:nvSpPr>
        <p:spPr>
          <a:xfrm>
            <a:off x="10040112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estado-3-3"/>
          <p:cNvSpPr/>
          <p:nvPr/>
        </p:nvSpPr>
        <p:spPr>
          <a:xfrm>
            <a:off x="10533888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3" name="estado-3-4"/>
          <p:cNvSpPr/>
          <p:nvPr/>
        </p:nvSpPr>
        <p:spPr>
          <a:xfrm>
            <a:off x="11027664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4" name="estado-4-0"/>
          <p:cNvSpPr/>
          <p:nvPr/>
        </p:nvSpPr>
        <p:spPr>
          <a:xfrm>
            <a:off x="9052560" y="3438144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5" name="estado-4-1"/>
          <p:cNvSpPr/>
          <p:nvPr/>
        </p:nvSpPr>
        <p:spPr>
          <a:xfrm>
            <a:off x="9546336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6" name="estado-4-2"/>
          <p:cNvSpPr/>
          <p:nvPr/>
        </p:nvSpPr>
        <p:spPr>
          <a:xfrm>
            <a:off x="10040112" y="3438144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7" name="estado-4-3"/>
          <p:cNvSpPr/>
          <p:nvPr/>
        </p:nvSpPr>
        <p:spPr>
          <a:xfrm>
            <a:off x="10533888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8" name="estado-4-4"/>
          <p:cNvSpPr/>
          <p:nvPr/>
        </p:nvSpPr>
        <p:spPr>
          <a:xfrm>
            <a:off x="11027664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9" name="estado-5-0"/>
          <p:cNvSpPr/>
          <p:nvPr/>
        </p:nvSpPr>
        <p:spPr>
          <a:xfrm>
            <a:off x="90525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0" name="estado-5-1"/>
          <p:cNvSpPr/>
          <p:nvPr/>
        </p:nvSpPr>
        <p:spPr>
          <a:xfrm>
            <a:off x="954633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1" name="estado-5-2"/>
          <p:cNvSpPr/>
          <p:nvPr/>
        </p:nvSpPr>
        <p:spPr>
          <a:xfrm>
            <a:off x="1004011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2" name="estado-5-3"/>
          <p:cNvSpPr/>
          <p:nvPr/>
        </p:nvSpPr>
        <p:spPr>
          <a:xfrm>
            <a:off x="10533888" y="393192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3" name="estado-5-4"/>
          <p:cNvSpPr/>
          <p:nvPr/>
        </p:nvSpPr>
        <p:spPr>
          <a:xfrm>
            <a:off x="1102766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4" name="estado-6-0"/>
          <p:cNvSpPr/>
          <p:nvPr/>
        </p:nvSpPr>
        <p:spPr>
          <a:xfrm>
            <a:off x="9052560" y="4425696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5" name="estado-6-1"/>
          <p:cNvSpPr/>
          <p:nvPr/>
        </p:nvSpPr>
        <p:spPr>
          <a:xfrm>
            <a:off x="9546336" y="442569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6" name="estado-6-2"/>
          <p:cNvSpPr/>
          <p:nvPr/>
        </p:nvSpPr>
        <p:spPr>
          <a:xfrm>
            <a:off x="10040112" y="4425696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7" name="estado-6-3"/>
          <p:cNvSpPr/>
          <p:nvPr/>
        </p:nvSpPr>
        <p:spPr>
          <a:xfrm>
            <a:off x="10533888" y="442569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8" name="estado-6-4"/>
          <p:cNvSpPr/>
          <p:nvPr/>
        </p:nvSpPr>
        <p:spPr>
          <a:xfrm>
            <a:off x="11027664" y="4425696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9" name="estado-7-0"/>
          <p:cNvSpPr/>
          <p:nvPr/>
        </p:nvSpPr>
        <p:spPr>
          <a:xfrm>
            <a:off x="9052560" y="4919472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0" name="estado-7-1"/>
          <p:cNvSpPr/>
          <p:nvPr/>
        </p:nvSpPr>
        <p:spPr>
          <a:xfrm>
            <a:off x="9546336" y="4919472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1" name="estado-7-2"/>
          <p:cNvSpPr/>
          <p:nvPr/>
        </p:nvSpPr>
        <p:spPr>
          <a:xfrm>
            <a:off x="10040112" y="491947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2" name="estado-7-3"/>
          <p:cNvSpPr/>
          <p:nvPr/>
        </p:nvSpPr>
        <p:spPr>
          <a:xfrm>
            <a:off x="10533888" y="4919472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3" name="estado-7-4"/>
          <p:cNvSpPr/>
          <p:nvPr/>
        </p:nvSpPr>
        <p:spPr>
          <a:xfrm>
            <a:off x="11027664" y="491947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4" name="estado-8-0"/>
          <p:cNvSpPr/>
          <p:nvPr/>
        </p:nvSpPr>
        <p:spPr>
          <a:xfrm>
            <a:off x="9052560" y="5413248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45" name="estado-8-1"/>
          <p:cNvSpPr/>
          <p:nvPr/>
        </p:nvSpPr>
        <p:spPr>
          <a:xfrm>
            <a:off x="9546336" y="5413248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6" name="estado-8-2"/>
          <p:cNvSpPr/>
          <p:nvPr/>
        </p:nvSpPr>
        <p:spPr>
          <a:xfrm>
            <a:off x="10040112" y="5413248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7" name="estado-8-3"/>
          <p:cNvSpPr/>
          <p:nvPr/>
        </p:nvSpPr>
        <p:spPr>
          <a:xfrm>
            <a:off x="10533888" y="541324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8" name="estado-8-4"/>
          <p:cNvSpPr/>
          <p:nvPr/>
        </p:nvSpPr>
        <p:spPr>
          <a:xfrm>
            <a:off x="11027664" y="5413248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ricolage Grotesq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</dc:title>
  <dc:subject>PptxGenJS Presentation</dc:subject>
  <dc:creator>Workshop Claude</dc:creator>
  <cp:lastModifiedBy>Workshop Claude</cp:lastModifiedBy>
  <cp:revision>1</cp:revision>
  <dcterms:created xsi:type="dcterms:W3CDTF">2026-10-16T15:47:28Z</dcterms:created>
  <dcterms:modified xsi:type="dcterms:W3CDTF">2026-10-16T15:47:28Z</dcterms:modified>
</cp:coreProperties>
</file>