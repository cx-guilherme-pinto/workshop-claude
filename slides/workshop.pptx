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0cad650-f737-c1ff-5278-35aaae32e10c}">
          <p14:sldIdLst>
            <p14:sldId id="256"/>
            <p14:sldId id="257"/>
            <p14:sldId id="258"/>
            <p14:sldId id="259"/>
          </p14:sldIdLst>
        </p14:section>
        <p14:section name="Verificar" id="{66a674a2-7080-130f-1627-b54705ecfd30}">
          <p14:sldIdLst>
            <p14:sldId id="260"/>
            <p14:sldId id="261"/>
          </p14:sldIdLst>
        </p14:section>
        <p14:section name="Conceitos" id="{653c8ccf-2659-52b0-9e2c-14d28c8ebb57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eview" id="{748911c3-3543-e56b-d9a5-54064950c503}">
          <p14:sldIdLst>
            <p14:sldId id="272"/>
            <p14:sldId id="273"/>
          </p14:sldIdLst>
        </p14:section>
        <p14:section name="Projeto 1" id="{87703f0b-b7ab-44b3-effd-8d275f9ad44a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Memória" id="{7d488a4b-1316-b741-42a9-52aa629f8307}">
          <p14:sldIdLst>
            <p14:sldId id="287"/>
            <p14:sldId id="288"/>
          </p14:sldIdLst>
        </p14:section>
        <p14:section name="Projeto 2" id="{aa8d698e-7bd4-95d5-6062-4c52b5980008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60636547-4b29-c69f-3e84-fd63efe1a6b0}">
          <p14:sldIdLst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1.5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3:30] 1 min · deves estar aqui aos 3 min
O relógio está nas notas de cada slide. As perguntas ficam para o fim, sem limite 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 → 5:00] 1.5 min · deves estar aqui aos 4 min
O orçamento é garantido pelo benchmark, não por cortes. Se alguém passar o alvo, aparece um aviso e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8:00] 3 min · deves estar aqui aos 5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[8:00 → 10:00] 2 min · deves estar aqui aos 8 min
O Claude lê só o excerto do log daquele passo, sem segredos, e propõe comandos. Nunca executa nada sem confirmação. Se o Claude ainda não estiver instalado, aparece a mensagem pré-escrita do TROUBLESHOOTING.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 → 10:30] 0.5 min · deves estar aqui aos 10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12:00] 1.5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deves estar aqui aos 12 min
As skills substituíram os slash commands antigos. O frontmatter fixa o modelo e as ferramentas autorizadas. Hoje vamos usar dois sets: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deves estar aqui aos 16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20:00] 2 min · deves estar aqui aos 18 min
O plano é um grafo de dependências. Executamos por ondas: tudo o que está pronto corre em paralelo. Os três cartões de criptografia esperam pelo lib/hash, uma dependência real dentro da onda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→ 21:30] 1.5 min · deves estar aqui aos 20 min
Com 15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[21:30 → 23:00] 1.5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24:00] 1 min · deves estar aqui aos 23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→ 25:00] 1 min · PODE SALTAR · deves estar aqui aos 24 min
Saltar se houver atraso. O Claude Code recusa o 21.º subagente em simultâneo. Os limites de taxa da API são por organização. Por isso trabalhamos em lotes.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29:00] 4 min · deves estar aqui aos 25 min
Vídeo acelerado de uma execução real do modo apresentador. O tempo e o custo que aparecem no ecrã são os reais. Plano B se o vídeo falhar: abrir /estado?replay=gravacao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 → 30:00] 1 min · deves estar aqui aos 29 min
Abrir a Arena final no browser e jogar um cartão. É uma app estática, sem risco. O jogo vem em português ou inglês, conforme a língua da máquina.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30:30] 0.5 min · deves estar aqui aos 30 min
25 minutos de hands-on. No benchmark, o swarm de 15 cartões demorou 4 a 6 minutos;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[30:30 → 31:30] 1 min · deves estar aqui aos 31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[31:30 → 34:30] 3 min · deves estar aqui aos 32 min
O diálogo de confiança é importante: sem ele, as permissões do projeto ficam desligadas.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[34:30 → 36:00] 1.5 min · deves estar aqui aos 35 min
Mostrar o plano de alguém no projetor. Na onda 1, o lib/hash e os cartões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[36:00 → 38:00] 2 min · deves estar aqui aos 36 min
A partir daqui o swarm trabalha alguns minutos (4 a 6 no benchmark).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[38:00 → 40:00] 2 min · deves estar aqui aos 38 min
O /btw responde ao lado. É a forma certa de tirar dúvidas durante uma execução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 → 42:00] 2 min · deves estar aqui aos 40 min
Mostrar a statusline a mudar enquanto os agentes terminam. Explicar porque é que o /usage pode mostrar mais: versões que ainda não conhecem os preços mais recentes.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45:00] 3 min · deves estar aqui aos 42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47:00] 2 min · PODE SALTAR · deves estar aqui aos 45 min
Saltar se houver atraso. Exemplo de rotina: uma revisão de segurança diária com node tools/rotina.mjs --instalar,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 → 49:00] 2 min · deves estar aqui aos 47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[49:00 → 51:00] 2 min · deves estar aqui aos 49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[51:00 → 53:00] 2 min · deves estar aqui aos 51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57:00] 2 min · deves estar aqui aos 55 min
São ficheiros Markdown em ~/.memoria, com um índice SQLite. Fica tudo só no teu PC.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[57:00 → 60:00] 3 min · deves estar aqui aos 57 min
A app abre na tua língua nativa e tem um seletor de língua. Rotinas, worktrees e o modo headless já ficaram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60:30] 0.5 min · deves estar aqui aos 60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[60:30 → 62:00] 1.5 min · deves estar aqui aos 61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66:00] 4 min · deves estar aqui aos 62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[66:00 → 71:00] 5 min · deves estar aqui aos 66 min
O planner (Opus) propõe o grafo e um script valida-o: ciclos, ficheiros em comum, agentes conhecidos. A integração e a revisão são acrescentadas sozinhas.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[71:00 → 81:00] 10 min · deves estar aqui aos 71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[81:00 → 82:00] 1 min · PODE SALTAR · deves estar aqui aos 81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[82:00 → 84:00] 2 min · deves estar aqui aos 82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[84:00 → 85:00] 1 min · PODE SALTAR · deves estar aqui aos 84 min
Saltar se houver atraso. Com assinatura, a mesma sessão pode continuar no telemóvel e as rotinas correm na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1.5 min · deves estar aqui aos 87 min
Os comandos são gerados a partir do repos.conf: estão sempre certos para a versão publicada.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0.5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solidFill>
          <a:srgbClr val="0F13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 de agentes com Claude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CA">
    <p:bg>
      <p:bgPr>
        <a:solidFill>
          <a:srgbClr val="F1C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7-1.mp4"/><Relationship Id="rId2" Type="http://schemas.microsoft.com/office/2007/relationships/media" Target="../media/media-17-1.mp4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Orquestração de agentes com Claude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subagentes e swarms paralelos, com custo medido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levas para casa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swarm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15 agentes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90 minutos</a:t>
            </a:r>
            <a:endParaRPr lang="en-US" sz="3600" dirty="0"/>
          </a:p>
        </p:txBody>
      </p:sp>
      <p:sp>
        <p:nvSpPr>
          <p:cNvPr id="3" name="bloco-0"/>
          <p:cNvSpPr/>
          <p:nvPr/>
        </p:nvSpPr>
        <p:spPr>
          <a:xfrm>
            <a:off x="54864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4" name="bloco-min-0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0′</a:t>
            </a:r>
            <a:endParaRPr lang="en-US" sz="1400" dirty="0"/>
          </a:p>
        </p:txBody>
      </p:sp>
      <p:sp>
        <p:nvSpPr>
          <p:cNvPr id="5" name="bloco-nome-0"/>
          <p:cNvSpPr txBox="1"/>
          <p:nvPr/>
        </p:nvSpPr>
        <p:spPr>
          <a:xfrm>
            <a:off x="548640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Abertura</a:t>
            </a:r>
            <a:endParaRPr lang="en-US" sz="1800" dirty="0"/>
          </a:p>
        </p:txBody>
      </p:sp>
      <p:sp>
        <p:nvSpPr>
          <p:cNvPr id="6" name="bloco-1"/>
          <p:cNvSpPr/>
          <p:nvPr/>
        </p:nvSpPr>
        <p:spPr>
          <a:xfrm>
            <a:off x="1164996" y="2011680"/>
            <a:ext cx="570636" cy="14630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7" name="bloco-min-1"/>
          <p:cNvSpPr txBox="1"/>
          <p:nvPr/>
        </p:nvSpPr>
        <p:spPr>
          <a:xfrm>
            <a:off x="1164996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5′</a:t>
            </a:r>
            <a:endParaRPr lang="en-US" sz="1400" dirty="0"/>
          </a:p>
        </p:txBody>
      </p:sp>
      <p:sp>
        <p:nvSpPr>
          <p:cNvPr id="8" name="bloco-nome-1"/>
          <p:cNvSpPr txBox="1"/>
          <p:nvPr/>
        </p:nvSpPr>
        <p:spPr>
          <a:xfrm>
            <a:off x="1164996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Verificar</a:t>
            </a:r>
            <a:endParaRPr lang="en-US" sz="1800" dirty="0"/>
          </a:p>
        </p:txBody>
      </p:sp>
      <p:sp>
        <p:nvSpPr>
          <p:cNvPr id="9" name="bloco-2"/>
          <p:cNvSpPr/>
          <p:nvPr/>
        </p:nvSpPr>
        <p:spPr>
          <a:xfrm>
            <a:off x="1781353" y="2011680"/>
            <a:ext cx="1803349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0" name="bloco-min-2"/>
          <p:cNvSpPr txBox="1"/>
          <p:nvPr/>
        </p:nvSpPr>
        <p:spPr>
          <a:xfrm>
            <a:off x="1781353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10′</a:t>
            </a:r>
            <a:endParaRPr lang="en-US" sz="1400" dirty="0"/>
          </a:p>
        </p:txBody>
      </p:sp>
      <p:sp>
        <p:nvSpPr>
          <p:cNvPr id="11" name="bloco-nome-2"/>
          <p:cNvSpPr txBox="1"/>
          <p:nvPr/>
        </p:nvSpPr>
        <p:spPr>
          <a:xfrm>
            <a:off x="1781353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1800" dirty="0"/>
          </a:p>
        </p:txBody>
      </p:sp>
      <p:sp>
        <p:nvSpPr>
          <p:cNvPr id="12" name="bloco-3"/>
          <p:cNvSpPr/>
          <p:nvPr/>
        </p:nvSpPr>
        <p:spPr>
          <a:xfrm>
            <a:off x="3630422" y="2011680"/>
            <a:ext cx="570636" cy="14630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13" name="bloco-min-3"/>
          <p:cNvSpPr txBox="1"/>
          <p:nvPr/>
        </p:nvSpPr>
        <p:spPr>
          <a:xfrm>
            <a:off x="3630422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25′</a:t>
            </a:r>
            <a:endParaRPr lang="en-US" sz="1400" dirty="0"/>
          </a:p>
        </p:txBody>
      </p:sp>
      <p:sp>
        <p:nvSpPr>
          <p:cNvPr id="14" name="bloco-nome-3"/>
          <p:cNvSpPr txBox="1"/>
          <p:nvPr/>
        </p:nvSpPr>
        <p:spPr>
          <a:xfrm>
            <a:off x="3630422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Preview</a:t>
            </a:r>
            <a:endParaRPr lang="en-US" sz="1800" dirty="0"/>
          </a:p>
        </p:txBody>
      </p:sp>
      <p:sp>
        <p:nvSpPr>
          <p:cNvPr id="15" name="bloco-4"/>
          <p:cNvSpPr/>
          <p:nvPr/>
        </p:nvSpPr>
        <p:spPr>
          <a:xfrm>
            <a:off x="4246778" y="2011680"/>
            <a:ext cx="3036062" cy="14630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bloco-min-4"/>
          <p:cNvSpPr txBox="1"/>
          <p:nvPr/>
        </p:nvSpPr>
        <p:spPr>
          <a:xfrm>
            <a:off x="4246778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30′</a:t>
            </a:r>
            <a:endParaRPr lang="en-US" sz="1400" dirty="0"/>
          </a:p>
        </p:txBody>
      </p:sp>
      <p:sp>
        <p:nvSpPr>
          <p:cNvPr id="17" name="bloco-nome-4"/>
          <p:cNvSpPr txBox="1"/>
          <p:nvPr/>
        </p:nvSpPr>
        <p:spPr>
          <a:xfrm>
            <a:off x="4246778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1800" dirty="0"/>
          </a:p>
        </p:txBody>
      </p:sp>
      <p:sp>
        <p:nvSpPr>
          <p:cNvPr id="18" name="bloco-5"/>
          <p:cNvSpPr/>
          <p:nvPr/>
        </p:nvSpPr>
        <p:spPr>
          <a:xfrm>
            <a:off x="7328560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19" name="bloco-min-5"/>
          <p:cNvSpPr txBox="1"/>
          <p:nvPr/>
        </p:nvSpPr>
        <p:spPr>
          <a:xfrm>
            <a:off x="7328560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55′</a:t>
            </a:r>
            <a:endParaRPr lang="en-US" sz="1400" dirty="0"/>
          </a:p>
        </p:txBody>
      </p:sp>
      <p:sp>
        <p:nvSpPr>
          <p:cNvPr id="20" name="bloco-nome-5"/>
          <p:cNvSpPr txBox="1"/>
          <p:nvPr/>
        </p:nvSpPr>
        <p:spPr>
          <a:xfrm>
            <a:off x="7328560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800" dirty="0"/>
          </a:p>
        </p:txBody>
      </p:sp>
      <p:sp>
        <p:nvSpPr>
          <p:cNvPr id="21" name="bloco-6"/>
          <p:cNvSpPr/>
          <p:nvPr/>
        </p:nvSpPr>
        <p:spPr>
          <a:xfrm>
            <a:off x="7944917" y="2011680"/>
            <a:ext cx="3036062" cy="146304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2" name="bloco-min-6"/>
          <p:cNvSpPr txBox="1"/>
          <p:nvPr/>
        </p:nvSpPr>
        <p:spPr>
          <a:xfrm>
            <a:off x="7944917" y="3657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60′</a:t>
            </a:r>
            <a:endParaRPr lang="en-US" sz="1400" dirty="0"/>
          </a:p>
        </p:txBody>
      </p:sp>
      <p:sp>
        <p:nvSpPr>
          <p:cNvPr id="23" name="bloco-nome-6"/>
          <p:cNvSpPr txBox="1"/>
          <p:nvPr/>
        </p:nvSpPr>
        <p:spPr>
          <a:xfrm>
            <a:off x="7944917" y="3931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1800" dirty="0"/>
          </a:p>
        </p:txBody>
      </p:sp>
      <p:sp>
        <p:nvSpPr>
          <p:cNvPr id="24" name="bloco-7"/>
          <p:cNvSpPr/>
          <p:nvPr/>
        </p:nvSpPr>
        <p:spPr>
          <a:xfrm>
            <a:off x="11026699" y="2011680"/>
            <a:ext cx="570636" cy="1463040"/>
          </a:xfrm>
          <a:prstGeom prst="rect">
            <a:avLst/>
          </a:prstGeom>
          <a:solidFill>
            <a:srgbClr val="D9DAD3"/>
          </a:solidFill>
          <a:ln w="12700">
            <a:solidFill>
              <a:srgbClr val="D9DAD3"/>
            </a:solidFill>
            <a:prstDash val="solid"/>
          </a:ln>
        </p:spPr>
      </p:sp>
      <p:sp>
        <p:nvSpPr>
          <p:cNvPr id="25" name="bloco-min-7"/>
          <p:cNvSpPr txBox="1"/>
          <p:nvPr/>
        </p:nvSpPr>
        <p:spPr>
          <a:xfrm>
            <a:off x="11026699" y="4526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85′</a:t>
            </a:r>
            <a:endParaRPr lang="en-US" sz="1400" dirty="0"/>
          </a:p>
        </p:txBody>
      </p:sp>
      <p:sp>
        <p:nvSpPr>
          <p:cNvPr id="26" name="bloco-nome-7"/>
          <p:cNvSpPr txBox="1"/>
          <p:nvPr/>
        </p:nvSpPr>
        <p:spPr>
          <a:xfrm>
            <a:off x="11026699" y="4800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Fecho</a:t>
            </a:r>
            <a:endParaRPr lang="en-US" sz="1800" dirty="0"/>
          </a:p>
        </p:txBody>
      </p:sp>
      <p:sp>
        <p:nvSpPr>
          <p:cNvPr id="27" name="agenda-fim"/>
          <p:cNvSpPr txBox="1"/>
          <p:nvPr/>
        </p:nvSpPr>
        <p:spPr>
          <a:xfrm>
            <a:off x="7528255" y="5669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90′ e depois perguntas, sem limite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As regras do custo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em 10 execuções reais: média US$ 1,03, máximo US$ 1,12.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Verifica a instalação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"Everything is ready for the workshop" (o setup fala inglês)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Algum passo falhou?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a análise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os comandos um a um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6656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9691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passo que falhou é repetido e fica feito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Conceitos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Claude Code trabalha no teu projeto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Jira, GitHub e a tua memória, via MCP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skill é uma receita com nome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ESTADO: FIM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Subagentes: contexto e modelo próprios</a:t>
            </a:r>
            <a:endParaRPr lang="en-US" sz="3600" dirty="0"/>
          </a:p>
        </p:txBody>
      </p:sp>
      <p:sp>
        <p:nvSpPr>
          <p:cNvPr id="3" name="modelo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odelo-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5" name="modelo-nome-0"/>
          <p:cNvSpPr txBox="1"/>
          <p:nvPr/>
        </p:nvSpPr>
        <p:spPr>
          <a:xfrm>
            <a:off x="868680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Opus</a:t>
            </a:r>
            <a:endParaRPr lang="en-US" sz="4800" dirty="0"/>
          </a:p>
        </p:txBody>
      </p:sp>
      <p:sp>
        <p:nvSpPr>
          <p:cNvPr id="6" name="modelo-papel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 e rever</a:t>
            </a:r>
            <a:endParaRPr lang="en-US" sz="2000" dirty="0"/>
          </a:p>
        </p:txBody>
      </p:sp>
      <p:sp>
        <p:nvSpPr>
          <p:cNvPr id="7" name="modelo-preco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8" name="modelo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9" name="modelo-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modelo-nome-1"/>
          <p:cNvSpPr txBox="1"/>
          <p:nvPr/>
        </p:nvSpPr>
        <p:spPr>
          <a:xfrm>
            <a:off x="4673498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Sonnet</a:t>
            </a:r>
            <a:endParaRPr lang="en-US" sz="4800" dirty="0"/>
          </a:p>
        </p:txBody>
      </p:sp>
      <p:sp>
        <p:nvSpPr>
          <p:cNvPr id="11" name="modelo-papel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 lógica difícil</a:t>
            </a:r>
            <a:endParaRPr lang="en-US" sz="2000" dirty="0"/>
          </a:p>
        </p:txBody>
      </p:sp>
      <p:sp>
        <p:nvSpPr>
          <p:cNvPr id="12" name="modelo-preco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3" name="modelo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4" name="modelo-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5" name="modelo-nome-2"/>
          <p:cNvSpPr txBox="1"/>
          <p:nvPr/>
        </p:nvSpPr>
        <p:spPr>
          <a:xfrm>
            <a:off x="8478317" y="2606040"/>
            <a:ext cx="28446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Haiku</a:t>
            </a:r>
            <a:endParaRPr lang="en-US" sz="4800" dirty="0"/>
          </a:p>
        </p:txBody>
      </p:sp>
      <p:sp>
        <p:nvSpPr>
          <p:cNvPr id="16" name="modelo-papel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17" name="modelo-preco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18" name="rodape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pricing.json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regra económica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US$ 0,0017</a:t>
            </a:r>
            <a:endParaRPr lang="en-US" sz="44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 cartão feito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50%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rodape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Tarefa → grafo →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decide o grafo é um script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Medir, não adivinhar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subagente termina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hook SubagentStop corre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Tokens do transcript × preço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Uma linha em usage.jsonl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Statusline e /demo-cost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ciclo de cada tarefa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swarm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review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cost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memória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Limites que respeitamos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4" name="stat-valor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stat-rotulo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subagentes em simultâneo, no máximo, por sessão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7" name="stat-valor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8</a:t>
            </a:r>
            <a:endParaRPr lang="en-US" sz="6000" dirty="0"/>
          </a:p>
        </p:txBody>
      </p:sp>
      <p:sp>
        <p:nvSpPr>
          <p:cNvPr id="8" name="stat-rotulo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 por defeito hoje, para contas novas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0" name="stat-valor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16</a:t>
            </a:r>
            <a:endParaRPr lang="en-US" sz="6000" dirty="0"/>
          </a:p>
        </p:txBody>
      </p:sp>
      <p:sp>
        <p:nvSpPr>
          <p:cNvPr id="11" name="stat-rotulo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modo apresentador (100 agentes em lotes)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100 agentes a construir a Arena</a:t>
            </a:r>
            <a:endParaRPr lang="en-US" sz="3600" dirty="0"/>
          </a:p>
        </p:txBody>
      </p:sp>
      <p:pic>
        <p:nvPicPr>
          <p:cNvPr id="3" name="video-enx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real gravada: 6,9 min · US$ 2,55 · 107 agentes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resultado: um jogo para jogar</a:t>
            </a:r>
            <a:endParaRPr lang="en-US" sz="3600" dirty="0"/>
          </a:p>
        </p:txBody>
      </p:sp>
      <p:pic>
        <p:nvPicPr>
          <p:cNvPr id="3" name="imagem" descr="Verde: o teste passou · vermelho: falhou. O que não funcionou também se vê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Verde: o teste passou · vermelho: falhou. O que não funcionou também se vê.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que já está pronto e o que falta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modelos de cartão e um teste para cada cartão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cartões, o lib/hash e duas páginas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Planeia o swarm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aceita confiar na pasta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ondas e uma estimativa perto de US$ 1,00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teu plano: 4 ondas</a:t>
            </a:r>
            <a:endParaRPr lang="en-US" sz="3600" dirty="0"/>
          </a:p>
        </p:txBody>
      </p:sp>
      <p:sp>
        <p:nvSpPr>
          <p:cNvPr id="3" name="onda-0"/>
          <p:cNvSpPr/>
          <p:nvPr/>
        </p:nvSpPr>
        <p:spPr>
          <a:xfrm>
            <a:off x="548640" y="1691640"/>
            <a:ext cx="411480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onda-nome-0"/>
          <p:cNvSpPr txBox="1"/>
          <p:nvPr/>
        </p:nvSpPr>
        <p:spPr>
          <a:xfrm>
            <a:off x="822960" y="1920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1</a:t>
            </a:r>
            <a:endParaRPr lang="en-US" sz="2400" dirty="0"/>
          </a:p>
        </p:txBody>
      </p:sp>
      <p:sp>
        <p:nvSpPr>
          <p:cNvPr id="5" name="onda-cor-0"/>
          <p:cNvSpPr/>
          <p:nvPr/>
        </p:nvSpPr>
        <p:spPr>
          <a:xfrm>
            <a:off x="822960" y="2487168"/>
            <a:ext cx="201168" cy="20116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6" name="onda-modelo-0"/>
          <p:cNvSpPr txBox="1"/>
          <p:nvPr/>
        </p:nvSpPr>
        <p:spPr>
          <a:xfrm>
            <a:off x="1115568" y="24323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7" name="onda-sub-0"/>
          <p:cNvSpPr txBox="1"/>
          <p:nvPr/>
        </p:nvSpPr>
        <p:spPr>
          <a:xfrm>
            <a:off x="82296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15 cartões</a:t>
            </a:r>
            <a:endParaRPr lang="en-US" sz="1500" dirty="0"/>
          </a:p>
        </p:txBody>
      </p:sp>
      <p:sp>
        <p:nvSpPr>
          <p:cNvPr id="8" name="hash"/>
          <p:cNvSpPr/>
          <p:nvPr/>
        </p:nvSpPr>
        <p:spPr>
          <a:xfrm>
            <a:off x="822960" y="3474720"/>
            <a:ext cx="411480" cy="41148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hash-rotulo"/>
          <p:cNvSpPr txBox="1"/>
          <p:nvPr/>
        </p:nvSpPr>
        <p:spPr>
          <a:xfrm>
            <a:off x="132588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0" name="cartao-0"/>
          <p:cNvSpPr/>
          <p:nvPr/>
        </p:nvSpPr>
        <p:spPr>
          <a:xfrm>
            <a:off x="822960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cartao-1"/>
          <p:cNvSpPr/>
          <p:nvPr/>
        </p:nvSpPr>
        <p:spPr>
          <a:xfrm>
            <a:off x="1426464" y="40690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2" name="cartao-2"/>
          <p:cNvSpPr/>
          <p:nvPr/>
        </p:nvSpPr>
        <p:spPr>
          <a:xfrm>
            <a:off x="2029968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cartao-3"/>
          <p:cNvSpPr/>
          <p:nvPr/>
        </p:nvSpPr>
        <p:spPr>
          <a:xfrm>
            <a:off x="2633472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cartao-4"/>
          <p:cNvSpPr/>
          <p:nvPr/>
        </p:nvSpPr>
        <p:spPr>
          <a:xfrm>
            <a:off x="3236976" y="40690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cartao-5"/>
          <p:cNvSpPr/>
          <p:nvPr/>
        </p:nvSpPr>
        <p:spPr>
          <a:xfrm>
            <a:off x="822960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cartao-6"/>
          <p:cNvSpPr/>
          <p:nvPr/>
        </p:nvSpPr>
        <p:spPr>
          <a:xfrm>
            <a:off x="1426464" y="4526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cartao-7"/>
          <p:cNvSpPr/>
          <p:nvPr/>
        </p:nvSpPr>
        <p:spPr>
          <a:xfrm>
            <a:off x="2029968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cartao-8"/>
          <p:cNvSpPr/>
          <p:nvPr/>
        </p:nvSpPr>
        <p:spPr>
          <a:xfrm>
            <a:off x="2633472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cartao-9"/>
          <p:cNvSpPr/>
          <p:nvPr/>
        </p:nvSpPr>
        <p:spPr>
          <a:xfrm>
            <a:off x="3236976" y="45262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cartao-10"/>
          <p:cNvSpPr/>
          <p:nvPr/>
        </p:nvSpPr>
        <p:spPr>
          <a:xfrm>
            <a:off x="822960" y="49834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cartao-11"/>
          <p:cNvSpPr/>
          <p:nvPr/>
        </p:nvSpPr>
        <p:spPr>
          <a:xfrm>
            <a:off x="1426464" y="49834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2" name="cartao-12"/>
          <p:cNvSpPr/>
          <p:nvPr/>
        </p:nvSpPr>
        <p:spPr>
          <a:xfrm>
            <a:off x="2029968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3" name="cartao-13"/>
          <p:cNvSpPr/>
          <p:nvPr/>
        </p:nvSpPr>
        <p:spPr>
          <a:xfrm>
            <a:off x="2633472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artao-14"/>
          <p:cNvSpPr/>
          <p:nvPr/>
        </p:nvSpPr>
        <p:spPr>
          <a:xfrm>
            <a:off x="3236976" y="49834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seta-0"/>
          <p:cNvSpPr/>
          <p:nvPr/>
        </p:nvSpPr>
        <p:spPr>
          <a:xfrm>
            <a:off x="4718304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26" name="onda-1"/>
          <p:cNvSpPr/>
          <p:nvPr/>
        </p:nvSpPr>
        <p:spPr>
          <a:xfrm>
            <a:off x="4795418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27" name="onda-nome-1"/>
          <p:cNvSpPr txBox="1"/>
          <p:nvPr/>
        </p:nvSpPr>
        <p:spPr>
          <a:xfrm>
            <a:off x="5069738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2</a:t>
            </a:r>
            <a:endParaRPr lang="en-US" sz="2400" dirty="0"/>
          </a:p>
        </p:txBody>
      </p:sp>
      <p:sp>
        <p:nvSpPr>
          <p:cNvPr id="28" name="onda-cor-1"/>
          <p:cNvSpPr/>
          <p:nvPr/>
        </p:nvSpPr>
        <p:spPr>
          <a:xfrm>
            <a:off x="5069738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onda-modelo-1"/>
          <p:cNvSpPr txBox="1"/>
          <p:nvPr/>
        </p:nvSpPr>
        <p:spPr>
          <a:xfrm>
            <a:off x="5362346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0" name="onda-sub-1"/>
          <p:cNvSpPr txBox="1"/>
          <p:nvPr/>
        </p:nvSpPr>
        <p:spPr>
          <a:xfrm>
            <a:off x="5069738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1" name="onda1-0"/>
          <p:cNvSpPr/>
          <p:nvPr/>
        </p:nvSpPr>
        <p:spPr>
          <a:xfrm>
            <a:off x="506973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2" name="onda1-1"/>
          <p:cNvSpPr/>
          <p:nvPr/>
        </p:nvSpPr>
        <p:spPr>
          <a:xfrm>
            <a:off x="5709818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seta-1"/>
          <p:cNvSpPr/>
          <p:nvPr/>
        </p:nvSpPr>
        <p:spPr>
          <a:xfrm>
            <a:off x="7044842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34" name="onda-2"/>
          <p:cNvSpPr/>
          <p:nvPr/>
        </p:nvSpPr>
        <p:spPr>
          <a:xfrm>
            <a:off x="7121957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35" name="onda-nome-2"/>
          <p:cNvSpPr txBox="1"/>
          <p:nvPr/>
        </p:nvSpPr>
        <p:spPr>
          <a:xfrm>
            <a:off x="7396277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3</a:t>
            </a:r>
            <a:endParaRPr lang="en-US" sz="2400" dirty="0"/>
          </a:p>
        </p:txBody>
      </p:sp>
      <p:sp>
        <p:nvSpPr>
          <p:cNvPr id="36" name="onda-cor-2"/>
          <p:cNvSpPr/>
          <p:nvPr/>
        </p:nvSpPr>
        <p:spPr>
          <a:xfrm>
            <a:off x="7396277" y="2487168"/>
            <a:ext cx="201168" cy="20116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7" name="onda-modelo-2"/>
          <p:cNvSpPr txBox="1"/>
          <p:nvPr/>
        </p:nvSpPr>
        <p:spPr>
          <a:xfrm>
            <a:off x="7688885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8" name="onda-sub-2"/>
          <p:cNvSpPr txBox="1"/>
          <p:nvPr/>
        </p:nvSpPr>
        <p:spPr>
          <a:xfrm>
            <a:off x="7396277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</a:t>
            </a:r>
            <a:endParaRPr lang="en-US" sz="1500" dirty="0"/>
          </a:p>
        </p:txBody>
      </p:sp>
      <p:sp>
        <p:nvSpPr>
          <p:cNvPr id="39" name="onda2-0"/>
          <p:cNvSpPr/>
          <p:nvPr/>
        </p:nvSpPr>
        <p:spPr>
          <a:xfrm>
            <a:off x="7396277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seta-2"/>
          <p:cNvSpPr/>
          <p:nvPr/>
        </p:nvSpPr>
        <p:spPr>
          <a:xfrm>
            <a:off x="9371381" y="3703320"/>
            <a:ext cx="2225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41" name="onda-3"/>
          <p:cNvSpPr/>
          <p:nvPr/>
        </p:nvSpPr>
        <p:spPr>
          <a:xfrm>
            <a:off x="9448495" y="1691640"/>
            <a:ext cx="2194560" cy="40233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2" name="onda-nome-3"/>
          <p:cNvSpPr txBox="1"/>
          <p:nvPr/>
        </p:nvSpPr>
        <p:spPr>
          <a:xfrm>
            <a:off x="9722815" y="1920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Onda 4</a:t>
            </a:r>
            <a:endParaRPr lang="en-US" sz="2400" dirty="0"/>
          </a:p>
        </p:txBody>
      </p:sp>
      <p:sp>
        <p:nvSpPr>
          <p:cNvPr id="43" name="onda-cor-3"/>
          <p:cNvSpPr/>
          <p:nvPr/>
        </p:nvSpPr>
        <p:spPr>
          <a:xfrm>
            <a:off x="9722815" y="2487168"/>
            <a:ext cx="201168" cy="20116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44" name="onda-modelo-3"/>
          <p:cNvSpPr txBox="1"/>
          <p:nvPr/>
        </p:nvSpPr>
        <p:spPr>
          <a:xfrm>
            <a:off x="10015423" y="24323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45" name="onda-sub-3"/>
          <p:cNvSpPr txBox="1"/>
          <p:nvPr/>
        </p:nvSpPr>
        <p:spPr>
          <a:xfrm>
            <a:off x="9722815" y="28346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46" name="onda3-0"/>
          <p:cNvSpPr/>
          <p:nvPr/>
        </p:nvSpPr>
        <p:spPr>
          <a:xfrm>
            <a:off x="9722815" y="3474720"/>
            <a:ext cx="502920" cy="5029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7" name="legenda-dag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Cinzento: à espera. Os 3 de criptografia arrancam quando o lib-hash fica verde.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Solta o swarm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/estado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http://localhost:3000/estado: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 sem interromper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Enquanto o swarm trabalha, no Terminal 1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/btw para uma pergunta lateral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o cr-01 espera pelo lib-hash?</a:t>
            </a:r>
            <a:endParaRPr lang="en-US" sz="17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que não entra na conversa nem para 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statusline e o hook que a alimenta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baixo: modelo · sessão · projeto contra o alvo · tempo · swarm.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34290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"hooks":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"SubagentStop": [{ "hooks": [{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"command": "node tools/workshop/hooks/subagent-stop.mjs"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}]}]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"statusLine":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"command",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"command": "node tools/workshop/statusline/statusline.mjs"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.claude/settings.json da Arena. O /usage do Claude Code dá outra estimativa; o /demo-cost usa os preços publicados.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No Terminal 2: três funcionalidades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acrescentavas uma 11.ª categoria?</a:t>
            </a:r>
            <a:endParaRPr lang="en-US" sz="16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403397"/>
            <a:ext cx="6705295" cy="118689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933749"/>
            <a:ext cx="6248095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PLANO.md numa frase" --model claude-haiku-5-5</a:t>
            </a:r>
            <a:endParaRPr lang="en-US" sz="14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Worktrees e rotinas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assinatura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Até ficar tudo verde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 quadrados vermelhos no fim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um /loop a trabalhar por ti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tools/check-integracao.mjs e corrige o primeiro teste vermelho com o implementer; para quando estiver tudo verde</a:t>
            </a:r>
            <a:endParaRPr lang="en-US" sz="14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pára sozinho quando a suite fica verde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gate de segurança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APROVADO, com testes, CSP,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Quanto custou?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 Haiku com o orquestrador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onda, perto de US$ 1,03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2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Joga o que o swarm construiu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cartão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Cartões verdes jogáveis;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do que fizeste</a:t>
            </a:r>
            <a:endParaRPr lang="en-US" sz="3600" dirty="0"/>
          </a:p>
        </p:txBody>
      </p:sp>
      <p:pic>
        <p:nvPicPr>
          <p:cNvPr id="3" name="imagem" descr="Procura por ticket ou épico (ex.: ARENA-1): lições, fazer, não fazer e histórico ligados a projetos, épicos, tarefas e ficheiro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4343400"/>
          </a:xfrm>
          <a:prstGeom prst="rect">
            <a:avLst/>
          </a:prstGeom>
        </p:spPr>
      </p:pic>
      <p:sp>
        <p:nvSpPr>
          <p:cNvPr id="4" name="legenda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ticket ou épico (ex.: ARENA-1): lições, fazer, não fazer e histórico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3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o teu primeiro grafo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Memória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00811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3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~/Applications/Memória.app   (ou: memoria)</a:t>
            </a:r>
            <a:endParaRPr lang="en-US" sz="17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149651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3253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680003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Memória   (ou: memoria)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Projeto 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400" dirty="0"/>
          </a:p>
        </p:txBody>
      </p:sp>
      <p:sp>
        <p:nvSpPr>
          <p:cNvPr id="4" name="estado-0-0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104241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53619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202996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252374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estado-0-5"/>
          <p:cNvSpPr/>
          <p:nvPr/>
        </p:nvSpPr>
        <p:spPr>
          <a:xfrm>
            <a:off x="301752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0-6"/>
          <p:cNvSpPr/>
          <p:nvPr/>
        </p:nvSpPr>
        <p:spPr>
          <a:xfrm>
            <a:off x="351129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0-7"/>
          <p:cNvSpPr/>
          <p:nvPr/>
        </p:nvSpPr>
        <p:spPr>
          <a:xfrm>
            <a:off x="400507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0-8"/>
          <p:cNvSpPr/>
          <p:nvPr/>
        </p:nvSpPr>
        <p:spPr>
          <a:xfrm>
            <a:off x="449884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estado-0-9"/>
          <p:cNvSpPr/>
          <p:nvPr/>
        </p:nvSpPr>
        <p:spPr>
          <a:xfrm>
            <a:off x="499262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4" name="estado-0-10"/>
          <p:cNvSpPr/>
          <p:nvPr/>
        </p:nvSpPr>
        <p:spPr>
          <a:xfrm>
            <a:off x="5486400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estado-0-11"/>
          <p:cNvSpPr/>
          <p:nvPr/>
        </p:nvSpPr>
        <p:spPr>
          <a:xfrm>
            <a:off x="5980176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0-12"/>
          <p:cNvSpPr/>
          <p:nvPr/>
        </p:nvSpPr>
        <p:spPr>
          <a:xfrm>
            <a:off x="6473952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0-13"/>
          <p:cNvSpPr/>
          <p:nvPr/>
        </p:nvSpPr>
        <p:spPr>
          <a:xfrm>
            <a:off x="6967728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0-14"/>
          <p:cNvSpPr/>
          <p:nvPr/>
        </p:nvSpPr>
        <p:spPr>
          <a:xfrm>
            <a:off x="7461504" y="128016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mesmo ciclo, no teu repositório</a:t>
            </a:r>
            <a:endParaRPr lang="en-US" sz="3600" dirty="0"/>
          </a:p>
        </p:txBody>
      </p:sp>
      <p:sp>
        <p:nvSpPr>
          <p:cNvPr id="3" name="passo-0"/>
          <p:cNvSpPr/>
          <p:nvPr/>
        </p:nvSpPr>
        <p:spPr>
          <a:xfrm>
            <a:off x="548640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passo-marca-0"/>
          <p:cNvSpPr/>
          <p:nvPr/>
        </p:nvSpPr>
        <p:spPr>
          <a:xfrm>
            <a:off x="777240" y="2606040"/>
            <a:ext cx="274320" cy="27432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" name="passo-texto-0"/>
          <p:cNvSpPr txBox="1"/>
          <p:nvPr/>
        </p:nvSpPr>
        <p:spPr>
          <a:xfrm>
            <a:off x="777240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/task-intake</a:t>
            </a:r>
            <a:endParaRPr lang="en-US" sz="1600" dirty="0"/>
          </a:p>
        </p:txBody>
      </p:sp>
      <p:sp>
        <p:nvSpPr>
          <p:cNvPr id="6" name="fluxo-seta-0"/>
          <p:cNvSpPr/>
          <p:nvPr/>
        </p:nvSpPr>
        <p:spPr>
          <a:xfrm>
            <a:off x="2484059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7" name="passo-1"/>
          <p:cNvSpPr/>
          <p:nvPr/>
        </p:nvSpPr>
        <p:spPr>
          <a:xfrm>
            <a:off x="2849819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passo-marca-1"/>
          <p:cNvSpPr/>
          <p:nvPr/>
        </p:nvSpPr>
        <p:spPr>
          <a:xfrm>
            <a:off x="3078419" y="2606040"/>
            <a:ext cx="274320" cy="27432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passo-texto-1"/>
          <p:cNvSpPr txBox="1"/>
          <p:nvPr/>
        </p:nvSpPr>
        <p:spPr>
          <a:xfrm>
            <a:off x="3078419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/task-plan</a:t>
            </a:r>
            <a:endParaRPr lang="en-US" sz="1600" dirty="0"/>
          </a:p>
        </p:txBody>
      </p:sp>
      <p:sp>
        <p:nvSpPr>
          <p:cNvPr id="10" name="fluxo-seta-1"/>
          <p:cNvSpPr/>
          <p:nvPr/>
        </p:nvSpPr>
        <p:spPr>
          <a:xfrm>
            <a:off x="4785238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1" name="passo-2"/>
          <p:cNvSpPr/>
          <p:nvPr/>
        </p:nvSpPr>
        <p:spPr>
          <a:xfrm>
            <a:off x="5150998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passo-marca-2"/>
          <p:cNvSpPr/>
          <p:nvPr/>
        </p:nvSpPr>
        <p:spPr>
          <a:xfrm>
            <a:off x="5379598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passo-texto-2"/>
          <p:cNvSpPr txBox="1"/>
          <p:nvPr/>
        </p:nvSpPr>
        <p:spPr>
          <a:xfrm>
            <a:off x="5379598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/task-swarm</a:t>
            </a:r>
            <a:endParaRPr lang="en-US" sz="1600" dirty="0"/>
          </a:p>
        </p:txBody>
      </p:sp>
      <p:sp>
        <p:nvSpPr>
          <p:cNvPr id="14" name="fluxo-seta-2"/>
          <p:cNvSpPr/>
          <p:nvPr/>
        </p:nvSpPr>
        <p:spPr>
          <a:xfrm>
            <a:off x="7086417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5" name="passo-3"/>
          <p:cNvSpPr/>
          <p:nvPr/>
        </p:nvSpPr>
        <p:spPr>
          <a:xfrm>
            <a:off x="7452177" y="2377440"/>
            <a:ext cx="1889699" cy="182880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6" name="passo-marca-3"/>
          <p:cNvSpPr/>
          <p:nvPr/>
        </p:nvSpPr>
        <p:spPr>
          <a:xfrm>
            <a:off x="7680777" y="2606040"/>
            <a:ext cx="274320" cy="27432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passo-texto-3"/>
          <p:cNvSpPr txBox="1"/>
          <p:nvPr/>
        </p:nvSpPr>
        <p:spPr>
          <a:xfrm>
            <a:off x="7680777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1600" dirty="0"/>
          </a:p>
        </p:txBody>
      </p:sp>
      <p:sp>
        <p:nvSpPr>
          <p:cNvPr id="18" name="fluxo-seta-3"/>
          <p:cNvSpPr/>
          <p:nvPr/>
        </p:nvSpPr>
        <p:spPr>
          <a:xfrm>
            <a:off x="9387596" y="3291840"/>
            <a:ext cx="320040" cy="0"/>
          </a:xfrm>
          <a:prstGeom prst="line">
            <a:avLst/>
          </a:prstGeom>
          <a:noFill/>
          <a:ln w="31750">
            <a:solidFill>
              <a:srgbClr val="121614"/>
            </a:solidFill>
            <a:prstDash val="solid"/>
            <a:tailEnd type="triangle"/>
          </a:ln>
        </p:spPr>
      </p:sp>
      <p:sp>
        <p:nvSpPr>
          <p:cNvPr id="19" name="passo-4"/>
          <p:cNvSpPr/>
          <p:nvPr/>
        </p:nvSpPr>
        <p:spPr>
          <a:xfrm>
            <a:off x="9753356" y="2377440"/>
            <a:ext cx="1889699" cy="18288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20" name="passo-marca-4"/>
          <p:cNvSpPr/>
          <p:nvPr/>
        </p:nvSpPr>
        <p:spPr>
          <a:xfrm>
            <a:off x="9981956" y="2606040"/>
            <a:ext cx="274320" cy="274320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21" name="passo-texto-4"/>
          <p:cNvSpPr txBox="1"/>
          <p:nvPr/>
        </p:nvSpPr>
        <p:spPr>
          <a:xfrm>
            <a:off x="9981956" y="3063240"/>
            <a:ext cx="14324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4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Traz a tua tarefa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ou do GitHub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877056"/>
            <a:ext cx="6705295" cy="1728216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4059936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440740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~/workshop-claude/exemplo-projeto-real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0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5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 planner decide quantos agentes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8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9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ca-rotulo"/>
          <p:cNvSpPr txBox="1"/>
          <p:nvPr/>
        </p:nvSpPr>
        <p:spPr>
          <a:xfrm>
            <a:off x="54864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Faça agora · 10 min</a:t>
            </a:r>
            <a:endParaRPr lang="en-US" sz="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Põe o swarm a trabalhar</a:t>
            </a:r>
            <a:endParaRPr lang="en-US" sz="3800" dirty="0"/>
          </a:p>
        </p:txBody>
      </p:sp>
      <p:sp>
        <p:nvSpPr>
          <p:cNvPr id="4" name="faca-passo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painel noutro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Pára com Esc e retoma quando quiseres</a:t>
            </a:r>
            <a:endParaRPr lang="en-US" sz="2000" dirty="0"/>
          </a:p>
        </p:txBody>
      </p:sp>
      <p:sp>
        <p:nvSpPr>
          <p:cNvPr id="5" name="codigo-fundo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6" name="codigo-rotulo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7" name="codigo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8" name="codigo-fundo"/>
          <p:cNvSpPr/>
          <p:nvPr/>
        </p:nvSpPr>
        <p:spPr>
          <a:xfrm>
            <a:off x="4937760" y="3200400"/>
            <a:ext cx="6705295" cy="983894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9" name="codigo-rotulo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1C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0" name="codigo"/>
          <p:cNvSpPr txBox="1"/>
          <p:nvPr/>
        </p:nvSpPr>
        <p:spPr>
          <a:xfrm>
            <a:off x="5166360" y="3730752"/>
            <a:ext cx="6248095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~/.workshop-claude/kit/orquestrador/painel.mjs</a:t>
            </a:r>
            <a:endParaRPr lang="en-US" sz="1600" dirty="0"/>
          </a:p>
        </p:txBody>
      </p:sp>
      <p:sp>
        <p:nvSpPr>
          <p:cNvPr id="11" name="esperado-marca"/>
          <p:cNvSpPr/>
          <p:nvPr/>
        </p:nvSpPr>
        <p:spPr>
          <a:xfrm>
            <a:off x="548640" y="5650992"/>
            <a:ext cx="292608" cy="29260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faca-esperado"/>
          <p:cNvSpPr txBox="1"/>
          <p:nvPr/>
        </p:nvSpPr>
        <p:spPr>
          <a:xfrm>
            <a:off x="100584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2161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e GitHub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menos contexto do que um MCP e sem tokens partilhados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Depois do workshop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subtarefa, com agente, modelo, tempo e custo, e o worklog. GitHub: o PR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/memoria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Claude Desktop e telemóvel</a:t>
            </a:r>
            <a:endParaRPr lang="en-US" sz="3600" dirty="0"/>
          </a:p>
        </p:txBody>
      </p:sp>
      <p:sp>
        <p:nvSpPr>
          <p:cNvPr id="3" name="coluna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4" name="marca-0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na-titulo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Desktop</a:t>
            </a:r>
            <a:endParaRPr lang="en-US" sz="2600" dirty="0"/>
          </a:p>
        </p:txBody>
      </p:sp>
      <p:sp>
        <p:nvSpPr>
          <p:cNvPr id="6" name="coluna-texto-0"/>
          <p:cNvSpPr txBox="1"/>
          <p:nvPr/>
        </p:nvSpPr>
        <p:spPr>
          <a:xfrm>
            <a:off x="868680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conversar, com conta claude.ai; o separador Code exige assinatura</a:t>
            </a:r>
            <a:endParaRPr lang="en-US" sz="2000" dirty="0"/>
          </a:p>
        </p:txBody>
      </p:sp>
      <p:sp>
        <p:nvSpPr>
          <p:cNvPr id="7" name="coluna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8" name="marca-1"/>
          <p:cNvSpPr/>
          <p:nvPr/>
        </p:nvSpPr>
        <p:spPr>
          <a:xfrm>
            <a:off x="4673498" y="2011680"/>
            <a:ext cx="384048" cy="384048"/>
          </a:xfrm>
          <a:prstGeom prst="rect">
            <a:avLst/>
          </a:prstGeom>
          <a:solidFill>
            <a:srgbClr val="1A4BE0"/>
          </a:solidFill>
          <a:ln w="12700">
            <a:solidFill>
              <a:srgbClr val="1A4BE0"/>
            </a:solidFill>
            <a:prstDash val="solid"/>
          </a:ln>
        </p:spPr>
      </p:sp>
      <p:sp>
        <p:nvSpPr>
          <p:cNvPr id="9" name="coluna-titulo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Telemóvel</a:t>
            </a:r>
            <a:endParaRPr lang="en-US" sz="2600" dirty="0"/>
          </a:p>
        </p:txBody>
      </p:sp>
      <p:sp>
        <p:nvSpPr>
          <p:cNvPr id="10" name="coluna-texto-1"/>
          <p:cNvSpPr txBox="1"/>
          <p:nvPr/>
        </p:nvSpPr>
        <p:spPr>
          <a:xfrm>
            <a:off x="4673498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Remote Control exige assinatura e não aceita API keys</a:t>
            </a:r>
            <a:endParaRPr lang="en-US" sz="2000" dirty="0"/>
          </a:p>
        </p:txBody>
      </p:sp>
      <p:sp>
        <p:nvSpPr>
          <p:cNvPr id="11" name="coluna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E6E6E1"/>
          </a:solidFill>
          <a:ln w="12700">
            <a:solidFill>
              <a:srgbClr val="E6E6E1"/>
            </a:solidFill>
            <a:prstDash val="solid"/>
          </a:ln>
        </p:spPr>
      </p:sp>
      <p:sp>
        <p:nvSpPr>
          <p:cNvPr id="12" name="marca-2"/>
          <p:cNvSpPr/>
          <p:nvPr/>
        </p:nvSpPr>
        <p:spPr>
          <a:xfrm>
            <a:off x="8478317" y="20116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na-titulo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Hoje</a:t>
            </a:r>
            <a:endParaRPr lang="en-US" sz="2600" dirty="0"/>
          </a:p>
        </p:txBody>
      </p:sp>
      <p:sp>
        <p:nvSpPr>
          <p:cNvPr id="14" name="coluna-texto-2"/>
          <p:cNvSpPr txBox="1"/>
          <p:nvPr/>
        </p:nvSpPr>
        <p:spPr>
          <a:xfrm>
            <a:off x="8478317" y="365760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no Claude Code, com a tua conta Console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Cinco ideias para levar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Skills tornam o trabalho repetível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Subagentes dão contexto limpo e o modelo certo para cada peça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Um script decide o grafo; o modelo executa</a:t>
            </a:r>
            <a:endParaRPr lang="en-US" sz="2600" dirty="0"/>
          </a:p>
        </p:txBody>
      </p:sp>
      <p:sp>
        <p:nvSpPr>
          <p:cNvPr id="9" name="lista-marca-3"/>
          <p:cNvSpPr/>
          <p:nvPr/>
        </p:nvSpPr>
        <p:spPr>
          <a:xfrm>
            <a:off x="548640" y="4306824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lista-item-3"/>
          <p:cNvSpPr txBox="1"/>
          <p:nvPr/>
        </p:nvSpPr>
        <p:spPr>
          <a:xfrm>
            <a:off x="1097280" y="421538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Mede-se com hooks; o custo não se adivinha</a:t>
            </a:r>
            <a:endParaRPr lang="en-US" sz="2600" dirty="0"/>
          </a:p>
        </p:txBody>
      </p:sp>
      <p:sp>
        <p:nvSpPr>
          <p:cNvPr id="11" name="lista-marca-4"/>
          <p:cNvSpPr/>
          <p:nvPr/>
        </p:nvSpPr>
        <p:spPr>
          <a:xfrm>
            <a:off x="548640" y="5148072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lista-item-4"/>
          <p:cNvSpPr txBox="1"/>
          <p:nvPr/>
        </p:nvSpPr>
        <p:spPr>
          <a:xfrm>
            <a:off x="1097280" y="505663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 memória faz cada tarefa ensinar a próxima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Onde está tudo</a:t>
            </a:r>
            <a:endParaRPr lang="en-US" sz="36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21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noutra máquina:</a:t>
            </a:r>
            <a:endParaRPr lang="en-US" sz="2000" dirty="0"/>
          </a:p>
        </p:txBody>
      </p:sp>
      <p:sp>
        <p:nvSpPr>
          <p:cNvPr id="4" name="codigo-fundo"/>
          <p:cNvSpPr/>
          <p:nvPr/>
        </p:nvSpPr>
        <p:spPr>
          <a:xfrm>
            <a:off x="548640" y="2148840"/>
            <a:ext cx="11094415" cy="2057400"/>
          </a:xfrm>
          <a:prstGeom prst="rect">
            <a:avLst/>
          </a:prstGeom>
          <a:solidFill>
            <a:srgbClr val="121614"/>
          </a:solidFill>
          <a:ln w="12700">
            <a:solidFill>
              <a:srgbClr val="121614"/>
            </a:solidFill>
            <a:prstDash val="solid"/>
          </a:ln>
        </p:spPr>
      </p:sp>
      <p:sp>
        <p:nvSpPr>
          <p:cNvPr id="5" name="codigo"/>
          <p:cNvSpPr txBox="1"/>
          <p:nvPr/>
        </p:nvSpPr>
        <p:spPr>
          <a:xfrm>
            <a:off x="777240" y="2331720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https://gitea.guilhermepinto.pt/guilherme/workshop-claude/releases/download/v1.0.0-dev.3/setup-mac.sh | bash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ED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https://gitea.guilhermepinto.pt/guilherme/workshop-claude/releases/download/v1.0.0-dev.3/bootstrap-windows.ps1 | iex</a:t>
            </a:r>
            <a:endParaRPr lang="en-US" sz="2000" dirty="0"/>
          </a:p>
        </p:txBody>
      </p:sp>
      <p:sp>
        <p:nvSpPr>
          <p:cNvPr id="6" name="depois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C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Repositório: https://gitea.guilhermepinto.pt/guilherme/workshop-claude · versão v1.0.0-dev.3 · atualizar a memória: memoria update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Amanhã</a:t>
            </a:r>
            <a:endParaRPr lang="en-US" sz="3600" dirty="0"/>
          </a:p>
        </p:txBody>
      </p:sp>
      <p:sp>
        <p:nvSpPr>
          <p:cNvPr id="3" name="lista-marca-0"/>
          <p:cNvSpPr/>
          <p:nvPr/>
        </p:nvSpPr>
        <p:spPr>
          <a:xfrm>
            <a:off x="548640" y="1783080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" name="lista-item-0"/>
          <p:cNvSpPr txBox="1"/>
          <p:nvPr/>
        </p:nvSpPr>
        <p:spPr>
          <a:xfrm>
            <a:off x="1097280" y="16916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Corre /task-intake na próxima issue que te atribuírem</a:t>
            </a:r>
            <a:endParaRPr lang="en-US" sz="2600" dirty="0"/>
          </a:p>
        </p:txBody>
      </p:sp>
      <p:sp>
        <p:nvSpPr>
          <p:cNvPr id="5" name="lista-marca-1"/>
          <p:cNvSpPr/>
          <p:nvPr/>
        </p:nvSpPr>
        <p:spPr>
          <a:xfrm>
            <a:off x="548640" y="2624328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lista-item-1"/>
          <p:cNvSpPr txBox="1"/>
          <p:nvPr/>
        </p:nvSpPr>
        <p:spPr>
          <a:xfrm>
            <a:off x="1097280" y="2532888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Escreve uma skill para uma tarefa que repetes todas as semanas</a:t>
            </a:r>
            <a:endParaRPr lang="en-US" sz="2600" dirty="0"/>
          </a:p>
        </p:txBody>
      </p:sp>
      <p:sp>
        <p:nvSpPr>
          <p:cNvPr id="7" name="lista-marca-2"/>
          <p:cNvSpPr/>
          <p:nvPr/>
        </p:nvSpPr>
        <p:spPr>
          <a:xfrm>
            <a:off x="548640" y="3465576"/>
            <a:ext cx="310896" cy="31089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8" name="lista-item-2"/>
          <p:cNvSpPr txBox="1"/>
          <p:nvPr/>
        </p:nvSpPr>
        <p:spPr>
          <a:xfrm>
            <a:off x="1097280" y="337413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21614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Abre a Memória antes de planear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45C5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EDE9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Perguntas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776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9BA5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limite de tempo</a:t>
            </a:r>
            <a:endParaRPr lang="en-US" sz="2200" dirty="0"/>
          </a:p>
        </p:txBody>
      </p:sp>
      <p:sp>
        <p:nvSpPr>
          <p:cNvPr id="4" name="estado-0-0"/>
          <p:cNvSpPr/>
          <p:nvPr/>
        </p:nvSpPr>
        <p:spPr>
          <a:xfrm>
            <a:off x="9052560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estado-0-1"/>
          <p:cNvSpPr/>
          <p:nvPr/>
        </p:nvSpPr>
        <p:spPr>
          <a:xfrm>
            <a:off x="9546336" y="14630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6" name="estado-0-2"/>
          <p:cNvSpPr/>
          <p:nvPr/>
        </p:nvSpPr>
        <p:spPr>
          <a:xfrm>
            <a:off x="10040112" y="1463040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7" name="estado-0-3"/>
          <p:cNvSpPr/>
          <p:nvPr/>
        </p:nvSpPr>
        <p:spPr>
          <a:xfrm>
            <a:off x="10533888" y="146304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8" name="estado-0-4"/>
          <p:cNvSpPr/>
          <p:nvPr/>
        </p:nvSpPr>
        <p:spPr>
          <a:xfrm>
            <a:off x="11027664" y="14630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estado-1-0"/>
          <p:cNvSpPr/>
          <p:nvPr/>
        </p:nvSpPr>
        <p:spPr>
          <a:xfrm>
            <a:off x="9052560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0" name="estado-1-1"/>
          <p:cNvSpPr/>
          <p:nvPr/>
        </p:nvSpPr>
        <p:spPr>
          <a:xfrm>
            <a:off x="9546336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1" name="estado-1-2"/>
          <p:cNvSpPr/>
          <p:nvPr/>
        </p:nvSpPr>
        <p:spPr>
          <a:xfrm>
            <a:off x="10040112" y="195681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estado-1-3"/>
          <p:cNvSpPr/>
          <p:nvPr/>
        </p:nvSpPr>
        <p:spPr>
          <a:xfrm>
            <a:off x="10533888" y="1956816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3" name="estado-1-4"/>
          <p:cNvSpPr/>
          <p:nvPr/>
        </p:nvSpPr>
        <p:spPr>
          <a:xfrm>
            <a:off x="11027664" y="195681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4" name="estado-2-0"/>
          <p:cNvSpPr/>
          <p:nvPr/>
        </p:nvSpPr>
        <p:spPr>
          <a:xfrm>
            <a:off x="9052560" y="245059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15" name="estado-2-1"/>
          <p:cNvSpPr/>
          <p:nvPr/>
        </p:nvSpPr>
        <p:spPr>
          <a:xfrm>
            <a:off x="9546336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estado-2-2"/>
          <p:cNvSpPr/>
          <p:nvPr/>
        </p:nvSpPr>
        <p:spPr>
          <a:xfrm>
            <a:off x="10040112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7" name="estado-2-3"/>
          <p:cNvSpPr/>
          <p:nvPr/>
        </p:nvSpPr>
        <p:spPr>
          <a:xfrm>
            <a:off x="10533888" y="245059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estado-2-4"/>
          <p:cNvSpPr/>
          <p:nvPr/>
        </p:nvSpPr>
        <p:spPr>
          <a:xfrm>
            <a:off x="11027664" y="2450592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19" name="estado-3-0"/>
          <p:cNvSpPr/>
          <p:nvPr/>
        </p:nvSpPr>
        <p:spPr>
          <a:xfrm>
            <a:off x="9052560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0" name="estado-3-1"/>
          <p:cNvSpPr/>
          <p:nvPr/>
        </p:nvSpPr>
        <p:spPr>
          <a:xfrm>
            <a:off x="9546336" y="294436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estado-3-2"/>
          <p:cNvSpPr/>
          <p:nvPr/>
        </p:nvSpPr>
        <p:spPr>
          <a:xfrm>
            <a:off x="10040112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estado-3-3"/>
          <p:cNvSpPr/>
          <p:nvPr/>
        </p:nvSpPr>
        <p:spPr>
          <a:xfrm>
            <a:off x="10533888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3" name="estado-3-4"/>
          <p:cNvSpPr/>
          <p:nvPr/>
        </p:nvSpPr>
        <p:spPr>
          <a:xfrm>
            <a:off x="11027664" y="294436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4" name="estado-4-0"/>
          <p:cNvSpPr/>
          <p:nvPr/>
        </p:nvSpPr>
        <p:spPr>
          <a:xfrm>
            <a:off x="9052560" y="3438144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5" name="estado-4-1"/>
          <p:cNvSpPr/>
          <p:nvPr/>
        </p:nvSpPr>
        <p:spPr>
          <a:xfrm>
            <a:off x="9546336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6" name="estado-4-2"/>
          <p:cNvSpPr/>
          <p:nvPr/>
        </p:nvSpPr>
        <p:spPr>
          <a:xfrm>
            <a:off x="10040112" y="3438144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7" name="estado-4-3"/>
          <p:cNvSpPr/>
          <p:nvPr/>
        </p:nvSpPr>
        <p:spPr>
          <a:xfrm>
            <a:off x="10533888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8" name="estado-4-4"/>
          <p:cNvSpPr/>
          <p:nvPr/>
        </p:nvSpPr>
        <p:spPr>
          <a:xfrm>
            <a:off x="11027664" y="3438144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9" name="estado-5-0"/>
          <p:cNvSpPr/>
          <p:nvPr/>
        </p:nvSpPr>
        <p:spPr>
          <a:xfrm>
            <a:off x="90525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0" name="estado-5-1"/>
          <p:cNvSpPr/>
          <p:nvPr/>
        </p:nvSpPr>
        <p:spPr>
          <a:xfrm>
            <a:off x="954633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1" name="estado-5-2"/>
          <p:cNvSpPr/>
          <p:nvPr/>
        </p:nvSpPr>
        <p:spPr>
          <a:xfrm>
            <a:off x="1004011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2" name="estado-5-3"/>
          <p:cNvSpPr/>
          <p:nvPr/>
        </p:nvSpPr>
        <p:spPr>
          <a:xfrm>
            <a:off x="10533888" y="393192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3" name="estado-5-4"/>
          <p:cNvSpPr/>
          <p:nvPr/>
        </p:nvSpPr>
        <p:spPr>
          <a:xfrm>
            <a:off x="1102766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4" name="estado-6-0"/>
          <p:cNvSpPr/>
          <p:nvPr/>
        </p:nvSpPr>
        <p:spPr>
          <a:xfrm>
            <a:off x="9052560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5" name="estado-6-1"/>
          <p:cNvSpPr/>
          <p:nvPr/>
        </p:nvSpPr>
        <p:spPr>
          <a:xfrm>
            <a:off x="9546336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6" name="estado-6-2"/>
          <p:cNvSpPr/>
          <p:nvPr/>
        </p:nvSpPr>
        <p:spPr>
          <a:xfrm>
            <a:off x="10040112" y="4425696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37" name="estado-6-3"/>
          <p:cNvSpPr/>
          <p:nvPr/>
        </p:nvSpPr>
        <p:spPr>
          <a:xfrm>
            <a:off x="10533888" y="4425696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38" name="estado-6-4"/>
          <p:cNvSpPr/>
          <p:nvPr/>
        </p:nvSpPr>
        <p:spPr>
          <a:xfrm>
            <a:off x="11027664" y="4425696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9" name="estado-7-0"/>
          <p:cNvSpPr/>
          <p:nvPr/>
        </p:nvSpPr>
        <p:spPr>
          <a:xfrm>
            <a:off x="9052560" y="4919472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0" name="estado-7-1"/>
          <p:cNvSpPr/>
          <p:nvPr/>
        </p:nvSpPr>
        <p:spPr>
          <a:xfrm>
            <a:off x="9546336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1" name="estado-7-2"/>
          <p:cNvSpPr/>
          <p:nvPr/>
        </p:nvSpPr>
        <p:spPr>
          <a:xfrm>
            <a:off x="10040112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2" name="estado-7-3"/>
          <p:cNvSpPr/>
          <p:nvPr/>
        </p:nvSpPr>
        <p:spPr>
          <a:xfrm>
            <a:off x="10533888" y="4919472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3" name="estado-7-4"/>
          <p:cNvSpPr/>
          <p:nvPr/>
        </p:nvSpPr>
        <p:spPr>
          <a:xfrm>
            <a:off x="11027664" y="4919472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4" name="estado-8-0"/>
          <p:cNvSpPr/>
          <p:nvPr/>
        </p:nvSpPr>
        <p:spPr>
          <a:xfrm>
            <a:off x="9052560" y="5413248"/>
            <a:ext cx="384048" cy="384048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45" name="estado-8-1"/>
          <p:cNvSpPr/>
          <p:nvPr/>
        </p:nvSpPr>
        <p:spPr>
          <a:xfrm>
            <a:off x="9546336" y="5413248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6" name="estado-8-2"/>
          <p:cNvSpPr/>
          <p:nvPr/>
        </p:nvSpPr>
        <p:spPr>
          <a:xfrm>
            <a:off x="10040112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47" name="estado-8-3"/>
          <p:cNvSpPr/>
          <p:nvPr/>
        </p:nvSpPr>
        <p:spPr>
          <a:xfrm>
            <a:off x="10533888" y="5413248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48" name="estado-8-4"/>
          <p:cNvSpPr/>
          <p:nvPr/>
        </p:nvSpPr>
        <p:spPr>
          <a:xfrm>
            <a:off x="11027664" y="5413248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ricolage Grotesq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2026-10-16T16:27:10Z</dcterms:created>
  <dcterms:modified xsi:type="dcterms:W3CDTF">2026-10-16T16:27:10Z</dcterms:modified>
</cp:coreProperties>
</file>