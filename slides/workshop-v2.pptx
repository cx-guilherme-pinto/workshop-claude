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1695" cy="10287000"/>
  <p:notesSz cx="10287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2f25a567-8a58-25a2-de88-974527ffe25e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Missões" id="{f4c34e8b-848f-8a02-cb46-6c3b03175a32}">
          <p14:sldIdLst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Projeto 1" id="{8d8c6cd0-9b9d-9312-afcb-04b7b581d54e}">
          <p14:sldIdLst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Projeto 2" id="{bef2874f-dd72-ef9b-e0eb-1e93b526acaf}">
          <p14:sldIdLst>
            <p14:sldId id="279"/>
            <p14:sldId id="280"/>
            <p14:sldId id="281"/>
            <p14:sldId id="282"/>
            <p14:sldId id="283"/>
            <p14:sldId id="284"/>
            <p14:sldId id="285"/>
          </p14:sldIdLst>
        </p14:section>
        <p14:section name="Fecho" id="{618381a8-f11e-e7a0-1e26-2f2f7b690adc}">
          <p14:sldIdLst>
            <p14:sldId id="286"/>
            <p14:sldId id="28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 → 0:30] 0,5 min · opening
Objetivo: Abrir a sessão e apontar para o painel à direita.
O que dizer:
- Em 90 minutos vamos fazer, não ouvir: 10 missões curtas, um swarm de agentes e uma tarefa num repositório a sério.
- O painel à direita mostra o que toda a gente já fez, ao vivo.
Olha para o painel:
- Se já houver nomes na classificação: "quem já está no painel fez o setup em casa, obrigado".
Relógio: deves estar aqui aos 0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[0:30 → 2:00] 1,5 min · opening
Objetivo: Deixar claro que o custo é medido e não cortado, e o que o painel vê.
O que dizer:
- O alvo é US$ 5 por pessoa para o dia todo; a US$ 5 e a US$ 10 aparece um aviso, e ninguém é cortado.
- O painel só recebe contagens e decisões, nunca prompts nem código. Os pontos vêm de cobertura e qualidade, nunca de gastar mais.
- Tudo o que o painel guardou hoje é apagado à meia-noite.
Olha para o painel:
- Se alguém perguntar pela privacidade: "está tudo em docs/PRIVACY.md, e node ~/.workshop-claude/kit/telemetry/ctl.mjs show mostra os últimos 20 eventos tal como saem do teu portátil".
Relógio: deves estar aqui aos 1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[2:00 → 3:00] 1 min · opening
Objetivo: Dar o mapa do dia antes de começar.
O que dizer:
- Não há bloco de teoria: cada conceito aprende-se numa missão de 2 minutos.
- Os dois projetos são o mesmo ciclo: primeiro num projeto feito para o workshop, depois numa tarefa a sério.
- Tudo fica instalado e continua a funcionar depois de hoje.
Olha para o painel:
- O painel ainda está vazio: "vai encher-se à medida que fizerem cada coisa".
Relógio: deves estar aqui aos 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[3:00 → 4:00] 1 min · opening
Objetivo: Explicar o ciclo que se repete nos dois projetos.
O que dizer:
- O teu trabalho é decidir e verificar; o dos agentes é fazer.
- O custo é medido em cada passo, com os tokens reais.
Relógio: deves estar aqui aos 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[4:00 → 5:00] 1 min · opening
Objetivo: Apresentar a memória e explicar que vai crescer com o trabalho de cada um.
O que dizer:
- São ficheiros Markdown em ~/.agent-memory, com um índice: fica tudo só no teu portátil.
- Cada lição fica ligada ao projeto, à tarefa e aos ficheiros: amanhã, o /task-intake de outra issue já a encontra.
- Vamos voltar a esta janela no fim de cada projeto.
Falhas típicas e resposta:
- agent-memory-gui não existe → o --check mostra o passo 10; sem a app, tudo o resto funciona (MEMORY UNAVAILABLE)
- A janela não abre (Windows sem WebView2) → a app abre a mesma interface no browser
Relógio: deves estar aqui aos 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[5:00 → 9:00] 4 min · opening
Objetivo: Toda a gente com o kit verificado e registada no painel.
O que dizer:
- O --check não instala nada: só confirma cada passo e liga-te ao painel.
- O registo usa o teu login do gh: confirma no teu portátil o email da empresa, e só o nome sai para o painel.
Olha para o painel:
- Se "Prontas" estiver abaixo de metade aos 3 min: "quem já tem a tabela verde, ajuda o vizinho".
- Se "Inscritas" for bem menor do que a sala: "o register a seguir à tabela resolve; sem email @checkmarx.com verificado no GitHub, fazes o workshop na mesma, só não apareces na classificação".
Falhas típicas e resposta:
- E-TEL-03: o gh não pode ler os emails → gh auth refresh -h github.com -s user:email e volta a correr o register
- E-TEL-02: sem email verificado da empresa → acrescenta-o em github.com/settings/emails; o workshop funciona sem isso
- O comando não existe: o setup não foi feito → corre o one-liner do README agora e segue com o vizinho enquanto instala
Relógio: deves estar aqui aos 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[9:00 → 11:00] 2 min · opening
Objetivo: Resolver as falhas do setup sem parar a sala.
O que dizer:
- O --doctor pede ao Haiku um diagnóstico do excerto do log, já sem segredos, e só corre um comando se disseres que sim.
- Ninguém fica parado: quem não resolver em 2 minutos trabalha com o vizinho.
Olha para o painel:
- Se "Prontas" não subir: "quem tem ❌ no Claude Code login, corre claude auth login --console".
Falhas típicas e resposta:
- Proxy ou rede da empresa → muda para a rede do evento ou um hotspot e repete o --check
- Login do Claude em falta → claude auth login --console
Relógio: deves estar aqui aos 9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[11:00 → 12:00] 1 min · missions
Objetivo: Abrir o projeto das missões e lançar a corrida da sala.
O que dizer:
- São 6 missões guiadas, de 2 minutos cada, e 4 bónus para as esperas.
- Ninguém carrega em "feito": o kit vê a funcionalidade a ser usada e acende a missão.
- /missions mostra a tua caderneta a qualquer momento.
Olha para o painel:
- A grelha está a 0 %: "vamos ver quantas acendemos até ao Projeto 1".
Falhas típicas e resposta:
- A pasta missions-project não existe → corre o --check: o passo 9 monta-a
Relógio: deves estar aqui aos 11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[12:00 → 14:00] 2 min · missions
Objetivo: Mostrar que se pode pensar com o Claude sem risco.
O que dizer:
- O plan mode é a forma mais barata e segura de começar: o Claude lê o código e propõe, mas não toca em nada.
- Se o plano te servir, aprovas e ele executa; aqui não aprovamos.
Olha para o painel:
- Se a M1 estiver abaixo de 50 % a meio: "Shift+Tab duas vezes; procura plan mode on por baixo da caixa".
Falhas típicas e resposta:
- Aparece "accept edits on" e não o plan mode → carrega outra vez em Shift+Tab
- O Claude pergunta "Would you like to proceed?" → Esc: não queremos executar
Relógio: deves estar aqui aos 12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[14:00 → 16:00] 2 min · missions
Objetivo: Escolher o modelo pela tarefa, não por hábito.
O que dizer:
- O Haiku custa cerca de 10 vezes menos do que o Sonnet e chega para perguntas simples.
- No Projeto 1 vais escolher o modelo de 30 agentes: esta é a mesma decisão, em pequeno.
Olha para o painel:
- Se a M2 ficar atrás da M1: "o /model haiku pede uma confirmação; carrega em Enter".
Falhas típicas e resposta:
- Fica a pedir confirmação → Enter na opção selecionada
Relógio: deves estar aqui aos 14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[16:00 → 18:00] 2 min · missions
Objetivo: Perceber a peça base de um swarm.
O que dizer:
- Um swarm é isto multiplicado: muitos subagentes, cada um com o seu contexto e a sua tarefa.
- O contexto principal fica limpo, e isso também é custo.
Olha para o painel:
- Se a M3 estiver abaixo da M2: "escrevam a palavra subagente no pedido".
Falhas típicas e resposta:
- O Claude responde sem lançar subagente → pede explicitamente: usa um subagente Explore
Relógio: deves estar aqui aos 16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[18:00 → 20:00] 2 min · missions
Objetivo: Mostrar que uma skill é só um ficheiro que qualquer pessoa escreve.
O que dizer:
- As skills do workshop (/demo-plan, /task-swarm…) são exatamente isto: Markdown com instruções.
- O claude -c retoma a conversa anterior: nada se perde ao sair.
Olha para o painel:
- Se a M4 ficar baixa: "a skill só aparece depois de sair e voltar; /exit e claude -c".
Falhas típicas e resposta:
- /resumo não existe → confirma o ficheiro .claude/skills/resumo/SKILL.md e reabre com claude -c
Relógio: deves estar aqui aos 18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[20:00 → 22:00] 2 min · missions
Objetivo: Perceber que os hooks automatizam sem pedir ao modelo.
O que dizer:
- É assim que o kit mede o custo: um hook no fim de cada subagente.
- O settings.local.json é só teu e não vai para o git.
- Esc Esc abre o rewind: voltas a antes da edição.
Olha para o painel:
- Se a M5 estiver abaixo de 50 %: "metade da sala ainda não tem um hook; quem já tem, ajuda o vizinho".
Falhas típicas e resposta:
- O edits.log não aparece → o hook só corre na edição seguinte: pede outra edição
- O hook ficou no settings.json do kit → pede para o mover para .claude/settings.local.json
Relógio: deves estar aqui aos 20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[22:00 → 24:00] 2 min · missions
Objetivo: Ver o Claude a trabalhar sozinho com uma condição de paragem.
O que dizer:
- O projeto vem com 2 testes partidos de propósito.
- Um loop sem condição de paragem gasta dinheiro: diz sempre quando parar.
Olha para o painel:
- Se a M6 subir devagar: "o loop corre de minuto a minuto; enquanto esperam, façam uma bónus".
Falhas típicas e resposta:
- O loop não para → Esc e diz: para o loop
Relógio: deves estar aqui aos 22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[24:00 → 26:00] 2 min · missions
Objetivo: Fechar as missões guiadas e apontar as bónus para as esperas.
O que dizer:
- A missão que pisca no painel é a menos feita: é a que vale a pena ajudar agora.
- As bónus não têm tempo de palco: fazem-se enquanto os swarms trabalham.
Olha para o painel:
- Lê em voz alta a missão que pisca e chama quem a tem para mostrar ao vizinho.
- Se a cobertura média passar de 70 %: "esta sala está mais rápida do que o ensaio".
Relógio: deves estar aqui aos 24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[26:00 → 28:00] 2 min · p1
Objetivo: Apresentar o Canivete e plantar a previsão.
O que dizer:
- Contar palavras, dividir a conta, converter cores: 30 ferramentas que se usam a sério.
- Cada uma é um agente e um teste; tu decides quantos agentes, que modelo e uma ferramenta tua.
Olha para o painel:
- Ainda vazio: "no fim do bloco este gráfico mostra o tempo e o custo de cada swarm da sala".
Falhas típicas e resposta:
- A pasta canivete-project não existe → o --check monta-a no passo 9
Relógio: deves estar aqui aos 26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[28:00 → 32:00] 4 min · p1
Objetivo: Dar a cada pessoa uma ferramenta que é só dela.
O que dizer:
- Os modelos são 4: calc, convert, text e generate; o agente só escreve a função run().
- O gen.mjs diz-te que campo está mal e dá um exemplo.
Olha para o painel:
- Lê os modelos mais escolhidos: "a sala prefere calc; quem fez um generate?".
Falhas típicas e resposta:
- O gen.mjs recusa o my-tool.json → lê a mensagem: diz o campo e dá um exemplo
- Sem ideias → usa o exemplo sem mudanças: funciona
Relógio: deves estar aqui aos 28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[32:00 → 34:00] 2 min · p1
Objetivo: Fazer a sala dividir-se, para a comparação no painel ficar rica.
O que dizer:
- Sugestão: filas da frente 4, meio 8, trás 12.
- Mais agentes acabam mais depressa, mas a sessão principal coordena mais: o custo não desce.
Olha para o painel:
- Ainda sem pontos: "daqui a 10 minutos vemos quem tinha razão".
Relógio: deves estar aqui aos 32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[34:00 → 35:00] 1 min · p1
Objetivo: Registar a decisão e a previsão antes de ver o resultado.
O que dizer:
- O grafo é determinístico: vem das specs, não do modelo.
- A previsão só vai para o painel, para comparar com o tempo real.
Olha para o painel:
- Se a mediana prevista aparecer: "a sala acha X minutos; vamos ver".
Falhas típicas e resposta:
- ERROR: plan not found ao avançar → corre o /demo-plan primeiro, na pasta canivete-project
Relógio: deves estar aqui aos 34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[35:00 → 42:00] 7 min · p1
Objetivo: Ver um swarm a trabalhar e o efeito das decisões da sala.
O que dizer:
- Cada quadrado é uma ferramenta: amarelo a trabalhar, verde passou, vermelho falhou.
- Os vermelhos são o próximo slide: não é azar.
Olha para o painel:
- Aos 4 min, quando aparecerem pontos: "os de 12 acabaram primeiro; vejam se gastaram menos".
- Se a mediana real ficar longe da prevista: "prevemos X, demorou Y; quem acertou?".
Falhas típicas e resposta:
- Porta 3000 ocupada → o server.js usa a seguinte e diz qual
- Pede uma permissão a meio → o projeto tem de estar trusted: o setup trata disso; aceita e continua
- O swarm parou → corre /demo-swarm outra vez: retoma onde estava
Relógio: deves estar aqui aos 35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[42:00 → 46:00] 4 min · p1
Objetivo: Perceber que o que a spec não decide, o agente adivinha.
O que dizer:
- As 3 partidas de propósito (nm-03, dn-01, tx-02) omitem uma regra; o agente escolhe a resposta "óbvia", e é a errada.
- A mensagem diz o que a ferramenta devolveu e o que a spec não decide, nunca o valor certo: és tu que decides.
- Nenhum agente pode mudar uma spec: é o teu trabalho.
Olha para o painel:
- Se "specs corrigidas" ficar a 0 aos 2 min: "abram o spec.md do vermelho e escrevam uma linha com a regra".
Falhas típicas e resposta:
- Volta a ficar vermelho → a regra está ambígua: escreve um exemplo com o valor
- Não sabe qual é a regra → pensa como quem pediu a ferramenta: o que é correto para um contabilista?
Relógio: deves estar aqui aos 42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[46:00 → 48:00] 2 min · p1
Objetivo: Fechar o ciclo: qualidade e custo, medidos.
O que dizer:
- O revisor é o Opus: lê um resumo, não a árvore toda, e diz APPROVED ou REJECTED.
- O custo vem dos tokens reais e dos preços publicados.
Olha para o painel:
- Lê o custo por verde de 4, 8 e 12: "mais agentes não ficou mais barato".
- Se houver swarms em Sonnet: "o Sonnet custou mais e quase não deu mais verdes".
Falhas típicas e resposta:
- GATE: REJECTED → lê as reservas; normalmente é um vermelho por corrigir
Relógio: deves estar aqui aos 46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[48:00 → 50:00] 2 min · p1 · PODE SALTAR
Objetivo: Ver o resultado e ganhar confiança no que foi feito.
O que dizer:
- Tudo o que está ali foi escrito por agentes nos últimos 15 minutos, com testes.
Falhas típicas e resposta:
- A página não abre → o node server.js tem de estar a correr no outro terminal
Relógio: deves estar aqui aos 48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[50:00 → 52:00] 2 min · p2
Objetivo: Ligar o Projeto 2 ao que já fizeram.
O que dizer:
- O plan é o /demo-plan, o swarm é o /demo-swarm, o gate é o /demo-review: a diferença é que a tarefa vem de uma issue.
- O caminho por defeito é a Biblioteca Municipal, sem login; quem tiver Jira ou GitHub a funcionar pode usar uma issue sua.
Olha para o painel:
- O funil está vazio: "daqui a 30 minutos queremos a sala toda no fim".
- Quem vai trabalhar no seu repositório e prefere que nada saia do portátil: "o unregister para os envios; a caderneta fica, e o register --again volta a ligar".
Relógio: deves estar aqui aos 50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[52:00 → 56:00] 4 min · p2
Objetivo: Pôr toda a gente com uma tarefa lida.
O que dizer:
- A EX-1 é pequena: validar o ISBN e o email ao criar livros e leitores.
- O intake só lê: não escreve nada no Jira nem no GitHub.
Olha para o painel:
- Se o funil não sair de "intake" aos 3 min: "confirmem que estão na pasta practice-project".
Falhas típicas e resposta:
- Issue não encontrada → corre na pasta practice-project: o caminho é issues/EX-1.json
Relógio: deves estar aqui aos 52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[56:00 → 62:00] 6 min · p2
Objetivo: Decidir com base no porquê, não no número.
O que dizer:
- O planner lê a issue e o código e propõe subtarefas: tarefas que mexem nos mesmos ficheiros vão em lotes diferentes.
- Ajustar é normal: o plano é uma proposta.
Olha para o painel:
- Lê o histograma: "a maioria tem 2 ou 3; quem ajustou, porquê?".
Falhas típicas e resposta:
- PLAN INVALID → pede ao planner para corrigir: a mensagem diz o que falta
Relógio: deves estar aqui aos 56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[62:00 → 74:00] 12 min · p2
Objetivo: Ver o swarm numa tarefa real, com retoma.
O que dizer:
- Esc interrompe; /task-swarm de novo retoma onde estava.
- Se o planner decidiu worktrees, cada agente trabalha numa cópia do repositório.
Olha para o painel:
- A meio, lê o funil: "metade já está no gate; quem ainda está no swarm, deixem correr".
Falhas típicas e resposta:
- Uma subtarefa falha 3 vezes → lê o motivo no dashboard; corrige a descrição e corre --retry
- O dashboard não mostra nada → tem de correr na pasta do projeto
Relógio: deves estar aqui aos 62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[74:00 → 79:00] 5 min · p2
Objetivo: Não entregar nada sem verificação.
O que dizer:
- O gate corre os testes, procura segredos e código perigoso, e pede o veredito ao Opus.
- Um REJECTED não é um falhanço: é o gate a fazer o trabalho dele.
Olha para o painel:
- Se os gates aprovados ficarem baixos: "leiam as reservas; quase sempre é um teste por correr".
Falhas típicas e resposta:
- GATE: REJECTED → corrige o que as reservas dizem e corre /task-gate outra vez
Relógio: deves estar aqui aos 74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[79:00 → 83:00] 4 min · p2
Objetivo: Fechar a tarefa e guardar o que se aprendeu.
O que dizer:
- No projeto de treino o relatório fica em report.md; no Jira ou no GitHub, o /task-report só escreve depois do teu sim.
- A memória fica no teu portátil e o próximo /task-intake vai lê-la.
Olha para o painel:
- Se o funil chegar a "report": "quem fechou, avança para a EX-3".
Falhas típicas e resposta:
- MEMORY UNAVAILABLE → a app Agent Memory não está instalada: o resto funciona; --check mostra o passo 10
Relógio: deves estar aqui aos 79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[83:00 → 87:00] 4 min · p2
Objetivo: Fazer o ciclo sem ajuda.
O que dizer:
- A EX-3 é uma falha de segurança pequena (IDOR), com um teste de autorização já escrito.
- É o teste final do workshop: se consegues sozinho, consegues amanhã no teu repositório.
Olha para o painel:
- Lê as issues fechadas: "já há N EX-3 fechadas".
Falhas típicas e resposta:
- Não acabou a EX-1 → continua na EX-1: a EX-3 é opcional
Relógio: deves estar aqui aos 83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[87:00 → 89:00] 2 min · closing
Objetivo: Fechar com os números da sala e 3 ideias concretas.
O que dizer:
- Os 3 números do painel são de "fazer melhor": custo por verde, verdes à primeira, % em Haiku.
- Tudo o que instalaram continua a funcionar amanhã: comecem pela próxima issue que vos atribuírem com /task-intake.
Olha para o painel:
- Lê o custo médio por pessoa contra o alvo de US$ 5.
- Lê a % de verdes à primeira: "é isto que uma boa spec compra".
Relógio: deves estar aqui aos 87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[89:00 → 90:00] 1 min · closing
Objetivo: Abrir as perguntas.
O que dizer:
- As perguntas podem passar dos 90 minutos. Quem não fez o setup instala agora.
- O painel apaga tudo à meia-noite; a caderneta e as memórias ficam no vosso portátil.
Olha para o painel:
- Se der tempo: mostra a classificação final.
Relógio: deves estar aqui aos 89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V2-TITLE-image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V2-CLOSING-image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2-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731520"/>
            <a:ext cx="2377440" cy="29718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2926080"/>
            <a:ext cx="10911535" cy="2743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600" dirty="0">
                <a:solidFill>
                  <a:srgbClr val="FCF9FE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defRPr>
            </a:lvl1pPr>
          </a:lstStyle>
          <a:p>
            <a:pPr algn="l" indent="0" marL="0">
              <a:buNone/>
            </a:pPr>
            <a:endParaRPr lang="en-US" sz="6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5897880"/>
            <a:ext cx="953993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dirty="0">
                <a:solidFill>
                  <a:srgbClr val="F25928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2-CLOS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15688" y="7680960"/>
            <a:ext cx="2560320" cy="32004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3108960"/>
            <a:ext cx="10911535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8000" dirty="0">
                <a:solidFill>
                  <a:srgbClr val="FCF9FE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defRPr>
            </a:lvl1pPr>
          </a:lstStyle>
          <a:p>
            <a:pPr algn="ctr" indent="0" marL="0">
              <a:buNone/>
            </a:pPr>
            <a:endParaRPr lang="en-US" sz="8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5303520"/>
            <a:ext cx="1091153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400" dirty="0">
                <a:solidFill>
                  <a:srgbClr val="F25928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defRPr>
            </a:lvl1pPr>
          </a:lstStyle>
          <a:p>
            <a:pPr algn="ctr"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2-CONTENT">
    <p:bg>
      <p:bgPr>
        <a:solidFill>
          <a:srgbClr val="F4E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752076"/>
            <a:ext cx="12191695" cy="534924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pic>
        <p:nvPicPr>
          <p:cNvPr id="3" name="logo" descr="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9971532"/>
            <a:ext cx="750722" cy="94183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title" hasCustomPrompt="1"/>
          </p:nvPr>
        </p:nvSpPr>
        <p:spPr>
          <a:xfrm>
            <a:off x="640080" y="1051560"/>
            <a:ext cx="10911535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9889236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9889236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40080" y="2926080"/>
            <a:ext cx="1091153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600" dirty="0">
                <a:solidFill>
                  <a:srgbClr val="FCF9FE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Orquestração de agentes com Claude</a:t>
            </a:r>
            <a:endParaRPr lang="en-US" sz="66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40080" y="5897880"/>
            <a:ext cx="95399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F25928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Missões, um swarm que constrói um canivete e uma tarefa a sério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40080" y="1051560"/>
            <a:ext cx="109115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As regras: custo e o que o painel vê</a:t>
            </a:r>
            <a:endParaRPr lang="en-US" sz="4400" dirty="0"/>
          </a:p>
        </p:txBody>
      </p:sp>
      <p:sp>
        <p:nvSpPr>
          <p:cNvPr id="3" name="cost-head"/>
          <p:cNvSpPr txBox="1"/>
          <p:nvPr/>
        </p:nvSpPr>
        <p:spPr>
          <a:xfrm>
            <a:off x="640080" y="2697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O custo</a:t>
            </a:r>
            <a:endParaRPr lang="en-US" sz="2800" dirty="0"/>
          </a:p>
        </p:txBody>
      </p:sp>
      <p:sp>
        <p:nvSpPr>
          <p:cNvPr id="4" name="cost-0"/>
          <p:cNvSpPr/>
          <p:nvPr/>
        </p:nvSpPr>
        <p:spPr>
          <a:xfrm>
            <a:off x="640080" y="3291840"/>
            <a:ext cx="3454298" cy="2377440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5" name="cost-value-0"/>
          <p:cNvSpPr txBox="1"/>
          <p:nvPr/>
        </p:nvSpPr>
        <p:spPr>
          <a:xfrm>
            <a:off x="914400" y="3474720"/>
            <a:ext cx="2905658" cy="100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CF9FE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US$ 5</a:t>
            </a:r>
            <a:endParaRPr lang="en-US" sz="5000" dirty="0"/>
          </a:p>
        </p:txBody>
      </p:sp>
      <p:sp>
        <p:nvSpPr>
          <p:cNvPr id="6" name="cost-label-0"/>
          <p:cNvSpPr txBox="1"/>
          <p:nvPr/>
        </p:nvSpPr>
        <p:spPr>
          <a:xfrm>
            <a:off x="914400" y="4572000"/>
            <a:ext cx="29056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B9AE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alvo por pessoa, para o dia todo</a:t>
            </a:r>
            <a:endParaRPr lang="en-US" sz="2400" dirty="0"/>
          </a:p>
        </p:txBody>
      </p:sp>
      <p:sp>
        <p:nvSpPr>
          <p:cNvPr id="7" name="cost-1"/>
          <p:cNvSpPr/>
          <p:nvPr/>
        </p:nvSpPr>
        <p:spPr>
          <a:xfrm>
            <a:off x="4368698" y="3291840"/>
            <a:ext cx="345429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cost-value-1"/>
          <p:cNvSpPr txBox="1"/>
          <p:nvPr/>
        </p:nvSpPr>
        <p:spPr>
          <a:xfrm>
            <a:off x="4643018" y="3474720"/>
            <a:ext cx="2905658" cy="100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US$ 10</a:t>
            </a:r>
            <a:endParaRPr lang="en-US" sz="5000" dirty="0"/>
          </a:p>
        </p:txBody>
      </p:sp>
      <p:sp>
        <p:nvSpPr>
          <p:cNvPr id="9" name="cost-label-1"/>
          <p:cNvSpPr txBox="1"/>
          <p:nvPr/>
        </p:nvSpPr>
        <p:spPr>
          <a:xfrm>
            <a:off x="4643018" y="4572000"/>
            <a:ext cx="29056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teto de segurança, nunca o objetivo</a:t>
            </a:r>
            <a:endParaRPr lang="en-US" sz="2400" dirty="0"/>
          </a:p>
        </p:txBody>
      </p:sp>
      <p:sp>
        <p:nvSpPr>
          <p:cNvPr id="10" name="cost-2"/>
          <p:cNvSpPr/>
          <p:nvPr/>
        </p:nvSpPr>
        <p:spPr>
          <a:xfrm>
            <a:off x="8097317" y="3291840"/>
            <a:ext cx="345429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cost-value-2"/>
          <p:cNvSpPr txBox="1"/>
          <p:nvPr/>
        </p:nvSpPr>
        <p:spPr>
          <a:xfrm>
            <a:off x="8371637" y="3474720"/>
            <a:ext cx="2905658" cy="100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0</a:t>
            </a:r>
            <a:endParaRPr lang="en-US" sz="5000" dirty="0"/>
          </a:p>
        </p:txBody>
      </p:sp>
      <p:sp>
        <p:nvSpPr>
          <p:cNvPr id="12" name="cost-label-2"/>
          <p:cNvSpPr txBox="1"/>
          <p:nvPr/>
        </p:nvSpPr>
        <p:spPr>
          <a:xfrm>
            <a:off x="8371637" y="4572000"/>
            <a:ext cx="29056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sessões cortadas por custo</a:t>
            </a:r>
            <a:endParaRPr lang="en-US" sz="2400" dirty="0"/>
          </a:p>
        </p:txBody>
      </p:sp>
      <p:sp>
        <p:nvSpPr>
          <p:cNvPr id="13" name="sees-head"/>
          <p:cNvSpPr txBox="1"/>
          <p:nvPr/>
        </p:nvSpPr>
        <p:spPr>
          <a:xfrm>
            <a:off x="640080" y="6035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O que o painel vê</a:t>
            </a:r>
            <a:endParaRPr lang="en-US" sz="2800" dirty="0"/>
          </a:p>
        </p:txBody>
      </p:sp>
      <p:sp>
        <p:nvSpPr>
          <p:cNvPr id="14" name="sees-mark-0-circle"/>
          <p:cNvSpPr/>
          <p:nvPr/>
        </p:nvSpPr>
        <p:spPr>
          <a:xfrm>
            <a:off x="640080" y="6675120"/>
            <a:ext cx="502920" cy="502920"/>
          </a:xfrm>
          <a:prstGeom prst="ellipse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pic>
        <p:nvPicPr>
          <p:cNvPr id="15" name="sees-mark-0" descr="ey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722" y="6785762"/>
            <a:ext cx="281635" cy="281635"/>
          </a:xfrm>
          <a:prstGeom prst="rect">
            <a:avLst/>
          </a:prstGeom>
        </p:spPr>
      </p:pic>
      <p:sp>
        <p:nvSpPr>
          <p:cNvPr id="16" name="sees-0"/>
          <p:cNvSpPr txBox="1"/>
          <p:nvPr/>
        </p:nvSpPr>
        <p:spPr>
          <a:xfrm>
            <a:off x="1371600" y="6675120"/>
            <a:ext cx="101800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missões fizeste e as tuas decisões (agentes, modelo)</a:t>
            </a:r>
            <a:endParaRPr lang="en-US" sz="2600" dirty="0"/>
          </a:p>
        </p:txBody>
      </p:sp>
      <p:sp>
        <p:nvSpPr>
          <p:cNvPr id="17" name="sees-mark-1-circle"/>
          <p:cNvSpPr/>
          <p:nvPr/>
        </p:nvSpPr>
        <p:spPr>
          <a:xfrm>
            <a:off x="640080" y="7406640"/>
            <a:ext cx="502920" cy="502920"/>
          </a:xfrm>
          <a:prstGeom prst="ellipse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pic>
        <p:nvPicPr>
          <p:cNvPr id="18" name="sees-mark-1" descr="ey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722" y="7517282"/>
            <a:ext cx="281635" cy="281635"/>
          </a:xfrm>
          <a:prstGeom prst="rect">
            <a:avLst/>
          </a:prstGeom>
        </p:spPr>
      </p:pic>
      <p:sp>
        <p:nvSpPr>
          <p:cNvPr id="19" name="sees-1"/>
          <p:cNvSpPr txBox="1"/>
          <p:nvPr/>
        </p:nvSpPr>
        <p:spPr>
          <a:xfrm>
            <a:off x="1371600" y="7406640"/>
            <a:ext cx="101800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teu nome do GitHub, na classificação</a:t>
            </a:r>
            <a:endParaRPr lang="en-US" sz="2600" dirty="0"/>
          </a:p>
        </p:txBody>
      </p:sp>
      <p:sp>
        <p:nvSpPr>
          <p:cNvPr id="20" name="sees-mark-2-circle"/>
          <p:cNvSpPr/>
          <p:nvPr/>
        </p:nvSpPr>
        <p:spPr>
          <a:xfrm>
            <a:off x="640080" y="8138160"/>
            <a:ext cx="502920" cy="502920"/>
          </a:xfrm>
          <a:prstGeom prst="ellipse">
            <a:avLst/>
          </a:prstGeom>
          <a:solidFill>
            <a:srgbClr val="D2463F"/>
          </a:solidFill>
          <a:ln w="12700">
            <a:solidFill>
              <a:srgbClr val="D2463F"/>
            </a:solidFill>
            <a:prstDash val="solid"/>
          </a:ln>
        </p:spPr>
      </p:sp>
      <p:pic>
        <p:nvPicPr>
          <p:cNvPr id="21" name="sees-mark-2" descr="x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22" y="8248802"/>
            <a:ext cx="281635" cy="281635"/>
          </a:xfrm>
          <a:prstGeom prst="rect">
            <a:avLst/>
          </a:prstGeom>
        </p:spPr>
      </p:pic>
      <p:sp>
        <p:nvSpPr>
          <p:cNvPr id="22" name="sees-2"/>
          <p:cNvSpPr txBox="1"/>
          <p:nvPr/>
        </p:nvSpPr>
        <p:spPr>
          <a:xfrm>
            <a:off x="1371600" y="8138160"/>
            <a:ext cx="101800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Nunca os teus prompts, o teu código nem tokens</a:t>
            </a:r>
            <a:endParaRPr lang="en-US" sz="2600" dirty="0"/>
          </a:p>
        </p:txBody>
      </p:sp>
      <p:sp>
        <p:nvSpPr>
          <p:cNvPr id="23" name="sees-mark-3-circle"/>
          <p:cNvSpPr/>
          <p:nvPr/>
        </p:nvSpPr>
        <p:spPr>
          <a:xfrm>
            <a:off x="640080" y="8869680"/>
            <a:ext cx="502920" cy="502920"/>
          </a:xfrm>
          <a:prstGeom prst="ellipse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pic>
        <p:nvPicPr>
          <p:cNvPr id="24" name="sees-mark-3" descr="trash-2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722" y="8980322"/>
            <a:ext cx="281635" cy="281635"/>
          </a:xfrm>
          <a:prstGeom prst="rect">
            <a:avLst/>
          </a:prstGeom>
        </p:spPr>
      </p:pic>
      <p:sp>
        <p:nvSpPr>
          <p:cNvPr id="25" name="sees-3"/>
          <p:cNvSpPr txBox="1"/>
          <p:nvPr/>
        </p:nvSpPr>
        <p:spPr>
          <a:xfrm>
            <a:off x="1371600" y="8869680"/>
            <a:ext cx="101800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Tudo é apagado à meia-noite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9889236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640080" y="411480"/>
            <a:ext cx="3328416" cy="502920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3" name="tag-label"/>
          <p:cNvSpPr txBox="1"/>
          <p:nvPr/>
        </p:nvSpPr>
        <p:spPr>
          <a:xfrm>
            <a:off x="822960" y="411480"/>
            <a:ext cx="3054096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 · 1 min</a:t>
            </a:r>
            <a:endParaRPr lang="en-US" sz="2400" dirty="0"/>
          </a:p>
        </p:txBody>
      </p:sp>
      <p:sp>
        <p:nvSpPr>
          <p:cNvPr id="4" name="block"/>
          <p:cNvSpPr txBox="1"/>
          <p:nvPr/>
        </p:nvSpPr>
        <p:spPr>
          <a:xfrm>
            <a:off x="7894015" y="411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Abertura</a:t>
            </a:r>
            <a:endParaRPr lang="en-US" sz="2400" dirty="0"/>
          </a:p>
        </p:txBody>
      </p:sp>
      <p:sp>
        <p:nvSpPr>
          <p:cNvPr id="5" name="Text 1"/>
          <p:cNvSpPr/>
          <p:nvPr>
            <p:ph idx="102" type="title" hasCustomPrompt="1"/>
          </p:nvPr>
        </p:nvSpPr>
        <p:spPr>
          <a:xfrm>
            <a:off x="640080" y="1051560"/>
            <a:ext cx="109115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O que vamos fazer hoje</a:t>
            </a:r>
            <a:endParaRPr lang="en-US" sz="4400" dirty="0"/>
          </a:p>
        </p:txBody>
      </p:sp>
      <p:sp>
        <p:nvSpPr>
          <p:cNvPr id="6" name="intro"/>
          <p:cNvSpPr txBox="1"/>
          <p:nvPr/>
        </p:nvSpPr>
        <p:spPr>
          <a:xfrm>
            <a:off x="640080" y="2331720"/>
            <a:ext cx="10911535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blocos, sempre no teu portátil, sempre a fazer:</a:t>
            </a:r>
            <a:endParaRPr lang="en-US" sz="2800" dirty="0"/>
          </a:p>
        </p:txBody>
      </p:sp>
      <p:sp>
        <p:nvSpPr>
          <p:cNvPr id="7" name="block-0"/>
          <p:cNvSpPr/>
          <p:nvPr/>
        </p:nvSpPr>
        <p:spPr>
          <a:xfrm>
            <a:off x="640080" y="3127248"/>
            <a:ext cx="10911535" cy="1435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block-number-0"/>
          <p:cNvSpPr/>
          <p:nvPr/>
        </p:nvSpPr>
        <p:spPr>
          <a:xfrm>
            <a:off x="868680" y="3570732"/>
            <a:ext cx="548640" cy="548640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block-text-0"/>
          <p:cNvSpPr txBox="1"/>
          <p:nvPr/>
        </p:nvSpPr>
        <p:spPr>
          <a:xfrm>
            <a:off x="1645920" y="3127248"/>
            <a:ext cx="9677095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Missões · 15 min  </a:t>
            </a:r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missões curtas: plan mode, modelos, subagentes, skills, hooks e /loop, uma de cada vez.</a:t>
            </a:r>
            <a:endParaRPr lang="en-US" sz="2600" dirty="0"/>
          </a:p>
        </p:txBody>
      </p:sp>
      <p:sp>
        <p:nvSpPr>
          <p:cNvPr id="10" name="block-1"/>
          <p:cNvSpPr/>
          <p:nvPr/>
        </p:nvSpPr>
        <p:spPr>
          <a:xfrm>
            <a:off x="640080" y="4727448"/>
            <a:ext cx="10911535" cy="1435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block-number-1"/>
          <p:cNvSpPr/>
          <p:nvPr/>
        </p:nvSpPr>
        <p:spPr>
          <a:xfrm>
            <a:off x="868680" y="5170932"/>
            <a:ext cx="548640" cy="548640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block-text-1"/>
          <p:cNvSpPr txBox="1"/>
          <p:nvPr/>
        </p:nvSpPr>
        <p:spPr>
          <a:xfrm>
            <a:off x="1645920" y="4727448"/>
            <a:ext cx="9677095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Projeto 1 · 24 min  </a:t>
            </a:r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swarm de agentes constrói o Canivete: 30 ferramentas e a tua. Tu decides quantos agentes e que modelo.</a:t>
            </a:r>
            <a:endParaRPr lang="en-US" sz="2600" dirty="0"/>
          </a:p>
        </p:txBody>
      </p:sp>
      <p:sp>
        <p:nvSpPr>
          <p:cNvPr id="13" name="block-2"/>
          <p:cNvSpPr/>
          <p:nvPr/>
        </p:nvSpPr>
        <p:spPr>
          <a:xfrm>
            <a:off x="640080" y="6327648"/>
            <a:ext cx="10911535" cy="1435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block-number-2"/>
          <p:cNvSpPr/>
          <p:nvPr/>
        </p:nvSpPr>
        <p:spPr>
          <a:xfrm>
            <a:off x="868680" y="6771132"/>
            <a:ext cx="548640" cy="548640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block-text-2"/>
          <p:cNvSpPr txBox="1"/>
          <p:nvPr/>
        </p:nvSpPr>
        <p:spPr>
          <a:xfrm>
            <a:off x="1645920" y="6327648"/>
            <a:ext cx="9677095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Projeto 2 · 37 min  </a:t>
            </a:r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mesmo ciclo numa tarefa a sério: uma issue do projeto de treino, ou do teu Jira ou GitHub.</a:t>
            </a:r>
            <a:endParaRPr lang="en-US" sz="2600" dirty="0"/>
          </a:p>
        </p:txBody>
      </p:sp>
      <p:sp>
        <p:nvSpPr>
          <p:cNvPr id="16" name="takeaway"/>
          <p:cNvSpPr/>
          <p:nvPr/>
        </p:nvSpPr>
        <p:spPr>
          <a:xfrm>
            <a:off x="640080" y="8065008"/>
            <a:ext cx="10911535" cy="914400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17" name="takeaway-text"/>
          <p:cNvSpPr txBox="1"/>
          <p:nvPr/>
        </p:nvSpPr>
        <p:spPr>
          <a:xfrm>
            <a:off x="914400" y="8065008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CF9FE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Levas para casa: o kit instalado, uma memória com o que aprendeste e um ciclo para usar amanhã.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9889236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640080" y="411480"/>
            <a:ext cx="3328416" cy="502920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3" name="tag-label"/>
          <p:cNvSpPr txBox="1"/>
          <p:nvPr/>
        </p:nvSpPr>
        <p:spPr>
          <a:xfrm>
            <a:off x="822960" y="411480"/>
            <a:ext cx="3054096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 · 1 min</a:t>
            </a:r>
            <a:endParaRPr lang="en-US" sz="2400" dirty="0"/>
          </a:p>
        </p:txBody>
      </p:sp>
      <p:sp>
        <p:nvSpPr>
          <p:cNvPr id="4" name="block"/>
          <p:cNvSpPr txBox="1"/>
          <p:nvPr/>
        </p:nvSpPr>
        <p:spPr>
          <a:xfrm>
            <a:off x="7894015" y="411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Abertura</a:t>
            </a:r>
            <a:endParaRPr lang="en-US" sz="2400" dirty="0"/>
          </a:p>
        </p:txBody>
      </p:sp>
      <p:sp>
        <p:nvSpPr>
          <p:cNvPr id="5" name="Text 1"/>
          <p:cNvSpPr/>
          <p:nvPr>
            <p:ph idx="102" type="title" hasCustomPrompt="1"/>
          </p:nvPr>
        </p:nvSpPr>
        <p:spPr>
          <a:xfrm>
            <a:off x="640080" y="1051560"/>
            <a:ext cx="109115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Como vamos trabalhar</a:t>
            </a:r>
            <a:endParaRPr lang="en-US" sz="4400" dirty="0"/>
          </a:p>
        </p:txBody>
      </p:sp>
      <p:sp>
        <p:nvSpPr>
          <p:cNvPr id="6" name="intro"/>
          <p:cNvSpPr txBox="1"/>
          <p:nvPr/>
        </p:nvSpPr>
        <p:spPr>
          <a:xfrm>
            <a:off x="640080" y="2331720"/>
            <a:ext cx="10911535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mesmo ciclo nos dois projetos:</a:t>
            </a:r>
            <a:endParaRPr lang="en-US" sz="2800" dirty="0"/>
          </a:p>
        </p:txBody>
      </p:sp>
      <p:sp>
        <p:nvSpPr>
          <p:cNvPr id="7" name="block-0"/>
          <p:cNvSpPr/>
          <p:nvPr/>
        </p:nvSpPr>
        <p:spPr>
          <a:xfrm>
            <a:off x="640080" y="3127248"/>
            <a:ext cx="10911535" cy="11055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block-number-0"/>
          <p:cNvSpPr/>
          <p:nvPr/>
        </p:nvSpPr>
        <p:spPr>
          <a:xfrm>
            <a:off x="868680" y="3405683"/>
            <a:ext cx="548640" cy="548640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block-text-0"/>
          <p:cNvSpPr txBox="1"/>
          <p:nvPr/>
        </p:nvSpPr>
        <p:spPr>
          <a:xfrm>
            <a:off x="1645920" y="3127248"/>
            <a:ext cx="9677095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Tu decides  </a:t>
            </a:r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spec, quantos agentes e que modelo.</a:t>
            </a:r>
            <a:endParaRPr lang="en-US" sz="2600" dirty="0"/>
          </a:p>
        </p:txBody>
      </p:sp>
      <p:sp>
        <p:nvSpPr>
          <p:cNvPr id="10" name="block-1"/>
          <p:cNvSpPr/>
          <p:nvPr/>
        </p:nvSpPr>
        <p:spPr>
          <a:xfrm>
            <a:off x="640080" y="4397350"/>
            <a:ext cx="10911535" cy="11055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block-number-1"/>
          <p:cNvSpPr/>
          <p:nvPr/>
        </p:nvSpPr>
        <p:spPr>
          <a:xfrm>
            <a:off x="868680" y="4675784"/>
            <a:ext cx="548640" cy="548640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block-text-1"/>
          <p:cNvSpPr txBox="1"/>
          <p:nvPr/>
        </p:nvSpPr>
        <p:spPr>
          <a:xfrm>
            <a:off x="1645920" y="4397350"/>
            <a:ext cx="9677095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Os agentes fazem  </a:t>
            </a:r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paralelo, cada um com a sua tarefa e o seu teste.</a:t>
            </a:r>
            <a:endParaRPr lang="en-US" sz="2600" dirty="0"/>
          </a:p>
        </p:txBody>
      </p:sp>
      <p:sp>
        <p:nvSpPr>
          <p:cNvPr id="13" name="block-2"/>
          <p:cNvSpPr/>
          <p:nvPr/>
        </p:nvSpPr>
        <p:spPr>
          <a:xfrm>
            <a:off x="640080" y="5667451"/>
            <a:ext cx="10911535" cy="11055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block-number-2"/>
          <p:cNvSpPr/>
          <p:nvPr/>
        </p:nvSpPr>
        <p:spPr>
          <a:xfrm>
            <a:off x="868680" y="5945886"/>
            <a:ext cx="548640" cy="548640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block-text-2"/>
          <p:cNvSpPr txBox="1"/>
          <p:nvPr/>
        </p:nvSpPr>
        <p:spPr>
          <a:xfrm>
            <a:off x="1645920" y="5667451"/>
            <a:ext cx="9677095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O gate verifica  </a:t>
            </a:r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testes, os segredos, o código perigoso e a revisão do Opus.</a:t>
            </a:r>
            <a:endParaRPr lang="en-US" sz="2600" dirty="0"/>
          </a:p>
        </p:txBody>
      </p:sp>
      <p:sp>
        <p:nvSpPr>
          <p:cNvPr id="16" name="block-3"/>
          <p:cNvSpPr/>
          <p:nvPr/>
        </p:nvSpPr>
        <p:spPr>
          <a:xfrm>
            <a:off x="640080" y="6937553"/>
            <a:ext cx="10911535" cy="11055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block-number-3"/>
          <p:cNvSpPr/>
          <p:nvPr/>
        </p:nvSpPr>
        <p:spPr>
          <a:xfrm>
            <a:off x="868680" y="7215988"/>
            <a:ext cx="548640" cy="548640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block-text-3"/>
          <p:cNvSpPr txBox="1"/>
          <p:nvPr/>
        </p:nvSpPr>
        <p:spPr>
          <a:xfrm>
            <a:off x="1645920" y="6937553"/>
            <a:ext cx="9677095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O painel mostra  </a:t>
            </a:r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 sala já fez, ao vivo (nunca os teus prompts).</a:t>
            </a:r>
            <a:endParaRPr lang="en-US" sz="2600" dirty="0"/>
          </a:p>
        </p:txBody>
      </p:sp>
      <p:sp>
        <p:nvSpPr>
          <p:cNvPr id="19" name="block-4"/>
          <p:cNvSpPr/>
          <p:nvPr/>
        </p:nvSpPr>
        <p:spPr>
          <a:xfrm>
            <a:off x="640080" y="8207654"/>
            <a:ext cx="10911535" cy="11055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block-number-4"/>
          <p:cNvSpPr/>
          <p:nvPr/>
        </p:nvSpPr>
        <p:spPr>
          <a:xfrm>
            <a:off x="868680" y="8486089"/>
            <a:ext cx="548640" cy="548640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5</a:t>
            </a:r>
            <a:endParaRPr lang="en-US" sz="2400" dirty="0"/>
          </a:p>
        </p:txBody>
      </p:sp>
      <p:sp>
        <p:nvSpPr>
          <p:cNvPr id="21" name="block-text-4"/>
          <p:cNvSpPr txBox="1"/>
          <p:nvPr/>
        </p:nvSpPr>
        <p:spPr>
          <a:xfrm>
            <a:off x="1645920" y="8207654"/>
            <a:ext cx="9677095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A memória aprende  </a:t>
            </a:r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lições de cada projeto, para a próxima vez.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9889236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640080" y="411480"/>
            <a:ext cx="3502152" cy="502920"/>
          </a:xfrm>
          <a:prstGeom prst="rect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sp>
        <p:nvSpPr>
          <p:cNvPr id="3" name="tag-label"/>
          <p:cNvSpPr txBox="1"/>
          <p:nvPr/>
        </p:nvSpPr>
        <p:spPr>
          <a:xfrm>
            <a:off x="822960" y="411480"/>
            <a:ext cx="3227832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agora · 1 min</a:t>
            </a:r>
            <a:endParaRPr lang="en-US" sz="2400" dirty="0"/>
          </a:p>
        </p:txBody>
      </p:sp>
      <p:sp>
        <p:nvSpPr>
          <p:cNvPr id="4" name="block"/>
          <p:cNvSpPr txBox="1"/>
          <p:nvPr/>
        </p:nvSpPr>
        <p:spPr>
          <a:xfrm>
            <a:off x="7894015" y="411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Abertura</a:t>
            </a:r>
            <a:endParaRPr lang="en-US" sz="2400" dirty="0"/>
          </a:p>
        </p:txBody>
      </p:sp>
      <p:sp>
        <p:nvSpPr>
          <p:cNvPr id="5" name="Text 1"/>
          <p:cNvSpPr/>
          <p:nvPr>
            <p:ph idx="102" type="title" hasCustomPrompt="1"/>
          </p:nvPr>
        </p:nvSpPr>
        <p:spPr>
          <a:xfrm>
            <a:off x="640080" y="1051560"/>
            <a:ext cx="109115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A tua memória aprende contigo</a:t>
            </a:r>
            <a:endParaRPr lang="en-US" sz="4400" dirty="0"/>
          </a:p>
        </p:txBody>
      </p:sp>
      <p:sp>
        <p:nvSpPr>
          <p:cNvPr id="6" name="intro"/>
          <p:cNvSpPr txBox="1"/>
          <p:nvPr/>
        </p:nvSpPr>
        <p:spPr>
          <a:xfrm>
            <a:off x="640080" y="2331720"/>
            <a:ext cx="10911535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app Agent Memory guarda, no teu portátil, o que aprendes ao longo do dia:</a:t>
            </a:r>
            <a:endParaRPr lang="en-US" sz="2800" dirty="0"/>
          </a:p>
        </p:txBody>
      </p:sp>
      <p:sp>
        <p:nvSpPr>
          <p:cNvPr id="7" name="block-0"/>
          <p:cNvSpPr/>
          <p:nvPr/>
        </p:nvSpPr>
        <p:spPr>
          <a:xfrm>
            <a:off x="640080" y="3557016"/>
            <a:ext cx="10911535" cy="1435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block-number-0"/>
          <p:cNvSpPr/>
          <p:nvPr/>
        </p:nvSpPr>
        <p:spPr>
          <a:xfrm>
            <a:off x="868680" y="4000500"/>
            <a:ext cx="548640" cy="548640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block-text-0"/>
          <p:cNvSpPr txBox="1"/>
          <p:nvPr/>
        </p:nvSpPr>
        <p:spPr>
          <a:xfrm>
            <a:off x="1645920" y="3557016"/>
            <a:ext cx="9677095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Lê antes de planear  </a:t>
            </a:r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/demo-plan, /task-intake e /task-plan procuram primeiro o que já sabes.</a:t>
            </a:r>
            <a:endParaRPr lang="en-US" sz="2600" dirty="0"/>
          </a:p>
        </p:txBody>
      </p:sp>
      <p:sp>
        <p:nvSpPr>
          <p:cNvPr id="10" name="block-1"/>
          <p:cNvSpPr/>
          <p:nvPr/>
        </p:nvSpPr>
        <p:spPr>
          <a:xfrm>
            <a:off x="640080" y="5157216"/>
            <a:ext cx="10911535" cy="1435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block-number-1"/>
          <p:cNvSpPr/>
          <p:nvPr/>
        </p:nvSpPr>
        <p:spPr>
          <a:xfrm>
            <a:off x="868680" y="5600700"/>
            <a:ext cx="548640" cy="548640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block-text-1"/>
          <p:cNvSpPr txBox="1"/>
          <p:nvPr/>
        </p:nvSpPr>
        <p:spPr>
          <a:xfrm>
            <a:off x="1645920" y="5157216"/>
            <a:ext cx="9677095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Guarda no fim  </a:t>
            </a:r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/demo-cost e /task-report guardam as lições de cada projeto; /memory guarda uma tua.</a:t>
            </a:r>
            <a:endParaRPr lang="en-US" sz="2600" dirty="0"/>
          </a:p>
        </p:txBody>
      </p:sp>
      <p:sp>
        <p:nvSpPr>
          <p:cNvPr id="13" name="code-background"/>
          <p:cNvSpPr/>
          <p:nvPr/>
        </p:nvSpPr>
        <p:spPr>
          <a:xfrm>
            <a:off x="640080" y="6894576"/>
            <a:ext cx="10911535" cy="1169518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14" name="code-label"/>
          <p:cNvSpPr txBox="1"/>
          <p:nvPr/>
        </p:nvSpPr>
        <p:spPr>
          <a:xfrm>
            <a:off x="914400" y="7077456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 terminal</a:t>
            </a:r>
            <a:endParaRPr lang="en-US" sz="2000" dirty="0"/>
          </a:p>
        </p:txBody>
      </p:sp>
      <p:sp>
        <p:nvSpPr>
          <p:cNvPr id="15" name="code"/>
          <p:cNvSpPr txBox="1"/>
          <p:nvPr/>
        </p:nvSpPr>
        <p:spPr>
          <a:xfrm>
            <a:off x="914400" y="7534656"/>
            <a:ext cx="10362895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agent-memory-gui</a:t>
            </a:r>
            <a:endParaRPr lang="en-US" sz="2200" dirty="0"/>
          </a:p>
        </p:txBody>
      </p:sp>
      <p:sp>
        <p:nvSpPr>
          <p:cNvPr id="16" name="expected-mark-circle"/>
          <p:cNvSpPr/>
          <p:nvPr/>
        </p:nvSpPr>
        <p:spPr>
          <a:xfrm>
            <a:off x="640080" y="8929116"/>
            <a:ext cx="502920" cy="502920"/>
          </a:xfrm>
          <a:prstGeom prst="ellipse">
            <a:avLst/>
          </a:prstGeom>
          <a:solidFill>
            <a:srgbClr val="1E9E57"/>
          </a:solidFill>
          <a:ln w="12700">
            <a:solidFill>
              <a:srgbClr val="1E9E57"/>
            </a:solidFill>
            <a:prstDash val="solid"/>
          </a:ln>
        </p:spPr>
      </p:sp>
      <p:pic>
        <p:nvPicPr>
          <p:cNvPr id="17" name="expected-mark" descr="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722" y="9039758"/>
            <a:ext cx="281635" cy="281635"/>
          </a:xfrm>
          <a:prstGeom prst="rect">
            <a:avLst/>
          </a:prstGeom>
        </p:spPr>
      </p:pic>
      <p:sp>
        <p:nvSpPr>
          <p:cNvPr id="18" name="expected"/>
          <p:cNvSpPr txBox="1"/>
          <p:nvPr/>
        </p:nvSpPr>
        <p:spPr>
          <a:xfrm>
            <a:off x="1371600" y="8883396"/>
            <a:ext cx="101800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esperado: </a:t>
            </a:r>
            <a:pPr indent="0" marL="0">
              <a:buNone/>
            </a:pPr>
            <a:r>
              <a:rPr lang="en-US" sz="24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app abre com o grafo ainda vazio; no fim do dia tem as lições do Canivete e da EX-1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9889236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640080" y="411480"/>
            <a:ext cx="3502152" cy="502920"/>
          </a:xfrm>
          <a:prstGeom prst="rect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sp>
        <p:nvSpPr>
          <p:cNvPr id="3" name="tag-label"/>
          <p:cNvSpPr txBox="1"/>
          <p:nvPr/>
        </p:nvSpPr>
        <p:spPr>
          <a:xfrm>
            <a:off x="822960" y="411480"/>
            <a:ext cx="3227832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agora · 4 min</a:t>
            </a:r>
            <a:endParaRPr lang="en-US" sz="2400" dirty="0"/>
          </a:p>
        </p:txBody>
      </p:sp>
      <p:sp>
        <p:nvSpPr>
          <p:cNvPr id="4" name="block"/>
          <p:cNvSpPr txBox="1"/>
          <p:nvPr/>
        </p:nvSpPr>
        <p:spPr>
          <a:xfrm>
            <a:off x="7894015" y="411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Abertura</a:t>
            </a:r>
            <a:endParaRPr lang="en-US" sz="2400" dirty="0"/>
          </a:p>
        </p:txBody>
      </p:sp>
      <p:sp>
        <p:nvSpPr>
          <p:cNvPr id="5" name="Text 1"/>
          <p:cNvSpPr/>
          <p:nvPr>
            <p:ph idx="102" type="title" hasCustomPrompt="1"/>
          </p:nvPr>
        </p:nvSpPr>
        <p:spPr>
          <a:xfrm>
            <a:off x="640080" y="1051560"/>
            <a:ext cx="109115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Verifica e liga-te ao painel</a:t>
            </a:r>
            <a:endParaRPr lang="en-US" sz="4400" dirty="0"/>
          </a:p>
        </p:txBody>
      </p:sp>
      <p:sp>
        <p:nvSpPr>
          <p:cNvPr id="6" name="step-number-0"/>
          <p:cNvSpPr/>
          <p:nvPr/>
        </p:nvSpPr>
        <p:spPr>
          <a:xfrm>
            <a:off x="640080" y="2331720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step-0"/>
          <p:cNvSpPr txBox="1"/>
          <p:nvPr/>
        </p:nvSpPr>
        <p:spPr>
          <a:xfrm>
            <a:off x="1325880" y="2331720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 terminal, corre o comando do teu sistema</a:t>
            </a:r>
            <a:endParaRPr lang="en-US" sz="2600" dirty="0"/>
          </a:p>
        </p:txBody>
      </p:sp>
      <p:sp>
        <p:nvSpPr>
          <p:cNvPr id="8" name="step-number-1"/>
          <p:cNvSpPr/>
          <p:nvPr/>
        </p:nvSpPr>
        <p:spPr>
          <a:xfrm>
            <a:off x="640080" y="2990088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step-1"/>
          <p:cNvSpPr txBox="1"/>
          <p:nvPr/>
        </p:nvSpPr>
        <p:spPr>
          <a:xfrm>
            <a:off x="1325880" y="2990088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Procura o teu nome na classificação do painel</a:t>
            </a:r>
            <a:endParaRPr lang="en-US" sz="2600" dirty="0"/>
          </a:p>
        </p:txBody>
      </p:sp>
      <p:sp>
        <p:nvSpPr>
          <p:cNvPr id="10" name="code-background"/>
          <p:cNvSpPr/>
          <p:nvPr/>
        </p:nvSpPr>
        <p:spPr>
          <a:xfrm>
            <a:off x="640080" y="3877056"/>
            <a:ext cx="10911535" cy="1169518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11" name="code-label"/>
          <p:cNvSpPr txBox="1"/>
          <p:nvPr/>
        </p:nvSpPr>
        <p:spPr>
          <a:xfrm>
            <a:off x="914400" y="4059936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</a:t>
            </a:r>
            <a:endParaRPr lang="en-US" sz="2000" dirty="0"/>
          </a:p>
        </p:txBody>
      </p:sp>
      <p:sp>
        <p:nvSpPr>
          <p:cNvPr id="12" name="code"/>
          <p:cNvSpPr txBox="1"/>
          <p:nvPr/>
        </p:nvSpPr>
        <p:spPr>
          <a:xfrm>
            <a:off x="914400" y="4517136"/>
            <a:ext cx="10362895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~/.workshop-claude/setup-mac.sh --check</a:t>
            </a:r>
            <a:endParaRPr lang="en-US" sz="2100" dirty="0"/>
          </a:p>
        </p:txBody>
      </p:sp>
      <p:sp>
        <p:nvSpPr>
          <p:cNvPr id="13" name="code-background"/>
          <p:cNvSpPr/>
          <p:nvPr/>
        </p:nvSpPr>
        <p:spPr>
          <a:xfrm>
            <a:off x="640080" y="5229454"/>
            <a:ext cx="10911535" cy="1561795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14" name="code-label"/>
          <p:cNvSpPr txBox="1"/>
          <p:nvPr/>
        </p:nvSpPr>
        <p:spPr>
          <a:xfrm>
            <a:off x="914400" y="5412334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(PowerShell)</a:t>
            </a:r>
            <a:endParaRPr lang="en-US" sz="2000" dirty="0"/>
          </a:p>
        </p:txBody>
      </p:sp>
      <p:sp>
        <p:nvSpPr>
          <p:cNvPr id="15" name="code"/>
          <p:cNvSpPr txBox="1"/>
          <p:nvPr/>
        </p:nvSpPr>
        <p:spPr>
          <a:xfrm>
            <a:off x="914400" y="5869534"/>
            <a:ext cx="10362895" cy="784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powershell -NoProfile -ExecutionPolicy Bypass -File "$env:USERPROFILE\.workshop-claude\setup-windows.ps1" -Check</a:t>
            </a:r>
            <a:endParaRPr lang="en-US" sz="2100" dirty="0"/>
          </a:p>
        </p:txBody>
      </p:sp>
      <p:sp>
        <p:nvSpPr>
          <p:cNvPr id="16" name="code-background"/>
          <p:cNvSpPr/>
          <p:nvPr/>
        </p:nvSpPr>
        <p:spPr>
          <a:xfrm>
            <a:off x="640080" y="6974129"/>
            <a:ext cx="10911535" cy="1169518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17" name="code-label"/>
          <p:cNvSpPr txBox="1"/>
          <p:nvPr/>
        </p:nvSpPr>
        <p:spPr>
          <a:xfrm>
            <a:off x="914400" y="7157009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estás no painel?</a:t>
            </a:r>
            <a:endParaRPr lang="en-US" sz="2000" dirty="0"/>
          </a:p>
        </p:txBody>
      </p:sp>
      <p:sp>
        <p:nvSpPr>
          <p:cNvPr id="18" name="code"/>
          <p:cNvSpPr txBox="1"/>
          <p:nvPr/>
        </p:nvSpPr>
        <p:spPr>
          <a:xfrm>
            <a:off x="914400" y="7614209"/>
            <a:ext cx="10362895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"$HOME/.workshop-claude/kit/telemetry/ctl.mjs" register</a:t>
            </a:r>
            <a:endParaRPr lang="en-US" sz="2100" dirty="0"/>
          </a:p>
        </p:txBody>
      </p:sp>
      <p:sp>
        <p:nvSpPr>
          <p:cNvPr id="19" name="expected-mark-circle"/>
          <p:cNvSpPr/>
          <p:nvPr/>
        </p:nvSpPr>
        <p:spPr>
          <a:xfrm>
            <a:off x="640080" y="8700516"/>
            <a:ext cx="502920" cy="502920"/>
          </a:xfrm>
          <a:prstGeom prst="ellipse">
            <a:avLst/>
          </a:prstGeom>
          <a:solidFill>
            <a:srgbClr val="1E9E57"/>
          </a:solidFill>
          <a:ln w="12700">
            <a:solidFill>
              <a:srgbClr val="1E9E57"/>
            </a:solidFill>
            <a:prstDash val="solid"/>
          </a:ln>
        </p:spPr>
      </p:sp>
      <p:pic>
        <p:nvPicPr>
          <p:cNvPr id="20" name="expected-mark" descr="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722" y="8811158"/>
            <a:ext cx="281635" cy="281635"/>
          </a:xfrm>
          <a:prstGeom prst="rect">
            <a:avLst/>
          </a:prstGeom>
        </p:spPr>
      </p:pic>
      <p:sp>
        <p:nvSpPr>
          <p:cNvPr id="21" name="expected"/>
          <p:cNvSpPr txBox="1"/>
          <p:nvPr/>
        </p:nvSpPr>
        <p:spPr>
          <a:xfrm>
            <a:off x="1371600" y="8654796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esperado: </a:t>
            </a:r>
            <a:pPr indent="0" marL="0">
              <a:buNone/>
            </a:pPr>
            <a:r>
              <a:rPr lang="en-US" sz="24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tabela-resumo sem falhas e o teu nome no painel, em "Inscritas"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9889236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640080" y="411480"/>
            <a:ext cx="3502152" cy="502920"/>
          </a:xfrm>
          <a:prstGeom prst="rect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sp>
        <p:nvSpPr>
          <p:cNvPr id="3" name="tag-label"/>
          <p:cNvSpPr txBox="1"/>
          <p:nvPr/>
        </p:nvSpPr>
        <p:spPr>
          <a:xfrm>
            <a:off x="822960" y="411480"/>
            <a:ext cx="3227832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agora · 2 min</a:t>
            </a:r>
            <a:endParaRPr lang="en-US" sz="2400" dirty="0"/>
          </a:p>
        </p:txBody>
      </p:sp>
      <p:sp>
        <p:nvSpPr>
          <p:cNvPr id="4" name="block"/>
          <p:cNvSpPr txBox="1"/>
          <p:nvPr/>
        </p:nvSpPr>
        <p:spPr>
          <a:xfrm>
            <a:off x="7894015" y="411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Abertura</a:t>
            </a:r>
            <a:endParaRPr lang="en-US" sz="2400" dirty="0"/>
          </a:p>
        </p:txBody>
      </p:sp>
      <p:sp>
        <p:nvSpPr>
          <p:cNvPr id="5" name="Text 1"/>
          <p:cNvSpPr/>
          <p:nvPr>
            <p:ph idx="102" type="title" hasCustomPrompt="1"/>
          </p:nvPr>
        </p:nvSpPr>
        <p:spPr>
          <a:xfrm>
            <a:off x="640080" y="1051560"/>
            <a:ext cx="109115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Algum passo falhou?</a:t>
            </a:r>
            <a:endParaRPr lang="en-US" sz="4400" dirty="0"/>
          </a:p>
        </p:txBody>
      </p:sp>
      <p:sp>
        <p:nvSpPr>
          <p:cNvPr id="6" name="step-number-0"/>
          <p:cNvSpPr/>
          <p:nvPr/>
        </p:nvSpPr>
        <p:spPr>
          <a:xfrm>
            <a:off x="640080" y="2331720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step-0"/>
          <p:cNvSpPr txBox="1"/>
          <p:nvPr/>
        </p:nvSpPr>
        <p:spPr>
          <a:xfrm>
            <a:off x="1325880" y="2331720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 o --doctor do teu sistema</a:t>
            </a:r>
            <a:endParaRPr lang="en-US" sz="2600" dirty="0"/>
          </a:p>
        </p:txBody>
      </p:sp>
      <p:sp>
        <p:nvSpPr>
          <p:cNvPr id="8" name="step-number-1"/>
          <p:cNvSpPr/>
          <p:nvPr/>
        </p:nvSpPr>
        <p:spPr>
          <a:xfrm>
            <a:off x="640080" y="2990088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step-1"/>
          <p:cNvSpPr txBox="1"/>
          <p:nvPr/>
        </p:nvSpPr>
        <p:spPr>
          <a:xfrm>
            <a:off x="1325880" y="2990088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Segue o comando que ele sugere, um de cada vez</a:t>
            </a:r>
            <a:endParaRPr lang="en-US" sz="2600" dirty="0"/>
          </a:p>
        </p:txBody>
      </p:sp>
      <p:sp>
        <p:nvSpPr>
          <p:cNvPr id="10" name="step-number-2"/>
          <p:cNvSpPr/>
          <p:nvPr/>
        </p:nvSpPr>
        <p:spPr>
          <a:xfrm>
            <a:off x="640080" y="3648456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3</a:t>
            </a:r>
            <a:endParaRPr lang="en-US" sz="2400" dirty="0"/>
          </a:p>
        </p:txBody>
      </p:sp>
      <p:sp>
        <p:nvSpPr>
          <p:cNvPr id="11" name="step-2"/>
          <p:cNvSpPr txBox="1"/>
          <p:nvPr/>
        </p:nvSpPr>
        <p:spPr>
          <a:xfrm>
            <a:off x="1325880" y="3648456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Continua sem resposta? Trabalha com o vizinho e chama-nos</a:t>
            </a:r>
            <a:endParaRPr lang="en-US" sz="2600" dirty="0"/>
          </a:p>
        </p:txBody>
      </p:sp>
      <p:sp>
        <p:nvSpPr>
          <p:cNvPr id="12" name="code-background"/>
          <p:cNvSpPr/>
          <p:nvPr/>
        </p:nvSpPr>
        <p:spPr>
          <a:xfrm>
            <a:off x="640080" y="4535424"/>
            <a:ext cx="10911535" cy="1169518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13" name="code-label"/>
          <p:cNvSpPr txBox="1"/>
          <p:nvPr/>
        </p:nvSpPr>
        <p:spPr>
          <a:xfrm>
            <a:off x="914400" y="4718304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</a:t>
            </a:r>
            <a:endParaRPr lang="en-US" sz="2000" dirty="0"/>
          </a:p>
        </p:txBody>
      </p:sp>
      <p:sp>
        <p:nvSpPr>
          <p:cNvPr id="14" name="code"/>
          <p:cNvSpPr txBox="1"/>
          <p:nvPr/>
        </p:nvSpPr>
        <p:spPr>
          <a:xfrm>
            <a:off x="914400" y="5175504"/>
            <a:ext cx="10362895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~/.workshop-claude/setup-mac.sh --doctor</a:t>
            </a:r>
            <a:endParaRPr lang="en-US" sz="2100" dirty="0"/>
          </a:p>
        </p:txBody>
      </p:sp>
      <p:sp>
        <p:nvSpPr>
          <p:cNvPr id="15" name="code-background"/>
          <p:cNvSpPr/>
          <p:nvPr/>
        </p:nvSpPr>
        <p:spPr>
          <a:xfrm>
            <a:off x="640080" y="5887822"/>
            <a:ext cx="10911535" cy="1561795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16" name="code-label"/>
          <p:cNvSpPr txBox="1"/>
          <p:nvPr/>
        </p:nvSpPr>
        <p:spPr>
          <a:xfrm>
            <a:off x="914400" y="6070702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(PowerShell)</a:t>
            </a:r>
            <a:endParaRPr lang="en-US" sz="2000" dirty="0"/>
          </a:p>
        </p:txBody>
      </p:sp>
      <p:sp>
        <p:nvSpPr>
          <p:cNvPr id="17" name="code"/>
          <p:cNvSpPr txBox="1"/>
          <p:nvPr/>
        </p:nvSpPr>
        <p:spPr>
          <a:xfrm>
            <a:off x="914400" y="6527902"/>
            <a:ext cx="10362895" cy="784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powershell -NoProfile -ExecutionPolicy Bypass -File "$env:USERPROFILE\.workshop-claude\setup-windows.ps1" -Doctor</a:t>
            </a:r>
            <a:endParaRPr lang="en-US" sz="2100" dirty="0"/>
          </a:p>
        </p:txBody>
      </p:sp>
      <p:sp>
        <p:nvSpPr>
          <p:cNvPr id="18" name="expected-mark-circle"/>
          <p:cNvSpPr/>
          <p:nvPr/>
        </p:nvSpPr>
        <p:spPr>
          <a:xfrm>
            <a:off x="640080" y="8700516"/>
            <a:ext cx="502920" cy="502920"/>
          </a:xfrm>
          <a:prstGeom prst="ellipse">
            <a:avLst/>
          </a:prstGeom>
          <a:solidFill>
            <a:srgbClr val="1E9E57"/>
          </a:solidFill>
          <a:ln w="12700">
            <a:solidFill>
              <a:srgbClr val="1E9E57"/>
            </a:solidFill>
            <a:prstDash val="solid"/>
          </a:ln>
        </p:spPr>
      </p:sp>
      <p:pic>
        <p:nvPicPr>
          <p:cNvPr id="19" name="expected-mark" descr="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722" y="8811158"/>
            <a:ext cx="281635" cy="281635"/>
          </a:xfrm>
          <a:prstGeom prst="rect">
            <a:avLst/>
          </a:prstGeom>
        </p:spPr>
      </p:pic>
      <p:sp>
        <p:nvSpPr>
          <p:cNvPr id="20" name="expected"/>
          <p:cNvSpPr txBox="1"/>
          <p:nvPr/>
        </p:nvSpPr>
        <p:spPr>
          <a:xfrm>
            <a:off x="1371600" y="8654796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esperado: </a:t>
            </a:r>
            <a:pPr indent="0" marL="0">
              <a:buNone/>
            </a:pPr>
            <a:r>
              <a:rPr lang="en-US" sz="24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causa provável e o comando que a resolve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9889236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640080" y="411480"/>
            <a:ext cx="2980944" cy="502920"/>
          </a:xfrm>
          <a:prstGeom prst="rect">
            <a:avLst/>
          </a:prstGeom>
          <a:solidFill>
            <a:srgbClr val="F25928"/>
          </a:solidFill>
          <a:ln w="12700">
            <a:solidFill>
              <a:srgbClr val="F25928"/>
            </a:solidFill>
            <a:prstDash val="solid"/>
          </a:ln>
        </p:spPr>
      </p:sp>
      <p:sp>
        <p:nvSpPr>
          <p:cNvPr id="3" name="tag-label"/>
          <p:cNvSpPr txBox="1"/>
          <p:nvPr/>
        </p:nvSpPr>
        <p:spPr>
          <a:xfrm>
            <a:off x="822960" y="411480"/>
            <a:ext cx="2706624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Painel · 1 min</a:t>
            </a:r>
            <a:endParaRPr lang="en-US" sz="2400" dirty="0"/>
          </a:p>
        </p:txBody>
      </p:sp>
      <p:sp>
        <p:nvSpPr>
          <p:cNvPr id="4" name="block"/>
          <p:cNvSpPr txBox="1"/>
          <p:nvPr/>
        </p:nvSpPr>
        <p:spPr>
          <a:xfrm>
            <a:off x="7894015" y="411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Missões</a:t>
            </a:r>
            <a:endParaRPr lang="en-US" sz="2400" dirty="0"/>
          </a:p>
        </p:txBody>
      </p:sp>
      <p:sp>
        <p:nvSpPr>
          <p:cNvPr id="5" name="Text 1"/>
          <p:cNvSpPr/>
          <p:nvPr>
            <p:ph idx="102" type="title" hasCustomPrompt="1"/>
          </p:nvPr>
        </p:nvSpPr>
        <p:spPr>
          <a:xfrm>
            <a:off x="640080" y="1051560"/>
            <a:ext cx="109115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10 missões, uma grelha vazia</a:t>
            </a:r>
            <a:endParaRPr lang="en-US" sz="4400" dirty="0"/>
          </a:p>
        </p:txBody>
      </p:sp>
      <p:sp>
        <p:nvSpPr>
          <p:cNvPr id="6" name="question"/>
          <p:cNvSpPr txBox="1"/>
          <p:nvPr/>
        </p:nvSpPr>
        <p:spPr>
          <a:xfrm>
            <a:off x="640080" y="2331720"/>
            <a:ext cx="88998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Quantas missões vai a sala acender em 15 minutos?</a:t>
            </a:r>
            <a:endParaRPr lang="en-US" sz="4800" dirty="0"/>
          </a:p>
        </p:txBody>
      </p:sp>
      <p:sp>
        <p:nvSpPr>
          <p:cNvPr id="7" name="panel-arrow-circle"/>
          <p:cNvSpPr/>
          <p:nvPr/>
        </p:nvSpPr>
        <p:spPr>
          <a:xfrm>
            <a:off x="10271455" y="2377440"/>
            <a:ext cx="1280160" cy="1280160"/>
          </a:xfrm>
          <a:prstGeom prst="ellipse">
            <a:avLst/>
          </a:prstGeom>
          <a:solidFill>
            <a:srgbClr val="F25928"/>
          </a:solidFill>
          <a:ln w="12700">
            <a:solidFill>
              <a:srgbClr val="F25928"/>
            </a:solidFill>
            <a:prstDash val="solid"/>
          </a:ln>
        </p:spPr>
      </p:sp>
      <p:pic>
        <p:nvPicPr>
          <p:cNvPr id="8" name="panel-arrow" descr="arrow-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3090" y="2659075"/>
            <a:ext cx="716890" cy="716890"/>
          </a:xfrm>
          <a:prstGeom prst="rect">
            <a:avLst/>
          </a:prstGeom>
        </p:spPr>
      </p:pic>
      <p:sp>
        <p:nvSpPr>
          <p:cNvPr id="9" name="panel-arrow-label"/>
          <p:cNvSpPr txBox="1"/>
          <p:nvPr/>
        </p:nvSpPr>
        <p:spPr>
          <a:xfrm>
            <a:off x="9539935" y="37490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59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Olha para o painel</a:t>
            </a:r>
            <a:endParaRPr lang="en-US" sz="2400" dirty="0"/>
          </a:p>
        </p:txBody>
      </p:sp>
      <p:sp>
        <p:nvSpPr>
          <p:cNvPr id="10" name="support"/>
          <p:cNvSpPr txBox="1"/>
          <p:nvPr/>
        </p:nvSpPr>
        <p:spPr>
          <a:xfrm>
            <a:off x="640080" y="4892040"/>
            <a:ext cx="8899855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missão valida-se sozinha: fazes, e o painel acende.</a:t>
            </a:r>
            <a:endParaRPr lang="en-US" sz="2800" dirty="0"/>
          </a:p>
        </p:txBody>
      </p:sp>
      <p:sp>
        <p:nvSpPr>
          <p:cNvPr id="11" name="code-background"/>
          <p:cNvSpPr/>
          <p:nvPr/>
        </p:nvSpPr>
        <p:spPr>
          <a:xfrm>
            <a:off x="640080" y="6071616"/>
            <a:ext cx="10911535" cy="1561795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12" name="code-label"/>
          <p:cNvSpPr txBox="1"/>
          <p:nvPr/>
        </p:nvSpPr>
        <p:spPr>
          <a:xfrm>
            <a:off x="914400" y="6254496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1 · missões</a:t>
            </a:r>
            <a:endParaRPr lang="en-US" sz="2000" dirty="0"/>
          </a:p>
        </p:txBody>
      </p:sp>
      <p:sp>
        <p:nvSpPr>
          <p:cNvPr id="13" name="code"/>
          <p:cNvSpPr txBox="1"/>
          <p:nvPr/>
        </p:nvSpPr>
        <p:spPr>
          <a:xfrm>
            <a:off x="914400" y="6711696"/>
            <a:ext cx="10362895" cy="784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~/workshop-claude/missions-project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9889236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640080" y="411480"/>
            <a:ext cx="3502152" cy="502920"/>
          </a:xfrm>
          <a:prstGeom prst="rect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sp>
        <p:nvSpPr>
          <p:cNvPr id="3" name="tag-label"/>
          <p:cNvSpPr txBox="1"/>
          <p:nvPr/>
        </p:nvSpPr>
        <p:spPr>
          <a:xfrm>
            <a:off x="822960" y="411480"/>
            <a:ext cx="3227832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Missão M1 · 2 min</a:t>
            </a:r>
            <a:endParaRPr lang="en-US" sz="2400" dirty="0"/>
          </a:p>
        </p:txBody>
      </p:sp>
      <p:sp>
        <p:nvSpPr>
          <p:cNvPr id="4" name="block"/>
          <p:cNvSpPr txBox="1"/>
          <p:nvPr/>
        </p:nvSpPr>
        <p:spPr>
          <a:xfrm>
            <a:off x="7894015" y="411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Missões</a:t>
            </a:r>
            <a:endParaRPr lang="en-US" sz="2400" dirty="0"/>
          </a:p>
        </p:txBody>
      </p:sp>
      <p:sp>
        <p:nvSpPr>
          <p:cNvPr id="5" name="Text 1"/>
          <p:cNvSpPr/>
          <p:nvPr>
            <p:ph idx="102" type="title" hasCustomPrompt="1"/>
          </p:nvPr>
        </p:nvSpPr>
        <p:spPr>
          <a:xfrm>
            <a:off x="640080" y="1051560"/>
            <a:ext cx="109115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Planear sem tocar</a:t>
            </a:r>
            <a:endParaRPr lang="en-US" sz="4400" dirty="0"/>
          </a:p>
        </p:txBody>
      </p:sp>
      <p:sp>
        <p:nvSpPr>
          <p:cNvPr id="6" name="concept"/>
          <p:cNvSpPr/>
          <p:nvPr/>
        </p:nvSpPr>
        <p:spPr>
          <a:xfrm>
            <a:off x="640080" y="2286000"/>
            <a:ext cx="10911535" cy="704088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7" name="concept-icon-circle"/>
          <p:cNvSpPr/>
          <p:nvPr/>
        </p:nvSpPr>
        <p:spPr>
          <a:xfrm>
            <a:off x="914400" y="2318004"/>
            <a:ext cx="640080" cy="640080"/>
          </a:xfrm>
          <a:prstGeom prst="ellipse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pic>
        <p:nvPicPr>
          <p:cNvPr id="8" name="concept-icon" descr="lightbul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8" y="2458822"/>
            <a:ext cx="358445" cy="358445"/>
          </a:xfrm>
          <a:prstGeom prst="rect">
            <a:avLst/>
          </a:prstGeom>
        </p:spPr>
      </p:pic>
      <p:sp>
        <p:nvSpPr>
          <p:cNvPr id="9" name="concept-text"/>
          <p:cNvSpPr txBox="1"/>
          <p:nvPr/>
        </p:nvSpPr>
        <p:spPr>
          <a:xfrm>
            <a:off x="1783080" y="2286000"/>
            <a:ext cx="9539935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CF9FE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O plan mode lê e planeia, mas não escreve nada.</a:t>
            </a:r>
            <a:endParaRPr lang="en-US" sz="2800" dirty="0"/>
          </a:p>
        </p:txBody>
      </p:sp>
      <p:sp>
        <p:nvSpPr>
          <p:cNvPr id="10" name="step-number-0"/>
          <p:cNvSpPr/>
          <p:nvPr/>
        </p:nvSpPr>
        <p:spPr>
          <a:xfrm>
            <a:off x="640080" y="3355848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step-0"/>
          <p:cNvSpPr txBox="1"/>
          <p:nvPr/>
        </p:nvSpPr>
        <p:spPr>
          <a:xfrm>
            <a:off x="1325880" y="3355848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Carrega em Shift+Tab até aparecer "plan mode on"</a:t>
            </a:r>
            <a:endParaRPr lang="en-US" sz="2600" dirty="0"/>
          </a:p>
        </p:txBody>
      </p:sp>
      <p:sp>
        <p:nvSpPr>
          <p:cNvPr id="12" name="step-number-1"/>
          <p:cNvSpPr/>
          <p:nvPr/>
        </p:nvSpPr>
        <p:spPr>
          <a:xfrm>
            <a:off x="640080" y="4014216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step-1"/>
          <p:cNvSpPr txBox="1"/>
          <p:nvPr/>
        </p:nvSpPr>
        <p:spPr>
          <a:xfrm>
            <a:off x="1325880" y="4014216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a pergunta</a:t>
            </a:r>
            <a:endParaRPr lang="en-US" sz="2600" dirty="0"/>
          </a:p>
        </p:txBody>
      </p:sp>
      <p:sp>
        <p:nvSpPr>
          <p:cNvPr id="14" name="step-number-2"/>
          <p:cNvSpPr/>
          <p:nvPr/>
        </p:nvSpPr>
        <p:spPr>
          <a:xfrm>
            <a:off x="640080" y="4672584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step-2"/>
          <p:cNvSpPr txBox="1"/>
          <p:nvPr/>
        </p:nvSpPr>
        <p:spPr>
          <a:xfrm>
            <a:off x="1325880" y="4672584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o plano e sai do plan mode com Shift+Tab</a:t>
            </a:r>
            <a:endParaRPr lang="en-US" sz="2600" dirty="0"/>
          </a:p>
        </p:txBody>
      </p:sp>
      <p:sp>
        <p:nvSpPr>
          <p:cNvPr id="16" name="code-background"/>
          <p:cNvSpPr/>
          <p:nvPr/>
        </p:nvSpPr>
        <p:spPr>
          <a:xfrm>
            <a:off x="640080" y="5559552"/>
            <a:ext cx="10911535" cy="1561795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17" name="code-label"/>
          <p:cNvSpPr txBox="1"/>
          <p:nvPr/>
        </p:nvSpPr>
        <p:spPr>
          <a:xfrm>
            <a:off x="914400" y="5742432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Claude Code</a:t>
            </a:r>
            <a:endParaRPr lang="en-US" sz="2000" dirty="0"/>
          </a:p>
        </p:txBody>
      </p:sp>
      <p:sp>
        <p:nvSpPr>
          <p:cNvPr id="18" name="code"/>
          <p:cNvSpPr txBox="1"/>
          <p:nvPr/>
        </p:nvSpPr>
        <p:spPr>
          <a:xfrm>
            <a:off x="914400" y="6199632"/>
            <a:ext cx="10362895" cy="784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Shift+Tab  →  plan mode on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Como acrescentarias conversão de volume?</a:t>
            </a:r>
            <a:endParaRPr lang="en-US" sz="2100" dirty="0"/>
          </a:p>
        </p:txBody>
      </p:sp>
      <p:sp>
        <p:nvSpPr>
          <p:cNvPr id="19" name="expected-mark-circle"/>
          <p:cNvSpPr/>
          <p:nvPr/>
        </p:nvSpPr>
        <p:spPr>
          <a:xfrm>
            <a:off x="640080" y="8700516"/>
            <a:ext cx="502920" cy="502920"/>
          </a:xfrm>
          <a:prstGeom prst="ellipse">
            <a:avLst/>
          </a:prstGeom>
          <a:solidFill>
            <a:srgbClr val="1E9E57"/>
          </a:solidFill>
          <a:ln w="12700">
            <a:solidFill>
              <a:srgbClr val="1E9E57"/>
            </a:solidFill>
            <a:prstDash val="solid"/>
          </a:ln>
        </p:spPr>
      </p:sp>
      <p:pic>
        <p:nvPicPr>
          <p:cNvPr id="20" name="expected-mark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722" y="8811158"/>
            <a:ext cx="281635" cy="281635"/>
          </a:xfrm>
          <a:prstGeom prst="rect">
            <a:avLst/>
          </a:prstGeom>
        </p:spPr>
      </p:pic>
      <p:sp>
        <p:nvSpPr>
          <p:cNvPr id="21" name="expected"/>
          <p:cNvSpPr txBox="1"/>
          <p:nvPr/>
        </p:nvSpPr>
        <p:spPr>
          <a:xfrm>
            <a:off x="1371600" y="8654796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esperado: </a:t>
            </a:r>
            <a:pPr indent="0" marL="0">
              <a:buNone/>
            </a:pPr>
            <a:r>
              <a:rPr lang="en-US" sz="24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plano com passos, sem nenhum ficheiro mudado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9889236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640080" y="411480"/>
            <a:ext cx="3502152" cy="502920"/>
          </a:xfrm>
          <a:prstGeom prst="rect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sp>
        <p:nvSpPr>
          <p:cNvPr id="3" name="tag-label"/>
          <p:cNvSpPr txBox="1"/>
          <p:nvPr/>
        </p:nvSpPr>
        <p:spPr>
          <a:xfrm>
            <a:off x="822960" y="411480"/>
            <a:ext cx="3227832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Missão M2 · 2 min</a:t>
            </a:r>
            <a:endParaRPr lang="en-US" sz="2400" dirty="0"/>
          </a:p>
        </p:txBody>
      </p:sp>
      <p:sp>
        <p:nvSpPr>
          <p:cNvPr id="4" name="block"/>
          <p:cNvSpPr txBox="1"/>
          <p:nvPr/>
        </p:nvSpPr>
        <p:spPr>
          <a:xfrm>
            <a:off x="7894015" y="411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Missões</a:t>
            </a:r>
            <a:endParaRPr lang="en-US" sz="2400" dirty="0"/>
          </a:p>
        </p:txBody>
      </p:sp>
      <p:sp>
        <p:nvSpPr>
          <p:cNvPr id="5" name="Text 1"/>
          <p:cNvSpPr/>
          <p:nvPr>
            <p:ph idx="102" type="title" hasCustomPrompt="1"/>
          </p:nvPr>
        </p:nvSpPr>
        <p:spPr>
          <a:xfrm>
            <a:off x="640080" y="1051560"/>
            <a:ext cx="109115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O modelo certo</a:t>
            </a:r>
            <a:endParaRPr lang="en-US" sz="4400" dirty="0"/>
          </a:p>
        </p:txBody>
      </p:sp>
      <p:sp>
        <p:nvSpPr>
          <p:cNvPr id="6" name="concept"/>
          <p:cNvSpPr/>
          <p:nvPr/>
        </p:nvSpPr>
        <p:spPr>
          <a:xfrm>
            <a:off x="640080" y="2286000"/>
            <a:ext cx="10911535" cy="1133856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7" name="concept-icon-circle"/>
          <p:cNvSpPr/>
          <p:nvPr/>
        </p:nvSpPr>
        <p:spPr>
          <a:xfrm>
            <a:off x="914400" y="2532888"/>
            <a:ext cx="640080" cy="640080"/>
          </a:xfrm>
          <a:prstGeom prst="ellipse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pic>
        <p:nvPicPr>
          <p:cNvPr id="8" name="concept-icon" descr="lightbul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8" y="2673706"/>
            <a:ext cx="358445" cy="358445"/>
          </a:xfrm>
          <a:prstGeom prst="rect">
            <a:avLst/>
          </a:prstGeom>
        </p:spPr>
      </p:pic>
      <p:sp>
        <p:nvSpPr>
          <p:cNvPr id="9" name="concept-text"/>
          <p:cNvSpPr txBox="1"/>
          <p:nvPr/>
        </p:nvSpPr>
        <p:spPr>
          <a:xfrm>
            <a:off x="1783080" y="2286000"/>
            <a:ext cx="9539935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CF9FE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Cada modelo tem um preço: Haiku para o simples, Sonnet para o trabalho, Opus para decidir.</a:t>
            </a:r>
            <a:endParaRPr lang="en-US" sz="2800" dirty="0"/>
          </a:p>
        </p:txBody>
      </p:sp>
      <p:sp>
        <p:nvSpPr>
          <p:cNvPr id="10" name="step-number-0"/>
          <p:cNvSpPr/>
          <p:nvPr/>
        </p:nvSpPr>
        <p:spPr>
          <a:xfrm>
            <a:off x="640080" y="3785616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step-0"/>
          <p:cNvSpPr txBox="1"/>
          <p:nvPr/>
        </p:nvSpPr>
        <p:spPr>
          <a:xfrm>
            <a:off x="1325880" y="3785616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Muda para o Haiku e confirma com Enter</a:t>
            </a:r>
            <a:endParaRPr lang="en-US" sz="2600" dirty="0"/>
          </a:p>
        </p:txBody>
      </p:sp>
      <p:sp>
        <p:nvSpPr>
          <p:cNvPr id="12" name="step-number-1"/>
          <p:cNvSpPr/>
          <p:nvPr/>
        </p:nvSpPr>
        <p:spPr>
          <a:xfrm>
            <a:off x="640080" y="4443984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step-1"/>
          <p:cNvSpPr txBox="1"/>
          <p:nvPr/>
        </p:nvSpPr>
        <p:spPr>
          <a:xfrm>
            <a:off x="1325880" y="4443984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uma pergunta simples</a:t>
            </a:r>
            <a:endParaRPr lang="en-US" sz="2600" dirty="0"/>
          </a:p>
        </p:txBody>
      </p:sp>
      <p:sp>
        <p:nvSpPr>
          <p:cNvPr id="14" name="step-number-2"/>
          <p:cNvSpPr/>
          <p:nvPr/>
        </p:nvSpPr>
        <p:spPr>
          <a:xfrm>
            <a:off x="640080" y="5102352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step-2"/>
          <p:cNvSpPr txBox="1"/>
          <p:nvPr/>
        </p:nvSpPr>
        <p:spPr>
          <a:xfrm>
            <a:off x="1325880" y="5102352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Volta ao Sonnet</a:t>
            </a:r>
            <a:endParaRPr lang="en-US" sz="2600" dirty="0"/>
          </a:p>
        </p:txBody>
      </p:sp>
      <p:sp>
        <p:nvSpPr>
          <p:cNvPr id="16" name="code-background"/>
          <p:cNvSpPr/>
          <p:nvPr/>
        </p:nvSpPr>
        <p:spPr>
          <a:xfrm>
            <a:off x="640080" y="5989320"/>
            <a:ext cx="10911535" cy="1954073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17" name="code-label"/>
          <p:cNvSpPr txBox="1"/>
          <p:nvPr/>
        </p:nvSpPr>
        <p:spPr>
          <a:xfrm>
            <a:off x="914400" y="61722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Claude Code</a:t>
            </a:r>
            <a:endParaRPr lang="en-US" sz="2000" dirty="0"/>
          </a:p>
        </p:txBody>
      </p:sp>
      <p:sp>
        <p:nvSpPr>
          <p:cNvPr id="18" name="code"/>
          <p:cNvSpPr txBox="1"/>
          <p:nvPr/>
        </p:nvSpPr>
        <p:spPr>
          <a:xfrm>
            <a:off x="914400" y="6629400"/>
            <a:ext cx="10362895" cy="1176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/model haiku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que faz o units.js? Uma frase.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/model sonnet</a:t>
            </a:r>
            <a:endParaRPr lang="en-US" sz="2200" dirty="0"/>
          </a:p>
        </p:txBody>
      </p:sp>
      <p:sp>
        <p:nvSpPr>
          <p:cNvPr id="19" name="expected-mark-circle"/>
          <p:cNvSpPr/>
          <p:nvPr/>
        </p:nvSpPr>
        <p:spPr>
          <a:xfrm>
            <a:off x="640080" y="8700516"/>
            <a:ext cx="502920" cy="502920"/>
          </a:xfrm>
          <a:prstGeom prst="ellipse">
            <a:avLst/>
          </a:prstGeom>
          <a:solidFill>
            <a:srgbClr val="1E9E57"/>
          </a:solidFill>
          <a:ln w="12700">
            <a:solidFill>
              <a:srgbClr val="1E9E57"/>
            </a:solidFill>
            <a:prstDash val="solid"/>
          </a:ln>
        </p:spPr>
      </p:sp>
      <p:pic>
        <p:nvPicPr>
          <p:cNvPr id="20" name="expected-mark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722" y="8811158"/>
            <a:ext cx="281635" cy="281635"/>
          </a:xfrm>
          <a:prstGeom prst="rect">
            <a:avLst/>
          </a:prstGeom>
        </p:spPr>
      </p:pic>
      <p:sp>
        <p:nvSpPr>
          <p:cNvPr id="21" name="expected"/>
          <p:cNvSpPr txBox="1"/>
          <p:nvPr/>
        </p:nvSpPr>
        <p:spPr>
          <a:xfrm>
            <a:off x="1371600" y="8654796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esperado: </a:t>
            </a:r>
            <a:pPr indent="0" marL="0">
              <a:buNone/>
            </a:pPr>
            <a:r>
              <a:rPr lang="en-US" sz="24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resposta do Haiku, por uma fração do custo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9889236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640080" y="411480"/>
            <a:ext cx="3502152" cy="502920"/>
          </a:xfrm>
          <a:prstGeom prst="rect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sp>
        <p:nvSpPr>
          <p:cNvPr id="3" name="tag-label"/>
          <p:cNvSpPr txBox="1"/>
          <p:nvPr/>
        </p:nvSpPr>
        <p:spPr>
          <a:xfrm>
            <a:off x="822960" y="411480"/>
            <a:ext cx="3227832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Missão M3 · 2 min</a:t>
            </a:r>
            <a:endParaRPr lang="en-US" sz="2400" dirty="0"/>
          </a:p>
        </p:txBody>
      </p:sp>
      <p:sp>
        <p:nvSpPr>
          <p:cNvPr id="4" name="block"/>
          <p:cNvSpPr txBox="1"/>
          <p:nvPr/>
        </p:nvSpPr>
        <p:spPr>
          <a:xfrm>
            <a:off x="7894015" y="411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Missões</a:t>
            </a:r>
            <a:endParaRPr lang="en-US" sz="2400" dirty="0"/>
          </a:p>
        </p:txBody>
      </p:sp>
      <p:sp>
        <p:nvSpPr>
          <p:cNvPr id="5" name="Text 1"/>
          <p:cNvSpPr/>
          <p:nvPr>
            <p:ph idx="102" type="title" hasCustomPrompt="1"/>
          </p:nvPr>
        </p:nvSpPr>
        <p:spPr>
          <a:xfrm>
            <a:off x="640080" y="1051560"/>
            <a:ext cx="109115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Um subagente</a:t>
            </a:r>
            <a:endParaRPr lang="en-US" sz="4400" dirty="0"/>
          </a:p>
        </p:txBody>
      </p:sp>
      <p:sp>
        <p:nvSpPr>
          <p:cNvPr id="6" name="concept"/>
          <p:cNvSpPr/>
          <p:nvPr/>
        </p:nvSpPr>
        <p:spPr>
          <a:xfrm>
            <a:off x="640080" y="2286000"/>
            <a:ext cx="10911535" cy="1133856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7" name="concept-icon-circle"/>
          <p:cNvSpPr/>
          <p:nvPr/>
        </p:nvSpPr>
        <p:spPr>
          <a:xfrm>
            <a:off x="914400" y="2532888"/>
            <a:ext cx="640080" cy="640080"/>
          </a:xfrm>
          <a:prstGeom prst="ellipse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pic>
        <p:nvPicPr>
          <p:cNvPr id="8" name="concept-icon" descr="lightbul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8" y="2673706"/>
            <a:ext cx="358445" cy="358445"/>
          </a:xfrm>
          <a:prstGeom prst="rect">
            <a:avLst/>
          </a:prstGeom>
        </p:spPr>
      </p:pic>
      <p:sp>
        <p:nvSpPr>
          <p:cNvPr id="9" name="concept-text"/>
          <p:cNvSpPr txBox="1"/>
          <p:nvPr/>
        </p:nvSpPr>
        <p:spPr>
          <a:xfrm>
            <a:off x="1783080" y="2286000"/>
            <a:ext cx="9539935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CF9FE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Um subagente trabalha num contexto limpo e devolve só o resumo.</a:t>
            </a:r>
            <a:endParaRPr lang="en-US" sz="2800" dirty="0"/>
          </a:p>
        </p:txBody>
      </p:sp>
      <p:sp>
        <p:nvSpPr>
          <p:cNvPr id="10" name="step-number-0"/>
          <p:cNvSpPr/>
          <p:nvPr/>
        </p:nvSpPr>
        <p:spPr>
          <a:xfrm>
            <a:off x="640080" y="3785616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step-0"/>
          <p:cNvSpPr txBox="1"/>
          <p:nvPr/>
        </p:nvSpPr>
        <p:spPr>
          <a:xfrm>
            <a:off x="1325880" y="3785616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Pede o trabalho a um subagente</a:t>
            </a:r>
            <a:endParaRPr lang="en-US" sz="2600" dirty="0"/>
          </a:p>
        </p:txBody>
      </p:sp>
      <p:sp>
        <p:nvSpPr>
          <p:cNvPr id="12" name="step-number-1"/>
          <p:cNvSpPr/>
          <p:nvPr/>
        </p:nvSpPr>
        <p:spPr>
          <a:xfrm>
            <a:off x="640080" y="4443984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step-1"/>
          <p:cNvSpPr txBox="1"/>
          <p:nvPr/>
        </p:nvSpPr>
        <p:spPr>
          <a:xfrm>
            <a:off x="1325880" y="4443984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Vê-o a trabalhar à parte</a:t>
            </a:r>
            <a:endParaRPr lang="en-US" sz="2600" dirty="0"/>
          </a:p>
        </p:txBody>
      </p:sp>
      <p:sp>
        <p:nvSpPr>
          <p:cNvPr id="14" name="step-number-2"/>
          <p:cNvSpPr/>
          <p:nvPr/>
        </p:nvSpPr>
        <p:spPr>
          <a:xfrm>
            <a:off x="640080" y="5102352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step-2"/>
          <p:cNvSpPr txBox="1"/>
          <p:nvPr/>
        </p:nvSpPr>
        <p:spPr>
          <a:xfrm>
            <a:off x="1325880" y="5102352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Recebe só o resultado</a:t>
            </a:r>
            <a:endParaRPr lang="en-US" sz="2600" dirty="0"/>
          </a:p>
        </p:txBody>
      </p:sp>
      <p:sp>
        <p:nvSpPr>
          <p:cNvPr id="16" name="code-background"/>
          <p:cNvSpPr/>
          <p:nvPr/>
        </p:nvSpPr>
        <p:spPr>
          <a:xfrm>
            <a:off x="640080" y="5989320"/>
            <a:ext cx="10911535" cy="1561795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17" name="code-label"/>
          <p:cNvSpPr txBox="1"/>
          <p:nvPr/>
        </p:nvSpPr>
        <p:spPr>
          <a:xfrm>
            <a:off x="914400" y="61722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Claude Code</a:t>
            </a:r>
            <a:endParaRPr lang="en-US" sz="2000" dirty="0"/>
          </a:p>
        </p:txBody>
      </p:sp>
      <p:sp>
        <p:nvSpPr>
          <p:cNvPr id="18" name="code"/>
          <p:cNvSpPr txBox="1"/>
          <p:nvPr/>
        </p:nvSpPr>
        <p:spPr>
          <a:xfrm>
            <a:off x="914400" y="6629400"/>
            <a:ext cx="10362895" cy="784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Usa um subagente Explore para listar as funções de src/units.js que não têm teste.</a:t>
            </a:r>
            <a:endParaRPr lang="en-US" sz="2100" dirty="0"/>
          </a:p>
        </p:txBody>
      </p:sp>
      <p:sp>
        <p:nvSpPr>
          <p:cNvPr id="19" name="expected-mark-circle"/>
          <p:cNvSpPr/>
          <p:nvPr/>
        </p:nvSpPr>
        <p:spPr>
          <a:xfrm>
            <a:off x="640080" y="8700516"/>
            <a:ext cx="502920" cy="502920"/>
          </a:xfrm>
          <a:prstGeom prst="ellipse">
            <a:avLst/>
          </a:prstGeom>
          <a:solidFill>
            <a:srgbClr val="1E9E57"/>
          </a:solidFill>
          <a:ln w="12700">
            <a:solidFill>
              <a:srgbClr val="1E9E57"/>
            </a:solidFill>
            <a:prstDash val="solid"/>
          </a:ln>
        </p:spPr>
      </p:sp>
      <p:pic>
        <p:nvPicPr>
          <p:cNvPr id="20" name="expected-mark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722" y="8811158"/>
            <a:ext cx="281635" cy="281635"/>
          </a:xfrm>
          <a:prstGeom prst="rect">
            <a:avLst/>
          </a:prstGeom>
        </p:spPr>
      </p:pic>
      <p:sp>
        <p:nvSpPr>
          <p:cNvPr id="21" name="expected"/>
          <p:cNvSpPr txBox="1"/>
          <p:nvPr/>
        </p:nvSpPr>
        <p:spPr>
          <a:xfrm>
            <a:off x="1371600" y="8654796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esperado: </a:t>
            </a:r>
            <a:pPr indent="0" marL="0">
              <a:buNone/>
            </a:pPr>
            <a:r>
              <a:rPr lang="en-US" sz="24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lista curta; a tua sessão principal não ficou cheia de ficheiros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9889236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640080" y="411480"/>
            <a:ext cx="3502152" cy="502920"/>
          </a:xfrm>
          <a:prstGeom prst="rect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sp>
        <p:nvSpPr>
          <p:cNvPr id="3" name="tag-label"/>
          <p:cNvSpPr txBox="1"/>
          <p:nvPr/>
        </p:nvSpPr>
        <p:spPr>
          <a:xfrm>
            <a:off x="822960" y="411480"/>
            <a:ext cx="3227832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Missão M4 · 2 min</a:t>
            </a:r>
            <a:endParaRPr lang="en-US" sz="2400" dirty="0"/>
          </a:p>
        </p:txBody>
      </p:sp>
      <p:sp>
        <p:nvSpPr>
          <p:cNvPr id="4" name="block"/>
          <p:cNvSpPr txBox="1"/>
          <p:nvPr/>
        </p:nvSpPr>
        <p:spPr>
          <a:xfrm>
            <a:off x="7894015" y="411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Missões</a:t>
            </a:r>
            <a:endParaRPr lang="en-US" sz="2400" dirty="0"/>
          </a:p>
        </p:txBody>
      </p:sp>
      <p:sp>
        <p:nvSpPr>
          <p:cNvPr id="5" name="Text 1"/>
          <p:cNvSpPr/>
          <p:nvPr>
            <p:ph idx="102" type="title" hasCustomPrompt="1"/>
          </p:nvPr>
        </p:nvSpPr>
        <p:spPr>
          <a:xfrm>
            <a:off x="640080" y="1051560"/>
            <a:ext cx="109115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A tua skill</a:t>
            </a:r>
            <a:endParaRPr lang="en-US" sz="4400" dirty="0"/>
          </a:p>
        </p:txBody>
      </p:sp>
      <p:sp>
        <p:nvSpPr>
          <p:cNvPr id="6" name="concept"/>
          <p:cNvSpPr/>
          <p:nvPr/>
        </p:nvSpPr>
        <p:spPr>
          <a:xfrm>
            <a:off x="640080" y="2286000"/>
            <a:ext cx="10911535" cy="1133856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7" name="concept-icon-circle"/>
          <p:cNvSpPr/>
          <p:nvPr/>
        </p:nvSpPr>
        <p:spPr>
          <a:xfrm>
            <a:off x="914400" y="2532888"/>
            <a:ext cx="640080" cy="640080"/>
          </a:xfrm>
          <a:prstGeom prst="ellipse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pic>
        <p:nvPicPr>
          <p:cNvPr id="8" name="concept-icon" descr="lightbul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8" y="2673706"/>
            <a:ext cx="358445" cy="358445"/>
          </a:xfrm>
          <a:prstGeom prst="rect">
            <a:avLst/>
          </a:prstGeom>
        </p:spPr>
      </p:pic>
      <p:sp>
        <p:nvSpPr>
          <p:cNvPr id="9" name="concept-text"/>
          <p:cNvSpPr txBox="1"/>
          <p:nvPr/>
        </p:nvSpPr>
        <p:spPr>
          <a:xfrm>
            <a:off x="1783080" y="2286000"/>
            <a:ext cx="9539935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CF9FE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Uma skill é uma receita com nome: um SKILL.md que o Claude Code segue quando a chamas.</a:t>
            </a:r>
            <a:endParaRPr lang="en-US" sz="2800" dirty="0"/>
          </a:p>
        </p:txBody>
      </p:sp>
      <p:sp>
        <p:nvSpPr>
          <p:cNvPr id="10" name="step-number-0"/>
          <p:cNvSpPr/>
          <p:nvPr/>
        </p:nvSpPr>
        <p:spPr>
          <a:xfrm>
            <a:off x="640080" y="3785616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step-0"/>
          <p:cNvSpPr txBox="1"/>
          <p:nvPr/>
        </p:nvSpPr>
        <p:spPr>
          <a:xfrm>
            <a:off x="1325880" y="3785616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Pede ao Claude para criar a skill</a:t>
            </a:r>
            <a:endParaRPr lang="en-US" sz="2600" dirty="0"/>
          </a:p>
        </p:txBody>
      </p:sp>
      <p:sp>
        <p:nvSpPr>
          <p:cNvPr id="12" name="step-number-1"/>
          <p:cNvSpPr/>
          <p:nvPr/>
        </p:nvSpPr>
        <p:spPr>
          <a:xfrm>
            <a:off x="640080" y="4443984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step-1"/>
          <p:cNvSpPr txBox="1"/>
          <p:nvPr/>
        </p:nvSpPr>
        <p:spPr>
          <a:xfrm>
            <a:off x="1325880" y="4443984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 e volta à mesma sessão</a:t>
            </a:r>
            <a:endParaRPr lang="en-US" sz="2600" dirty="0"/>
          </a:p>
        </p:txBody>
      </p:sp>
      <p:sp>
        <p:nvSpPr>
          <p:cNvPr id="14" name="step-number-2"/>
          <p:cNvSpPr/>
          <p:nvPr/>
        </p:nvSpPr>
        <p:spPr>
          <a:xfrm>
            <a:off x="640080" y="5102352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step-2"/>
          <p:cNvSpPr txBox="1"/>
          <p:nvPr/>
        </p:nvSpPr>
        <p:spPr>
          <a:xfrm>
            <a:off x="1325880" y="5102352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 a skill pelo nome</a:t>
            </a:r>
            <a:endParaRPr lang="en-US" sz="2600" dirty="0"/>
          </a:p>
        </p:txBody>
      </p:sp>
      <p:sp>
        <p:nvSpPr>
          <p:cNvPr id="16" name="code-background"/>
          <p:cNvSpPr/>
          <p:nvPr/>
        </p:nvSpPr>
        <p:spPr>
          <a:xfrm>
            <a:off x="640080" y="5989320"/>
            <a:ext cx="10911535" cy="2665476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17" name="code-label"/>
          <p:cNvSpPr txBox="1"/>
          <p:nvPr/>
        </p:nvSpPr>
        <p:spPr>
          <a:xfrm>
            <a:off x="914400" y="61722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Claude Code</a:t>
            </a:r>
            <a:endParaRPr lang="en-US" sz="2000" dirty="0"/>
          </a:p>
        </p:txBody>
      </p:sp>
      <p:sp>
        <p:nvSpPr>
          <p:cNvPr id="18" name="code"/>
          <p:cNvSpPr txBox="1"/>
          <p:nvPr/>
        </p:nvSpPr>
        <p:spPr>
          <a:xfrm>
            <a:off x="914400" y="6629400"/>
            <a:ext cx="10362895" cy="1888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Cria .claude/skills/resumo/SKILL.md: resume um ficheiro em 3 linhas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/exit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-c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/resumo src/units.js</a:t>
            </a:r>
            <a:endParaRPr lang="en-US" sz="2100" dirty="0"/>
          </a:p>
        </p:txBody>
      </p:sp>
      <p:sp>
        <p:nvSpPr>
          <p:cNvPr id="19" name="expected-mark-circle"/>
          <p:cNvSpPr/>
          <p:nvPr/>
        </p:nvSpPr>
        <p:spPr>
          <a:xfrm>
            <a:off x="640080" y="8929116"/>
            <a:ext cx="502920" cy="502920"/>
          </a:xfrm>
          <a:prstGeom prst="ellipse">
            <a:avLst/>
          </a:prstGeom>
          <a:solidFill>
            <a:srgbClr val="1E9E57"/>
          </a:solidFill>
          <a:ln w="12700">
            <a:solidFill>
              <a:srgbClr val="1E9E57"/>
            </a:solidFill>
            <a:prstDash val="solid"/>
          </a:ln>
        </p:spPr>
      </p:sp>
      <p:pic>
        <p:nvPicPr>
          <p:cNvPr id="20" name="expected-mark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722" y="9039758"/>
            <a:ext cx="281635" cy="281635"/>
          </a:xfrm>
          <a:prstGeom prst="rect">
            <a:avLst/>
          </a:prstGeom>
        </p:spPr>
      </p:pic>
      <p:sp>
        <p:nvSpPr>
          <p:cNvPr id="21" name="expected"/>
          <p:cNvSpPr txBox="1"/>
          <p:nvPr/>
        </p:nvSpPr>
        <p:spPr>
          <a:xfrm>
            <a:off x="1371600" y="8883396"/>
            <a:ext cx="101800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esperado: </a:t>
            </a:r>
            <a:pPr indent="0" marL="0">
              <a:buNone/>
            </a:pPr>
            <a:r>
              <a:rPr lang="en-US" sz="24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resumo em 3 linhas, feito pela tua skill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9889236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640080" y="411480"/>
            <a:ext cx="3502152" cy="502920"/>
          </a:xfrm>
          <a:prstGeom prst="rect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sp>
        <p:nvSpPr>
          <p:cNvPr id="3" name="tag-label"/>
          <p:cNvSpPr txBox="1"/>
          <p:nvPr/>
        </p:nvSpPr>
        <p:spPr>
          <a:xfrm>
            <a:off x="822960" y="411480"/>
            <a:ext cx="3227832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Missão M5 · 2 min</a:t>
            </a:r>
            <a:endParaRPr lang="en-US" sz="2400" dirty="0"/>
          </a:p>
        </p:txBody>
      </p:sp>
      <p:sp>
        <p:nvSpPr>
          <p:cNvPr id="4" name="block"/>
          <p:cNvSpPr txBox="1"/>
          <p:nvPr/>
        </p:nvSpPr>
        <p:spPr>
          <a:xfrm>
            <a:off x="7894015" y="411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Missões</a:t>
            </a:r>
            <a:endParaRPr lang="en-US" sz="2400" dirty="0"/>
          </a:p>
        </p:txBody>
      </p:sp>
      <p:sp>
        <p:nvSpPr>
          <p:cNvPr id="5" name="Text 1"/>
          <p:cNvSpPr/>
          <p:nvPr>
            <p:ph idx="102" type="title" hasCustomPrompt="1"/>
          </p:nvPr>
        </p:nvSpPr>
        <p:spPr>
          <a:xfrm>
            <a:off x="640080" y="1051560"/>
            <a:ext cx="109115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O teu hook</a:t>
            </a:r>
            <a:endParaRPr lang="en-US" sz="4400" dirty="0"/>
          </a:p>
        </p:txBody>
      </p:sp>
      <p:sp>
        <p:nvSpPr>
          <p:cNvPr id="6" name="concept"/>
          <p:cNvSpPr/>
          <p:nvPr/>
        </p:nvSpPr>
        <p:spPr>
          <a:xfrm>
            <a:off x="640080" y="2286000"/>
            <a:ext cx="10911535" cy="1133856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7" name="concept-icon-circle"/>
          <p:cNvSpPr/>
          <p:nvPr/>
        </p:nvSpPr>
        <p:spPr>
          <a:xfrm>
            <a:off x="914400" y="2532888"/>
            <a:ext cx="640080" cy="640080"/>
          </a:xfrm>
          <a:prstGeom prst="ellipse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pic>
        <p:nvPicPr>
          <p:cNvPr id="8" name="concept-icon" descr="lightbul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8" y="2673706"/>
            <a:ext cx="358445" cy="358445"/>
          </a:xfrm>
          <a:prstGeom prst="rect">
            <a:avLst/>
          </a:prstGeom>
        </p:spPr>
      </p:pic>
      <p:sp>
        <p:nvSpPr>
          <p:cNvPr id="9" name="concept-text"/>
          <p:cNvSpPr txBox="1"/>
          <p:nvPr/>
        </p:nvSpPr>
        <p:spPr>
          <a:xfrm>
            <a:off x="1783080" y="2286000"/>
            <a:ext cx="9539935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CF9FE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Um hook é um comando que o Claude Code corre num evento.</a:t>
            </a:r>
            <a:endParaRPr lang="en-US" sz="2800" dirty="0"/>
          </a:p>
        </p:txBody>
      </p:sp>
      <p:sp>
        <p:nvSpPr>
          <p:cNvPr id="10" name="step-number-0"/>
          <p:cNvSpPr/>
          <p:nvPr/>
        </p:nvSpPr>
        <p:spPr>
          <a:xfrm>
            <a:off x="640080" y="3785616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step-0"/>
          <p:cNvSpPr txBox="1"/>
          <p:nvPr/>
        </p:nvSpPr>
        <p:spPr>
          <a:xfrm>
            <a:off x="1325880" y="3785616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Pede o hook ao Claude</a:t>
            </a:r>
            <a:endParaRPr lang="en-US" sz="2600" dirty="0"/>
          </a:p>
        </p:txBody>
      </p:sp>
      <p:sp>
        <p:nvSpPr>
          <p:cNvPr id="12" name="step-number-1"/>
          <p:cNvSpPr/>
          <p:nvPr/>
        </p:nvSpPr>
        <p:spPr>
          <a:xfrm>
            <a:off x="640080" y="4443984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step-1"/>
          <p:cNvSpPr txBox="1"/>
          <p:nvPr/>
        </p:nvSpPr>
        <p:spPr>
          <a:xfrm>
            <a:off x="1325880" y="4443984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Pede uma edição qualquer</a:t>
            </a:r>
            <a:endParaRPr lang="en-US" sz="2600" dirty="0"/>
          </a:p>
        </p:txBody>
      </p:sp>
      <p:sp>
        <p:nvSpPr>
          <p:cNvPr id="14" name="step-number-2"/>
          <p:cNvSpPr/>
          <p:nvPr/>
        </p:nvSpPr>
        <p:spPr>
          <a:xfrm>
            <a:off x="640080" y="5102352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step-2"/>
          <p:cNvSpPr txBox="1"/>
          <p:nvPr/>
        </p:nvSpPr>
        <p:spPr>
          <a:xfrm>
            <a:off x="1325880" y="5102352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o edits.log</a:t>
            </a:r>
            <a:endParaRPr lang="en-US" sz="2600" dirty="0"/>
          </a:p>
        </p:txBody>
      </p:sp>
      <p:sp>
        <p:nvSpPr>
          <p:cNvPr id="16" name="code-background"/>
          <p:cNvSpPr/>
          <p:nvPr/>
        </p:nvSpPr>
        <p:spPr>
          <a:xfrm>
            <a:off x="640080" y="5989320"/>
            <a:ext cx="10911535" cy="1954073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17" name="code-label"/>
          <p:cNvSpPr txBox="1"/>
          <p:nvPr/>
        </p:nvSpPr>
        <p:spPr>
          <a:xfrm>
            <a:off x="914400" y="61722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Claude Code</a:t>
            </a:r>
            <a:endParaRPr lang="en-US" sz="2000" dirty="0"/>
          </a:p>
        </p:txBody>
      </p:sp>
      <p:sp>
        <p:nvSpPr>
          <p:cNvPr id="18" name="code"/>
          <p:cNvSpPr txBox="1"/>
          <p:nvPr/>
        </p:nvSpPr>
        <p:spPr>
          <a:xfrm>
            <a:off x="914400" y="6629400"/>
            <a:ext cx="10362895" cy="1176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Acrescenta em .claude/settings.local.json um hook PostToolUse (Edit|Write) que junta a hora e o ficheiro a edits.log.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Acrescenta um comentário no topo do README.md.</a:t>
            </a:r>
            <a:endParaRPr lang="en-US" sz="2200" dirty="0"/>
          </a:p>
        </p:txBody>
      </p:sp>
      <p:sp>
        <p:nvSpPr>
          <p:cNvPr id="19" name="expected-mark-circle"/>
          <p:cNvSpPr/>
          <p:nvPr/>
        </p:nvSpPr>
        <p:spPr>
          <a:xfrm>
            <a:off x="640080" y="8700516"/>
            <a:ext cx="502920" cy="502920"/>
          </a:xfrm>
          <a:prstGeom prst="ellipse">
            <a:avLst/>
          </a:prstGeom>
          <a:solidFill>
            <a:srgbClr val="1E9E57"/>
          </a:solidFill>
          <a:ln w="12700">
            <a:solidFill>
              <a:srgbClr val="1E9E57"/>
            </a:solidFill>
            <a:prstDash val="solid"/>
          </a:ln>
        </p:spPr>
      </p:sp>
      <p:pic>
        <p:nvPicPr>
          <p:cNvPr id="20" name="expected-mark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722" y="8811158"/>
            <a:ext cx="281635" cy="281635"/>
          </a:xfrm>
          <a:prstGeom prst="rect">
            <a:avLst/>
          </a:prstGeom>
        </p:spPr>
      </p:pic>
      <p:sp>
        <p:nvSpPr>
          <p:cNvPr id="21" name="expected"/>
          <p:cNvSpPr txBox="1"/>
          <p:nvPr/>
        </p:nvSpPr>
        <p:spPr>
          <a:xfrm>
            <a:off x="1371600" y="8654796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esperado: </a:t>
            </a:r>
            <a:pPr indent="0" marL="0">
              <a:buNone/>
            </a:pPr>
            <a:r>
              <a:rPr lang="en-US" sz="24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linha nova no edits.log a cada edição. Estragou algo? Esc Esc volta atrás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9889236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640080" y="411480"/>
            <a:ext cx="3502152" cy="502920"/>
          </a:xfrm>
          <a:prstGeom prst="rect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sp>
        <p:nvSpPr>
          <p:cNvPr id="3" name="tag-label"/>
          <p:cNvSpPr txBox="1"/>
          <p:nvPr/>
        </p:nvSpPr>
        <p:spPr>
          <a:xfrm>
            <a:off x="822960" y="411480"/>
            <a:ext cx="3227832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Missão M6 · 2 min</a:t>
            </a:r>
            <a:endParaRPr lang="en-US" sz="2400" dirty="0"/>
          </a:p>
        </p:txBody>
      </p:sp>
      <p:sp>
        <p:nvSpPr>
          <p:cNvPr id="4" name="block"/>
          <p:cNvSpPr txBox="1"/>
          <p:nvPr/>
        </p:nvSpPr>
        <p:spPr>
          <a:xfrm>
            <a:off x="7894015" y="411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Missões</a:t>
            </a:r>
            <a:endParaRPr lang="en-US" sz="2400" dirty="0"/>
          </a:p>
        </p:txBody>
      </p:sp>
      <p:sp>
        <p:nvSpPr>
          <p:cNvPr id="5" name="Text 1"/>
          <p:cNvSpPr/>
          <p:nvPr>
            <p:ph idx="102" type="title" hasCustomPrompt="1"/>
          </p:nvPr>
        </p:nvSpPr>
        <p:spPr>
          <a:xfrm>
            <a:off x="640080" y="1051560"/>
            <a:ext cx="109115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Até ficar verde</a:t>
            </a:r>
            <a:endParaRPr lang="en-US" sz="4400" dirty="0"/>
          </a:p>
        </p:txBody>
      </p:sp>
      <p:sp>
        <p:nvSpPr>
          <p:cNvPr id="6" name="concept"/>
          <p:cNvSpPr/>
          <p:nvPr/>
        </p:nvSpPr>
        <p:spPr>
          <a:xfrm>
            <a:off x="640080" y="2286000"/>
            <a:ext cx="10911535" cy="1133856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7" name="concept-icon-circle"/>
          <p:cNvSpPr/>
          <p:nvPr/>
        </p:nvSpPr>
        <p:spPr>
          <a:xfrm>
            <a:off x="914400" y="2532888"/>
            <a:ext cx="640080" cy="640080"/>
          </a:xfrm>
          <a:prstGeom prst="ellipse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pic>
        <p:nvPicPr>
          <p:cNvPr id="8" name="concept-icon" descr="lightbul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8" y="2673706"/>
            <a:ext cx="358445" cy="358445"/>
          </a:xfrm>
          <a:prstGeom prst="rect">
            <a:avLst/>
          </a:prstGeom>
        </p:spPr>
      </p:pic>
      <p:sp>
        <p:nvSpPr>
          <p:cNvPr id="9" name="concept-text"/>
          <p:cNvSpPr txBox="1"/>
          <p:nvPr/>
        </p:nvSpPr>
        <p:spPr>
          <a:xfrm>
            <a:off x="1783080" y="2286000"/>
            <a:ext cx="9539935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CF9FE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O /loop repete um pedido sozinho, até a condição ser verdade.</a:t>
            </a:r>
            <a:endParaRPr lang="en-US" sz="2800" dirty="0"/>
          </a:p>
        </p:txBody>
      </p:sp>
      <p:sp>
        <p:nvSpPr>
          <p:cNvPr id="10" name="step-number-0"/>
          <p:cNvSpPr/>
          <p:nvPr/>
        </p:nvSpPr>
        <p:spPr>
          <a:xfrm>
            <a:off x="640080" y="3785616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step-0"/>
          <p:cNvSpPr txBox="1"/>
          <p:nvPr/>
        </p:nvSpPr>
        <p:spPr>
          <a:xfrm>
            <a:off x="1325880" y="3785616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Lança o loop</a:t>
            </a:r>
            <a:endParaRPr lang="en-US" sz="2600" dirty="0"/>
          </a:p>
        </p:txBody>
      </p:sp>
      <p:sp>
        <p:nvSpPr>
          <p:cNvPr id="12" name="step-number-1"/>
          <p:cNvSpPr/>
          <p:nvPr/>
        </p:nvSpPr>
        <p:spPr>
          <a:xfrm>
            <a:off x="640080" y="4443984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step-1"/>
          <p:cNvSpPr txBox="1"/>
          <p:nvPr/>
        </p:nvSpPr>
        <p:spPr>
          <a:xfrm>
            <a:off x="1325880" y="4443984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Deixa-o trabalhar: não escrevas nada</a:t>
            </a:r>
            <a:endParaRPr lang="en-US" sz="2600" dirty="0"/>
          </a:p>
        </p:txBody>
      </p:sp>
      <p:sp>
        <p:nvSpPr>
          <p:cNvPr id="14" name="step-number-2"/>
          <p:cNvSpPr/>
          <p:nvPr/>
        </p:nvSpPr>
        <p:spPr>
          <a:xfrm>
            <a:off x="640080" y="5102352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step-2"/>
          <p:cNvSpPr txBox="1"/>
          <p:nvPr/>
        </p:nvSpPr>
        <p:spPr>
          <a:xfrm>
            <a:off x="1325880" y="5102352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quando estiver tudo verde</a:t>
            </a:r>
            <a:endParaRPr lang="en-US" sz="2600" dirty="0"/>
          </a:p>
        </p:txBody>
      </p:sp>
      <p:sp>
        <p:nvSpPr>
          <p:cNvPr id="16" name="code-background"/>
          <p:cNvSpPr/>
          <p:nvPr/>
        </p:nvSpPr>
        <p:spPr>
          <a:xfrm>
            <a:off x="640080" y="5989320"/>
            <a:ext cx="10911535" cy="1561795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17" name="code-label"/>
          <p:cNvSpPr txBox="1"/>
          <p:nvPr/>
        </p:nvSpPr>
        <p:spPr>
          <a:xfrm>
            <a:off x="914400" y="61722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Claude Code</a:t>
            </a:r>
            <a:endParaRPr lang="en-US" sz="2000" dirty="0"/>
          </a:p>
        </p:txBody>
      </p:sp>
      <p:sp>
        <p:nvSpPr>
          <p:cNvPr id="18" name="code"/>
          <p:cNvSpPr txBox="1"/>
          <p:nvPr/>
        </p:nvSpPr>
        <p:spPr>
          <a:xfrm>
            <a:off x="914400" y="6629400"/>
            <a:ext cx="10362895" cy="784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/loop 1m corre npm test e corrige o primeiro teste vermelho; quando estiver tudo verde, para o loop</a:t>
            </a:r>
            <a:endParaRPr lang="en-US" sz="2100" dirty="0"/>
          </a:p>
        </p:txBody>
      </p:sp>
      <p:sp>
        <p:nvSpPr>
          <p:cNvPr id="19" name="expected-mark-circle"/>
          <p:cNvSpPr/>
          <p:nvPr/>
        </p:nvSpPr>
        <p:spPr>
          <a:xfrm>
            <a:off x="640080" y="8700516"/>
            <a:ext cx="502920" cy="502920"/>
          </a:xfrm>
          <a:prstGeom prst="ellipse">
            <a:avLst/>
          </a:prstGeom>
          <a:solidFill>
            <a:srgbClr val="1E9E57"/>
          </a:solidFill>
          <a:ln w="12700">
            <a:solidFill>
              <a:srgbClr val="1E9E57"/>
            </a:solidFill>
            <a:prstDash val="solid"/>
          </a:ln>
        </p:spPr>
      </p:sp>
      <p:pic>
        <p:nvPicPr>
          <p:cNvPr id="20" name="expected-mark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722" y="8811158"/>
            <a:ext cx="281635" cy="281635"/>
          </a:xfrm>
          <a:prstGeom prst="rect">
            <a:avLst/>
          </a:prstGeom>
        </p:spPr>
      </p:pic>
      <p:sp>
        <p:nvSpPr>
          <p:cNvPr id="21" name="expected"/>
          <p:cNvSpPr txBox="1"/>
          <p:nvPr/>
        </p:nvSpPr>
        <p:spPr>
          <a:xfrm>
            <a:off x="1371600" y="8654796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esperado: </a:t>
            </a:r>
            <a:pPr indent="0" marL="0">
              <a:buNone/>
            </a:pPr>
            <a:r>
              <a:rPr lang="en-US" sz="24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2 testes vermelhos passam a verde e o loop para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9889236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640080" y="411480"/>
            <a:ext cx="2980944" cy="502920"/>
          </a:xfrm>
          <a:prstGeom prst="rect">
            <a:avLst/>
          </a:prstGeom>
          <a:solidFill>
            <a:srgbClr val="F25928"/>
          </a:solidFill>
          <a:ln w="12700">
            <a:solidFill>
              <a:srgbClr val="F25928"/>
            </a:solidFill>
            <a:prstDash val="solid"/>
          </a:ln>
        </p:spPr>
      </p:sp>
      <p:sp>
        <p:nvSpPr>
          <p:cNvPr id="3" name="tag-label"/>
          <p:cNvSpPr txBox="1"/>
          <p:nvPr/>
        </p:nvSpPr>
        <p:spPr>
          <a:xfrm>
            <a:off x="822960" y="411480"/>
            <a:ext cx="2706624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Painel · 2 min</a:t>
            </a:r>
            <a:endParaRPr lang="en-US" sz="2400" dirty="0"/>
          </a:p>
        </p:txBody>
      </p:sp>
      <p:sp>
        <p:nvSpPr>
          <p:cNvPr id="4" name="block"/>
          <p:cNvSpPr txBox="1"/>
          <p:nvPr/>
        </p:nvSpPr>
        <p:spPr>
          <a:xfrm>
            <a:off x="7894015" y="411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Missões</a:t>
            </a:r>
            <a:endParaRPr lang="en-US" sz="2400" dirty="0"/>
          </a:p>
        </p:txBody>
      </p:sp>
      <p:sp>
        <p:nvSpPr>
          <p:cNvPr id="5" name="Text 1"/>
          <p:cNvSpPr/>
          <p:nvPr>
            <p:ph idx="102" type="title" hasCustomPrompt="1"/>
          </p:nvPr>
        </p:nvSpPr>
        <p:spPr>
          <a:xfrm>
            <a:off x="640080" y="1051560"/>
            <a:ext cx="109115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O que falta à sala (e as bónus M7 a M10)</a:t>
            </a:r>
            <a:endParaRPr lang="en-US" sz="4400" dirty="0"/>
          </a:p>
        </p:txBody>
      </p:sp>
      <p:sp>
        <p:nvSpPr>
          <p:cNvPr id="6" name="question"/>
          <p:cNvSpPr txBox="1"/>
          <p:nvPr/>
        </p:nvSpPr>
        <p:spPr>
          <a:xfrm>
            <a:off x="640080" y="2834640"/>
            <a:ext cx="889985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Qual é a missão que menos gente fez?</a:t>
            </a:r>
            <a:endParaRPr lang="en-US" sz="4800" dirty="0"/>
          </a:p>
        </p:txBody>
      </p:sp>
      <p:sp>
        <p:nvSpPr>
          <p:cNvPr id="7" name="panel-arrow-circle"/>
          <p:cNvSpPr/>
          <p:nvPr/>
        </p:nvSpPr>
        <p:spPr>
          <a:xfrm>
            <a:off x="10271455" y="2880360"/>
            <a:ext cx="1280160" cy="1280160"/>
          </a:xfrm>
          <a:prstGeom prst="ellipse">
            <a:avLst/>
          </a:prstGeom>
          <a:solidFill>
            <a:srgbClr val="F25928"/>
          </a:solidFill>
          <a:ln w="12700">
            <a:solidFill>
              <a:srgbClr val="F25928"/>
            </a:solidFill>
            <a:prstDash val="solid"/>
          </a:ln>
        </p:spPr>
      </p:sp>
      <p:pic>
        <p:nvPicPr>
          <p:cNvPr id="8" name="panel-arrow" descr="arrow-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3090" y="3161995"/>
            <a:ext cx="716890" cy="716890"/>
          </a:xfrm>
          <a:prstGeom prst="rect">
            <a:avLst/>
          </a:prstGeom>
        </p:spPr>
      </p:pic>
      <p:sp>
        <p:nvSpPr>
          <p:cNvPr id="9" name="panel-arrow-label"/>
          <p:cNvSpPr txBox="1"/>
          <p:nvPr/>
        </p:nvSpPr>
        <p:spPr>
          <a:xfrm>
            <a:off x="9539935" y="42519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59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Olha para o painel</a:t>
            </a:r>
            <a:endParaRPr lang="en-US" sz="2400" dirty="0"/>
          </a:p>
        </p:txBody>
      </p:sp>
      <p:sp>
        <p:nvSpPr>
          <p:cNvPr id="10" name="support"/>
          <p:cNvSpPr txBox="1"/>
          <p:nvPr/>
        </p:nvSpPr>
        <p:spPr>
          <a:xfrm>
            <a:off x="640080" y="4663440"/>
            <a:ext cx="8899855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bónus fazem-se nas esperas dos projetos:</a:t>
            </a:r>
            <a:endParaRPr lang="en-US" sz="2800" dirty="0"/>
          </a:p>
        </p:txBody>
      </p:sp>
      <p:sp>
        <p:nvSpPr>
          <p:cNvPr id="11" name="code-background"/>
          <p:cNvSpPr/>
          <p:nvPr/>
        </p:nvSpPr>
        <p:spPr>
          <a:xfrm>
            <a:off x="640080" y="5843016"/>
            <a:ext cx="10911535" cy="2346350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12" name="code-label"/>
          <p:cNvSpPr txBox="1"/>
          <p:nvPr/>
        </p:nvSpPr>
        <p:spPr>
          <a:xfrm>
            <a:off x="914400" y="6025896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Bónus</a:t>
            </a:r>
            <a:endParaRPr lang="en-US" sz="2000" dirty="0"/>
          </a:p>
        </p:txBody>
      </p:sp>
      <p:sp>
        <p:nvSpPr>
          <p:cNvPr id="13" name="code"/>
          <p:cNvSpPr txBox="1"/>
          <p:nvPr/>
        </p:nvSpPr>
        <p:spPr>
          <a:xfrm>
            <a:off x="914400" y="6483096"/>
            <a:ext cx="10362895" cy="1569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M7  /btw o que é um subagente?   (dica, sem validação)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M8  /statusline mostra o modelo e a branch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M9  claude -p "Resume o README" --model haiku &gt; resumo.txt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M10 /memory guarda uma lição sobre o conversor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9889236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640080" y="411480"/>
            <a:ext cx="2980944" cy="502920"/>
          </a:xfrm>
          <a:prstGeom prst="rect">
            <a:avLst/>
          </a:prstGeom>
          <a:solidFill>
            <a:srgbClr val="F25928"/>
          </a:solidFill>
          <a:ln w="12700">
            <a:solidFill>
              <a:srgbClr val="F25928"/>
            </a:solidFill>
            <a:prstDash val="solid"/>
          </a:ln>
        </p:spPr>
      </p:sp>
      <p:sp>
        <p:nvSpPr>
          <p:cNvPr id="3" name="tag-label"/>
          <p:cNvSpPr txBox="1"/>
          <p:nvPr/>
        </p:nvSpPr>
        <p:spPr>
          <a:xfrm>
            <a:off x="822960" y="411480"/>
            <a:ext cx="2706624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Painel · 2 min</a:t>
            </a:r>
            <a:endParaRPr lang="en-US" sz="2400" dirty="0"/>
          </a:p>
        </p:txBody>
      </p:sp>
      <p:sp>
        <p:nvSpPr>
          <p:cNvPr id="4" name="block"/>
          <p:cNvSpPr txBox="1"/>
          <p:nvPr/>
        </p:nvSpPr>
        <p:spPr>
          <a:xfrm>
            <a:off x="7894015" y="411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1</a:t>
            </a:r>
            <a:endParaRPr lang="en-US" sz="2400" dirty="0"/>
          </a:p>
        </p:txBody>
      </p:sp>
      <p:sp>
        <p:nvSpPr>
          <p:cNvPr id="5" name="Text 1"/>
          <p:cNvSpPr/>
          <p:nvPr>
            <p:ph idx="102" type="title" hasCustomPrompt="1"/>
          </p:nvPr>
        </p:nvSpPr>
        <p:spPr>
          <a:xfrm>
            <a:off x="640080" y="1051560"/>
            <a:ext cx="109115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O que vamos construir: o Canivete</a:t>
            </a:r>
            <a:endParaRPr lang="en-US" sz="4400" dirty="0"/>
          </a:p>
        </p:txBody>
      </p:sp>
      <p:sp>
        <p:nvSpPr>
          <p:cNvPr id="6" name="question"/>
          <p:cNvSpPr txBox="1"/>
          <p:nvPr/>
        </p:nvSpPr>
        <p:spPr>
          <a:xfrm>
            <a:off x="640080" y="2331720"/>
            <a:ext cx="889985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Quantos minutos demoram 8 agentes a construir 30 ferramentas?</a:t>
            </a:r>
            <a:endParaRPr lang="en-US" sz="4800" dirty="0"/>
          </a:p>
        </p:txBody>
      </p:sp>
      <p:sp>
        <p:nvSpPr>
          <p:cNvPr id="7" name="panel-arrow-circle"/>
          <p:cNvSpPr/>
          <p:nvPr/>
        </p:nvSpPr>
        <p:spPr>
          <a:xfrm>
            <a:off x="10271455" y="2377440"/>
            <a:ext cx="1280160" cy="1280160"/>
          </a:xfrm>
          <a:prstGeom prst="ellipse">
            <a:avLst/>
          </a:prstGeom>
          <a:solidFill>
            <a:srgbClr val="F25928"/>
          </a:solidFill>
          <a:ln w="12700">
            <a:solidFill>
              <a:srgbClr val="F25928"/>
            </a:solidFill>
            <a:prstDash val="solid"/>
          </a:ln>
        </p:spPr>
      </p:sp>
      <p:pic>
        <p:nvPicPr>
          <p:cNvPr id="8" name="panel-arrow" descr="arrow-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3090" y="2659075"/>
            <a:ext cx="716890" cy="716890"/>
          </a:xfrm>
          <a:prstGeom prst="rect">
            <a:avLst/>
          </a:prstGeom>
        </p:spPr>
      </p:pic>
      <p:sp>
        <p:nvSpPr>
          <p:cNvPr id="9" name="panel-arrow-label"/>
          <p:cNvSpPr txBox="1"/>
          <p:nvPr/>
        </p:nvSpPr>
        <p:spPr>
          <a:xfrm>
            <a:off x="9539935" y="37490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59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Olha para o painel</a:t>
            </a:r>
            <a:endParaRPr lang="en-US" sz="2400" dirty="0"/>
          </a:p>
        </p:txBody>
      </p:sp>
      <p:sp>
        <p:nvSpPr>
          <p:cNvPr id="10" name="support"/>
          <p:cNvSpPr txBox="1"/>
          <p:nvPr/>
        </p:nvSpPr>
        <p:spPr>
          <a:xfrm>
            <a:off x="640080" y="5623560"/>
            <a:ext cx="8899855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ferramentas do dia a dia, cada uma feita por um agente com o seu teste, mais a tua.</a:t>
            </a:r>
            <a:endParaRPr lang="en-US" sz="2800" dirty="0"/>
          </a:p>
        </p:txBody>
      </p:sp>
      <p:sp>
        <p:nvSpPr>
          <p:cNvPr id="11" name="code-background"/>
          <p:cNvSpPr/>
          <p:nvPr/>
        </p:nvSpPr>
        <p:spPr>
          <a:xfrm>
            <a:off x="640080" y="7232904"/>
            <a:ext cx="10911535" cy="1561795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12" name="code-label"/>
          <p:cNvSpPr txBox="1"/>
          <p:nvPr/>
        </p:nvSpPr>
        <p:spPr>
          <a:xfrm>
            <a:off x="914400" y="7415784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2 · Canivete</a:t>
            </a:r>
            <a:endParaRPr lang="en-US" sz="2000" dirty="0"/>
          </a:p>
        </p:txBody>
      </p:sp>
      <p:sp>
        <p:nvSpPr>
          <p:cNvPr id="13" name="code"/>
          <p:cNvSpPr txBox="1"/>
          <p:nvPr/>
        </p:nvSpPr>
        <p:spPr>
          <a:xfrm>
            <a:off x="914400" y="7872984"/>
            <a:ext cx="10362895" cy="784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~/workshop-claude/canivete-project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9889236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640080" y="411480"/>
            <a:ext cx="3502152" cy="502920"/>
          </a:xfrm>
          <a:prstGeom prst="rect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sp>
        <p:nvSpPr>
          <p:cNvPr id="3" name="tag-label"/>
          <p:cNvSpPr txBox="1"/>
          <p:nvPr/>
        </p:nvSpPr>
        <p:spPr>
          <a:xfrm>
            <a:off x="822960" y="411480"/>
            <a:ext cx="3227832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agora · 4 min</a:t>
            </a:r>
            <a:endParaRPr lang="en-US" sz="2400" dirty="0"/>
          </a:p>
        </p:txBody>
      </p:sp>
      <p:sp>
        <p:nvSpPr>
          <p:cNvPr id="4" name="block"/>
          <p:cNvSpPr txBox="1"/>
          <p:nvPr/>
        </p:nvSpPr>
        <p:spPr>
          <a:xfrm>
            <a:off x="7894015" y="411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1</a:t>
            </a:r>
            <a:endParaRPr lang="en-US" sz="2400" dirty="0"/>
          </a:p>
        </p:txBody>
      </p:sp>
      <p:sp>
        <p:nvSpPr>
          <p:cNvPr id="5" name="Text 1"/>
          <p:cNvSpPr/>
          <p:nvPr>
            <p:ph idx="102" type="title" hasCustomPrompt="1"/>
          </p:nvPr>
        </p:nvSpPr>
        <p:spPr>
          <a:xfrm>
            <a:off x="640080" y="1051560"/>
            <a:ext cx="109115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Inventa a tua ferramenta</a:t>
            </a:r>
            <a:endParaRPr lang="en-US" sz="4400" dirty="0"/>
          </a:p>
        </p:txBody>
      </p:sp>
      <p:sp>
        <p:nvSpPr>
          <p:cNvPr id="6" name="step-number-0"/>
          <p:cNvSpPr/>
          <p:nvPr/>
        </p:nvSpPr>
        <p:spPr>
          <a:xfrm>
            <a:off x="640080" y="2331720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step-0"/>
          <p:cNvSpPr txBox="1"/>
          <p:nvPr/>
        </p:nvSpPr>
        <p:spPr>
          <a:xfrm>
            <a:off x="1325880" y="2331720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Copia o exemplo</a:t>
            </a:r>
            <a:endParaRPr lang="en-US" sz="2600" dirty="0"/>
          </a:p>
        </p:txBody>
      </p:sp>
      <p:sp>
        <p:nvSpPr>
          <p:cNvPr id="8" name="step-number-1"/>
          <p:cNvSpPr/>
          <p:nvPr/>
        </p:nvSpPr>
        <p:spPr>
          <a:xfrm>
            <a:off x="640080" y="2990088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step-1"/>
          <p:cNvSpPr txBox="1"/>
          <p:nvPr/>
        </p:nvSpPr>
        <p:spPr>
          <a:xfrm>
            <a:off x="1325880" y="2990088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Muda o título, o conceito, o modelo e os exemplos</a:t>
            </a:r>
            <a:endParaRPr lang="en-US" sz="2600" dirty="0"/>
          </a:p>
        </p:txBody>
      </p:sp>
      <p:sp>
        <p:nvSpPr>
          <p:cNvPr id="10" name="step-number-2"/>
          <p:cNvSpPr/>
          <p:nvPr/>
        </p:nvSpPr>
        <p:spPr>
          <a:xfrm>
            <a:off x="640080" y="3648456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3</a:t>
            </a:r>
            <a:endParaRPr lang="en-US" sz="2400" dirty="0"/>
          </a:p>
        </p:txBody>
      </p:sp>
      <p:sp>
        <p:nvSpPr>
          <p:cNvPr id="11" name="step-2"/>
          <p:cNvSpPr txBox="1"/>
          <p:nvPr/>
        </p:nvSpPr>
        <p:spPr>
          <a:xfrm>
            <a:off x="1325880" y="3648456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 a spec e o teste</a:t>
            </a:r>
            <a:endParaRPr lang="en-US" sz="2600" dirty="0"/>
          </a:p>
        </p:txBody>
      </p:sp>
      <p:sp>
        <p:nvSpPr>
          <p:cNvPr id="12" name="code-background"/>
          <p:cNvSpPr/>
          <p:nvPr/>
        </p:nvSpPr>
        <p:spPr>
          <a:xfrm>
            <a:off x="640080" y="4535424"/>
            <a:ext cx="10911535" cy="1533906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13" name="code-label"/>
          <p:cNvSpPr txBox="1"/>
          <p:nvPr/>
        </p:nvSpPr>
        <p:spPr>
          <a:xfrm>
            <a:off x="914400" y="4718304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</a:t>
            </a:r>
            <a:endParaRPr lang="en-US" sz="2000" dirty="0"/>
          </a:p>
        </p:txBody>
      </p:sp>
      <p:sp>
        <p:nvSpPr>
          <p:cNvPr id="14" name="code"/>
          <p:cNvSpPr txBox="1"/>
          <p:nvPr/>
        </p:nvSpPr>
        <p:spPr>
          <a:xfrm>
            <a:off x="914400" y="5175504"/>
            <a:ext cx="10362895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specs/my-tool.example.json specs/my-tool.json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tools/gen.mjs</a:t>
            </a:r>
            <a:endParaRPr lang="en-US" sz="2100" dirty="0"/>
          </a:p>
        </p:txBody>
      </p:sp>
      <p:sp>
        <p:nvSpPr>
          <p:cNvPr id="15" name="code-background"/>
          <p:cNvSpPr/>
          <p:nvPr/>
        </p:nvSpPr>
        <p:spPr>
          <a:xfrm>
            <a:off x="640080" y="6252210"/>
            <a:ext cx="10911535" cy="1533906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16" name="code-label"/>
          <p:cNvSpPr txBox="1"/>
          <p:nvPr/>
        </p:nvSpPr>
        <p:spPr>
          <a:xfrm>
            <a:off x="914400" y="643509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</a:t>
            </a:r>
            <a:endParaRPr lang="en-US" sz="2000" dirty="0"/>
          </a:p>
        </p:txBody>
      </p:sp>
      <p:sp>
        <p:nvSpPr>
          <p:cNvPr id="17" name="code"/>
          <p:cNvSpPr txBox="1"/>
          <p:nvPr/>
        </p:nvSpPr>
        <p:spPr>
          <a:xfrm>
            <a:off x="914400" y="6892290"/>
            <a:ext cx="10362895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Copy-Item specs\my-tool.example.json specs\my-tool.json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tools/gen.mjs</a:t>
            </a:r>
            <a:endParaRPr lang="en-US" sz="2100" dirty="0"/>
          </a:p>
        </p:txBody>
      </p:sp>
      <p:sp>
        <p:nvSpPr>
          <p:cNvPr id="18" name="panel-cue"/>
          <p:cNvSpPr/>
          <p:nvPr/>
        </p:nvSpPr>
        <p:spPr>
          <a:xfrm>
            <a:off x="640080" y="8014716"/>
            <a:ext cx="10911535" cy="640080"/>
          </a:xfrm>
          <a:prstGeom prst="rect">
            <a:avLst/>
          </a:prstGeom>
          <a:solidFill>
            <a:srgbClr val="F25928"/>
          </a:solidFill>
          <a:ln w="12700">
            <a:solidFill>
              <a:srgbClr val="F25928"/>
            </a:solidFill>
            <a:prstDash val="solid"/>
          </a:ln>
        </p:spPr>
      </p:sp>
      <p:sp>
        <p:nvSpPr>
          <p:cNvPr id="19" name="panel-cue-arrow-circle"/>
          <p:cNvSpPr/>
          <p:nvPr/>
        </p:nvSpPr>
        <p:spPr>
          <a:xfrm>
            <a:off x="10984687" y="8106156"/>
            <a:ext cx="457200" cy="457200"/>
          </a:xfrm>
          <a:prstGeom prst="ellipse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pic>
        <p:nvPicPr>
          <p:cNvPr id="20" name="panel-cue-arrow" descr="arrow-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5271" y="8206740"/>
            <a:ext cx="256032" cy="256032"/>
          </a:xfrm>
          <a:prstGeom prst="rect">
            <a:avLst/>
          </a:prstGeom>
        </p:spPr>
      </p:pic>
      <p:sp>
        <p:nvSpPr>
          <p:cNvPr id="21" name="panel-cue-text"/>
          <p:cNvSpPr txBox="1"/>
          <p:nvPr/>
        </p:nvSpPr>
        <p:spPr>
          <a:xfrm>
            <a:off x="868680" y="8014716"/>
            <a:ext cx="9905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Olha para o painel: ferramentas inventadas pela sala</a:t>
            </a:r>
            <a:endParaRPr lang="en-US" sz="2400" dirty="0"/>
          </a:p>
        </p:txBody>
      </p:sp>
      <p:sp>
        <p:nvSpPr>
          <p:cNvPr id="22" name="expected-mark-circle"/>
          <p:cNvSpPr/>
          <p:nvPr/>
        </p:nvSpPr>
        <p:spPr>
          <a:xfrm>
            <a:off x="640080" y="8929116"/>
            <a:ext cx="502920" cy="502920"/>
          </a:xfrm>
          <a:prstGeom prst="ellipse">
            <a:avLst/>
          </a:prstGeom>
          <a:solidFill>
            <a:srgbClr val="1E9E57"/>
          </a:solidFill>
          <a:ln w="12700">
            <a:solidFill>
              <a:srgbClr val="1E9E57"/>
            </a:solidFill>
            <a:prstDash val="solid"/>
          </a:ln>
        </p:spPr>
      </p:sp>
      <p:pic>
        <p:nvPicPr>
          <p:cNvPr id="23" name="expected-mark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722" y="9039758"/>
            <a:ext cx="281635" cy="281635"/>
          </a:xfrm>
          <a:prstGeom prst="rect">
            <a:avLst/>
          </a:prstGeom>
        </p:spPr>
      </p:pic>
      <p:sp>
        <p:nvSpPr>
          <p:cNvPr id="24" name="expected"/>
          <p:cNvSpPr txBox="1"/>
          <p:nvPr/>
        </p:nvSpPr>
        <p:spPr>
          <a:xfrm>
            <a:off x="1371600" y="8883396"/>
            <a:ext cx="101800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esperado: </a:t>
            </a:r>
            <a:pPr indent="0" marL="0">
              <a:buNone/>
            </a:pPr>
            <a:r>
              <a:rPr lang="en-US" sz="24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tua ferramenta my-01, com spec e teste, pronta para o swarm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9889236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640080" y="411480"/>
            <a:ext cx="2980944" cy="502920"/>
          </a:xfrm>
          <a:prstGeom prst="rect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sp>
        <p:nvSpPr>
          <p:cNvPr id="3" name="tag-label"/>
          <p:cNvSpPr txBox="1"/>
          <p:nvPr/>
        </p:nvSpPr>
        <p:spPr>
          <a:xfrm>
            <a:off x="822960" y="411480"/>
            <a:ext cx="2706624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· 2 min</a:t>
            </a:r>
            <a:endParaRPr lang="en-US" sz="2400" dirty="0"/>
          </a:p>
        </p:txBody>
      </p:sp>
      <p:sp>
        <p:nvSpPr>
          <p:cNvPr id="4" name="block"/>
          <p:cNvSpPr txBox="1"/>
          <p:nvPr/>
        </p:nvSpPr>
        <p:spPr>
          <a:xfrm>
            <a:off x="7894015" y="411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1</a:t>
            </a:r>
            <a:endParaRPr lang="en-US" sz="2400" dirty="0"/>
          </a:p>
        </p:txBody>
      </p:sp>
      <p:sp>
        <p:nvSpPr>
          <p:cNvPr id="5" name="Text 1"/>
          <p:cNvSpPr/>
          <p:nvPr>
            <p:ph idx="102" type="title" hasCustomPrompt="1"/>
          </p:nvPr>
        </p:nvSpPr>
        <p:spPr>
          <a:xfrm>
            <a:off x="640080" y="1051560"/>
            <a:ext cx="109115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Quantos agentes e que modelo?</a:t>
            </a:r>
            <a:endParaRPr lang="en-US" sz="4400" dirty="0"/>
          </a:p>
        </p:txBody>
      </p:sp>
      <p:sp>
        <p:nvSpPr>
          <p:cNvPr id="6" name="question"/>
          <p:cNvSpPr txBox="1"/>
          <p:nvPr/>
        </p:nvSpPr>
        <p:spPr>
          <a:xfrm>
            <a:off x="640080" y="233172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Escolhe o paralelismo (e o modelo das ferramentas):</a:t>
            </a:r>
            <a:endParaRPr lang="en-US" sz="2800" dirty="0"/>
          </a:p>
        </p:txBody>
      </p:sp>
      <p:sp>
        <p:nvSpPr>
          <p:cNvPr id="7" name="option-0"/>
          <p:cNvSpPr/>
          <p:nvPr/>
        </p:nvSpPr>
        <p:spPr>
          <a:xfrm>
            <a:off x="640080" y="3154680"/>
            <a:ext cx="3423818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option-number-0"/>
          <p:cNvSpPr/>
          <p:nvPr/>
        </p:nvSpPr>
        <p:spPr>
          <a:xfrm>
            <a:off x="914400" y="3429000"/>
            <a:ext cx="548640" cy="548640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option-title-0"/>
          <p:cNvSpPr txBox="1"/>
          <p:nvPr/>
        </p:nvSpPr>
        <p:spPr>
          <a:xfrm>
            <a:off x="914400" y="4160520"/>
            <a:ext cx="28751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4 agentes</a:t>
            </a:r>
            <a:endParaRPr lang="en-US" sz="3000" dirty="0"/>
          </a:p>
        </p:txBody>
      </p:sp>
      <p:sp>
        <p:nvSpPr>
          <p:cNvPr id="10" name="option-effect-0"/>
          <p:cNvSpPr txBox="1"/>
          <p:nvPr/>
        </p:nvSpPr>
        <p:spPr>
          <a:xfrm>
            <a:off x="914400" y="5257800"/>
            <a:ext cx="28751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lento; a sessão principal coordena pouco</a:t>
            </a:r>
            <a:endParaRPr lang="en-US" sz="2400" dirty="0"/>
          </a:p>
        </p:txBody>
      </p:sp>
      <p:sp>
        <p:nvSpPr>
          <p:cNvPr id="11" name="code-background"/>
          <p:cNvSpPr/>
          <p:nvPr/>
        </p:nvSpPr>
        <p:spPr>
          <a:xfrm>
            <a:off x="822960" y="6812280"/>
            <a:ext cx="3058058" cy="731520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12" name="code"/>
          <p:cNvSpPr txBox="1"/>
          <p:nvPr/>
        </p:nvSpPr>
        <p:spPr>
          <a:xfrm>
            <a:off x="1097280" y="6995160"/>
            <a:ext cx="25094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--parallel 4</a:t>
            </a:r>
            <a:endParaRPr lang="en-US" sz="2300" dirty="0"/>
          </a:p>
        </p:txBody>
      </p:sp>
      <p:sp>
        <p:nvSpPr>
          <p:cNvPr id="13" name="option-1"/>
          <p:cNvSpPr/>
          <p:nvPr/>
        </p:nvSpPr>
        <p:spPr>
          <a:xfrm>
            <a:off x="4383938" y="3154680"/>
            <a:ext cx="3423818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option-number-1"/>
          <p:cNvSpPr/>
          <p:nvPr/>
        </p:nvSpPr>
        <p:spPr>
          <a:xfrm>
            <a:off x="4658258" y="3429000"/>
            <a:ext cx="548640" cy="548640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option-title-1"/>
          <p:cNvSpPr txBox="1"/>
          <p:nvPr/>
        </p:nvSpPr>
        <p:spPr>
          <a:xfrm>
            <a:off x="4658258" y="4160520"/>
            <a:ext cx="28751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8 agentes</a:t>
            </a:r>
            <a:endParaRPr lang="en-US" sz="3000" dirty="0"/>
          </a:p>
        </p:txBody>
      </p:sp>
      <p:sp>
        <p:nvSpPr>
          <p:cNvPr id="16" name="option-effect-1"/>
          <p:cNvSpPr txBox="1"/>
          <p:nvPr/>
        </p:nvSpPr>
        <p:spPr>
          <a:xfrm>
            <a:off x="4658258" y="5257800"/>
            <a:ext cx="28751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meio-termo, por defeito</a:t>
            </a:r>
            <a:endParaRPr lang="en-US" sz="2400" dirty="0"/>
          </a:p>
        </p:txBody>
      </p:sp>
      <p:sp>
        <p:nvSpPr>
          <p:cNvPr id="17" name="code-background"/>
          <p:cNvSpPr/>
          <p:nvPr/>
        </p:nvSpPr>
        <p:spPr>
          <a:xfrm>
            <a:off x="4566818" y="6812280"/>
            <a:ext cx="3058058" cy="731520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18" name="code"/>
          <p:cNvSpPr txBox="1"/>
          <p:nvPr/>
        </p:nvSpPr>
        <p:spPr>
          <a:xfrm>
            <a:off x="4841138" y="6995160"/>
            <a:ext cx="25094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--parallel 8</a:t>
            </a:r>
            <a:endParaRPr lang="en-US" sz="2300" dirty="0"/>
          </a:p>
        </p:txBody>
      </p:sp>
      <p:sp>
        <p:nvSpPr>
          <p:cNvPr id="19" name="option-2"/>
          <p:cNvSpPr/>
          <p:nvPr/>
        </p:nvSpPr>
        <p:spPr>
          <a:xfrm>
            <a:off x="8127797" y="3154680"/>
            <a:ext cx="3423818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option-number-2"/>
          <p:cNvSpPr/>
          <p:nvPr/>
        </p:nvSpPr>
        <p:spPr>
          <a:xfrm>
            <a:off x="8402117" y="3429000"/>
            <a:ext cx="548640" cy="548640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option-title-2"/>
          <p:cNvSpPr txBox="1"/>
          <p:nvPr/>
        </p:nvSpPr>
        <p:spPr>
          <a:xfrm>
            <a:off x="8402117" y="4160520"/>
            <a:ext cx="28751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12 agentes</a:t>
            </a:r>
            <a:endParaRPr lang="en-US" sz="3000" dirty="0"/>
          </a:p>
        </p:txBody>
      </p:sp>
      <p:sp>
        <p:nvSpPr>
          <p:cNvPr id="22" name="option-effect-2"/>
          <p:cNvSpPr txBox="1"/>
          <p:nvPr/>
        </p:nvSpPr>
        <p:spPr>
          <a:xfrm>
            <a:off x="8402117" y="5257800"/>
            <a:ext cx="28751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rápido, mas o custo não desce</a:t>
            </a:r>
            <a:endParaRPr lang="en-US" sz="2400" dirty="0"/>
          </a:p>
        </p:txBody>
      </p:sp>
      <p:sp>
        <p:nvSpPr>
          <p:cNvPr id="23" name="code-background"/>
          <p:cNvSpPr/>
          <p:nvPr/>
        </p:nvSpPr>
        <p:spPr>
          <a:xfrm>
            <a:off x="8310677" y="6812280"/>
            <a:ext cx="3058058" cy="731520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24" name="code"/>
          <p:cNvSpPr txBox="1"/>
          <p:nvPr/>
        </p:nvSpPr>
        <p:spPr>
          <a:xfrm>
            <a:off x="8584997" y="6995160"/>
            <a:ext cx="25094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--parallel 12</a:t>
            </a:r>
            <a:endParaRPr lang="en-US" sz="2300" dirty="0"/>
          </a:p>
        </p:txBody>
      </p:sp>
      <p:sp>
        <p:nvSpPr>
          <p:cNvPr id="25" name="footer"/>
          <p:cNvSpPr txBox="1"/>
          <p:nvPr/>
        </p:nvSpPr>
        <p:spPr>
          <a:xfrm>
            <a:off x="640080" y="8046720"/>
            <a:ext cx="10911535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Modelo: --model haiku (por defeito, barato) ou --model sonnet (mais caro, quase os mesmos verdes)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9889236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640080" y="411480"/>
            <a:ext cx="4892040" cy="502920"/>
          </a:xfrm>
          <a:prstGeom prst="rect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sp>
        <p:nvSpPr>
          <p:cNvPr id="3" name="tag-label"/>
          <p:cNvSpPr txBox="1"/>
          <p:nvPr/>
        </p:nvSpPr>
        <p:spPr>
          <a:xfrm>
            <a:off x="822960" y="411480"/>
            <a:ext cx="461772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agora + Prevê · 1 min</a:t>
            </a:r>
            <a:endParaRPr lang="en-US" sz="2400" dirty="0"/>
          </a:p>
        </p:txBody>
      </p:sp>
      <p:sp>
        <p:nvSpPr>
          <p:cNvPr id="4" name="block"/>
          <p:cNvSpPr txBox="1"/>
          <p:nvPr/>
        </p:nvSpPr>
        <p:spPr>
          <a:xfrm>
            <a:off x="7894015" y="411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1</a:t>
            </a:r>
            <a:endParaRPr lang="en-US" sz="2400" dirty="0"/>
          </a:p>
        </p:txBody>
      </p:sp>
      <p:sp>
        <p:nvSpPr>
          <p:cNvPr id="5" name="Text 1"/>
          <p:cNvSpPr/>
          <p:nvPr>
            <p:ph idx="102" type="title" hasCustomPrompt="1"/>
          </p:nvPr>
        </p:nvSpPr>
        <p:spPr>
          <a:xfrm>
            <a:off x="640080" y="1051560"/>
            <a:ext cx="109115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Planeia</a:t>
            </a:r>
            <a:endParaRPr lang="en-US" sz="4400" dirty="0"/>
          </a:p>
        </p:txBody>
      </p:sp>
      <p:sp>
        <p:nvSpPr>
          <p:cNvPr id="6" name="step-number-0"/>
          <p:cNvSpPr/>
          <p:nvPr/>
        </p:nvSpPr>
        <p:spPr>
          <a:xfrm>
            <a:off x="640080" y="2331720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step-0"/>
          <p:cNvSpPr txBox="1"/>
          <p:nvPr/>
        </p:nvSpPr>
        <p:spPr>
          <a:xfrm>
            <a:off x="1325880" y="2331720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 o plano com a tua decisão</a:t>
            </a:r>
            <a:endParaRPr lang="en-US" sz="2600" dirty="0"/>
          </a:p>
        </p:txBody>
      </p:sp>
      <p:sp>
        <p:nvSpPr>
          <p:cNvPr id="8" name="step-number-1"/>
          <p:cNvSpPr/>
          <p:nvPr/>
        </p:nvSpPr>
        <p:spPr>
          <a:xfrm>
            <a:off x="640080" y="2990088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step-1"/>
          <p:cNvSpPr txBox="1"/>
          <p:nvPr/>
        </p:nvSpPr>
        <p:spPr>
          <a:xfrm>
            <a:off x="1325880" y="2990088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à previsão de minutos</a:t>
            </a:r>
            <a:endParaRPr lang="en-US" sz="2600" dirty="0"/>
          </a:p>
        </p:txBody>
      </p:sp>
      <p:sp>
        <p:nvSpPr>
          <p:cNvPr id="10" name="step-number-2"/>
          <p:cNvSpPr/>
          <p:nvPr/>
        </p:nvSpPr>
        <p:spPr>
          <a:xfrm>
            <a:off x="640080" y="3648456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3</a:t>
            </a:r>
            <a:endParaRPr lang="en-US" sz="2400" dirty="0"/>
          </a:p>
        </p:txBody>
      </p:sp>
      <p:sp>
        <p:nvSpPr>
          <p:cNvPr id="11" name="step-2"/>
          <p:cNvSpPr txBox="1"/>
          <p:nvPr/>
        </p:nvSpPr>
        <p:spPr>
          <a:xfrm>
            <a:off x="1325880" y="3648456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as ondas e a estimativa de custo</a:t>
            </a:r>
            <a:endParaRPr lang="en-US" sz="2600" dirty="0"/>
          </a:p>
        </p:txBody>
      </p:sp>
      <p:sp>
        <p:nvSpPr>
          <p:cNvPr id="12" name="code-background"/>
          <p:cNvSpPr/>
          <p:nvPr/>
        </p:nvSpPr>
        <p:spPr>
          <a:xfrm>
            <a:off x="640080" y="4535424"/>
            <a:ext cx="10911535" cy="1169518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13" name="code-label"/>
          <p:cNvSpPr txBox="1"/>
          <p:nvPr/>
        </p:nvSpPr>
        <p:spPr>
          <a:xfrm>
            <a:off x="914400" y="4718304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2 · Claude Code</a:t>
            </a:r>
            <a:endParaRPr lang="en-US" sz="2000" dirty="0"/>
          </a:p>
        </p:txBody>
      </p:sp>
      <p:sp>
        <p:nvSpPr>
          <p:cNvPr id="14" name="code"/>
          <p:cNvSpPr txBox="1"/>
          <p:nvPr/>
        </p:nvSpPr>
        <p:spPr>
          <a:xfrm>
            <a:off x="914400" y="5175504"/>
            <a:ext cx="10362895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/demo-plan --parallel 8 --model haiku</a:t>
            </a:r>
            <a:endParaRPr lang="en-US" sz="2100" dirty="0"/>
          </a:p>
        </p:txBody>
      </p:sp>
      <p:sp>
        <p:nvSpPr>
          <p:cNvPr id="15" name="predict"/>
          <p:cNvSpPr/>
          <p:nvPr/>
        </p:nvSpPr>
        <p:spPr>
          <a:xfrm>
            <a:off x="640080" y="5933542"/>
            <a:ext cx="10911535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predict-icon-circle"/>
          <p:cNvSpPr/>
          <p:nvPr/>
        </p:nvSpPr>
        <p:spPr>
          <a:xfrm>
            <a:off x="868680" y="6207862"/>
            <a:ext cx="640080" cy="640080"/>
          </a:xfrm>
          <a:prstGeom prst="ellipse">
            <a:avLst/>
          </a:prstGeom>
          <a:solidFill>
            <a:srgbClr val="F25928"/>
          </a:solidFill>
          <a:ln w="12700">
            <a:solidFill>
              <a:srgbClr val="F25928"/>
            </a:solidFill>
            <a:prstDash val="solid"/>
          </a:ln>
        </p:spPr>
      </p:sp>
      <p:pic>
        <p:nvPicPr>
          <p:cNvPr id="17" name="predict-icon" descr="clo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498" y="6348679"/>
            <a:ext cx="358445" cy="358445"/>
          </a:xfrm>
          <a:prstGeom prst="rect">
            <a:avLst/>
          </a:prstGeom>
        </p:spPr>
      </p:pic>
      <p:sp>
        <p:nvSpPr>
          <p:cNvPr id="18" name="predict-question"/>
          <p:cNvSpPr txBox="1"/>
          <p:nvPr/>
        </p:nvSpPr>
        <p:spPr>
          <a:xfrm>
            <a:off x="1737360" y="6070702"/>
            <a:ext cx="9631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Quantos minutos vai demorar o teu swarm?</a:t>
            </a:r>
            <a:endParaRPr lang="en-US" sz="3000" dirty="0"/>
          </a:p>
        </p:txBody>
      </p:sp>
      <p:sp>
        <p:nvSpPr>
          <p:cNvPr id="19" name="predict-where"/>
          <p:cNvSpPr txBox="1"/>
          <p:nvPr/>
        </p:nvSpPr>
        <p:spPr>
          <a:xfrm>
            <a:off x="1737360" y="6619342"/>
            <a:ext cx="96313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/demo-plan pergunta; podes não responder</a:t>
            </a:r>
            <a:endParaRPr lang="en-US" sz="2400" dirty="0"/>
          </a:p>
        </p:txBody>
      </p:sp>
      <p:sp>
        <p:nvSpPr>
          <p:cNvPr id="20" name="expected-mark-circle"/>
          <p:cNvSpPr/>
          <p:nvPr/>
        </p:nvSpPr>
        <p:spPr>
          <a:xfrm>
            <a:off x="640080" y="7396582"/>
            <a:ext cx="502920" cy="502920"/>
          </a:xfrm>
          <a:prstGeom prst="ellipse">
            <a:avLst/>
          </a:prstGeom>
          <a:solidFill>
            <a:srgbClr val="1E9E57"/>
          </a:solidFill>
          <a:ln w="12700">
            <a:solidFill>
              <a:srgbClr val="1E9E57"/>
            </a:solidFill>
            <a:prstDash val="solid"/>
          </a:ln>
        </p:spPr>
      </p:sp>
      <p:pic>
        <p:nvPicPr>
          <p:cNvPr id="21" name="expected-mark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722" y="7507224"/>
            <a:ext cx="281635" cy="281635"/>
          </a:xfrm>
          <a:prstGeom prst="rect">
            <a:avLst/>
          </a:prstGeom>
        </p:spPr>
      </p:pic>
      <p:sp>
        <p:nvSpPr>
          <p:cNvPr id="22" name="expected"/>
          <p:cNvSpPr txBox="1"/>
          <p:nvPr/>
        </p:nvSpPr>
        <p:spPr>
          <a:xfrm>
            <a:off x="1371600" y="7350862"/>
            <a:ext cx="10180015" cy="2264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esperado: </a:t>
            </a:r>
            <a:pPr indent="0" marL="0">
              <a:buNone/>
            </a:pPr>
            <a:r>
              <a:rPr lang="en-US" sz="24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PLAN.md com 4 ondas e a estimativa de custo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9889236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640080" y="411480"/>
            <a:ext cx="3502152" cy="502920"/>
          </a:xfrm>
          <a:prstGeom prst="rect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sp>
        <p:nvSpPr>
          <p:cNvPr id="3" name="tag-label"/>
          <p:cNvSpPr txBox="1"/>
          <p:nvPr/>
        </p:nvSpPr>
        <p:spPr>
          <a:xfrm>
            <a:off x="822960" y="411480"/>
            <a:ext cx="3227832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agora · 7 min</a:t>
            </a:r>
            <a:endParaRPr lang="en-US" sz="2400" dirty="0"/>
          </a:p>
        </p:txBody>
      </p:sp>
      <p:sp>
        <p:nvSpPr>
          <p:cNvPr id="4" name="block"/>
          <p:cNvSpPr txBox="1"/>
          <p:nvPr/>
        </p:nvSpPr>
        <p:spPr>
          <a:xfrm>
            <a:off x="7894015" y="411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1</a:t>
            </a:r>
            <a:endParaRPr lang="en-US" sz="2400" dirty="0"/>
          </a:p>
        </p:txBody>
      </p:sp>
      <p:sp>
        <p:nvSpPr>
          <p:cNvPr id="5" name="Text 1"/>
          <p:cNvSpPr/>
          <p:nvPr>
            <p:ph idx="102" type="title" hasCustomPrompt="1"/>
          </p:nvPr>
        </p:nvSpPr>
        <p:spPr>
          <a:xfrm>
            <a:off x="640080" y="1051560"/>
            <a:ext cx="109115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Solta o swarm</a:t>
            </a:r>
            <a:endParaRPr lang="en-US" sz="4400" dirty="0"/>
          </a:p>
        </p:txBody>
      </p:sp>
      <p:sp>
        <p:nvSpPr>
          <p:cNvPr id="6" name="step-number-0"/>
          <p:cNvSpPr/>
          <p:nvPr/>
        </p:nvSpPr>
        <p:spPr>
          <a:xfrm>
            <a:off x="640080" y="2331720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step-0"/>
          <p:cNvSpPr txBox="1"/>
          <p:nvPr/>
        </p:nvSpPr>
        <p:spPr>
          <a:xfrm>
            <a:off x="1325880" y="2331720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Lança o swarm</a:t>
            </a:r>
            <a:endParaRPr lang="en-US" sz="2600" dirty="0"/>
          </a:p>
        </p:txBody>
      </p:sp>
      <p:sp>
        <p:nvSpPr>
          <p:cNvPr id="8" name="step-number-1"/>
          <p:cNvSpPr/>
          <p:nvPr/>
        </p:nvSpPr>
        <p:spPr>
          <a:xfrm>
            <a:off x="640080" y="2990088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step-1"/>
          <p:cNvSpPr txBox="1"/>
          <p:nvPr/>
        </p:nvSpPr>
        <p:spPr>
          <a:xfrm>
            <a:off x="1325880" y="2990088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Noutro terminal, abre o /status</a:t>
            </a:r>
            <a:endParaRPr lang="en-US" sz="2600" dirty="0"/>
          </a:p>
        </p:txBody>
      </p:sp>
      <p:sp>
        <p:nvSpPr>
          <p:cNvPr id="10" name="step-number-2"/>
          <p:cNvSpPr/>
          <p:nvPr/>
        </p:nvSpPr>
        <p:spPr>
          <a:xfrm>
            <a:off x="640080" y="3648456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3</a:t>
            </a:r>
            <a:endParaRPr lang="en-US" sz="2400" dirty="0"/>
          </a:p>
        </p:txBody>
      </p:sp>
      <p:sp>
        <p:nvSpPr>
          <p:cNvPr id="11" name="step-2"/>
          <p:cNvSpPr txBox="1"/>
          <p:nvPr/>
        </p:nvSpPr>
        <p:spPr>
          <a:xfrm>
            <a:off x="1325880" y="3648456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 esperas: uma missão bónus</a:t>
            </a:r>
            <a:endParaRPr lang="en-US" sz="2600" dirty="0"/>
          </a:p>
        </p:txBody>
      </p:sp>
      <p:sp>
        <p:nvSpPr>
          <p:cNvPr id="12" name="code-background"/>
          <p:cNvSpPr/>
          <p:nvPr/>
        </p:nvSpPr>
        <p:spPr>
          <a:xfrm>
            <a:off x="640080" y="4535424"/>
            <a:ext cx="5318608" cy="2346350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13" name="code-label"/>
          <p:cNvSpPr txBox="1"/>
          <p:nvPr/>
        </p:nvSpPr>
        <p:spPr>
          <a:xfrm>
            <a:off x="914400" y="4718304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2 · Claude Code</a:t>
            </a:r>
            <a:endParaRPr lang="en-US" sz="2000" dirty="0"/>
          </a:p>
        </p:txBody>
      </p:sp>
      <p:sp>
        <p:nvSpPr>
          <p:cNvPr id="14" name="code"/>
          <p:cNvSpPr txBox="1"/>
          <p:nvPr/>
        </p:nvSpPr>
        <p:spPr>
          <a:xfrm>
            <a:off x="914400" y="5175504"/>
            <a:ext cx="4769968" cy="1569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/demo-swarm</a:t>
            </a:r>
            <a:endParaRPr lang="en-US" sz="2600" dirty="0"/>
          </a:p>
        </p:txBody>
      </p:sp>
      <p:sp>
        <p:nvSpPr>
          <p:cNvPr id="15" name="code-background"/>
          <p:cNvSpPr/>
          <p:nvPr/>
        </p:nvSpPr>
        <p:spPr>
          <a:xfrm>
            <a:off x="6233008" y="4535424"/>
            <a:ext cx="5318608" cy="2346350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16" name="code-label"/>
          <p:cNvSpPr txBox="1"/>
          <p:nvPr/>
        </p:nvSpPr>
        <p:spPr>
          <a:xfrm>
            <a:off x="6507328" y="4718304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Outro terminal · o /status</a:t>
            </a:r>
            <a:endParaRPr lang="en-US" sz="2000" dirty="0"/>
          </a:p>
        </p:txBody>
      </p:sp>
      <p:sp>
        <p:nvSpPr>
          <p:cNvPr id="17" name="code"/>
          <p:cNvSpPr txBox="1"/>
          <p:nvPr/>
        </p:nvSpPr>
        <p:spPr>
          <a:xfrm>
            <a:off x="6507328" y="5175504"/>
            <a:ext cx="4769968" cy="1569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~/workshop-claude/canivete-project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server.js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http://localhost:3000/status</a:t>
            </a:r>
            <a:endParaRPr lang="en-US" sz="2100" dirty="0"/>
          </a:p>
        </p:txBody>
      </p:sp>
      <p:sp>
        <p:nvSpPr>
          <p:cNvPr id="18" name="panel-cue"/>
          <p:cNvSpPr/>
          <p:nvPr/>
        </p:nvSpPr>
        <p:spPr>
          <a:xfrm>
            <a:off x="640080" y="7786116"/>
            <a:ext cx="10911535" cy="640080"/>
          </a:xfrm>
          <a:prstGeom prst="rect">
            <a:avLst/>
          </a:prstGeom>
          <a:solidFill>
            <a:srgbClr val="F25928"/>
          </a:solidFill>
          <a:ln w="12700">
            <a:solidFill>
              <a:srgbClr val="F25928"/>
            </a:solidFill>
            <a:prstDash val="solid"/>
          </a:ln>
        </p:spPr>
      </p:sp>
      <p:sp>
        <p:nvSpPr>
          <p:cNvPr id="19" name="panel-cue-arrow-circle"/>
          <p:cNvSpPr/>
          <p:nvPr/>
        </p:nvSpPr>
        <p:spPr>
          <a:xfrm>
            <a:off x="10984687" y="7877556"/>
            <a:ext cx="457200" cy="457200"/>
          </a:xfrm>
          <a:prstGeom prst="ellipse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pic>
        <p:nvPicPr>
          <p:cNvPr id="20" name="panel-cue-arrow" descr="arrow-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5271" y="7978140"/>
            <a:ext cx="256032" cy="256032"/>
          </a:xfrm>
          <a:prstGeom prst="rect">
            <a:avLst/>
          </a:prstGeom>
        </p:spPr>
      </p:pic>
      <p:sp>
        <p:nvSpPr>
          <p:cNvPr id="21" name="panel-cue-text"/>
          <p:cNvSpPr txBox="1"/>
          <p:nvPr/>
        </p:nvSpPr>
        <p:spPr>
          <a:xfrm>
            <a:off x="868680" y="7786116"/>
            <a:ext cx="9905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Olha para o painel: cada ponto é um swarm acabado</a:t>
            </a:r>
            <a:endParaRPr lang="en-US" sz="2400" dirty="0"/>
          </a:p>
        </p:txBody>
      </p:sp>
      <p:sp>
        <p:nvSpPr>
          <p:cNvPr id="22" name="expected-mark-circle"/>
          <p:cNvSpPr/>
          <p:nvPr/>
        </p:nvSpPr>
        <p:spPr>
          <a:xfrm>
            <a:off x="640080" y="8700516"/>
            <a:ext cx="502920" cy="502920"/>
          </a:xfrm>
          <a:prstGeom prst="ellipse">
            <a:avLst/>
          </a:prstGeom>
          <a:solidFill>
            <a:srgbClr val="1E9E57"/>
          </a:solidFill>
          <a:ln w="12700">
            <a:solidFill>
              <a:srgbClr val="1E9E57"/>
            </a:solidFill>
            <a:prstDash val="solid"/>
          </a:ln>
        </p:spPr>
      </p:sp>
      <p:pic>
        <p:nvPicPr>
          <p:cNvPr id="23" name="expected-mark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722" y="8811158"/>
            <a:ext cx="281635" cy="281635"/>
          </a:xfrm>
          <a:prstGeom prst="rect">
            <a:avLst/>
          </a:prstGeom>
        </p:spPr>
      </p:pic>
      <p:sp>
        <p:nvSpPr>
          <p:cNvPr id="24" name="expected"/>
          <p:cNvSpPr txBox="1"/>
          <p:nvPr/>
        </p:nvSpPr>
        <p:spPr>
          <a:xfrm>
            <a:off x="1371600" y="8654796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esperado: </a:t>
            </a:r>
            <a:pPr indent="0" marL="0">
              <a:buNone/>
            </a:pPr>
            <a:r>
              <a:rPr lang="en-US" sz="24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grelha enche-se de verdes; 2 ou 3 ferramentas ficam vermelhas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9889236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640080" y="411480"/>
            <a:ext cx="3502152" cy="502920"/>
          </a:xfrm>
          <a:prstGeom prst="rect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sp>
        <p:nvSpPr>
          <p:cNvPr id="3" name="tag-label"/>
          <p:cNvSpPr txBox="1"/>
          <p:nvPr/>
        </p:nvSpPr>
        <p:spPr>
          <a:xfrm>
            <a:off x="822960" y="411480"/>
            <a:ext cx="3227832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agora · 4 min</a:t>
            </a:r>
            <a:endParaRPr lang="en-US" sz="2400" dirty="0"/>
          </a:p>
        </p:txBody>
      </p:sp>
      <p:sp>
        <p:nvSpPr>
          <p:cNvPr id="4" name="block"/>
          <p:cNvSpPr txBox="1"/>
          <p:nvPr/>
        </p:nvSpPr>
        <p:spPr>
          <a:xfrm>
            <a:off x="7894015" y="411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1</a:t>
            </a:r>
            <a:endParaRPr lang="en-US" sz="2400" dirty="0"/>
          </a:p>
        </p:txBody>
      </p:sp>
      <p:sp>
        <p:nvSpPr>
          <p:cNvPr id="5" name="Text 1"/>
          <p:cNvSpPr/>
          <p:nvPr>
            <p:ph idx="102" type="title" hasCustomPrompt="1"/>
          </p:nvPr>
        </p:nvSpPr>
        <p:spPr>
          <a:xfrm>
            <a:off x="640080" y="1051560"/>
            <a:ext cx="109115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Porque é que esta ferramenta falhou?</a:t>
            </a:r>
            <a:endParaRPr lang="en-US" sz="4400" dirty="0"/>
          </a:p>
        </p:txBody>
      </p:sp>
      <p:sp>
        <p:nvSpPr>
          <p:cNvPr id="6" name="step-number-0"/>
          <p:cNvSpPr/>
          <p:nvPr/>
        </p:nvSpPr>
        <p:spPr>
          <a:xfrm>
            <a:off x="640080" y="2331720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step-0"/>
          <p:cNvSpPr txBox="1"/>
          <p:nvPr/>
        </p:nvSpPr>
        <p:spPr>
          <a:xfrm>
            <a:off x="1325880" y="2331720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a mensagem do teste vermelho</a:t>
            </a:r>
            <a:endParaRPr lang="en-US" sz="2600" dirty="0"/>
          </a:p>
        </p:txBody>
      </p:sp>
      <p:sp>
        <p:nvSpPr>
          <p:cNvPr id="8" name="step-number-1"/>
          <p:cNvSpPr/>
          <p:nvPr/>
        </p:nvSpPr>
        <p:spPr>
          <a:xfrm>
            <a:off x="640080" y="2990088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step-1"/>
          <p:cNvSpPr txBox="1"/>
          <p:nvPr/>
        </p:nvSpPr>
        <p:spPr>
          <a:xfrm>
            <a:off x="1325880" y="2990088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tu a regra que a spec não diz</a:t>
            </a:r>
            <a:endParaRPr lang="en-US" sz="2600" dirty="0"/>
          </a:p>
        </p:txBody>
      </p:sp>
      <p:sp>
        <p:nvSpPr>
          <p:cNvPr id="10" name="step-number-2"/>
          <p:cNvSpPr/>
          <p:nvPr/>
        </p:nvSpPr>
        <p:spPr>
          <a:xfrm>
            <a:off x="640080" y="3648456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3</a:t>
            </a:r>
            <a:endParaRPr lang="en-US" sz="2400" dirty="0"/>
          </a:p>
        </p:txBody>
      </p:sp>
      <p:sp>
        <p:nvSpPr>
          <p:cNvPr id="11" name="step-2"/>
          <p:cNvSpPr txBox="1"/>
          <p:nvPr/>
        </p:nvSpPr>
        <p:spPr>
          <a:xfrm>
            <a:off x="1325880" y="3648456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Escreve-a na spec e repete só essa</a:t>
            </a:r>
            <a:endParaRPr lang="en-US" sz="2600" dirty="0"/>
          </a:p>
        </p:txBody>
      </p:sp>
      <p:sp>
        <p:nvSpPr>
          <p:cNvPr id="12" name="code-background"/>
          <p:cNvSpPr/>
          <p:nvPr/>
        </p:nvSpPr>
        <p:spPr>
          <a:xfrm>
            <a:off x="640080" y="4535424"/>
            <a:ext cx="5318608" cy="1954073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13" name="code-label"/>
          <p:cNvSpPr txBox="1"/>
          <p:nvPr/>
        </p:nvSpPr>
        <p:spPr>
          <a:xfrm>
            <a:off x="914400" y="4718304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Claude Code</a:t>
            </a:r>
            <a:endParaRPr lang="en-US" sz="2000" dirty="0"/>
          </a:p>
        </p:txBody>
      </p:sp>
      <p:sp>
        <p:nvSpPr>
          <p:cNvPr id="14" name="code"/>
          <p:cNvSpPr txBox="1"/>
          <p:nvPr/>
        </p:nvSpPr>
        <p:spPr>
          <a:xfrm>
            <a:off x="914400" y="5175504"/>
            <a:ext cx="4769968" cy="1176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Porque falhou o nm-03?</a:t>
            </a:r>
            <a:endParaRPr lang="en-US" sz="2600" dirty="0"/>
          </a:p>
        </p:txBody>
      </p:sp>
      <p:sp>
        <p:nvSpPr>
          <p:cNvPr id="15" name="code-background"/>
          <p:cNvSpPr/>
          <p:nvPr/>
        </p:nvSpPr>
        <p:spPr>
          <a:xfrm>
            <a:off x="6233008" y="4535424"/>
            <a:ext cx="5318608" cy="1954073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16" name="code-label"/>
          <p:cNvSpPr txBox="1"/>
          <p:nvPr/>
        </p:nvSpPr>
        <p:spPr>
          <a:xfrm>
            <a:off x="6507328" y="4718304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teu editor, depois</a:t>
            </a:r>
            <a:endParaRPr lang="en-US" sz="2000" dirty="0"/>
          </a:p>
        </p:txBody>
      </p:sp>
      <p:sp>
        <p:nvSpPr>
          <p:cNvPr id="17" name="code"/>
          <p:cNvSpPr txBox="1"/>
          <p:nvPr/>
        </p:nvSpPr>
        <p:spPr>
          <a:xfrm>
            <a:off x="6507328" y="5175504"/>
            <a:ext cx="4769968" cy="1176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tools/nm-03/spec.md   (acrescenta a regra)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/demo-swarm --retry nm-03</a:t>
            </a:r>
            <a:endParaRPr lang="en-US" sz="2200" dirty="0"/>
          </a:p>
        </p:txBody>
      </p:sp>
      <p:sp>
        <p:nvSpPr>
          <p:cNvPr id="18" name="expected-mark-circle"/>
          <p:cNvSpPr/>
          <p:nvPr/>
        </p:nvSpPr>
        <p:spPr>
          <a:xfrm>
            <a:off x="640080" y="8700516"/>
            <a:ext cx="502920" cy="502920"/>
          </a:xfrm>
          <a:prstGeom prst="ellipse">
            <a:avLst/>
          </a:prstGeom>
          <a:solidFill>
            <a:srgbClr val="1E9E57"/>
          </a:solidFill>
          <a:ln w="12700">
            <a:solidFill>
              <a:srgbClr val="1E9E57"/>
            </a:solidFill>
            <a:prstDash val="solid"/>
          </a:ln>
        </p:spPr>
      </p:sp>
      <p:pic>
        <p:nvPicPr>
          <p:cNvPr id="19" name="expected-mark" descr="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722" y="8811158"/>
            <a:ext cx="281635" cy="281635"/>
          </a:xfrm>
          <a:prstGeom prst="rect">
            <a:avLst/>
          </a:prstGeom>
        </p:spPr>
      </p:pic>
      <p:sp>
        <p:nvSpPr>
          <p:cNvPr id="20" name="expected"/>
          <p:cNvSpPr txBox="1"/>
          <p:nvPr/>
        </p:nvSpPr>
        <p:spPr>
          <a:xfrm>
            <a:off x="1371600" y="8654796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esperado: </a:t>
            </a:r>
            <a:pPr indent="0" marL="0">
              <a:buNone/>
            </a:pPr>
            <a:r>
              <a:rPr lang="en-US" sz="24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vermelho passa a verde à segunda tentativa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9889236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640080" y="411480"/>
            <a:ext cx="3502152" cy="502920"/>
          </a:xfrm>
          <a:prstGeom prst="rect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sp>
        <p:nvSpPr>
          <p:cNvPr id="3" name="tag-label"/>
          <p:cNvSpPr txBox="1"/>
          <p:nvPr/>
        </p:nvSpPr>
        <p:spPr>
          <a:xfrm>
            <a:off x="822960" y="411480"/>
            <a:ext cx="3227832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agora · 2 min</a:t>
            </a:r>
            <a:endParaRPr lang="en-US" sz="2400" dirty="0"/>
          </a:p>
        </p:txBody>
      </p:sp>
      <p:sp>
        <p:nvSpPr>
          <p:cNvPr id="4" name="block"/>
          <p:cNvSpPr txBox="1"/>
          <p:nvPr/>
        </p:nvSpPr>
        <p:spPr>
          <a:xfrm>
            <a:off x="7894015" y="411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1</a:t>
            </a:r>
            <a:endParaRPr lang="en-US" sz="2400" dirty="0"/>
          </a:p>
        </p:txBody>
      </p:sp>
      <p:sp>
        <p:nvSpPr>
          <p:cNvPr id="5" name="Text 1"/>
          <p:cNvSpPr/>
          <p:nvPr>
            <p:ph idx="102" type="title" hasCustomPrompt="1"/>
          </p:nvPr>
        </p:nvSpPr>
        <p:spPr>
          <a:xfrm>
            <a:off x="640080" y="1051560"/>
            <a:ext cx="109115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Gate e custo: que decisão ganhou?</a:t>
            </a:r>
            <a:endParaRPr lang="en-US" sz="4400" dirty="0"/>
          </a:p>
        </p:txBody>
      </p:sp>
      <p:sp>
        <p:nvSpPr>
          <p:cNvPr id="6" name="step-number-0"/>
          <p:cNvSpPr/>
          <p:nvPr/>
        </p:nvSpPr>
        <p:spPr>
          <a:xfrm>
            <a:off x="640080" y="2331720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step-0"/>
          <p:cNvSpPr txBox="1"/>
          <p:nvPr/>
        </p:nvSpPr>
        <p:spPr>
          <a:xfrm>
            <a:off x="1325880" y="2331720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 a revisão</a:t>
            </a:r>
            <a:endParaRPr lang="en-US" sz="2600" dirty="0"/>
          </a:p>
        </p:txBody>
      </p:sp>
      <p:sp>
        <p:nvSpPr>
          <p:cNvPr id="8" name="step-number-1"/>
          <p:cNvSpPr/>
          <p:nvPr/>
        </p:nvSpPr>
        <p:spPr>
          <a:xfrm>
            <a:off x="640080" y="2990088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step-1"/>
          <p:cNvSpPr txBox="1"/>
          <p:nvPr/>
        </p:nvSpPr>
        <p:spPr>
          <a:xfrm>
            <a:off x="1325880" y="2990088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 o custo</a:t>
            </a:r>
            <a:endParaRPr lang="en-US" sz="2600" dirty="0"/>
          </a:p>
        </p:txBody>
      </p:sp>
      <p:sp>
        <p:nvSpPr>
          <p:cNvPr id="10" name="step-number-2"/>
          <p:cNvSpPr/>
          <p:nvPr/>
        </p:nvSpPr>
        <p:spPr>
          <a:xfrm>
            <a:off x="640080" y="3648456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3</a:t>
            </a:r>
            <a:endParaRPr lang="en-US" sz="2400" dirty="0"/>
          </a:p>
        </p:txBody>
      </p:sp>
      <p:sp>
        <p:nvSpPr>
          <p:cNvPr id="11" name="step-2"/>
          <p:cNvSpPr txBox="1"/>
          <p:nvPr/>
        </p:nvSpPr>
        <p:spPr>
          <a:xfrm>
            <a:off x="1325880" y="3648456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 com a previsão e com o painel</a:t>
            </a:r>
            <a:endParaRPr lang="en-US" sz="2600" dirty="0"/>
          </a:p>
        </p:txBody>
      </p:sp>
      <p:sp>
        <p:nvSpPr>
          <p:cNvPr id="12" name="code-background"/>
          <p:cNvSpPr/>
          <p:nvPr/>
        </p:nvSpPr>
        <p:spPr>
          <a:xfrm>
            <a:off x="640080" y="4535424"/>
            <a:ext cx="10911535" cy="1561795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13" name="code-label"/>
          <p:cNvSpPr txBox="1"/>
          <p:nvPr/>
        </p:nvSpPr>
        <p:spPr>
          <a:xfrm>
            <a:off x="914400" y="4718304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2 · Claude Code</a:t>
            </a:r>
            <a:endParaRPr lang="en-US" sz="2000" dirty="0"/>
          </a:p>
        </p:txBody>
      </p:sp>
      <p:sp>
        <p:nvSpPr>
          <p:cNvPr id="14" name="code"/>
          <p:cNvSpPr txBox="1"/>
          <p:nvPr/>
        </p:nvSpPr>
        <p:spPr>
          <a:xfrm>
            <a:off x="914400" y="5175504"/>
            <a:ext cx="10362895" cy="784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/demo-review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/demo-cost</a:t>
            </a:r>
            <a:endParaRPr lang="en-US" sz="2100" dirty="0"/>
          </a:p>
        </p:txBody>
      </p:sp>
      <p:sp>
        <p:nvSpPr>
          <p:cNvPr id="15" name="panel-cue"/>
          <p:cNvSpPr/>
          <p:nvPr/>
        </p:nvSpPr>
        <p:spPr>
          <a:xfrm>
            <a:off x="640080" y="7786116"/>
            <a:ext cx="10911535" cy="640080"/>
          </a:xfrm>
          <a:prstGeom prst="rect">
            <a:avLst/>
          </a:prstGeom>
          <a:solidFill>
            <a:srgbClr val="F25928"/>
          </a:solidFill>
          <a:ln w="12700">
            <a:solidFill>
              <a:srgbClr val="F25928"/>
            </a:solidFill>
            <a:prstDash val="solid"/>
          </a:ln>
        </p:spPr>
      </p:sp>
      <p:sp>
        <p:nvSpPr>
          <p:cNvPr id="16" name="panel-cue-arrow-circle"/>
          <p:cNvSpPr/>
          <p:nvPr/>
        </p:nvSpPr>
        <p:spPr>
          <a:xfrm>
            <a:off x="10984687" y="7877556"/>
            <a:ext cx="457200" cy="457200"/>
          </a:xfrm>
          <a:prstGeom prst="ellipse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pic>
        <p:nvPicPr>
          <p:cNvPr id="17" name="panel-cue-arrow" descr="arrow-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5271" y="7978140"/>
            <a:ext cx="256032" cy="256032"/>
          </a:xfrm>
          <a:prstGeom prst="rect">
            <a:avLst/>
          </a:prstGeom>
        </p:spPr>
      </p:pic>
      <p:sp>
        <p:nvSpPr>
          <p:cNvPr id="18" name="panel-cue-text"/>
          <p:cNvSpPr txBox="1"/>
          <p:nvPr/>
        </p:nvSpPr>
        <p:spPr>
          <a:xfrm>
            <a:off x="868680" y="7786116"/>
            <a:ext cx="9905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Olha para o painel: custo por verde, por paralelismo e modelo</a:t>
            </a:r>
            <a:endParaRPr lang="en-US" sz="2400" dirty="0"/>
          </a:p>
        </p:txBody>
      </p:sp>
      <p:sp>
        <p:nvSpPr>
          <p:cNvPr id="19" name="expected-mark-circle"/>
          <p:cNvSpPr/>
          <p:nvPr/>
        </p:nvSpPr>
        <p:spPr>
          <a:xfrm>
            <a:off x="640080" y="8700516"/>
            <a:ext cx="502920" cy="502920"/>
          </a:xfrm>
          <a:prstGeom prst="ellipse">
            <a:avLst/>
          </a:prstGeom>
          <a:solidFill>
            <a:srgbClr val="1E9E57"/>
          </a:solidFill>
          <a:ln w="12700">
            <a:solidFill>
              <a:srgbClr val="1E9E57"/>
            </a:solidFill>
            <a:prstDash val="solid"/>
          </a:ln>
        </p:spPr>
      </p:sp>
      <p:pic>
        <p:nvPicPr>
          <p:cNvPr id="20" name="expected-mark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722" y="8811158"/>
            <a:ext cx="281635" cy="281635"/>
          </a:xfrm>
          <a:prstGeom prst="rect">
            <a:avLst/>
          </a:prstGeom>
        </p:spPr>
      </p:pic>
      <p:sp>
        <p:nvSpPr>
          <p:cNvPr id="21" name="expected"/>
          <p:cNvSpPr txBox="1"/>
          <p:nvPr/>
        </p:nvSpPr>
        <p:spPr>
          <a:xfrm>
            <a:off x="1371600" y="8654796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esperado: </a:t>
            </a:r>
            <a:pPr indent="0" marL="0">
              <a:buNone/>
            </a:pPr>
            <a:r>
              <a:rPr lang="en-US" sz="24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GATE: APPROVED e o custo por ferramenta verde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9889236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640080" y="411480"/>
            <a:ext cx="3502152" cy="502920"/>
          </a:xfrm>
          <a:prstGeom prst="rect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sp>
        <p:nvSpPr>
          <p:cNvPr id="3" name="tag-label"/>
          <p:cNvSpPr txBox="1"/>
          <p:nvPr/>
        </p:nvSpPr>
        <p:spPr>
          <a:xfrm>
            <a:off x="822960" y="411480"/>
            <a:ext cx="3227832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agora · 2 min</a:t>
            </a:r>
            <a:endParaRPr lang="en-US" sz="2400" dirty="0"/>
          </a:p>
        </p:txBody>
      </p:sp>
      <p:sp>
        <p:nvSpPr>
          <p:cNvPr id="4" name="skip"/>
          <p:cNvSpPr/>
          <p:nvPr/>
        </p:nvSpPr>
        <p:spPr>
          <a:xfrm>
            <a:off x="4325112" y="411480"/>
            <a:ext cx="2377440" cy="502920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5" name="skip-label"/>
          <p:cNvSpPr txBox="1"/>
          <p:nvPr/>
        </p:nvSpPr>
        <p:spPr>
          <a:xfrm>
            <a:off x="4462272" y="4114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CF9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PODE SALTAR</a:t>
            </a:r>
            <a:endParaRPr lang="en-US" sz="2000" dirty="0"/>
          </a:p>
        </p:txBody>
      </p:sp>
      <p:sp>
        <p:nvSpPr>
          <p:cNvPr id="6" name="block"/>
          <p:cNvSpPr txBox="1"/>
          <p:nvPr/>
        </p:nvSpPr>
        <p:spPr>
          <a:xfrm>
            <a:off x="7894015" y="411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1</a:t>
            </a:r>
            <a:endParaRPr lang="en-US" sz="2400" dirty="0"/>
          </a:p>
        </p:txBody>
      </p:sp>
      <p:sp>
        <p:nvSpPr>
          <p:cNvPr id="7" name="Text 1"/>
          <p:cNvSpPr/>
          <p:nvPr>
            <p:ph idx="102" type="title" hasCustomPrompt="1"/>
          </p:nvPr>
        </p:nvSpPr>
        <p:spPr>
          <a:xfrm>
            <a:off x="640080" y="1051560"/>
            <a:ext cx="109115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Usa o teu Canivete</a:t>
            </a:r>
            <a:endParaRPr lang="en-US" sz="4400" dirty="0"/>
          </a:p>
        </p:txBody>
      </p:sp>
      <p:sp>
        <p:nvSpPr>
          <p:cNvPr id="8" name="step-number-0"/>
          <p:cNvSpPr/>
          <p:nvPr/>
        </p:nvSpPr>
        <p:spPr>
          <a:xfrm>
            <a:off x="640080" y="2331720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step-0"/>
          <p:cNvSpPr txBox="1"/>
          <p:nvPr/>
        </p:nvSpPr>
        <p:spPr>
          <a:xfrm>
            <a:off x="1325880" y="2331720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o Canivete no browser</a:t>
            </a:r>
            <a:endParaRPr lang="en-US" sz="2600" dirty="0"/>
          </a:p>
        </p:txBody>
      </p:sp>
      <p:sp>
        <p:nvSpPr>
          <p:cNvPr id="10" name="step-number-1"/>
          <p:cNvSpPr/>
          <p:nvPr/>
        </p:nvSpPr>
        <p:spPr>
          <a:xfrm>
            <a:off x="640080" y="2990088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step-1"/>
          <p:cNvSpPr txBox="1"/>
          <p:nvPr/>
        </p:nvSpPr>
        <p:spPr>
          <a:xfrm>
            <a:off x="1325880" y="2990088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Procura a tua ferramenta</a:t>
            </a:r>
            <a:endParaRPr lang="en-US" sz="2600" dirty="0"/>
          </a:p>
        </p:txBody>
      </p:sp>
      <p:sp>
        <p:nvSpPr>
          <p:cNvPr id="12" name="step-number-2"/>
          <p:cNvSpPr/>
          <p:nvPr/>
        </p:nvSpPr>
        <p:spPr>
          <a:xfrm>
            <a:off x="640080" y="3648456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step-2"/>
          <p:cNvSpPr txBox="1"/>
          <p:nvPr/>
        </p:nvSpPr>
        <p:spPr>
          <a:xfrm>
            <a:off x="1325880" y="3648456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Usa-a a sério</a:t>
            </a:r>
            <a:endParaRPr lang="en-US" sz="2600" dirty="0"/>
          </a:p>
        </p:txBody>
      </p:sp>
      <p:sp>
        <p:nvSpPr>
          <p:cNvPr id="14" name="code-background"/>
          <p:cNvSpPr/>
          <p:nvPr/>
        </p:nvSpPr>
        <p:spPr>
          <a:xfrm>
            <a:off x="640080" y="4535424"/>
            <a:ext cx="10911535" cy="1169518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15" name="code-label"/>
          <p:cNvSpPr txBox="1"/>
          <p:nvPr/>
        </p:nvSpPr>
        <p:spPr>
          <a:xfrm>
            <a:off x="914400" y="4718304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</a:t>
            </a:r>
            <a:endParaRPr lang="en-US" sz="2000" dirty="0"/>
          </a:p>
        </p:txBody>
      </p:sp>
      <p:sp>
        <p:nvSpPr>
          <p:cNvPr id="16" name="code"/>
          <p:cNvSpPr txBox="1"/>
          <p:nvPr/>
        </p:nvSpPr>
        <p:spPr>
          <a:xfrm>
            <a:off x="914400" y="5175504"/>
            <a:ext cx="10362895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http://localhost:3000</a:t>
            </a:r>
            <a:endParaRPr lang="en-US" sz="2100" dirty="0"/>
          </a:p>
        </p:txBody>
      </p:sp>
      <p:sp>
        <p:nvSpPr>
          <p:cNvPr id="17" name="expected-mark-circle"/>
          <p:cNvSpPr/>
          <p:nvPr/>
        </p:nvSpPr>
        <p:spPr>
          <a:xfrm>
            <a:off x="640080" y="8700516"/>
            <a:ext cx="502920" cy="502920"/>
          </a:xfrm>
          <a:prstGeom prst="ellipse">
            <a:avLst/>
          </a:prstGeom>
          <a:solidFill>
            <a:srgbClr val="1E9E57"/>
          </a:solidFill>
          <a:ln w="12700">
            <a:solidFill>
              <a:srgbClr val="1E9E57"/>
            </a:solidFill>
            <a:prstDash val="solid"/>
          </a:ln>
        </p:spPr>
      </p:sp>
      <p:pic>
        <p:nvPicPr>
          <p:cNvPr id="18" name="expected-mark" descr="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722" y="8811158"/>
            <a:ext cx="281635" cy="281635"/>
          </a:xfrm>
          <a:prstGeom prst="rect">
            <a:avLst/>
          </a:prstGeom>
        </p:spPr>
      </p:pic>
      <p:sp>
        <p:nvSpPr>
          <p:cNvPr id="19" name="expected"/>
          <p:cNvSpPr txBox="1"/>
          <p:nvPr/>
        </p:nvSpPr>
        <p:spPr>
          <a:xfrm>
            <a:off x="1371600" y="8654796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esperado: </a:t>
            </a:r>
            <a:pPr indent="0" marL="0">
              <a:buNone/>
            </a:pPr>
            <a:r>
              <a:rPr lang="en-US" sz="24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tua ferramenta my-01 a funcionar ao lado das outras 30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9889236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640080" y="411480"/>
            <a:ext cx="2980944" cy="502920"/>
          </a:xfrm>
          <a:prstGeom prst="rect">
            <a:avLst/>
          </a:prstGeom>
          <a:solidFill>
            <a:srgbClr val="F25928"/>
          </a:solidFill>
          <a:ln w="12700">
            <a:solidFill>
              <a:srgbClr val="F25928"/>
            </a:solidFill>
            <a:prstDash val="solid"/>
          </a:ln>
        </p:spPr>
      </p:sp>
      <p:sp>
        <p:nvSpPr>
          <p:cNvPr id="3" name="tag-label"/>
          <p:cNvSpPr txBox="1"/>
          <p:nvPr/>
        </p:nvSpPr>
        <p:spPr>
          <a:xfrm>
            <a:off x="822960" y="411480"/>
            <a:ext cx="2706624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Painel · 2 min</a:t>
            </a:r>
            <a:endParaRPr lang="en-US" sz="2400" dirty="0"/>
          </a:p>
        </p:txBody>
      </p:sp>
      <p:sp>
        <p:nvSpPr>
          <p:cNvPr id="4" name="block"/>
          <p:cNvSpPr txBox="1"/>
          <p:nvPr/>
        </p:nvSpPr>
        <p:spPr>
          <a:xfrm>
            <a:off x="7894015" y="411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2</a:t>
            </a:r>
            <a:endParaRPr lang="en-US" sz="2400" dirty="0"/>
          </a:p>
        </p:txBody>
      </p:sp>
      <p:sp>
        <p:nvSpPr>
          <p:cNvPr id="5" name="Text 1"/>
          <p:cNvSpPr/>
          <p:nvPr>
            <p:ph idx="102" type="title" hasCustomPrompt="1"/>
          </p:nvPr>
        </p:nvSpPr>
        <p:spPr>
          <a:xfrm>
            <a:off x="640080" y="1051560"/>
            <a:ext cx="109115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O mesmo ciclo, noutro repositório</a:t>
            </a:r>
            <a:endParaRPr lang="en-US" sz="4400" dirty="0"/>
          </a:p>
        </p:txBody>
      </p:sp>
      <p:sp>
        <p:nvSpPr>
          <p:cNvPr id="6" name="question"/>
          <p:cNvSpPr txBox="1"/>
          <p:nvPr/>
        </p:nvSpPr>
        <p:spPr>
          <a:xfrm>
            <a:off x="640080" y="2331720"/>
            <a:ext cx="889985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O que muda quando a tarefa é a sério?</a:t>
            </a:r>
            <a:endParaRPr lang="en-US" sz="4800" dirty="0"/>
          </a:p>
        </p:txBody>
      </p:sp>
      <p:sp>
        <p:nvSpPr>
          <p:cNvPr id="7" name="panel-arrow-circle"/>
          <p:cNvSpPr/>
          <p:nvPr/>
        </p:nvSpPr>
        <p:spPr>
          <a:xfrm>
            <a:off x="10271455" y="2377440"/>
            <a:ext cx="1280160" cy="1280160"/>
          </a:xfrm>
          <a:prstGeom prst="ellipse">
            <a:avLst/>
          </a:prstGeom>
          <a:solidFill>
            <a:srgbClr val="F25928"/>
          </a:solidFill>
          <a:ln w="12700">
            <a:solidFill>
              <a:srgbClr val="F25928"/>
            </a:solidFill>
            <a:prstDash val="solid"/>
          </a:ln>
        </p:spPr>
      </p:sp>
      <p:pic>
        <p:nvPicPr>
          <p:cNvPr id="8" name="panel-arrow" descr="arrow-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3090" y="2659075"/>
            <a:ext cx="716890" cy="716890"/>
          </a:xfrm>
          <a:prstGeom prst="rect">
            <a:avLst/>
          </a:prstGeom>
        </p:spPr>
      </p:pic>
      <p:sp>
        <p:nvSpPr>
          <p:cNvPr id="9" name="panel-arrow-label"/>
          <p:cNvSpPr txBox="1"/>
          <p:nvPr/>
        </p:nvSpPr>
        <p:spPr>
          <a:xfrm>
            <a:off x="9539935" y="37490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59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Olha para o painel</a:t>
            </a:r>
            <a:endParaRPr lang="en-US" sz="2400" dirty="0"/>
          </a:p>
        </p:txBody>
      </p:sp>
      <p:sp>
        <p:nvSpPr>
          <p:cNvPr id="10" name="support"/>
          <p:cNvSpPr txBox="1"/>
          <p:nvPr/>
        </p:nvSpPr>
        <p:spPr>
          <a:xfrm>
            <a:off x="640080" y="4160520"/>
            <a:ext cx="8899855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 → plan → swarm → gate → report → memória: a mesma orquestração, agora com as skills /task-*.</a:t>
            </a:r>
            <a:endParaRPr lang="en-US" sz="2800" dirty="0"/>
          </a:p>
        </p:txBody>
      </p:sp>
      <p:sp>
        <p:nvSpPr>
          <p:cNvPr id="11" name="code-background"/>
          <p:cNvSpPr/>
          <p:nvPr/>
        </p:nvSpPr>
        <p:spPr>
          <a:xfrm>
            <a:off x="640080" y="5769864"/>
            <a:ext cx="10911535" cy="1561795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12" name="code-label"/>
          <p:cNvSpPr txBox="1"/>
          <p:nvPr/>
        </p:nvSpPr>
        <p:spPr>
          <a:xfrm>
            <a:off x="914400" y="5952744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3 · projeto de treino</a:t>
            </a:r>
            <a:endParaRPr lang="en-US" sz="2000" dirty="0"/>
          </a:p>
        </p:txBody>
      </p:sp>
      <p:sp>
        <p:nvSpPr>
          <p:cNvPr id="13" name="code"/>
          <p:cNvSpPr txBox="1"/>
          <p:nvPr/>
        </p:nvSpPr>
        <p:spPr>
          <a:xfrm>
            <a:off x="914400" y="6409944"/>
            <a:ext cx="10362895" cy="784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~/workshop-claude/practice-project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</a:t>
            </a:r>
            <a:endParaRPr lang="en-US" sz="2100" dirty="0"/>
          </a:p>
        </p:txBody>
      </p:sp>
      <p:sp>
        <p:nvSpPr>
          <p:cNvPr id="14" name="code-background"/>
          <p:cNvSpPr/>
          <p:nvPr/>
        </p:nvSpPr>
        <p:spPr>
          <a:xfrm>
            <a:off x="640080" y="7560259"/>
            <a:ext cx="10911535" cy="1561795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15" name="code-label"/>
          <p:cNvSpPr txBox="1"/>
          <p:nvPr/>
        </p:nvSpPr>
        <p:spPr>
          <a:xfrm>
            <a:off x="914400" y="7743139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Opcional · deixar de enviar ao painel</a:t>
            </a:r>
            <a:endParaRPr lang="en-US" sz="2000" dirty="0"/>
          </a:p>
        </p:txBody>
      </p:sp>
      <p:sp>
        <p:nvSpPr>
          <p:cNvPr id="16" name="code"/>
          <p:cNvSpPr txBox="1"/>
          <p:nvPr/>
        </p:nvSpPr>
        <p:spPr>
          <a:xfrm>
            <a:off x="914400" y="8200339"/>
            <a:ext cx="10362895" cy="784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"$HOME/.workshop-claude/kit/telemetry"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ctl.mjs unregister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9889236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640080" y="411480"/>
            <a:ext cx="3502152" cy="502920"/>
          </a:xfrm>
          <a:prstGeom prst="rect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sp>
        <p:nvSpPr>
          <p:cNvPr id="3" name="tag-label"/>
          <p:cNvSpPr txBox="1"/>
          <p:nvPr/>
        </p:nvSpPr>
        <p:spPr>
          <a:xfrm>
            <a:off x="822960" y="411480"/>
            <a:ext cx="3227832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agora · 4 min</a:t>
            </a:r>
            <a:endParaRPr lang="en-US" sz="2400" dirty="0"/>
          </a:p>
        </p:txBody>
      </p:sp>
      <p:sp>
        <p:nvSpPr>
          <p:cNvPr id="4" name="block"/>
          <p:cNvSpPr txBox="1"/>
          <p:nvPr/>
        </p:nvSpPr>
        <p:spPr>
          <a:xfrm>
            <a:off x="7894015" y="411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2</a:t>
            </a:r>
            <a:endParaRPr lang="en-US" sz="2400" dirty="0"/>
          </a:p>
        </p:txBody>
      </p:sp>
      <p:sp>
        <p:nvSpPr>
          <p:cNvPr id="5" name="Text 1"/>
          <p:cNvSpPr/>
          <p:nvPr>
            <p:ph idx="102" type="title" hasCustomPrompt="1"/>
          </p:nvPr>
        </p:nvSpPr>
        <p:spPr>
          <a:xfrm>
            <a:off x="640080" y="1051560"/>
            <a:ext cx="109115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Lê a issue</a:t>
            </a:r>
            <a:endParaRPr lang="en-US" sz="4400" dirty="0"/>
          </a:p>
        </p:txBody>
      </p:sp>
      <p:sp>
        <p:nvSpPr>
          <p:cNvPr id="6" name="step-number-0"/>
          <p:cNvSpPr/>
          <p:nvPr/>
        </p:nvSpPr>
        <p:spPr>
          <a:xfrm>
            <a:off x="640080" y="2331720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step-0"/>
          <p:cNvSpPr txBox="1"/>
          <p:nvPr/>
        </p:nvSpPr>
        <p:spPr>
          <a:xfrm>
            <a:off x="1325880" y="2331720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projeto de treino, abre o Claude Code</a:t>
            </a:r>
            <a:endParaRPr lang="en-US" sz="2600" dirty="0"/>
          </a:p>
        </p:txBody>
      </p:sp>
      <p:sp>
        <p:nvSpPr>
          <p:cNvPr id="8" name="step-number-1"/>
          <p:cNvSpPr/>
          <p:nvPr/>
        </p:nvSpPr>
        <p:spPr>
          <a:xfrm>
            <a:off x="640080" y="2990088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step-1"/>
          <p:cNvSpPr txBox="1"/>
          <p:nvPr/>
        </p:nvSpPr>
        <p:spPr>
          <a:xfrm>
            <a:off x="1325880" y="2990088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a issue EX-1 (é um JSON, sem login)</a:t>
            </a:r>
            <a:endParaRPr lang="en-US" sz="2600" dirty="0"/>
          </a:p>
        </p:txBody>
      </p:sp>
      <p:sp>
        <p:nvSpPr>
          <p:cNvPr id="10" name="step-number-2"/>
          <p:cNvSpPr/>
          <p:nvPr/>
        </p:nvSpPr>
        <p:spPr>
          <a:xfrm>
            <a:off x="640080" y="3648456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3</a:t>
            </a:r>
            <a:endParaRPr lang="en-US" sz="2400" dirty="0"/>
          </a:p>
        </p:txBody>
      </p:sp>
      <p:sp>
        <p:nvSpPr>
          <p:cNvPr id="11" name="step-2"/>
          <p:cNvSpPr txBox="1"/>
          <p:nvPr/>
        </p:nvSpPr>
        <p:spPr>
          <a:xfrm>
            <a:off x="1325880" y="3648456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Já tens Jira ou GitHub? Usa uma tua</a:t>
            </a:r>
            <a:endParaRPr lang="en-US" sz="2600" dirty="0"/>
          </a:p>
        </p:txBody>
      </p:sp>
      <p:sp>
        <p:nvSpPr>
          <p:cNvPr id="12" name="code-background"/>
          <p:cNvSpPr/>
          <p:nvPr/>
        </p:nvSpPr>
        <p:spPr>
          <a:xfrm>
            <a:off x="640080" y="4535424"/>
            <a:ext cx="5318608" cy="1561795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13" name="code-label"/>
          <p:cNvSpPr txBox="1"/>
          <p:nvPr/>
        </p:nvSpPr>
        <p:spPr>
          <a:xfrm>
            <a:off x="914400" y="4718304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3 · Claude Code</a:t>
            </a:r>
            <a:endParaRPr lang="en-US" sz="2000" dirty="0"/>
          </a:p>
        </p:txBody>
      </p:sp>
      <p:sp>
        <p:nvSpPr>
          <p:cNvPr id="14" name="code"/>
          <p:cNvSpPr txBox="1"/>
          <p:nvPr/>
        </p:nvSpPr>
        <p:spPr>
          <a:xfrm>
            <a:off x="914400" y="5175504"/>
            <a:ext cx="4769968" cy="784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/task-intake issues/EX-1.json</a:t>
            </a:r>
            <a:endParaRPr lang="en-US" sz="2100" dirty="0"/>
          </a:p>
        </p:txBody>
      </p:sp>
      <p:sp>
        <p:nvSpPr>
          <p:cNvPr id="15" name="code-background"/>
          <p:cNvSpPr/>
          <p:nvPr/>
        </p:nvSpPr>
        <p:spPr>
          <a:xfrm>
            <a:off x="6233008" y="4535424"/>
            <a:ext cx="5318608" cy="1561795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16" name="code-label"/>
          <p:cNvSpPr txBox="1"/>
          <p:nvPr/>
        </p:nvSpPr>
        <p:spPr>
          <a:xfrm>
            <a:off x="6507328" y="4718304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Opcional · o teu repositório</a:t>
            </a:r>
            <a:endParaRPr lang="en-US" sz="2000" dirty="0"/>
          </a:p>
        </p:txBody>
      </p:sp>
      <p:sp>
        <p:nvSpPr>
          <p:cNvPr id="17" name="code"/>
          <p:cNvSpPr txBox="1"/>
          <p:nvPr/>
        </p:nvSpPr>
        <p:spPr>
          <a:xfrm>
            <a:off x="6507328" y="5175504"/>
            <a:ext cx="4769968" cy="784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/task-intake ABC-123</a:t>
            </a:r>
            <a:endParaRPr lang="en-US" sz="2600" dirty="0"/>
          </a:p>
        </p:txBody>
      </p:sp>
      <p:sp>
        <p:nvSpPr>
          <p:cNvPr id="18" name="expected-mark-circle"/>
          <p:cNvSpPr/>
          <p:nvPr/>
        </p:nvSpPr>
        <p:spPr>
          <a:xfrm>
            <a:off x="640080" y="8700516"/>
            <a:ext cx="502920" cy="502920"/>
          </a:xfrm>
          <a:prstGeom prst="ellipse">
            <a:avLst/>
          </a:prstGeom>
          <a:solidFill>
            <a:srgbClr val="1E9E57"/>
          </a:solidFill>
          <a:ln w="12700">
            <a:solidFill>
              <a:srgbClr val="1E9E57"/>
            </a:solidFill>
            <a:prstDash val="solid"/>
          </a:ln>
        </p:spPr>
      </p:sp>
      <p:pic>
        <p:nvPicPr>
          <p:cNvPr id="19" name="expected-mark" descr="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722" y="8811158"/>
            <a:ext cx="281635" cy="281635"/>
          </a:xfrm>
          <a:prstGeom prst="rect">
            <a:avLst/>
          </a:prstGeom>
        </p:spPr>
      </p:pic>
      <p:sp>
        <p:nvSpPr>
          <p:cNvPr id="20" name="expected"/>
          <p:cNvSpPr txBox="1"/>
          <p:nvPr/>
        </p:nvSpPr>
        <p:spPr>
          <a:xfrm>
            <a:off x="1371600" y="8654796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esperado: </a:t>
            </a:r>
            <a:pPr indent="0" marL="0">
              <a:buNone/>
            </a:pPr>
            <a:r>
              <a:rPr lang="en-US" sz="24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.workshop/task.md com a issue, os critérios e o que a memória já sabe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9889236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640080" y="411480"/>
            <a:ext cx="2980944" cy="502920"/>
          </a:xfrm>
          <a:prstGeom prst="rect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sp>
        <p:nvSpPr>
          <p:cNvPr id="3" name="tag-label"/>
          <p:cNvSpPr txBox="1"/>
          <p:nvPr/>
        </p:nvSpPr>
        <p:spPr>
          <a:xfrm>
            <a:off x="822960" y="411480"/>
            <a:ext cx="2706624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· 6 min</a:t>
            </a:r>
            <a:endParaRPr lang="en-US" sz="2400" dirty="0"/>
          </a:p>
        </p:txBody>
      </p:sp>
      <p:sp>
        <p:nvSpPr>
          <p:cNvPr id="4" name="block"/>
          <p:cNvSpPr txBox="1"/>
          <p:nvPr/>
        </p:nvSpPr>
        <p:spPr>
          <a:xfrm>
            <a:off x="7894015" y="411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2</a:t>
            </a:r>
            <a:endParaRPr lang="en-US" sz="2400" dirty="0"/>
          </a:p>
        </p:txBody>
      </p:sp>
      <p:sp>
        <p:nvSpPr>
          <p:cNvPr id="5" name="Text 1"/>
          <p:cNvSpPr/>
          <p:nvPr>
            <p:ph idx="102" type="title" hasCustomPrompt="1"/>
          </p:nvPr>
        </p:nvSpPr>
        <p:spPr>
          <a:xfrm>
            <a:off x="640080" y="1051560"/>
            <a:ext cx="109115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Quantos agentes?</a:t>
            </a:r>
            <a:endParaRPr lang="en-US" sz="4400" dirty="0"/>
          </a:p>
        </p:txBody>
      </p:sp>
      <p:sp>
        <p:nvSpPr>
          <p:cNvPr id="6" name="question"/>
          <p:cNvSpPr txBox="1"/>
          <p:nvPr/>
        </p:nvSpPr>
        <p:spPr>
          <a:xfrm>
            <a:off x="640080" y="233172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/task-plan propõe um número e diz porquê. Decide:</a:t>
            </a:r>
            <a:endParaRPr lang="en-US" sz="2800" dirty="0"/>
          </a:p>
        </p:txBody>
      </p:sp>
      <p:sp>
        <p:nvSpPr>
          <p:cNvPr id="7" name="option-0"/>
          <p:cNvSpPr/>
          <p:nvPr/>
        </p:nvSpPr>
        <p:spPr>
          <a:xfrm>
            <a:off x="640080" y="3154680"/>
            <a:ext cx="3423818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option-number-0"/>
          <p:cNvSpPr/>
          <p:nvPr/>
        </p:nvSpPr>
        <p:spPr>
          <a:xfrm>
            <a:off x="914400" y="3429000"/>
            <a:ext cx="548640" cy="548640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option-title-0"/>
          <p:cNvSpPr txBox="1"/>
          <p:nvPr/>
        </p:nvSpPr>
        <p:spPr>
          <a:xfrm>
            <a:off x="914400" y="4160520"/>
            <a:ext cx="28751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Aprovar</a:t>
            </a:r>
            <a:endParaRPr lang="en-US" sz="3000" dirty="0"/>
          </a:p>
        </p:txBody>
      </p:sp>
      <p:sp>
        <p:nvSpPr>
          <p:cNvPr id="10" name="option-effect-0"/>
          <p:cNvSpPr txBox="1"/>
          <p:nvPr/>
        </p:nvSpPr>
        <p:spPr>
          <a:xfrm>
            <a:off x="914400" y="5257800"/>
            <a:ext cx="28751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Segue o plano como está</a:t>
            </a:r>
            <a:endParaRPr lang="en-US" sz="2400" dirty="0"/>
          </a:p>
        </p:txBody>
      </p:sp>
      <p:sp>
        <p:nvSpPr>
          <p:cNvPr id="11" name="code-background"/>
          <p:cNvSpPr/>
          <p:nvPr/>
        </p:nvSpPr>
        <p:spPr>
          <a:xfrm>
            <a:off x="822960" y="6812280"/>
            <a:ext cx="3058058" cy="731520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12" name="code"/>
          <p:cNvSpPr txBox="1"/>
          <p:nvPr/>
        </p:nvSpPr>
        <p:spPr>
          <a:xfrm>
            <a:off x="1097280" y="6995160"/>
            <a:ext cx="25094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</a:t>
            </a:r>
            <a:endParaRPr lang="en-US" sz="2300" dirty="0"/>
          </a:p>
        </p:txBody>
      </p:sp>
      <p:sp>
        <p:nvSpPr>
          <p:cNvPr id="13" name="option-1"/>
          <p:cNvSpPr/>
          <p:nvPr/>
        </p:nvSpPr>
        <p:spPr>
          <a:xfrm>
            <a:off x="4383938" y="3154680"/>
            <a:ext cx="3423818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option-number-1"/>
          <p:cNvSpPr/>
          <p:nvPr/>
        </p:nvSpPr>
        <p:spPr>
          <a:xfrm>
            <a:off x="4658258" y="3429000"/>
            <a:ext cx="548640" cy="548640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option-title-1"/>
          <p:cNvSpPr txBox="1"/>
          <p:nvPr/>
        </p:nvSpPr>
        <p:spPr>
          <a:xfrm>
            <a:off x="4658258" y="4160520"/>
            <a:ext cx="28751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Menos agentes</a:t>
            </a:r>
            <a:endParaRPr lang="en-US" sz="3000" dirty="0"/>
          </a:p>
        </p:txBody>
      </p:sp>
      <p:sp>
        <p:nvSpPr>
          <p:cNvPr id="16" name="option-effect-1"/>
          <p:cNvSpPr txBox="1"/>
          <p:nvPr/>
        </p:nvSpPr>
        <p:spPr>
          <a:xfrm>
            <a:off x="4658258" y="5257800"/>
            <a:ext cx="28751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barato, mais lento; menos conflitos</a:t>
            </a:r>
            <a:endParaRPr lang="en-US" sz="2400" dirty="0"/>
          </a:p>
        </p:txBody>
      </p:sp>
      <p:sp>
        <p:nvSpPr>
          <p:cNvPr id="17" name="code-background"/>
          <p:cNvSpPr/>
          <p:nvPr/>
        </p:nvSpPr>
        <p:spPr>
          <a:xfrm>
            <a:off x="4566818" y="6812280"/>
            <a:ext cx="3058058" cy="731520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18" name="code"/>
          <p:cNvSpPr txBox="1"/>
          <p:nvPr/>
        </p:nvSpPr>
        <p:spPr>
          <a:xfrm>
            <a:off x="4841138" y="6995160"/>
            <a:ext cx="25094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menos agentes</a:t>
            </a:r>
            <a:endParaRPr lang="en-US" sz="2300" dirty="0"/>
          </a:p>
        </p:txBody>
      </p:sp>
      <p:sp>
        <p:nvSpPr>
          <p:cNvPr id="19" name="option-2"/>
          <p:cNvSpPr/>
          <p:nvPr/>
        </p:nvSpPr>
        <p:spPr>
          <a:xfrm>
            <a:off x="8127797" y="3154680"/>
            <a:ext cx="3423818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option-number-2"/>
          <p:cNvSpPr/>
          <p:nvPr/>
        </p:nvSpPr>
        <p:spPr>
          <a:xfrm>
            <a:off x="8402117" y="3429000"/>
            <a:ext cx="548640" cy="548640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option-title-2"/>
          <p:cNvSpPr txBox="1"/>
          <p:nvPr/>
        </p:nvSpPr>
        <p:spPr>
          <a:xfrm>
            <a:off x="8402117" y="4160520"/>
            <a:ext cx="28751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Mais agentes</a:t>
            </a:r>
            <a:endParaRPr lang="en-US" sz="3000" dirty="0"/>
          </a:p>
        </p:txBody>
      </p:sp>
      <p:sp>
        <p:nvSpPr>
          <p:cNvPr id="22" name="option-effect-2"/>
          <p:cNvSpPr txBox="1"/>
          <p:nvPr/>
        </p:nvSpPr>
        <p:spPr>
          <a:xfrm>
            <a:off x="8402117" y="5257800"/>
            <a:ext cx="28751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rápido, só se as tarefas não mexem nos mesmos ficheiros</a:t>
            </a:r>
            <a:endParaRPr lang="en-US" sz="2400" dirty="0"/>
          </a:p>
        </p:txBody>
      </p:sp>
      <p:sp>
        <p:nvSpPr>
          <p:cNvPr id="23" name="code-background"/>
          <p:cNvSpPr/>
          <p:nvPr/>
        </p:nvSpPr>
        <p:spPr>
          <a:xfrm>
            <a:off x="8310677" y="6812280"/>
            <a:ext cx="3058058" cy="731520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24" name="code"/>
          <p:cNvSpPr txBox="1"/>
          <p:nvPr/>
        </p:nvSpPr>
        <p:spPr>
          <a:xfrm>
            <a:off x="8584997" y="6995160"/>
            <a:ext cx="25094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mais agentes</a:t>
            </a:r>
            <a:endParaRPr lang="en-US" sz="2300" dirty="0"/>
          </a:p>
        </p:txBody>
      </p:sp>
      <p:sp>
        <p:nvSpPr>
          <p:cNvPr id="25" name="footer"/>
          <p:cNvSpPr txBox="1"/>
          <p:nvPr/>
        </p:nvSpPr>
        <p:spPr>
          <a:xfrm>
            <a:off x="640080" y="8046720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Primeiro corre /task-plan e lê o porquê do número.</a:t>
            </a:r>
            <a:endParaRPr lang="en-US" sz="2400" dirty="0"/>
          </a:p>
        </p:txBody>
      </p:sp>
      <p:sp>
        <p:nvSpPr>
          <p:cNvPr id="26" name="panel-cue"/>
          <p:cNvSpPr/>
          <p:nvPr/>
        </p:nvSpPr>
        <p:spPr>
          <a:xfrm>
            <a:off x="640080" y="8796528"/>
            <a:ext cx="10911535" cy="640080"/>
          </a:xfrm>
          <a:prstGeom prst="rect">
            <a:avLst/>
          </a:prstGeom>
          <a:solidFill>
            <a:srgbClr val="F25928"/>
          </a:solidFill>
          <a:ln w="12700">
            <a:solidFill>
              <a:srgbClr val="F25928"/>
            </a:solidFill>
            <a:prstDash val="solid"/>
          </a:ln>
        </p:spPr>
      </p:sp>
      <p:sp>
        <p:nvSpPr>
          <p:cNvPr id="27" name="panel-cue-arrow-circle"/>
          <p:cNvSpPr/>
          <p:nvPr/>
        </p:nvSpPr>
        <p:spPr>
          <a:xfrm>
            <a:off x="10984687" y="8887968"/>
            <a:ext cx="457200" cy="457200"/>
          </a:xfrm>
          <a:prstGeom prst="ellipse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pic>
        <p:nvPicPr>
          <p:cNvPr id="28" name="panel-cue-arrow" descr="arrow-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5271" y="8988552"/>
            <a:ext cx="256032" cy="256032"/>
          </a:xfrm>
          <a:prstGeom prst="rect">
            <a:avLst/>
          </a:prstGeom>
        </p:spPr>
      </p:pic>
      <p:sp>
        <p:nvSpPr>
          <p:cNvPr id="29" name="panel-cue-text"/>
          <p:cNvSpPr txBox="1"/>
          <p:nvPr/>
        </p:nvSpPr>
        <p:spPr>
          <a:xfrm>
            <a:off x="868680" y="8796528"/>
            <a:ext cx="9905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Olha para o painel: quantos agentes escolheu a sala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9889236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640080" y="411480"/>
            <a:ext cx="3675888" cy="502920"/>
          </a:xfrm>
          <a:prstGeom prst="rect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sp>
        <p:nvSpPr>
          <p:cNvPr id="3" name="tag-label"/>
          <p:cNvSpPr txBox="1"/>
          <p:nvPr/>
        </p:nvSpPr>
        <p:spPr>
          <a:xfrm>
            <a:off x="822960" y="411480"/>
            <a:ext cx="3401568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agora · 12 min</a:t>
            </a:r>
            <a:endParaRPr lang="en-US" sz="2400" dirty="0"/>
          </a:p>
        </p:txBody>
      </p:sp>
      <p:sp>
        <p:nvSpPr>
          <p:cNvPr id="4" name="block"/>
          <p:cNvSpPr txBox="1"/>
          <p:nvPr/>
        </p:nvSpPr>
        <p:spPr>
          <a:xfrm>
            <a:off x="7894015" y="411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2</a:t>
            </a:r>
            <a:endParaRPr lang="en-US" sz="2400" dirty="0"/>
          </a:p>
        </p:txBody>
      </p:sp>
      <p:sp>
        <p:nvSpPr>
          <p:cNvPr id="5" name="Text 1"/>
          <p:cNvSpPr/>
          <p:nvPr>
            <p:ph idx="102" type="title" hasCustomPrompt="1"/>
          </p:nvPr>
        </p:nvSpPr>
        <p:spPr>
          <a:xfrm>
            <a:off x="640080" y="1051560"/>
            <a:ext cx="109115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Põe o swarm a trabalhar</a:t>
            </a:r>
            <a:endParaRPr lang="en-US" sz="4400" dirty="0"/>
          </a:p>
        </p:txBody>
      </p:sp>
      <p:sp>
        <p:nvSpPr>
          <p:cNvPr id="6" name="step-number-0"/>
          <p:cNvSpPr/>
          <p:nvPr/>
        </p:nvSpPr>
        <p:spPr>
          <a:xfrm>
            <a:off x="640080" y="2331720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step-0"/>
          <p:cNvSpPr txBox="1"/>
          <p:nvPr/>
        </p:nvSpPr>
        <p:spPr>
          <a:xfrm>
            <a:off x="1325880" y="2331720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Lança o swarm</a:t>
            </a:r>
            <a:endParaRPr lang="en-US" sz="2600" dirty="0"/>
          </a:p>
        </p:txBody>
      </p:sp>
      <p:sp>
        <p:nvSpPr>
          <p:cNvPr id="8" name="step-number-1"/>
          <p:cNvSpPr/>
          <p:nvPr/>
        </p:nvSpPr>
        <p:spPr>
          <a:xfrm>
            <a:off x="640080" y="2990088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step-1"/>
          <p:cNvSpPr txBox="1"/>
          <p:nvPr/>
        </p:nvSpPr>
        <p:spPr>
          <a:xfrm>
            <a:off x="1325880" y="2990088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Noutro terminal, abre o dashboard</a:t>
            </a:r>
            <a:endParaRPr lang="en-US" sz="2600" dirty="0"/>
          </a:p>
        </p:txBody>
      </p:sp>
      <p:sp>
        <p:nvSpPr>
          <p:cNvPr id="10" name="step-number-2"/>
          <p:cNvSpPr/>
          <p:nvPr/>
        </p:nvSpPr>
        <p:spPr>
          <a:xfrm>
            <a:off x="640080" y="3648456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3</a:t>
            </a:r>
            <a:endParaRPr lang="en-US" sz="2400" dirty="0"/>
          </a:p>
        </p:txBody>
      </p:sp>
      <p:sp>
        <p:nvSpPr>
          <p:cNvPr id="11" name="step-2"/>
          <p:cNvSpPr txBox="1"/>
          <p:nvPr/>
        </p:nvSpPr>
        <p:spPr>
          <a:xfrm>
            <a:off x="1325880" y="3648456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 esperas: as missões bónus que faltam</a:t>
            </a:r>
            <a:endParaRPr lang="en-US" sz="2600" dirty="0"/>
          </a:p>
        </p:txBody>
      </p:sp>
      <p:sp>
        <p:nvSpPr>
          <p:cNvPr id="12" name="code-background"/>
          <p:cNvSpPr/>
          <p:nvPr/>
        </p:nvSpPr>
        <p:spPr>
          <a:xfrm>
            <a:off x="640080" y="4535424"/>
            <a:ext cx="10911535" cy="1169518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13" name="code-label"/>
          <p:cNvSpPr txBox="1"/>
          <p:nvPr/>
        </p:nvSpPr>
        <p:spPr>
          <a:xfrm>
            <a:off x="914400" y="4718304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3 · Claude Code</a:t>
            </a:r>
            <a:endParaRPr lang="en-US" sz="2000" dirty="0"/>
          </a:p>
        </p:txBody>
      </p:sp>
      <p:sp>
        <p:nvSpPr>
          <p:cNvPr id="14" name="code"/>
          <p:cNvSpPr txBox="1"/>
          <p:nvPr/>
        </p:nvSpPr>
        <p:spPr>
          <a:xfrm>
            <a:off x="914400" y="5175504"/>
            <a:ext cx="10362895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/task-swarm</a:t>
            </a:r>
            <a:endParaRPr lang="en-US" sz="2100" dirty="0"/>
          </a:p>
        </p:txBody>
      </p:sp>
      <p:sp>
        <p:nvSpPr>
          <p:cNvPr id="15" name="code-background"/>
          <p:cNvSpPr/>
          <p:nvPr/>
        </p:nvSpPr>
        <p:spPr>
          <a:xfrm>
            <a:off x="640080" y="5887822"/>
            <a:ext cx="10911535" cy="1169518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16" name="code-label"/>
          <p:cNvSpPr txBox="1"/>
          <p:nvPr/>
        </p:nvSpPr>
        <p:spPr>
          <a:xfrm>
            <a:off x="914400" y="6070702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Outro terminal · na pasta do projeto</a:t>
            </a:r>
            <a:endParaRPr lang="en-US" sz="2000" dirty="0"/>
          </a:p>
        </p:txBody>
      </p:sp>
      <p:sp>
        <p:nvSpPr>
          <p:cNvPr id="17" name="code"/>
          <p:cNvSpPr txBox="1"/>
          <p:nvPr/>
        </p:nvSpPr>
        <p:spPr>
          <a:xfrm>
            <a:off x="914400" y="6527902"/>
            <a:ext cx="10362895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"$HOME/.workshop-claude/kit/orchestrator/dashboard.mjs"</a:t>
            </a:r>
            <a:endParaRPr lang="en-US" sz="2100" dirty="0"/>
          </a:p>
        </p:txBody>
      </p:sp>
      <p:sp>
        <p:nvSpPr>
          <p:cNvPr id="18" name="panel-cue"/>
          <p:cNvSpPr/>
          <p:nvPr/>
        </p:nvSpPr>
        <p:spPr>
          <a:xfrm>
            <a:off x="640080" y="7786116"/>
            <a:ext cx="10911535" cy="640080"/>
          </a:xfrm>
          <a:prstGeom prst="rect">
            <a:avLst/>
          </a:prstGeom>
          <a:solidFill>
            <a:srgbClr val="F25928"/>
          </a:solidFill>
          <a:ln w="12700">
            <a:solidFill>
              <a:srgbClr val="F25928"/>
            </a:solidFill>
            <a:prstDash val="solid"/>
          </a:ln>
        </p:spPr>
      </p:sp>
      <p:sp>
        <p:nvSpPr>
          <p:cNvPr id="19" name="panel-cue-arrow-circle"/>
          <p:cNvSpPr/>
          <p:nvPr/>
        </p:nvSpPr>
        <p:spPr>
          <a:xfrm>
            <a:off x="10984687" y="7877556"/>
            <a:ext cx="457200" cy="457200"/>
          </a:xfrm>
          <a:prstGeom prst="ellipse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pic>
        <p:nvPicPr>
          <p:cNvPr id="20" name="panel-cue-arrow" descr="arrow-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5271" y="7978140"/>
            <a:ext cx="256032" cy="256032"/>
          </a:xfrm>
          <a:prstGeom prst="rect">
            <a:avLst/>
          </a:prstGeom>
        </p:spPr>
      </p:pic>
      <p:sp>
        <p:nvSpPr>
          <p:cNvPr id="21" name="panel-cue-text"/>
          <p:cNvSpPr txBox="1"/>
          <p:nvPr/>
        </p:nvSpPr>
        <p:spPr>
          <a:xfrm>
            <a:off x="868680" y="7786116"/>
            <a:ext cx="9905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Olha para o painel: o funil avança</a:t>
            </a:r>
            <a:endParaRPr lang="en-US" sz="2400" dirty="0"/>
          </a:p>
        </p:txBody>
      </p:sp>
      <p:sp>
        <p:nvSpPr>
          <p:cNvPr id="22" name="expected-mark-circle"/>
          <p:cNvSpPr/>
          <p:nvPr/>
        </p:nvSpPr>
        <p:spPr>
          <a:xfrm>
            <a:off x="640080" y="8700516"/>
            <a:ext cx="502920" cy="502920"/>
          </a:xfrm>
          <a:prstGeom prst="ellipse">
            <a:avLst/>
          </a:prstGeom>
          <a:solidFill>
            <a:srgbClr val="1E9E57"/>
          </a:solidFill>
          <a:ln w="12700">
            <a:solidFill>
              <a:srgbClr val="1E9E57"/>
            </a:solidFill>
            <a:prstDash val="solid"/>
          </a:ln>
        </p:spPr>
      </p:sp>
      <p:pic>
        <p:nvPicPr>
          <p:cNvPr id="23" name="expected-mark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722" y="8811158"/>
            <a:ext cx="281635" cy="281635"/>
          </a:xfrm>
          <a:prstGeom prst="rect">
            <a:avLst/>
          </a:prstGeom>
        </p:spPr>
      </p:pic>
      <p:sp>
        <p:nvSpPr>
          <p:cNvPr id="24" name="expected"/>
          <p:cNvSpPr txBox="1"/>
          <p:nvPr/>
        </p:nvSpPr>
        <p:spPr>
          <a:xfrm>
            <a:off x="1371600" y="8654796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esperado: </a:t>
            </a:r>
            <a:pPr indent="0" marL="0">
              <a:buNone/>
            </a:pPr>
            <a:r>
              <a:rPr lang="en-US" sz="24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subtarefas a verde; o estado fica em .workshop/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9889236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640080" y="411480"/>
            <a:ext cx="3502152" cy="502920"/>
          </a:xfrm>
          <a:prstGeom prst="rect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sp>
        <p:nvSpPr>
          <p:cNvPr id="3" name="tag-label"/>
          <p:cNvSpPr txBox="1"/>
          <p:nvPr/>
        </p:nvSpPr>
        <p:spPr>
          <a:xfrm>
            <a:off x="822960" y="411480"/>
            <a:ext cx="3227832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agora · 5 min</a:t>
            </a:r>
            <a:endParaRPr lang="en-US" sz="2400" dirty="0"/>
          </a:p>
        </p:txBody>
      </p:sp>
      <p:sp>
        <p:nvSpPr>
          <p:cNvPr id="4" name="block"/>
          <p:cNvSpPr txBox="1"/>
          <p:nvPr/>
        </p:nvSpPr>
        <p:spPr>
          <a:xfrm>
            <a:off x="7894015" y="411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2</a:t>
            </a:r>
            <a:endParaRPr lang="en-US" sz="2400" dirty="0"/>
          </a:p>
        </p:txBody>
      </p:sp>
      <p:sp>
        <p:nvSpPr>
          <p:cNvPr id="5" name="Text 1"/>
          <p:cNvSpPr/>
          <p:nvPr>
            <p:ph idx="102" type="title" hasCustomPrompt="1"/>
          </p:nvPr>
        </p:nvSpPr>
        <p:spPr>
          <a:xfrm>
            <a:off x="640080" y="1051560"/>
            <a:ext cx="109115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O gate</a:t>
            </a:r>
            <a:endParaRPr lang="en-US" sz="4400" dirty="0"/>
          </a:p>
        </p:txBody>
      </p:sp>
      <p:sp>
        <p:nvSpPr>
          <p:cNvPr id="6" name="step-number-0"/>
          <p:cNvSpPr/>
          <p:nvPr/>
        </p:nvSpPr>
        <p:spPr>
          <a:xfrm>
            <a:off x="640080" y="2331720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step-0"/>
          <p:cNvSpPr txBox="1"/>
          <p:nvPr/>
        </p:nvSpPr>
        <p:spPr>
          <a:xfrm>
            <a:off x="1325880" y="2331720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 o gate</a:t>
            </a:r>
            <a:endParaRPr lang="en-US" sz="2600" dirty="0"/>
          </a:p>
        </p:txBody>
      </p:sp>
      <p:sp>
        <p:nvSpPr>
          <p:cNvPr id="8" name="step-number-1"/>
          <p:cNvSpPr/>
          <p:nvPr/>
        </p:nvSpPr>
        <p:spPr>
          <a:xfrm>
            <a:off x="640080" y="2990088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step-1"/>
          <p:cNvSpPr txBox="1"/>
          <p:nvPr/>
        </p:nvSpPr>
        <p:spPr>
          <a:xfrm>
            <a:off x="1325880" y="2990088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o veredito e as reservas</a:t>
            </a:r>
            <a:endParaRPr lang="en-US" sz="2600" dirty="0"/>
          </a:p>
        </p:txBody>
      </p:sp>
      <p:sp>
        <p:nvSpPr>
          <p:cNvPr id="10" name="step-number-2"/>
          <p:cNvSpPr/>
          <p:nvPr/>
        </p:nvSpPr>
        <p:spPr>
          <a:xfrm>
            <a:off x="640080" y="3648456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3</a:t>
            </a:r>
            <a:endParaRPr lang="en-US" sz="2400" dirty="0"/>
          </a:p>
        </p:txBody>
      </p:sp>
      <p:sp>
        <p:nvSpPr>
          <p:cNvPr id="11" name="step-2"/>
          <p:cNvSpPr txBox="1"/>
          <p:nvPr/>
        </p:nvSpPr>
        <p:spPr>
          <a:xfrm>
            <a:off x="1325880" y="3648456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Corrige o que ele pedir, se pedir</a:t>
            </a:r>
            <a:endParaRPr lang="en-US" sz="2600" dirty="0"/>
          </a:p>
        </p:txBody>
      </p:sp>
      <p:sp>
        <p:nvSpPr>
          <p:cNvPr id="12" name="code-background"/>
          <p:cNvSpPr/>
          <p:nvPr/>
        </p:nvSpPr>
        <p:spPr>
          <a:xfrm>
            <a:off x="640080" y="4535424"/>
            <a:ext cx="10911535" cy="1169518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13" name="code-label"/>
          <p:cNvSpPr txBox="1"/>
          <p:nvPr/>
        </p:nvSpPr>
        <p:spPr>
          <a:xfrm>
            <a:off x="914400" y="4718304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3 · Claude Code</a:t>
            </a:r>
            <a:endParaRPr lang="en-US" sz="2000" dirty="0"/>
          </a:p>
        </p:txBody>
      </p:sp>
      <p:sp>
        <p:nvSpPr>
          <p:cNvPr id="14" name="code"/>
          <p:cNvSpPr txBox="1"/>
          <p:nvPr/>
        </p:nvSpPr>
        <p:spPr>
          <a:xfrm>
            <a:off x="914400" y="5175504"/>
            <a:ext cx="10362895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/task-gate</a:t>
            </a:r>
            <a:endParaRPr lang="en-US" sz="2100" dirty="0"/>
          </a:p>
        </p:txBody>
      </p:sp>
      <p:sp>
        <p:nvSpPr>
          <p:cNvPr id="15" name="expected-mark-circle"/>
          <p:cNvSpPr/>
          <p:nvPr/>
        </p:nvSpPr>
        <p:spPr>
          <a:xfrm>
            <a:off x="640080" y="8700516"/>
            <a:ext cx="502920" cy="502920"/>
          </a:xfrm>
          <a:prstGeom prst="ellipse">
            <a:avLst/>
          </a:prstGeom>
          <a:solidFill>
            <a:srgbClr val="1E9E57"/>
          </a:solidFill>
          <a:ln w="12700">
            <a:solidFill>
              <a:srgbClr val="1E9E57"/>
            </a:solidFill>
            <a:prstDash val="solid"/>
          </a:ln>
        </p:spPr>
      </p:sp>
      <p:pic>
        <p:nvPicPr>
          <p:cNvPr id="16" name="expected-mark" descr="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722" y="8811158"/>
            <a:ext cx="281635" cy="281635"/>
          </a:xfrm>
          <a:prstGeom prst="rect">
            <a:avLst/>
          </a:prstGeom>
        </p:spPr>
      </p:pic>
      <p:sp>
        <p:nvSpPr>
          <p:cNvPr id="17" name="expected"/>
          <p:cNvSpPr txBox="1"/>
          <p:nvPr/>
        </p:nvSpPr>
        <p:spPr>
          <a:xfrm>
            <a:off x="1371600" y="8654796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esperado: </a:t>
            </a:r>
            <a:pPr indent="0" marL="0">
              <a:buNone/>
            </a:pPr>
            <a:r>
              <a:rPr lang="en-US" sz="24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GATE: APPROVED, com os testes, os segredos e o código perigoso verificados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9889236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640080" y="411480"/>
            <a:ext cx="3502152" cy="502920"/>
          </a:xfrm>
          <a:prstGeom prst="rect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sp>
        <p:nvSpPr>
          <p:cNvPr id="3" name="tag-label"/>
          <p:cNvSpPr txBox="1"/>
          <p:nvPr/>
        </p:nvSpPr>
        <p:spPr>
          <a:xfrm>
            <a:off x="822960" y="411480"/>
            <a:ext cx="3227832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agora · 4 min</a:t>
            </a:r>
            <a:endParaRPr lang="en-US" sz="2400" dirty="0"/>
          </a:p>
        </p:txBody>
      </p:sp>
      <p:sp>
        <p:nvSpPr>
          <p:cNvPr id="4" name="block"/>
          <p:cNvSpPr txBox="1"/>
          <p:nvPr/>
        </p:nvSpPr>
        <p:spPr>
          <a:xfrm>
            <a:off x="7894015" y="411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2</a:t>
            </a:r>
            <a:endParaRPr lang="en-US" sz="2400" dirty="0"/>
          </a:p>
        </p:txBody>
      </p:sp>
      <p:sp>
        <p:nvSpPr>
          <p:cNvPr id="5" name="Text 1"/>
          <p:cNvSpPr/>
          <p:nvPr>
            <p:ph idx="102" type="title" hasCustomPrompt="1"/>
          </p:nvPr>
        </p:nvSpPr>
        <p:spPr>
          <a:xfrm>
            <a:off x="640080" y="1051560"/>
            <a:ext cx="109115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O relatório e a memória</a:t>
            </a:r>
            <a:endParaRPr lang="en-US" sz="4400" dirty="0"/>
          </a:p>
        </p:txBody>
      </p:sp>
      <p:sp>
        <p:nvSpPr>
          <p:cNvPr id="6" name="step-number-0"/>
          <p:cNvSpPr/>
          <p:nvPr/>
        </p:nvSpPr>
        <p:spPr>
          <a:xfrm>
            <a:off x="640080" y="2331720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step-0"/>
          <p:cNvSpPr txBox="1"/>
          <p:nvPr/>
        </p:nvSpPr>
        <p:spPr>
          <a:xfrm>
            <a:off x="1325880" y="2331720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 o relatório</a:t>
            </a:r>
            <a:endParaRPr lang="en-US" sz="2600" dirty="0"/>
          </a:p>
        </p:txBody>
      </p:sp>
      <p:sp>
        <p:nvSpPr>
          <p:cNvPr id="8" name="step-number-1"/>
          <p:cNvSpPr/>
          <p:nvPr/>
        </p:nvSpPr>
        <p:spPr>
          <a:xfrm>
            <a:off x="640080" y="2990088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step-1"/>
          <p:cNvSpPr txBox="1"/>
          <p:nvPr/>
        </p:nvSpPr>
        <p:spPr>
          <a:xfrm>
            <a:off x="1325880" y="2990088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 a lição na memória</a:t>
            </a:r>
            <a:endParaRPr lang="en-US" sz="2600" dirty="0"/>
          </a:p>
        </p:txBody>
      </p:sp>
      <p:sp>
        <p:nvSpPr>
          <p:cNvPr id="10" name="step-number-2"/>
          <p:cNvSpPr/>
          <p:nvPr/>
        </p:nvSpPr>
        <p:spPr>
          <a:xfrm>
            <a:off x="640080" y="3648456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3</a:t>
            </a:r>
            <a:endParaRPr lang="en-US" sz="2400" dirty="0"/>
          </a:p>
        </p:txBody>
      </p:sp>
      <p:sp>
        <p:nvSpPr>
          <p:cNvPr id="11" name="step-2"/>
          <p:cNvSpPr txBox="1"/>
          <p:nvPr/>
        </p:nvSpPr>
        <p:spPr>
          <a:xfrm>
            <a:off x="1325880" y="3648456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teu repositório: confirma antes de cada escrita</a:t>
            </a:r>
            <a:endParaRPr lang="en-US" sz="2600" dirty="0"/>
          </a:p>
        </p:txBody>
      </p:sp>
      <p:sp>
        <p:nvSpPr>
          <p:cNvPr id="12" name="code-background"/>
          <p:cNvSpPr/>
          <p:nvPr/>
        </p:nvSpPr>
        <p:spPr>
          <a:xfrm>
            <a:off x="640080" y="4535424"/>
            <a:ext cx="10911535" cy="1561795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13" name="code-label"/>
          <p:cNvSpPr txBox="1"/>
          <p:nvPr/>
        </p:nvSpPr>
        <p:spPr>
          <a:xfrm>
            <a:off x="914400" y="4718304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3 · Claude Code</a:t>
            </a:r>
            <a:endParaRPr lang="en-US" sz="2000" dirty="0"/>
          </a:p>
        </p:txBody>
      </p:sp>
      <p:sp>
        <p:nvSpPr>
          <p:cNvPr id="14" name="code"/>
          <p:cNvSpPr txBox="1"/>
          <p:nvPr/>
        </p:nvSpPr>
        <p:spPr>
          <a:xfrm>
            <a:off x="914400" y="5175504"/>
            <a:ext cx="10362895" cy="784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/task-report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/memory guarda a lição da EX-1</a:t>
            </a:r>
            <a:endParaRPr lang="en-US" sz="2100" dirty="0"/>
          </a:p>
        </p:txBody>
      </p:sp>
      <p:sp>
        <p:nvSpPr>
          <p:cNvPr id="15" name="expected-mark-circle"/>
          <p:cNvSpPr/>
          <p:nvPr/>
        </p:nvSpPr>
        <p:spPr>
          <a:xfrm>
            <a:off x="640080" y="8700516"/>
            <a:ext cx="502920" cy="502920"/>
          </a:xfrm>
          <a:prstGeom prst="ellipse">
            <a:avLst/>
          </a:prstGeom>
          <a:solidFill>
            <a:srgbClr val="1E9E57"/>
          </a:solidFill>
          <a:ln w="12700">
            <a:solidFill>
              <a:srgbClr val="1E9E57"/>
            </a:solidFill>
            <a:prstDash val="solid"/>
          </a:ln>
        </p:spPr>
      </p:sp>
      <p:pic>
        <p:nvPicPr>
          <p:cNvPr id="16" name="expected-mark" descr="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722" y="8811158"/>
            <a:ext cx="281635" cy="281635"/>
          </a:xfrm>
          <a:prstGeom prst="rect">
            <a:avLst/>
          </a:prstGeom>
        </p:spPr>
      </p:pic>
      <p:sp>
        <p:nvSpPr>
          <p:cNvPr id="17" name="expected"/>
          <p:cNvSpPr txBox="1"/>
          <p:nvPr/>
        </p:nvSpPr>
        <p:spPr>
          <a:xfrm>
            <a:off x="1371600" y="8654796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esperado: </a:t>
            </a:r>
            <a:pPr indent="0" marL="0">
              <a:buNone/>
            </a:pPr>
            <a:r>
              <a:rPr lang="en-US" sz="24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report.md no projeto de treino e uma memória nova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9889236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640080" y="411480"/>
            <a:ext cx="3502152" cy="502920"/>
          </a:xfrm>
          <a:prstGeom prst="rect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sp>
        <p:nvSpPr>
          <p:cNvPr id="3" name="tag-label"/>
          <p:cNvSpPr txBox="1"/>
          <p:nvPr/>
        </p:nvSpPr>
        <p:spPr>
          <a:xfrm>
            <a:off x="822960" y="411480"/>
            <a:ext cx="3227832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agora · 4 min</a:t>
            </a:r>
            <a:endParaRPr lang="en-US" sz="2400" dirty="0"/>
          </a:p>
        </p:txBody>
      </p:sp>
      <p:sp>
        <p:nvSpPr>
          <p:cNvPr id="4" name="block"/>
          <p:cNvSpPr txBox="1"/>
          <p:nvPr/>
        </p:nvSpPr>
        <p:spPr>
          <a:xfrm>
            <a:off x="7894015" y="411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2</a:t>
            </a:r>
            <a:endParaRPr lang="en-US" sz="2400" dirty="0"/>
          </a:p>
        </p:txBody>
      </p:sp>
      <p:sp>
        <p:nvSpPr>
          <p:cNvPr id="5" name="Text 1"/>
          <p:cNvSpPr/>
          <p:nvPr>
            <p:ph idx="102" type="title" hasCustomPrompt="1"/>
          </p:nvPr>
        </p:nvSpPr>
        <p:spPr>
          <a:xfrm>
            <a:off x="640080" y="1051560"/>
            <a:ext cx="109115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Agora sozinho: EX-3</a:t>
            </a:r>
            <a:endParaRPr lang="en-US" sz="4400" dirty="0"/>
          </a:p>
        </p:txBody>
      </p:sp>
      <p:sp>
        <p:nvSpPr>
          <p:cNvPr id="6" name="step-number-0"/>
          <p:cNvSpPr/>
          <p:nvPr/>
        </p:nvSpPr>
        <p:spPr>
          <a:xfrm>
            <a:off x="640080" y="2331720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step-0"/>
          <p:cNvSpPr txBox="1"/>
          <p:nvPr/>
        </p:nvSpPr>
        <p:spPr>
          <a:xfrm>
            <a:off x="1325880" y="2331720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Repete o ciclo na EX-3, sem slides</a:t>
            </a:r>
            <a:endParaRPr lang="en-US" sz="2600" dirty="0"/>
          </a:p>
        </p:txBody>
      </p:sp>
      <p:sp>
        <p:nvSpPr>
          <p:cNvPr id="8" name="step-number-1"/>
          <p:cNvSpPr/>
          <p:nvPr/>
        </p:nvSpPr>
        <p:spPr>
          <a:xfrm>
            <a:off x="640080" y="2990088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step-1"/>
          <p:cNvSpPr txBox="1"/>
          <p:nvPr/>
        </p:nvSpPr>
        <p:spPr>
          <a:xfrm>
            <a:off x="1325880" y="2990088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 → plan → swarm → gate → report</a:t>
            </a:r>
            <a:endParaRPr lang="en-US" sz="2600" dirty="0"/>
          </a:p>
        </p:txBody>
      </p:sp>
      <p:sp>
        <p:nvSpPr>
          <p:cNvPr id="10" name="step-number-2"/>
          <p:cNvSpPr/>
          <p:nvPr/>
        </p:nvSpPr>
        <p:spPr>
          <a:xfrm>
            <a:off x="640080" y="3648456"/>
            <a:ext cx="475488" cy="475488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3</a:t>
            </a:r>
            <a:endParaRPr lang="en-US" sz="2400" dirty="0"/>
          </a:p>
        </p:txBody>
      </p:sp>
      <p:sp>
        <p:nvSpPr>
          <p:cNvPr id="11" name="step-2"/>
          <p:cNvSpPr txBox="1"/>
          <p:nvPr/>
        </p:nvSpPr>
        <p:spPr>
          <a:xfrm>
            <a:off x="1325880" y="3648456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Ainda na EX-1? Continua nela</a:t>
            </a:r>
            <a:endParaRPr lang="en-US" sz="2600" dirty="0"/>
          </a:p>
        </p:txBody>
      </p:sp>
      <p:sp>
        <p:nvSpPr>
          <p:cNvPr id="12" name="code-background"/>
          <p:cNvSpPr/>
          <p:nvPr/>
        </p:nvSpPr>
        <p:spPr>
          <a:xfrm>
            <a:off x="640080" y="4535424"/>
            <a:ext cx="10911535" cy="2738628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13" name="code-label"/>
          <p:cNvSpPr txBox="1"/>
          <p:nvPr/>
        </p:nvSpPr>
        <p:spPr>
          <a:xfrm>
            <a:off x="914400" y="4718304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3 · Claude Code</a:t>
            </a:r>
            <a:endParaRPr lang="en-US" sz="2000" dirty="0"/>
          </a:p>
        </p:txBody>
      </p:sp>
      <p:sp>
        <p:nvSpPr>
          <p:cNvPr id="14" name="code"/>
          <p:cNvSpPr txBox="1"/>
          <p:nvPr/>
        </p:nvSpPr>
        <p:spPr>
          <a:xfrm>
            <a:off x="914400" y="5175504"/>
            <a:ext cx="10362895" cy="1961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/task-intake issues/EX-3.json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/task-plan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/task-swarm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/task-gate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/task-report</a:t>
            </a:r>
            <a:endParaRPr lang="en-US" sz="2200" dirty="0"/>
          </a:p>
        </p:txBody>
      </p:sp>
      <p:sp>
        <p:nvSpPr>
          <p:cNvPr id="15" name="expected-mark-circle"/>
          <p:cNvSpPr/>
          <p:nvPr/>
        </p:nvSpPr>
        <p:spPr>
          <a:xfrm>
            <a:off x="640080" y="8700516"/>
            <a:ext cx="502920" cy="502920"/>
          </a:xfrm>
          <a:prstGeom prst="ellipse">
            <a:avLst/>
          </a:prstGeom>
          <a:solidFill>
            <a:srgbClr val="1E9E57"/>
          </a:solidFill>
          <a:ln w="12700">
            <a:solidFill>
              <a:srgbClr val="1E9E57"/>
            </a:solidFill>
            <a:prstDash val="solid"/>
          </a:ln>
        </p:spPr>
      </p:sp>
      <p:pic>
        <p:nvPicPr>
          <p:cNvPr id="16" name="expected-mark" descr="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722" y="8811158"/>
            <a:ext cx="281635" cy="281635"/>
          </a:xfrm>
          <a:prstGeom prst="rect">
            <a:avLst/>
          </a:prstGeom>
        </p:spPr>
      </p:pic>
      <p:sp>
        <p:nvSpPr>
          <p:cNvPr id="17" name="expected"/>
          <p:cNvSpPr txBox="1"/>
          <p:nvPr/>
        </p:nvSpPr>
        <p:spPr>
          <a:xfrm>
            <a:off x="1371600" y="8654796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esperado: </a:t>
            </a:r>
            <a:pPr indent="0" marL="0">
              <a:buNone/>
            </a:pPr>
            <a:r>
              <a:rPr lang="en-US" sz="24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EX-3 fechada: um leitor deixa de ver os empréstimos de outro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9889236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640080" y="411480"/>
            <a:ext cx="2980944" cy="502920"/>
          </a:xfrm>
          <a:prstGeom prst="rect">
            <a:avLst/>
          </a:prstGeom>
          <a:solidFill>
            <a:srgbClr val="F25928"/>
          </a:solidFill>
          <a:ln w="12700">
            <a:solidFill>
              <a:srgbClr val="F25928"/>
            </a:solidFill>
            <a:prstDash val="solid"/>
          </a:ln>
        </p:spPr>
      </p:sp>
      <p:sp>
        <p:nvSpPr>
          <p:cNvPr id="3" name="tag-label"/>
          <p:cNvSpPr txBox="1"/>
          <p:nvPr/>
        </p:nvSpPr>
        <p:spPr>
          <a:xfrm>
            <a:off x="822960" y="411480"/>
            <a:ext cx="2706624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Painel · 2 min</a:t>
            </a:r>
            <a:endParaRPr lang="en-US" sz="2400" dirty="0"/>
          </a:p>
        </p:txBody>
      </p:sp>
      <p:sp>
        <p:nvSpPr>
          <p:cNvPr id="4" name="block"/>
          <p:cNvSpPr txBox="1"/>
          <p:nvPr/>
        </p:nvSpPr>
        <p:spPr>
          <a:xfrm>
            <a:off x="7894015" y="411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Fecho</a:t>
            </a:r>
            <a:endParaRPr lang="en-US" sz="2400" dirty="0"/>
          </a:p>
        </p:txBody>
      </p:sp>
      <p:sp>
        <p:nvSpPr>
          <p:cNvPr id="5" name="Text 1"/>
          <p:cNvSpPr/>
          <p:nvPr>
            <p:ph idx="102" type="title" hasCustomPrompt="1"/>
          </p:nvPr>
        </p:nvSpPr>
        <p:spPr>
          <a:xfrm>
            <a:off x="640080" y="1051560"/>
            <a:ext cx="109115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O dia em números e 3 ideias para levar</a:t>
            </a:r>
            <a:endParaRPr lang="en-US" sz="4400" dirty="0"/>
          </a:p>
        </p:txBody>
      </p:sp>
      <p:sp>
        <p:nvSpPr>
          <p:cNvPr id="6" name="question"/>
          <p:cNvSpPr txBox="1"/>
          <p:nvPr/>
        </p:nvSpPr>
        <p:spPr>
          <a:xfrm>
            <a:off x="640080" y="2834640"/>
            <a:ext cx="889985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O que fazias diferente amanhã?</a:t>
            </a:r>
            <a:endParaRPr lang="en-US" sz="4800" dirty="0"/>
          </a:p>
        </p:txBody>
      </p:sp>
      <p:sp>
        <p:nvSpPr>
          <p:cNvPr id="7" name="panel-arrow-circle"/>
          <p:cNvSpPr/>
          <p:nvPr/>
        </p:nvSpPr>
        <p:spPr>
          <a:xfrm>
            <a:off x="10271455" y="2880360"/>
            <a:ext cx="1280160" cy="1280160"/>
          </a:xfrm>
          <a:prstGeom prst="ellipse">
            <a:avLst/>
          </a:prstGeom>
          <a:solidFill>
            <a:srgbClr val="F25928"/>
          </a:solidFill>
          <a:ln w="12700">
            <a:solidFill>
              <a:srgbClr val="F25928"/>
            </a:solidFill>
            <a:prstDash val="solid"/>
          </a:ln>
        </p:spPr>
      </p:sp>
      <p:pic>
        <p:nvPicPr>
          <p:cNvPr id="8" name="panel-arrow" descr="arrow-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3090" y="3161995"/>
            <a:ext cx="716890" cy="716890"/>
          </a:xfrm>
          <a:prstGeom prst="rect">
            <a:avLst/>
          </a:prstGeom>
        </p:spPr>
      </p:pic>
      <p:sp>
        <p:nvSpPr>
          <p:cNvPr id="9" name="panel-arrow-label"/>
          <p:cNvSpPr txBox="1"/>
          <p:nvPr/>
        </p:nvSpPr>
        <p:spPr>
          <a:xfrm>
            <a:off x="9539935" y="42519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59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Olha para o painel</a:t>
            </a:r>
            <a:endParaRPr lang="en-US" sz="2400" dirty="0"/>
          </a:p>
        </p:txBody>
      </p:sp>
      <p:sp>
        <p:nvSpPr>
          <p:cNvPr id="10" name="ideas-head"/>
          <p:cNvSpPr txBox="1"/>
          <p:nvPr/>
        </p:nvSpPr>
        <p:spPr>
          <a:xfrm>
            <a:off x="640080" y="46634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3 ideias para levar</a:t>
            </a:r>
            <a:endParaRPr lang="en-US" sz="3000" dirty="0"/>
          </a:p>
        </p:txBody>
      </p:sp>
      <p:sp>
        <p:nvSpPr>
          <p:cNvPr id="11" name="idea-number-0"/>
          <p:cNvSpPr/>
          <p:nvPr/>
        </p:nvSpPr>
        <p:spPr>
          <a:xfrm>
            <a:off x="640080" y="5394960"/>
            <a:ext cx="548640" cy="548640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1</a:t>
            </a:r>
            <a:endParaRPr lang="en-US" sz="2400" dirty="0"/>
          </a:p>
        </p:txBody>
      </p:sp>
      <p:sp>
        <p:nvSpPr>
          <p:cNvPr id="12" name="idea-0"/>
          <p:cNvSpPr txBox="1"/>
          <p:nvPr/>
        </p:nvSpPr>
        <p:spPr>
          <a:xfrm>
            <a:off x="1417320" y="5394960"/>
            <a:ext cx="10134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 spec não decide, o agente adivinha</a:t>
            </a:r>
            <a:endParaRPr lang="en-US" sz="3000" dirty="0"/>
          </a:p>
        </p:txBody>
      </p:sp>
      <p:sp>
        <p:nvSpPr>
          <p:cNvPr id="13" name="idea-number-1"/>
          <p:cNvSpPr/>
          <p:nvPr/>
        </p:nvSpPr>
        <p:spPr>
          <a:xfrm>
            <a:off x="640080" y="6263640"/>
            <a:ext cx="548640" cy="548640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idea-1"/>
          <p:cNvSpPr txBox="1"/>
          <p:nvPr/>
        </p:nvSpPr>
        <p:spPr>
          <a:xfrm>
            <a:off x="1417320" y="6263640"/>
            <a:ext cx="10134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agentes não é mais barato: decide o paralelismo</a:t>
            </a:r>
            <a:endParaRPr lang="en-US" sz="3000" dirty="0"/>
          </a:p>
        </p:txBody>
      </p:sp>
      <p:sp>
        <p:nvSpPr>
          <p:cNvPr id="15" name="idea-number-2"/>
          <p:cNvSpPr/>
          <p:nvPr/>
        </p:nvSpPr>
        <p:spPr>
          <a:xfrm>
            <a:off x="640080" y="7132320"/>
            <a:ext cx="548640" cy="548640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idea-2"/>
          <p:cNvSpPr txBox="1"/>
          <p:nvPr/>
        </p:nvSpPr>
        <p:spPr>
          <a:xfrm>
            <a:off x="1417320" y="7132320"/>
            <a:ext cx="10134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Haiku para o simples, e mede sempre o custo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9889236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40080" y="3108960"/>
            <a:ext cx="1091153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0" dirty="0">
                <a:solidFill>
                  <a:srgbClr val="FCF9FE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Perguntas</a:t>
            </a:r>
            <a:endParaRPr lang="en-US" sz="80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40080" y="530352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25928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Sem limite de tempo</a:t>
            </a:r>
            <a:endParaRPr lang="en-US" sz="3400" dirty="0"/>
          </a:p>
        </p:txBody>
      </p:sp>
      <p:sp>
        <p:nvSpPr>
          <p:cNvPr id="4" name="footer"/>
          <p:cNvSpPr txBox="1"/>
          <p:nvPr/>
        </p:nvSpPr>
        <p:spPr>
          <a:xfrm>
            <a:off x="640080" y="649224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9AE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https://github.com/cx-guilherme-pinto/workshop-claude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Founders Grotesk Medium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Orquestração de agentes com Claude (v2)</dc:title>
  <dc:subject>PptxGenJS Presentation</dc:subject>
  <dc:creator>Workshop Claude</dc:creator>
  <cp:lastModifiedBy>Workshop Claude</cp:lastModifiedBy>
  <cp:revision>1</cp:revision>
  <dcterms:created xsi:type="dcterms:W3CDTF">2026-10-20T14:32:56Z</dcterms:created>
  <dcterms:modified xsi:type="dcterms:W3CDTF">2026-10-20T14:32:56Z</dcterms:modified>
</cp:coreProperties>
</file>