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10287000"/>
  <p:notesSz cx="10287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50cb413-97f0-7479-cfe3-42ac982768d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issions" id="{f1567f55-76ef-eee9-df11-be053c17118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roject 1" id="{0a049bc1-7bab-b754-dd0a-938dc34b7f16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roject 2" id="{ed0185fa-3b01-1045-fde1-86c4e3acc271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losing" id="{5387f475-53cd-0ea6-b75a-2e02d34b31e4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→ 0:30] 0.5 min · opening
Goal: Open the session and point at the panel on the right.
What to say:
- For 90 minutes we do instead of listen: 11 short missions, a swarm of agents and a task in a real repository.
- The panel on the right shows what everyone has done, live.
Look at the panel:
- If there are already names on the leaderboard: "whoever is on the panel ran the setup at home, thank you".
Clock: you should be here at 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→ 2:00] 1.5 min · opening
Goal: Make clear that cost is measured, not cut, and what the panel sees.
What to say:
- The target is US$ 5 per person for the whole day; at US$ 5 and US$ 10 a warning shows, and nobody is cut off.
- The panel only gets counts and decisions, never prompts or code. Points come from coverage and quality, never from spending more.
- Everything the panel kept today is deleted at midnight.
Look at the panel:
- If someone asks about privacy: "it is all in docs/PRIVACY.md, and node ~/.workshop-claude/kit/telemetry/ctl.mjs show prints the last 20 events exactly as they leave your laptop".
Clock: you should be here at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 → 3:00] 1 min · opening
Goal: Give the map of the day before starting.
What to say:
- There is no theory block: each concept is learned in a 2-minute mission.
- The two projects are the same cycle: first on a project made for the workshop, then on a real task.
- Everything stays installed and keeps working after today.
Look at the panel:
- The panel is still empty: "it fills up as you do each thing".
Clock: you should be here at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 → 4:00] 1 min · opening
Goal: Explain the cycle that repeats in both projects.
What to say:
- Your job is to decide and to check; the agents’ job is to do.
- The cost is measured at every step, from the real tokens.
Clock: you should be here at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 → 5:00] 1 min · opening
Goal: Introduce the memory and explain that it grows with each person’s work.
What to say:
- They are Markdown files in ~/.agent-memory, with an index: everything stays on your laptop.
- Each lesson is linked to the project, the task and the files: tomorrow, /task-intake on another issue already finds it.
- We come back to this window at the end of each project.
Typical failures and the answer:
- agent-memory-gui does not exist → --check shows step 10; without the app everything else works (MEMORY UNAVAILABLE)
- The window does not open (Windows without WebView2) → the app opens the same interface in the browser
Clock: you should be here at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 → 9:00] 4 min · opening
Goal: Everyone with the kit checked and registered on the panel.
What to say:
- First workshop-register, then workshop-check: the check installs nothing, it only confirms each step.
- The registration uses your gh login: it checks the company email on your laptop, and only the name goes to the panel.
Look at the panel:
- If "Ready" is below half at 3 min: "whoever has a green table, help your neighbour".
- If "Registered" is well below the room: "the register command under the table fixes it; without a verified @checkmarx.com email on GitHub you do the workshop all the same, you just do not appear on the leaderboard".
Typical failures and the answer:
- E-TEL-03: gh cannot read the emails → gh auth refresh -h github.com -s user:email and run register again
- E-TEL-02: no verified company email → add it at github.com/settings/emails; the workshop works without it
- command not found: workshop-register → the setup is older than rc.4: run the setup one-liner again, or use the long command from Teams
Clock: you should be here at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[9:00 → 11:00] 2 min · opening
Goal: Fix setup failures without stopping the room.
What to say:
- --doctor asks Haiku for a diagnosis of the log excerpt, with the secrets already removed, and only runs a command if you say yes.
- Nobody waits: whoever cannot fix it in 2 minutes pairs with a neighbour.
Look at the panel:
- If "Ready" does not go up: "whoever has ❌ on Claude Code login, run claude auth login --console".
Typical failures and the answer:
- Company proxy or network → switch to the event network or a hotspot and run --check again
- Claude login missing → claude auth login --console
Clock: you should be here at 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 → 12:00] 1 min · missions
Goal: Open the missions project and start the room race.
What to say:
- There are 7 guided missions of 2 minutes (6 here, the last one in Project 1) and 4 bonus ones for the waits.
- Nobody clicks "done": the kit sees the feature being used and lights up the mission.
- /missions shows your mission book at any time.
Look at the panel:
- The grid is at 0 %: "let us see how many we light up before Project 1".
Typical failures and the answer:
- The missions-project folder does not exist → run --check: step 9 sets it up
Clock: you should be here at 11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 → 14:00] 2 min · missions
Goal: Show that you can think with Claude at no risk.
What to say:
- Plan mode is the cheapest and safest way to start: Claude reads the code and proposes, but touches nothing.
- If the plan works for you, you approve it and it runs; here we do not approve.
Look at the panel:
- If M1 is below 50 % halfway: "Shift+Tab twice; look for plan mode on under the input box".
Typical failures and the answer:
- "accept edits on" shows instead of plan mode → press Shift+Tab again
- Claude asks "Would you like to proceed?" → Esc: we do not want to run it
Clock: you should be here at 12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 → 16:00] 2 min · missions
Goal: Choose the model by the task, not by habit.
What to say:
- Haiku costs about 10 times less than Sonnet and is enough for simple questions.
- In Project 1 you will choose the model of 30 agents: this is the same decision, in small.
Look at the panel:
- If M2 lags behind M1: "/model haiku asks for a confirmation; press Enter".
Typical failures and the answer:
- It keeps asking for confirmation → Enter on the selected option
Clock: you should be here at 14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 → 18:00] 2 min · missions
Goal: Understand the building block of a swarm.
What to say:
- A swarm is this, multiplied: many subagents, each with its own context and task.
- The main context stays clean, and that is cost too.
Look at the panel:
- If M3 is below M2: "write the word subagent in the request".
Typical failures and the answer:
- Claude answers without launching a subagent → ask explicitly: use an Explore subagent
Clock: you should be here at 16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[18:00 → 19:00] 1 min · missions
Goal: Tell tool from skill before M4 creates a skill and M11 uses a tool.
What to say:
- A tool is code: same input, same output, and almost free in tokens.
- A skill is text: written in minutes, but the model interprets it and can drift.
- The best skills call tools for the parts that must be exact.
Look at the panel:
- No panel cue here: move on to M4 within 1 minute.
Typical failures and the answer:
- Someone asks whether an MCP is a tool or a skill → an MCP server offers tools; a skill is just a Markdown file
Clock: you should be here at 18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 → 21:00] 2 min · missions
Goal: Show that a skill is just a file anyone can write.
What to say:
- The workshop skills (/demo-plan, /task-swarm…) are exactly this: Markdown with instructions.
- claude -c resumes the previous conversation: nothing is lost when you leave.
- Recall the last slide: the skill is the recipe in text, the tool is the function in code.
Look at the panel:
- If M4 stays low: "the skill only shows after you leave and come back; /exit and claude -c".
Typical failures and the answer:
- /summary does not exist → check the file .claude/skills/summary/SKILL.md and reopen with claude -c
Clock: you should be here at 19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[21:00 → 23:00] 2 min · missions
Goal: Understand that hooks automate without asking the model.
What to say:
- This is how the kit measures cost: a hook at the end of each subagent.
- settings.local.json is only yours and does not go to git.
- Esc Esc opens rewind: you go back to before the edit.
Look at the panel:
- If M5 is below 50 %: "half the room has no hook yet; whoever has one, help your neighbour".
Typical failures and the answer:
- edits.log does not show up → the hook only runs on the next edit: ask for another one
- The hook went into the kit’s settings.json → ask to move it to .claude/settings.local.json
Clock: you should be here at 21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[23:00 → 25:00] 2 min · missions
Goal: See Claude work on its own with a stop condition.
What to say:
- The project ships with 2 tests broken on purpose.
- A loop with no stop condition burns money: always say when to stop.
Look at the panel:
- If M6 goes up slowly: "the loop runs every minute; while you wait, do a bonus one".
Typical failures and the answer:
- The loop does not stop → Esc and say: stop the loop
Clock: you should be here at 23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[25:00 → 26:00] 1 min · missions
Goal: Close the guided missions and point the bonus ones at the waits.
What to say:
- The mission blinking on the panel is the least done: that is the one worth helping with now.
- The bonus ones get no stage time: you do them while the swarms work.
Look at the panel:
- Read the blinking mission out loud and ask whoever has it to show their neighbour.
- If the average coverage passes 70 %: "this room is faster than the rehearsal".
Clock: you should be here at 25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[26:00 → 28:00] 2 min · p1
Goal: Introduce the Pocketknife and plant the forecast.
What to say:
- Count words, split the bill, convert colours: 30 tools people really use.
- Each one is an agent and a test; you decide how many agents, which model and a tool of your own.
Look at the panel:
- Still empty: "by the end of this block this chart shows the time and cost of every swarm in the room".
Typical failures and the answer:
- The canivete-project folder does not exist → --check sets it up in step 9
Clock: you should be here at 26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[28:00 → 32:00] 4 min · p1
Goal: Give each person a tool that is only theirs.
What to say:
- There are 4 templates: calc, convert, text and generate; the agent only writes the run() function.
- gen.mjs tells you which field is wrong and gives an example.
Look at the panel:
- Read the most chosen templates: "the room likes calc; who made a generate one?".
Typical failures and the answer:
- gen.mjs refuses my-tool.json → read the message: it names the field and gives an example
- No ideas → use the example as it is: it works
Clock: you should be here at 28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[32:00 → 34:00] 2 min · p1
Goal: Get the room to split, so the comparison on the panel is rich.
What to say:
- Suggestion: front rows 4, middle 8, back 12.
- More agents finish sooner, but the main session coordinates more: the cost does not go down.
Look at the panel:
- No points yet: "in 10 minutes we will see who was right".
Clock: you should be here at 32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 → 35:00] 1 min · p1
Goal: Record the decision and the forecast before seeing the result.
What to say:
- The graph is deterministic: it comes from the specs, not from the model.
- The forecast only goes to the panel, to compare with the real time.
Look at the panel:
- If the forecast median shows: "the room thinks X minutes; let us see".
Typical failures and the answer:
- ERROR: plan not found later → run /demo-plan first, in the canivete-project folder
Clock: you should be here at 34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[35:00 → 42:00] 7 min · p1
Goal: See a swarm work, and the effect of the room’s decisions.
What to say:
- Each square is a tool: yellow working, green passed, red failed.
- The reds are the next slide: it is not bad luck.
Look at the panel:
- At 4 min, when the dots show: "the 12s finished first; see whether they spent less".
- If the real median is far from the forecast: "we said X, it took Y; who got it right?".
Typical failures and the answer:
- Port 3000 is busy → server.js uses the next one and says which
- It asks for a permission halfway → the project must be trusted: the setup does it; accept and carry on
- The swarm stopped → run /demo-swarm again: it resumes where it was
Clock: you should be here at 35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[42:00 → 46:00] 4 min · p1
Goal: Understand that what the spec does not decide, the agent guesses.
What to say:
- The 3 broken on purpose (nm-03, dn-01, tx-02) leave out a rule; the agent picks the "obvious" answer, and it is the wrong one.
- The message says what the tool returned and what the spec does not decide, never the right value: you decide.
- No agent may change a spec: that is your job.
Look at the panel:
- If "specs fixed" is still 0 at 2 min: "open the red one’s spec.md and write one line with the rule".
Typical failures and the answer:
- It goes red again → the rule is ambiguous: write an example with the value
- Does not know the rule → think like the person who asked for the tool: what is right for an accountant?
Clock: you should be here at 42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[46:00 → 48:00] 2 min · p1
Goal: Close the loop: quality and cost, measured.
What to say:
- The reviewer is Opus: it reads a summary, not the whole tree, and says APPROVED or REJECTED.
- The cost comes from the real tokens and the published prices.
Look at the panel:
- Read the cost per green for 4, 8 and 12: "more agents did not get cheaper".
- If there are Sonnet swarms: "Sonnet cost more and gave hardly any more greens".
Typical failures and the answer:
- GATE: REJECTED → read the reservations; usually it is a red one still to fix
Clock: you should be here at 46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 → 50:00] 2 min · p1
Goal: Close the tool-or-skill idea: what the swarm built, Claude calls as a tool.
What to say:
- This is a tool: code with typed inputs, called by name, with no recipe to read.
- Same tool, two ways to use it: the page in the browser and Claude.
Look at the panel:
- If M11 stays low: "Claude Code must be open in the Pocketknife folder; /mcp shows whether the canivete server is connected".
Typical failures and the answer:
- Claude cannot find the tool → /mcp: the canivete server must be connected. Plan B: /exit and claude -c, then ask again (a new session reads every tool)
- It answers without calling the tool (it reads tool.js with cat) → ask by name: use the my-01 tool; if it still does, /exit and claude -c
Clock: you should be here at 48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[50:00 → 52:00] 2 min · p2
Goal: Connect Project 2 to what they already did.
What to say:
- The plan is /demo-plan, the swarm is /demo-swarm, the gate is /demo-review: the difference is that the task comes from an issue.
- The default path is the Municipal Library, with no login; whoever has Jira or GitHub working can use their own issue.
Look at the panel:
- The funnel is empty: "in 30 minutes we want the whole room at the end".
- Whoever will work in their own repository and prefers that nothing leaves the laptop: "unregister stops the sending; your mission book stays, and register --again turns it back on".
Clock: you should be here at 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[52:00 → 56:00] 4 min · p2
Goal: Get everyone a task that has been read.
What to say:
- EX-1 is small: validate the ISBN and the email when creating books and readers.
- The intake only reads: it writes nothing to Jira or GitHub.
Look at the panel:
- If the funnel is still at "intake" at 3 min: "check you are in the practice-project folder".
Typical failures and the answer:
- Issue not found → run it in the practice-project folder: the path is issues/EX-1.json
Clock: you should be here at 52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[56:00 → 62:00] 6 min · p2
Goal: Decide on the why, not on the number.
What to say:
- The planner reads the issue and the code and proposes subtasks: tasks that touch the same files go in different batches.
- Adjusting is normal: the plan is a proposal.
Look at the panel:
- Read the histogram: "most have 2 or 3; whoever adjusted, why?".
Typical failures and the answer:
- PLAN INVALID → ask the planner to fix it: the message says what is missing
Clock: you should be here at 56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[62:00 → 74:00] 12 min · p2
Goal: See the swarm on a real task, with resume.
What to say:
- Esc interrupts; /task-swarm again resumes where it was.
- If the planner chose worktrees, each agent works in its own copy of the repository.
Look at the panel:
- Halfway, read the funnel: "half are already at the gate; whoever is still in the swarm, let it run".
Typical failures and the answer:
- A subtask fails 3 times → read the reason on the dashboard; fix the description and run --retry
- The dashboard shows nothing → it has to run in the project folder
Clock: you should be here at 62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[74:00 → 79:00] 5 min · p2
Goal: Deliver nothing without verification.
What to say:
- The gate runs the tests, looks for secrets and dangerous code, and asks Opus for the verdict.
- A REJECTED is not a failure: it is the gate doing its job.
Look at the panel:
- If approved gates stay low: "read the reservations; it is almost always a test still to run".
Typical failures and the answer:
- GATE: REJECTED → fix what the reservations say and run /task-gate again
Clock: you should be here at 74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[79:00 → 83:00] 4 min · p2
Goal: Close the task and keep what was learned.
What to say:
- In the practice project the report goes to report.md; in Jira or GitHub, /task-report only writes after your yes.
- The memory stays on your laptop and the next /task-intake reads it.
Look at the panel:
- When the funnel reaches "report": "whoever closed it, move on to EX-3".
Typical failures and the answer:
- MEMORY UNAVAILABLE → the Agent Memory app is not installed: the rest works; --check shows step 10
Clock: you should be here at 79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[83:00 → 87:00] 4 min · p2
Goal: Run the cycle without help.
What to say:
- EX-3 is a small security flaw (IDOR), with an authorisation test already written.
- It is the final test of the workshop: if you can do it alone, you can do it tomorrow in your repository.
Look at the panel:
- Read the closed issues: "N EX-3s closed already".
Typical failures and the answer:
- EX-1 is not finished → carry on with EX-1: EX-3 is optional
Clock: you should be here at 83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[87:00 → 89:00] 2 min · closing
Goal: Close with the room’s numbers and 3 concrete ideas.
What to say:
- The 3 numbers on the panel are "do better" ones: cost per green, greens at the first try, % on Haiku.
- Everything you installed keeps working tomorrow: start with the next issue assigned to you, with /task-intake.
Look at the panel:
- Read the average cost per person against the US$ 5 target.
- Read the % of greens at the first try: "this is what a good spec buys".
Clock: you should be here at 87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[89:00 → 90:00] 1 min · closing
Goal: Open the questions.
What to say:
- Questions can go past 90 minutes. Anyone who did not run the setup installs now.
- The panel deletes everything at midnight; your mission book and your memories stay on your laptop.
Look at the panel:
- If there is time: show the final leaderboard.
Clock: you should be here at 89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V2-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V2-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377440" cy="2971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926080"/>
            <a:ext cx="10911535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897880"/>
            <a:ext cx="95399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688" y="7680960"/>
            <a:ext cx="2560320" cy="320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108960"/>
            <a:ext cx="1091153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303520"/>
            <a:ext cx="109115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CONTENT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752076"/>
            <a:ext cx="12191695" cy="5349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3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971532"/>
            <a:ext cx="750722" cy="94183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92608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Agent orchestration with Claude</a:t>
            </a:r>
            <a:endParaRPr lang="en-US" sz="6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5897880"/>
            <a:ext cx="95399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Missions, a swarm that builds a pocketknife and a real task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rules: cost and what the panel sees</a:t>
            </a:r>
            <a:endParaRPr lang="en-US" sz="4400" dirty="0"/>
          </a:p>
        </p:txBody>
      </p:sp>
      <p:sp>
        <p:nvSpPr>
          <p:cNvPr id="3" name="cost-head"/>
          <p:cNvSpPr txBox="1"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cost</a:t>
            </a:r>
            <a:endParaRPr lang="en-US" sz="2800" dirty="0"/>
          </a:p>
        </p:txBody>
      </p:sp>
      <p:sp>
        <p:nvSpPr>
          <p:cNvPr id="4" name="cost-0"/>
          <p:cNvSpPr/>
          <p:nvPr/>
        </p:nvSpPr>
        <p:spPr>
          <a:xfrm>
            <a:off x="640080" y="3291840"/>
            <a:ext cx="3454298" cy="237744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5" name="cost-value-0"/>
          <p:cNvSpPr txBox="1"/>
          <p:nvPr/>
        </p:nvSpPr>
        <p:spPr>
          <a:xfrm>
            <a:off x="914400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US$ 5</a:t>
            </a:r>
            <a:endParaRPr lang="en-US" sz="5000" dirty="0"/>
          </a:p>
        </p:txBody>
      </p:sp>
      <p:sp>
        <p:nvSpPr>
          <p:cNvPr id="6" name="cost-label-0"/>
          <p:cNvSpPr txBox="1"/>
          <p:nvPr/>
        </p:nvSpPr>
        <p:spPr>
          <a:xfrm>
            <a:off x="914400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 person, for the whole day</a:t>
            </a:r>
            <a:endParaRPr lang="en-US" sz="2400" dirty="0"/>
          </a:p>
        </p:txBody>
      </p:sp>
      <p:sp>
        <p:nvSpPr>
          <p:cNvPr id="7" name="cost-1"/>
          <p:cNvSpPr/>
          <p:nvPr/>
        </p:nvSpPr>
        <p:spPr>
          <a:xfrm>
            <a:off x="4368698" y="3291840"/>
            <a:ext cx="345429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cost-value-1"/>
          <p:cNvSpPr txBox="1"/>
          <p:nvPr/>
        </p:nvSpPr>
        <p:spPr>
          <a:xfrm>
            <a:off x="4643018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US$ 10</a:t>
            </a:r>
            <a:endParaRPr lang="en-US" sz="5000" dirty="0"/>
          </a:p>
        </p:txBody>
      </p:sp>
      <p:sp>
        <p:nvSpPr>
          <p:cNvPr id="9" name="cost-label-1"/>
          <p:cNvSpPr txBox="1"/>
          <p:nvPr/>
        </p:nvSpPr>
        <p:spPr>
          <a:xfrm>
            <a:off x="4643018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ceiling, never the goal</a:t>
            </a:r>
            <a:endParaRPr lang="en-US" sz="2400" dirty="0"/>
          </a:p>
        </p:txBody>
      </p:sp>
      <p:sp>
        <p:nvSpPr>
          <p:cNvPr id="10" name="cost-2"/>
          <p:cNvSpPr/>
          <p:nvPr/>
        </p:nvSpPr>
        <p:spPr>
          <a:xfrm>
            <a:off x="8097317" y="3291840"/>
            <a:ext cx="345429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cost-value-2"/>
          <p:cNvSpPr txBox="1"/>
          <p:nvPr/>
        </p:nvSpPr>
        <p:spPr>
          <a:xfrm>
            <a:off x="8371637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0</a:t>
            </a:r>
            <a:endParaRPr lang="en-US" sz="5000" dirty="0"/>
          </a:p>
        </p:txBody>
      </p:sp>
      <p:sp>
        <p:nvSpPr>
          <p:cNvPr id="12" name="cost-label-2"/>
          <p:cNvSpPr txBox="1"/>
          <p:nvPr/>
        </p:nvSpPr>
        <p:spPr>
          <a:xfrm>
            <a:off x="8371637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cut off for cost</a:t>
            </a:r>
            <a:endParaRPr lang="en-US" sz="2400" dirty="0"/>
          </a:p>
        </p:txBody>
      </p:sp>
      <p:sp>
        <p:nvSpPr>
          <p:cNvPr id="13" name="sees-head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the panel sees</a:t>
            </a:r>
            <a:endParaRPr lang="en-US" sz="2800" dirty="0"/>
          </a:p>
        </p:txBody>
      </p:sp>
      <p:sp>
        <p:nvSpPr>
          <p:cNvPr id="14" name="sees-mark-0-circle"/>
          <p:cNvSpPr/>
          <p:nvPr/>
        </p:nvSpPr>
        <p:spPr>
          <a:xfrm>
            <a:off x="640080" y="667512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sees-mark-0" descr="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6785762"/>
            <a:ext cx="281635" cy="281635"/>
          </a:xfrm>
          <a:prstGeom prst="rect">
            <a:avLst/>
          </a:prstGeom>
        </p:spPr>
      </p:pic>
      <p:sp>
        <p:nvSpPr>
          <p:cNvPr id="16" name="sees-0"/>
          <p:cNvSpPr txBox="1"/>
          <p:nvPr/>
        </p:nvSpPr>
        <p:spPr>
          <a:xfrm>
            <a:off x="1371600" y="667512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missions you did and your decisions (agents, model)</a:t>
            </a:r>
            <a:endParaRPr lang="en-US" sz="2600" dirty="0"/>
          </a:p>
        </p:txBody>
      </p:sp>
      <p:sp>
        <p:nvSpPr>
          <p:cNvPr id="17" name="sees-mark-1-circle"/>
          <p:cNvSpPr/>
          <p:nvPr/>
        </p:nvSpPr>
        <p:spPr>
          <a:xfrm>
            <a:off x="640080" y="740664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8" name="sees-mark-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7517282"/>
            <a:ext cx="281635" cy="281635"/>
          </a:xfrm>
          <a:prstGeom prst="rect">
            <a:avLst/>
          </a:prstGeom>
        </p:spPr>
      </p:pic>
      <p:sp>
        <p:nvSpPr>
          <p:cNvPr id="19" name="sees-1"/>
          <p:cNvSpPr txBox="1"/>
          <p:nvPr/>
        </p:nvSpPr>
        <p:spPr>
          <a:xfrm>
            <a:off x="1371600" y="740664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GitHub name, on the leaderboard</a:t>
            </a:r>
            <a:endParaRPr lang="en-US" sz="2600" dirty="0"/>
          </a:p>
        </p:txBody>
      </p:sp>
      <p:sp>
        <p:nvSpPr>
          <p:cNvPr id="20" name="sees-mark-2-circle"/>
          <p:cNvSpPr/>
          <p:nvPr/>
        </p:nvSpPr>
        <p:spPr>
          <a:xfrm>
            <a:off x="640080" y="8138160"/>
            <a:ext cx="502920" cy="502920"/>
          </a:xfrm>
          <a:prstGeom prst="ellipse">
            <a:avLst/>
          </a:prstGeom>
          <a:solidFill>
            <a:srgbClr val="D2463F"/>
          </a:solidFill>
          <a:ln w="12700">
            <a:solidFill>
              <a:srgbClr val="D2463F"/>
            </a:solidFill>
            <a:prstDash val="solid"/>
          </a:ln>
        </p:spPr>
      </p:sp>
      <p:pic>
        <p:nvPicPr>
          <p:cNvPr id="21" name="sees-mark-2" descr="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48802"/>
            <a:ext cx="281635" cy="281635"/>
          </a:xfrm>
          <a:prstGeom prst="rect">
            <a:avLst/>
          </a:prstGeom>
        </p:spPr>
      </p:pic>
      <p:sp>
        <p:nvSpPr>
          <p:cNvPr id="22" name="sees-2"/>
          <p:cNvSpPr txBox="1"/>
          <p:nvPr/>
        </p:nvSpPr>
        <p:spPr>
          <a:xfrm>
            <a:off x="1371600" y="813816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your prompts, your code or any token</a:t>
            </a:r>
            <a:endParaRPr lang="en-US" sz="2600" dirty="0"/>
          </a:p>
        </p:txBody>
      </p:sp>
      <p:sp>
        <p:nvSpPr>
          <p:cNvPr id="23" name="sees-mark-3-circle"/>
          <p:cNvSpPr/>
          <p:nvPr/>
        </p:nvSpPr>
        <p:spPr>
          <a:xfrm>
            <a:off x="640080" y="8869680"/>
            <a:ext cx="502920" cy="50292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4" name="sees-mark-3" descr="trash-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8980322"/>
            <a:ext cx="281635" cy="281635"/>
          </a:xfrm>
          <a:prstGeom prst="rect">
            <a:avLst/>
          </a:prstGeom>
        </p:spPr>
      </p:pic>
      <p:sp>
        <p:nvSpPr>
          <p:cNvPr id="25" name="sees-3"/>
          <p:cNvSpPr txBox="1"/>
          <p:nvPr/>
        </p:nvSpPr>
        <p:spPr>
          <a:xfrm>
            <a:off x="1371600" y="886968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deleted at midnight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154680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8803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we will do today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blocks, always on your laptop, always hands-on: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1272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35707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1272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Missions · 15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short missions: plan mode, models, subagents, skills, hooks, /loop and a tool of your own, one at a time.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47274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51709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47274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Project 1 · 24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swarm of agents builds the Pocketknife: 30 tools plus yours. You decide how many agents and which model.</a:t>
            </a:r>
            <a:endParaRPr lang="en-US" sz="2600" dirty="0"/>
          </a:p>
        </p:txBody>
      </p:sp>
      <p:sp>
        <p:nvSpPr>
          <p:cNvPr id="13" name="block-2"/>
          <p:cNvSpPr/>
          <p:nvPr/>
        </p:nvSpPr>
        <p:spPr>
          <a:xfrm>
            <a:off x="640080" y="63276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lock-number-2"/>
          <p:cNvSpPr/>
          <p:nvPr/>
        </p:nvSpPr>
        <p:spPr>
          <a:xfrm>
            <a:off x="868680" y="67711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block-text-2"/>
          <p:cNvSpPr txBox="1"/>
          <p:nvPr/>
        </p:nvSpPr>
        <p:spPr>
          <a:xfrm>
            <a:off x="1645920" y="63276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Project 2 · 37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cycle on a real task: an issue from the practice project, or from your Jira or GitHub.</a:t>
            </a:r>
            <a:endParaRPr lang="en-US" sz="2600" dirty="0"/>
          </a:p>
        </p:txBody>
      </p:sp>
      <p:sp>
        <p:nvSpPr>
          <p:cNvPr id="16" name="takeaway"/>
          <p:cNvSpPr/>
          <p:nvPr/>
        </p:nvSpPr>
        <p:spPr>
          <a:xfrm>
            <a:off x="640080" y="8065008"/>
            <a:ext cx="10911535" cy="9144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takeaway-text"/>
          <p:cNvSpPr txBox="1"/>
          <p:nvPr/>
        </p:nvSpPr>
        <p:spPr>
          <a:xfrm>
            <a:off x="914400" y="8065008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 take home: the kit installed, a memory of what you learned and a cycle to use tomorrow.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154680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8803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we will work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cycle in both projects: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127248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3405683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127248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 decide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spec, how many agents and which model.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4397350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4675784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4397350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agents do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parallel, each with its own task and its own test.</a:t>
            </a:r>
            <a:endParaRPr lang="en-US" sz="2600" dirty="0"/>
          </a:p>
        </p:txBody>
      </p:sp>
      <p:sp>
        <p:nvSpPr>
          <p:cNvPr id="13" name="block-2"/>
          <p:cNvSpPr/>
          <p:nvPr/>
        </p:nvSpPr>
        <p:spPr>
          <a:xfrm>
            <a:off x="640080" y="5667451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lock-number-2"/>
          <p:cNvSpPr/>
          <p:nvPr/>
        </p:nvSpPr>
        <p:spPr>
          <a:xfrm>
            <a:off x="868680" y="5945886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block-text-2"/>
          <p:cNvSpPr txBox="1"/>
          <p:nvPr/>
        </p:nvSpPr>
        <p:spPr>
          <a:xfrm>
            <a:off x="1645920" y="5667451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gate checks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tests, secrets, dangerous code and the Opus review.</a:t>
            </a:r>
            <a:endParaRPr lang="en-US" sz="2600" dirty="0"/>
          </a:p>
        </p:txBody>
      </p:sp>
      <p:sp>
        <p:nvSpPr>
          <p:cNvPr id="16" name="block-3"/>
          <p:cNvSpPr/>
          <p:nvPr/>
        </p:nvSpPr>
        <p:spPr>
          <a:xfrm>
            <a:off x="640080" y="6937553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lock-number-3"/>
          <p:cNvSpPr/>
          <p:nvPr/>
        </p:nvSpPr>
        <p:spPr>
          <a:xfrm>
            <a:off x="868680" y="7215988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block-text-3"/>
          <p:cNvSpPr txBox="1"/>
          <p:nvPr/>
        </p:nvSpPr>
        <p:spPr>
          <a:xfrm>
            <a:off x="1645920" y="6937553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panel shows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room has done, live (never your prompts).</a:t>
            </a:r>
            <a:endParaRPr lang="en-US" sz="2600" dirty="0"/>
          </a:p>
        </p:txBody>
      </p:sp>
      <p:sp>
        <p:nvSpPr>
          <p:cNvPr id="19" name="block-4"/>
          <p:cNvSpPr/>
          <p:nvPr/>
        </p:nvSpPr>
        <p:spPr>
          <a:xfrm>
            <a:off x="640080" y="8207654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lock-number-4"/>
          <p:cNvSpPr/>
          <p:nvPr/>
        </p:nvSpPr>
        <p:spPr>
          <a:xfrm>
            <a:off x="868680" y="8486089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block-text-4"/>
          <p:cNvSpPr txBox="1"/>
          <p:nvPr/>
        </p:nvSpPr>
        <p:spPr>
          <a:xfrm>
            <a:off x="1645920" y="8207654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memory learns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lessons of each project, for next time.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Your memory learns with you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Memory app keeps, on your laptop, what you learn during the day: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5570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40005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5570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It reads before planning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/demo-plan, /task-intake and /task-plan first look for what you already know.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51572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56007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51572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It saves at the end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/demo-cost and /task-report save the lessons of each project; /memory saves one of yours.</a:t>
            </a:r>
            <a:endParaRPr lang="en-US" sz="2600" dirty="0"/>
          </a:p>
        </p:txBody>
      </p:sp>
      <p:sp>
        <p:nvSpPr>
          <p:cNvPr id="13" name="code-background"/>
          <p:cNvSpPr/>
          <p:nvPr/>
        </p:nvSpPr>
        <p:spPr>
          <a:xfrm>
            <a:off x="640080" y="6894576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4" name="code-label"/>
          <p:cNvSpPr txBox="1"/>
          <p:nvPr/>
        </p:nvSpPr>
        <p:spPr>
          <a:xfrm>
            <a:off x="914400" y="7077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terminal</a:t>
            </a:r>
            <a:endParaRPr lang="en-US" sz="2000" dirty="0"/>
          </a:p>
        </p:txBody>
      </p:sp>
      <p:sp>
        <p:nvSpPr>
          <p:cNvPr id="15" name="code"/>
          <p:cNvSpPr txBox="1"/>
          <p:nvPr/>
        </p:nvSpPr>
        <p:spPr>
          <a:xfrm>
            <a:off x="914400" y="7534656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agent-memory-gui</a:t>
            </a:r>
            <a:endParaRPr lang="en-US" sz="2200" dirty="0"/>
          </a:p>
        </p:txBody>
      </p:sp>
      <p:sp>
        <p:nvSpPr>
          <p:cNvPr id="16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7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18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opens with an empty graph; by the end of the day it has the lessons of the Pocketknife and EX-1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Check and join the panel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terminal, join the panel and then check the kit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your name on the panel leaderboard</a:t>
            </a:r>
            <a:endParaRPr lang="en-US" sz="2600" dirty="0"/>
          </a:p>
        </p:txBody>
      </p:sp>
      <p:sp>
        <p:nvSpPr>
          <p:cNvPr id="10" name="code-background"/>
          <p:cNvSpPr/>
          <p:nvPr/>
        </p:nvSpPr>
        <p:spPr>
          <a:xfrm>
            <a:off x="640080" y="3877056"/>
            <a:ext cx="5318608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1" name="code-label"/>
          <p:cNvSpPr txBox="1"/>
          <p:nvPr/>
        </p:nvSpPr>
        <p:spPr>
          <a:xfrm>
            <a:off x="914400" y="40599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Join the panel (Mac and Windows)</a:t>
            </a:r>
            <a:endParaRPr lang="en-US" sz="2000" dirty="0"/>
          </a:p>
        </p:txBody>
      </p:sp>
      <p:sp>
        <p:nvSpPr>
          <p:cNvPr id="12" name="code"/>
          <p:cNvSpPr txBox="1"/>
          <p:nvPr/>
        </p:nvSpPr>
        <p:spPr>
          <a:xfrm>
            <a:off x="914400" y="4517136"/>
            <a:ext cx="476996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workshop-register</a:t>
            </a:r>
            <a:endParaRPr lang="en-US" sz="2100" dirty="0"/>
          </a:p>
        </p:txBody>
      </p:sp>
      <p:sp>
        <p:nvSpPr>
          <p:cNvPr id="13" name="code-background"/>
          <p:cNvSpPr/>
          <p:nvPr/>
        </p:nvSpPr>
        <p:spPr>
          <a:xfrm>
            <a:off x="6233008" y="3877056"/>
            <a:ext cx="5318608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4" name="code-label"/>
          <p:cNvSpPr txBox="1"/>
          <p:nvPr/>
        </p:nvSpPr>
        <p:spPr>
          <a:xfrm>
            <a:off x="6507328" y="4059936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Check the kit (Mac and Windows)</a:t>
            </a:r>
            <a:endParaRPr lang="en-US" sz="2000" dirty="0"/>
          </a:p>
        </p:txBody>
      </p:sp>
      <p:sp>
        <p:nvSpPr>
          <p:cNvPr id="15" name="code"/>
          <p:cNvSpPr txBox="1"/>
          <p:nvPr/>
        </p:nvSpPr>
        <p:spPr>
          <a:xfrm>
            <a:off x="6507328" y="4517136"/>
            <a:ext cx="476996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workshop-check</a:t>
            </a:r>
            <a:endParaRPr lang="en-US" sz="2100" dirty="0"/>
          </a:p>
        </p:txBody>
      </p:sp>
      <p:sp>
        <p:nvSpPr>
          <p:cNvPr id="16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7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8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summary table with no failures and your name on the panel, under "Registered"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Did a step fail?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diagnosis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command it suggests, one at a time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stuck? Pair with a neighbour and call us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and Windows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workshop-doctor</a:t>
            </a:r>
            <a:endParaRPr lang="en-US" sz="21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likely cause and the command that fixes 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807208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5328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11 missions, an empty grid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many missions will the room light up in 15 minutes?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892040"/>
            <a:ext cx="889985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mission checks itself: you do it, and the panel lights up.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6071616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625449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 · missions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711696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~/workshop-claude/missions-project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M1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 without touching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70408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318004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458822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 mode reads and plans, but writes nothing.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35584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35584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Shift+Tab until "plan mode on" shows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0142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0142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question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46725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46725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plan and leave plan mode with Shift+Tab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559552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574243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199632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  →  plan mode 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would you add volume conversion?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with steps, and no file changed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M2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right model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Each model has a price: Haiku for the simple, Sonnet for the work, Opus to decide.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Haiku and confirm with Enter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simple question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 to Sonnet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haiku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units.js do? One sentence.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sonnet</a:t>
            </a:r>
            <a:endParaRPr lang="en-US" sz="22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Haiku’s answer, for a fraction of the cost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M3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subagent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subagent works in a clean context and returns only the summary.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work to a subagent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work on the side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only the result back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an Explore subagent to list the functions in src/units.js that have no test.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list; your main session did not fill up with files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154680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8803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Tool or skill?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give Claude more power. You will use both today: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5570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40005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5570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Tool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with typed inputs that Claude calls (Read, Bash, memory_add, the Pocketknife's). For: deterministic, testable, cheap in tokens. Against: needs code and a server.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51572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56007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51572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Skill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Markdown recipe Claude follows (/demo-swarm, your /summary). For: written in minutes, flexible. Against: the model interprets it, costs tokens, can drift.</a:t>
            </a:r>
            <a:endParaRPr lang="en-US" sz="2600" dirty="0"/>
          </a:p>
        </p:txBody>
      </p:sp>
      <p:sp>
        <p:nvSpPr>
          <p:cNvPr id="13" name="block-2"/>
          <p:cNvSpPr/>
          <p:nvPr/>
        </p:nvSpPr>
        <p:spPr>
          <a:xfrm>
            <a:off x="640080" y="67574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lock-number-2"/>
          <p:cNvSpPr/>
          <p:nvPr/>
        </p:nvSpPr>
        <p:spPr>
          <a:xfrm>
            <a:off x="868680" y="72009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block-text-2"/>
          <p:cNvSpPr txBox="1"/>
          <p:nvPr/>
        </p:nvSpPr>
        <p:spPr>
          <a:xfrm>
            <a:off x="1645920" y="67574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Together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can call tools: the recipe decides what, the tool does it exactly.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M4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Your skill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skill is a named recipe, not a tool: a SKILL.md that Claude Code follows when you call it.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create the skill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and come back to the same session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skill by name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266547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88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.claude/skills/summary/SKILL.md: summarise a file in 3 lines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/exit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-c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/summary src/units.js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3-line summary, made by your skill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M5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Your hook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hook is a command Claude Code runs on an event.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for the hook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any edit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edits.log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234635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PostToolUse hook (Edit|Write) in .claude/settings.local.json that appends the time and the file to edits.log.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comment at the top of README.md.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line in edits.log on every edit. Broke something? Esc Esc goes back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M6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Until it is green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/loop repeats a request on its own, until the condition is true.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loop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work: do not type anything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when everything is green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1m run npm test and fix the first red test; when everything is green, stop the loop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 red tests turn green and the loop stops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807208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5328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the room is missing (and the bonus M7 to M10)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834640"/>
            <a:ext cx="8899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Which mission did the fewest people do?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88036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316199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5394960"/>
            <a:ext cx="889985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bonus ones are for the waits in the projects: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6574536"/>
            <a:ext cx="10911535" cy="273862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675741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7214616"/>
            <a:ext cx="10362895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  /btw what is a subagent?   (a tip, not checked)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  /statusline show the model and the branch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 claude -p "Summarise the README" --model haiku &gt; summary.txt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 /memory save a lesson about the converter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807208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5328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we will build: the Pocketknife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many minutes do 8 agents take to build 30 tools?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892040"/>
            <a:ext cx="889985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everyday tools, each made by an agent with its own test, plus yours.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6071616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625449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Pocketknife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711696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~/workshop-claude/canivete-project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Invent your tool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example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title, concept, template and examples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spec and the test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3390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specs/my-tool.example.json specs/my-tool.json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workshop-gen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40080" y="6252210"/>
            <a:ext cx="10911535" cy="153390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914400" y="643509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914400" y="6892290"/>
            <a:ext cx="10362895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Copy-Item specs\my-tool.example.json specs\my-tool.json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workshop-gen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80147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81061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82067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80147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panel: tools invented by the room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 my-01, with spec and test, ready for the swarm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many agents, and which model?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parallelism (and the model of the tools):</a:t>
            </a:r>
            <a:endParaRPr lang="en-US" sz="2800" dirty="0"/>
          </a:p>
        </p:txBody>
      </p:sp>
      <p:sp>
        <p:nvSpPr>
          <p:cNvPr id="7" name="option-0"/>
          <p:cNvSpPr/>
          <p:nvPr/>
        </p:nvSpPr>
        <p:spPr>
          <a:xfrm>
            <a:off x="640080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option-number-0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option-title-0"/>
          <p:cNvSpPr txBox="1"/>
          <p:nvPr/>
        </p:nvSpPr>
        <p:spPr>
          <a:xfrm>
            <a:off x="914400" y="4160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 agents</a:t>
            </a:r>
            <a:endParaRPr lang="en-US" sz="3000" dirty="0"/>
          </a:p>
        </p:txBody>
      </p:sp>
      <p:sp>
        <p:nvSpPr>
          <p:cNvPr id="10" name="option-effect-0"/>
          <p:cNvSpPr txBox="1"/>
          <p:nvPr/>
        </p:nvSpPr>
        <p:spPr>
          <a:xfrm>
            <a:off x="914400" y="4800600"/>
            <a:ext cx="28751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Slower; the main session coordinates little</a:t>
            </a:r>
            <a:endParaRPr lang="en-US" sz="2400" dirty="0"/>
          </a:p>
        </p:txBody>
      </p:sp>
      <p:sp>
        <p:nvSpPr>
          <p:cNvPr id="11" name="code-background"/>
          <p:cNvSpPr/>
          <p:nvPr/>
        </p:nvSpPr>
        <p:spPr>
          <a:xfrm>
            <a:off x="822960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1097280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4</a:t>
            </a:r>
            <a:endParaRPr lang="en-US" sz="2300" dirty="0"/>
          </a:p>
        </p:txBody>
      </p:sp>
      <p:sp>
        <p:nvSpPr>
          <p:cNvPr id="13" name="option-1"/>
          <p:cNvSpPr/>
          <p:nvPr/>
        </p:nvSpPr>
        <p:spPr>
          <a:xfrm>
            <a:off x="4383938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option-number-1"/>
          <p:cNvSpPr/>
          <p:nvPr/>
        </p:nvSpPr>
        <p:spPr>
          <a:xfrm>
            <a:off x="4658258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option-title-1"/>
          <p:cNvSpPr txBox="1"/>
          <p:nvPr/>
        </p:nvSpPr>
        <p:spPr>
          <a:xfrm>
            <a:off x="4658258" y="4160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8 agents</a:t>
            </a:r>
            <a:endParaRPr lang="en-US" sz="3000" dirty="0"/>
          </a:p>
        </p:txBody>
      </p:sp>
      <p:sp>
        <p:nvSpPr>
          <p:cNvPr id="16" name="option-effect-1"/>
          <p:cNvSpPr txBox="1"/>
          <p:nvPr/>
        </p:nvSpPr>
        <p:spPr>
          <a:xfrm>
            <a:off x="4658258" y="4800600"/>
            <a:ext cx="28751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ground, the default</a:t>
            </a:r>
            <a:endParaRPr lang="en-US" sz="2400" dirty="0"/>
          </a:p>
        </p:txBody>
      </p:sp>
      <p:sp>
        <p:nvSpPr>
          <p:cNvPr id="17" name="code-background"/>
          <p:cNvSpPr/>
          <p:nvPr/>
        </p:nvSpPr>
        <p:spPr>
          <a:xfrm>
            <a:off x="4566818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4841138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8</a:t>
            </a:r>
            <a:endParaRPr lang="en-US" sz="2300" dirty="0"/>
          </a:p>
        </p:txBody>
      </p:sp>
      <p:sp>
        <p:nvSpPr>
          <p:cNvPr id="19" name="option-2"/>
          <p:cNvSpPr/>
          <p:nvPr/>
        </p:nvSpPr>
        <p:spPr>
          <a:xfrm>
            <a:off x="8127797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option-number-2"/>
          <p:cNvSpPr/>
          <p:nvPr/>
        </p:nvSpPr>
        <p:spPr>
          <a:xfrm>
            <a:off x="8402117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option-title-2"/>
          <p:cNvSpPr txBox="1"/>
          <p:nvPr/>
        </p:nvSpPr>
        <p:spPr>
          <a:xfrm>
            <a:off x="8402117" y="4160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12 agents</a:t>
            </a:r>
            <a:endParaRPr lang="en-US" sz="3000" dirty="0"/>
          </a:p>
        </p:txBody>
      </p:sp>
      <p:sp>
        <p:nvSpPr>
          <p:cNvPr id="22" name="option-effect-2"/>
          <p:cNvSpPr txBox="1"/>
          <p:nvPr/>
        </p:nvSpPr>
        <p:spPr>
          <a:xfrm>
            <a:off x="8402117" y="4800600"/>
            <a:ext cx="28751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but the cost does not go down</a:t>
            </a:r>
            <a:endParaRPr lang="en-US" sz="2400" dirty="0"/>
          </a:p>
        </p:txBody>
      </p:sp>
      <p:sp>
        <p:nvSpPr>
          <p:cNvPr id="23" name="code-background"/>
          <p:cNvSpPr/>
          <p:nvPr/>
        </p:nvSpPr>
        <p:spPr>
          <a:xfrm>
            <a:off x="8310677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8584997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12</a:t>
            </a:r>
            <a:endParaRPr lang="en-US" sz="2300" dirty="0"/>
          </a:p>
        </p:txBody>
      </p:sp>
      <p:sp>
        <p:nvSpPr>
          <p:cNvPr id="25" name="footer"/>
          <p:cNvSpPr txBox="1"/>
          <p:nvPr/>
        </p:nvSpPr>
        <p:spPr>
          <a:xfrm>
            <a:off x="640080" y="8046720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--model haiku (the default, cheap) or --model sonnet (dearer, about the same greens)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523951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496519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+ Predict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plan with your decision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minutes forecast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waves and the cost estimate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/demo-plan --parallel 8 --model haiku</a:t>
            </a:r>
            <a:endParaRPr lang="en-US" sz="2100" dirty="0"/>
          </a:p>
        </p:txBody>
      </p:sp>
      <p:sp>
        <p:nvSpPr>
          <p:cNvPr id="15" name="predict"/>
          <p:cNvSpPr/>
          <p:nvPr/>
        </p:nvSpPr>
        <p:spPr>
          <a:xfrm>
            <a:off x="640080" y="5933542"/>
            <a:ext cx="1091153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redict-icon-circle"/>
          <p:cNvSpPr/>
          <p:nvPr/>
        </p:nvSpPr>
        <p:spPr>
          <a:xfrm>
            <a:off x="868680" y="6207862"/>
            <a:ext cx="640080" cy="64008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17" name="predict-icon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6348679"/>
            <a:ext cx="358445" cy="358445"/>
          </a:xfrm>
          <a:prstGeom prst="rect">
            <a:avLst/>
          </a:prstGeom>
        </p:spPr>
      </p:pic>
      <p:sp>
        <p:nvSpPr>
          <p:cNvPr id="18" name="predict-question"/>
          <p:cNvSpPr txBox="1"/>
          <p:nvPr/>
        </p:nvSpPr>
        <p:spPr>
          <a:xfrm>
            <a:off x="1737360" y="607070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many minutes will your swarm take?</a:t>
            </a:r>
            <a:endParaRPr lang="en-US" sz="3000" dirty="0"/>
          </a:p>
        </p:txBody>
      </p:sp>
      <p:sp>
        <p:nvSpPr>
          <p:cNvPr id="19" name="predict-where"/>
          <p:cNvSpPr txBox="1"/>
          <p:nvPr/>
        </p:nvSpPr>
        <p:spPr>
          <a:xfrm>
            <a:off x="1737360" y="661934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/demo-plan asks; you may skip it</a:t>
            </a:r>
            <a:endParaRPr lang="en-US" sz="2400" dirty="0"/>
          </a:p>
        </p:txBody>
      </p:sp>
      <p:sp>
        <p:nvSpPr>
          <p:cNvPr id="20" name="expected-mark-circle"/>
          <p:cNvSpPr/>
          <p:nvPr/>
        </p:nvSpPr>
        <p:spPr>
          <a:xfrm>
            <a:off x="640080" y="7396582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1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7507224"/>
            <a:ext cx="281635" cy="281635"/>
          </a:xfrm>
          <a:prstGeom prst="rect">
            <a:avLst/>
          </a:prstGeom>
        </p:spPr>
      </p:pic>
      <p:sp>
        <p:nvSpPr>
          <p:cNvPr id="22" name="expected"/>
          <p:cNvSpPr txBox="1"/>
          <p:nvPr/>
        </p:nvSpPr>
        <p:spPr>
          <a:xfrm>
            <a:off x="1371600" y="7350862"/>
            <a:ext cx="10180015" cy="226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PLAN.md with 4 waves and the cost estimate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7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Release the swarm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swarm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another terminal, open /status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wait: a bonus mission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</a:t>
            </a:r>
            <a:endParaRPr lang="en-US" sz="26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terminal · /status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workshop-server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http://localhost:3000/status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panel: each dot is a finished swarm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fills with greens; 2 or 3 tools stay red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Why did this tool fail?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red test’s message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rule the spec does not give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the spec and retry only that one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did nm-03 fail?</a:t>
            </a:r>
            <a:endParaRPr lang="en-US" sz="26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editor, then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tools/nm-03/spec.md   (add the rule)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 --retry nm-03</a:t>
            </a:r>
            <a:endParaRPr lang="en-US" sz="2200" dirty="0"/>
          </a:p>
        </p:txBody>
      </p:sp>
      <p:sp>
        <p:nvSpPr>
          <p:cNvPr id="18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9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0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 one turns green on the second try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Gate and cost: which decision won?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review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cost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your forecast and with the panel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/demo-review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/demo-cost</a:t>
            </a:r>
            <a:endParaRPr lang="en-US" sz="2100" dirty="0"/>
          </a:p>
        </p:txBody>
      </p:sp>
      <p:sp>
        <p:nvSpPr>
          <p:cNvPr id="15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6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17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18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panel: cost per green, by parallelism and model</a:t>
            </a:r>
            <a:endParaRPr lang="en-US" sz="24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 and the cost per green tool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849624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5753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M11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Your tool, used by Claude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tools the swarm built are Claude tools too: call them by name.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Claude Code in the Pocketknife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use your tool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tool call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my-01 tool with an example of your own.</a:t>
            </a:r>
            <a:endParaRPr lang="en-US" sz="2100" dirty="0"/>
          </a:p>
        </p:txBody>
      </p:sp>
      <p:sp>
        <p:nvSpPr>
          <p:cNvPr id="19" name="code-background"/>
          <p:cNvSpPr/>
          <p:nvPr/>
        </p:nvSpPr>
        <p:spPr>
          <a:xfrm>
            <a:off x="640080" y="7341718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0" name="code-label"/>
          <p:cNvSpPr txBox="1"/>
          <p:nvPr/>
        </p:nvSpPr>
        <p:spPr>
          <a:xfrm>
            <a:off x="914400" y="752459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· in the browser</a:t>
            </a:r>
            <a:endParaRPr lang="en-US" sz="2000" dirty="0"/>
          </a:p>
        </p:txBody>
      </p:sp>
      <p:sp>
        <p:nvSpPr>
          <p:cNvPr id="21" name="code"/>
          <p:cNvSpPr txBox="1"/>
          <p:nvPr/>
        </p:nvSpPr>
        <p:spPr>
          <a:xfrm>
            <a:off x="914400" y="7981798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2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785555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9619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739835"/>
            <a:ext cx="10180015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calls mcp__canivete__my-01 and answers with your tool's result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807208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5328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same cycle, in another repository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changes when the task is real?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160520"/>
            <a:ext cx="889985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→ plan → swarm → gate → report → memory: the same orchestration, now with the /task-* skills.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576986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595274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practice project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40994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~/workshop-claude/practice-project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100" dirty="0"/>
          </a:p>
        </p:txBody>
      </p:sp>
      <p:sp>
        <p:nvSpPr>
          <p:cNvPr id="14" name="code-background"/>
          <p:cNvSpPr/>
          <p:nvPr/>
        </p:nvSpPr>
        <p:spPr>
          <a:xfrm>
            <a:off x="640080" y="7560259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5" name="code-label"/>
          <p:cNvSpPr txBox="1"/>
          <p:nvPr/>
        </p:nvSpPr>
        <p:spPr>
          <a:xfrm>
            <a:off x="914400" y="7743139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· stop sending to the panel</a:t>
            </a:r>
            <a:endParaRPr lang="en-US" sz="2000" dirty="0"/>
          </a:p>
        </p:txBody>
      </p:sp>
      <p:sp>
        <p:nvSpPr>
          <p:cNvPr id="16" name="code"/>
          <p:cNvSpPr txBox="1"/>
          <p:nvPr/>
        </p:nvSpPr>
        <p:spPr>
          <a:xfrm>
            <a:off x="914400" y="8200339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workshop-unregister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Read the issue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practice project, open Claude Code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issue EX-1 (it is a JSON file, no login)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Jira or GitHub? Use one of yours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issues/EX-1.json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· your repository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ABC-123</a:t>
            </a:r>
            <a:endParaRPr lang="en-US" sz="2600" dirty="0"/>
          </a:p>
        </p:txBody>
      </p:sp>
      <p:sp>
        <p:nvSpPr>
          <p:cNvPr id="18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9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0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.workshop/task.md with the issue, the criteria and what the memory already knows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· 6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How many agents?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/task-plan proposes a number and says why. Decide:</a:t>
            </a:r>
            <a:endParaRPr lang="en-US" sz="2800" dirty="0"/>
          </a:p>
        </p:txBody>
      </p:sp>
      <p:sp>
        <p:nvSpPr>
          <p:cNvPr id="7" name="option-0"/>
          <p:cNvSpPr/>
          <p:nvPr/>
        </p:nvSpPr>
        <p:spPr>
          <a:xfrm>
            <a:off x="640080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option-number-0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option-title-0"/>
          <p:cNvSpPr txBox="1"/>
          <p:nvPr/>
        </p:nvSpPr>
        <p:spPr>
          <a:xfrm>
            <a:off x="914400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Approve</a:t>
            </a:r>
            <a:endParaRPr lang="en-US" sz="3000" dirty="0"/>
          </a:p>
        </p:txBody>
      </p:sp>
      <p:sp>
        <p:nvSpPr>
          <p:cNvPr id="10" name="option-effect-0"/>
          <p:cNvSpPr txBox="1"/>
          <p:nvPr/>
        </p:nvSpPr>
        <p:spPr>
          <a:xfrm>
            <a:off x="914400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with the plan as it is</a:t>
            </a:r>
            <a:endParaRPr lang="en-US" sz="2400" dirty="0"/>
          </a:p>
        </p:txBody>
      </p:sp>
      <p:sp>
        <p:nvSpPr>
          <p:cNvPr id="11" name="code-background"/>
          <p:cNvSpPr/>
          <p:nvPr/>
        </p:nvSpPr>
        <p:spPr>
          <a:xfrm>
            <a:off x="822960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1097280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2300" dirty="0"/>
          </a:p>
        </p:txBody>
      </p:sp>
      <p:sp>
        <p:nvSpPr>
          <p:cNvPr id="13" name="option-1"/>
          <p:cNvSpPr/>
          <p:nvPr/>
        </p:nvSpPr>
        <p:spPr>
          <a:xfrm>
            <a:off x="4383938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option-number-1"/>
          <p:cNvSpPr/>
          <p:nvPr/>
        </p:nvSpPr>
        <p:spPr>
          <a:xfrm>
            <a:off x="4658258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option-title-1"/>
          <p:cNvSpPr txBox="1"/>
          <p:nvPr/>
        </p:nvSpPr>
        <p:spPr>
          <a:xfrm>
            <a:off x="4658258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Fewer agents</a:t>
            </a:r>
            <a:endParaRPr lang="en-US" sz="3000" dirty="0"/>
          </a:p>
        </p:txBody>
      </p:sp>
      <p:sp>
        <p:nvSpPr>
          <p:cNvPr id="16" name="option-effect-1"/>
          <p:cNvSpPr txBox="1"/>
          <p:nvPr/>
        </p:nvSpPr>
        <p:spPr>
          <a:xfrm>
            <a:off x="4658258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Cheaper, slower; fewer conflicts</a:t>
            </a:r>
            <a:endParaRPr lang="en-US" sz="2400" dirty="0"/>
          </a:p>
        </p:txBody>
      </p:sp>
      <p:sp>
        <p:nvSpPr>
          <p:cNvPr id="17" name="code-background"/>
          <p:cNvSpPr/>
          <p:nvPr/>
        </p:nvSpPr>
        <p:spPr>
          <a:xfrm>
            <a:off x="4566818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4841138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fewer agents</a:t>
            </a:r>
            <a:endParaRPr lang="en-US" sz="2300" dirty="0"/>
          </a:p>
        </p:txBody>
      </p:sp>
      <p:sp>
        <p:nvSpPr>
          <p:cNvPr id="19" name="option-2"/>
          <p:cNvSpPr/>
          <p:nvPr/>
        </p:nvSpPr>
        <p:spPr>
          <a:xfrm>
            <a:off x="8127797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option-number-2"/>
          <p:cNvSpPr/>
          <p:nvPr/>
        </p:nvSpPr>
        <p:spPr>
          <a:xfrm>
            <a:off x="8402117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option-title-2"/>
          <p:cNvSpPr txBox="1"/>
          <p:nvPr/>
        </p:nvSpPr>
        <p:spPr>
          <a:xfrm>
            <a:off x="8402117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More agents</a:t>
            </a:r>
            <a:endParaRPr lang="en-US" sz="3000" dirty="0"/>
          </a:p>
        </p:txBody>
      </p:sp>
      <p:sp>
        <p:nvSpPr>
          <p:cNvPr id="22" name="option-effect-2"/>
          <p:cNvSpPr txBox="1"/>
          <p:nvPr/>
        </p:nvSpPr>
        <p:spPr>
          <a:xfrm>
            <a:off x="8402117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only if the tasks do not touch the same files</a:t>
            </a:r>
            <a:endParaRPr lang="en-US" sz="2400" dirty="0"/>
          </a:p>
        </p:txBody>
      </p:sp>
      <p:sp>
        <p:nvSpPr>
          <p:cNvPr id="23" name="code-background"/>
          <p:cNvSpPr/>
          <p:nvPr/>
        </p:nvSpPr>
        <p:spPr>
          <a:xfrm>
            <a:off x="8310677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8584997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agents</a:t>
            </a:r>
            <a:endParaRPr lang="en-US" sz="2300" dirty="0"/>
          </a:p>
        </p:txBody>
      </p:sp>
      <p:sp>
        <p:nvSpPr>
          <p:cNvPr id="25" name="footer"/>
          <p:cNvSpPr txBox="1"/>
          <p:nvPr/>
        </p:nvSpPr>
        <p:spPr>
          <a:xfrm>
            <a:off x="640080" y="8046720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run /task-plan and read why it chose that number.</a:t>
            </a:r>
            <a:endParaRPr lang="en-US" sz="2400" dirty="0"/>
          </a:p>
        </p:txBody>
      </p:sp>
      <p:sp>
        <p:nvSpPr>
          <p:cNvPr id="26" name="panel-cue"/>
          <p:cNvSpPr/>
          <p:nvPr/>
        </p:nvSpPr>
        <p:spPr>
          <a:xfrm>
            <a:off x="640080" y="8796528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27" name="panel-cue-arrow-circle"/>
          <p:cNvSpPr/>
          <p:nvPr/>
        </p:nvSpPr>
        <p:spPr>
          <a:xfrm>
            <a:off x="10984687" y="8887968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8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8988552"/>
            <a:ext cx="256032" cy="256032"/>
          </a:xfrm>
          <a:prstGeom prst="rect">
            <a:avLst/>
          </a:prstGeom>
        </p:spPr>
      </p:pic>
      <p:sp>
        <p:nvSpPr>
          <p:cNvPr id="29" name="panel-cue-text"/>
          <p:cNvSpPr txBox="1"/>
          <p:nvPr/>
        </p:nvSpPr>
        <p:spPr>
          <a:xfrm>
            <a:off x="868680" y="879652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panel: how many agents the room chose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12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Put the swarm to work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swarm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another terminal, open the dashboard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wait: the bonus missions you are missing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/task-swarm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terminal · in the project folder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workshop-dashboard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panel: the funnel moves on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subtasks green; the state stays in .workshop/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5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gate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gate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verdict and the reservations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what it asks for, if it asks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/task-gate</a:t>
            </a:r>
            <a:endParaRPr lang="en-US" sz="21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APPROVED, with tests, secrets and dangerous code checked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report and the memory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report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lesson in the memory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repository: confirm before each write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/task-report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save the lesson from EX-1</a:t>
            </a:r>
            <a:endParaRPr lang="en-US" sz="21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report.md in the practice project and a new memory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now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Now on your own: EX-3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cycle on EX-3, with no slides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→ plan → swarm → gate → report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on EX-1? Carry on with it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273862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issues/EX-3.json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/task-plan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/task-swarm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/task-gate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/task-report</a:t>
            </a:r>
            <a:endParaRPr lang="en-US" sz="22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EX-3 closed: a reader can no longer see another reader’s loans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807208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5328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The day in numbers, and 3 ideas to take home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834640"/>
            <a:ext cx="8899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What would you do differently tomorrow?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88036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316199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panel</a:t>
            </a:r>
            <a:endParaRPr lang="en-US" sz="2400" dirty="0"/>
          </a:p>
        </p:txBody>
      </p:sp>
      <p:sp>
        <p:nvSpPr>
          <p:cNvPr id="10" name="ideas-head"/>
          <p:cNvSpPr txBox="1"/>
          <p:nvPr/>
        </p:nvSpPr>
        <p:spPr>
          <a:xfrm>
            <a:off x="640080" y="5394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 ideas to take home</a:t>
            </a:r>
            <a:endParaRPr lang="en-US" sz="3000" dirty="0"/>
          </a:p>
        </p:txBody>
      </p:sp>
      <p:sp>
        <p:nvSpPr>
          <p:cNvPr id="11" name="idea-number-0"/>
          <p:cNvSpPr/>
          <p:nvPr/>
        </p:nvSpPr>
        <p:spPr>
          <a:xfrm>
            <a:off x="640080" y="612648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idea-0"/>
          <p:cNvSpPr txBox="1"/>
          <p:nvPr/>
        </p:nvSpPr>
        <p:spPr>
          <a:xfrm>
            <a:off x="1417320" y="612648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spec does not decide, the agent guesses</a:t>
            </a:r>
            <a:endParaRPr lang="en-US" sz="3000" dirty="0"/>
          </a:p>
        </p:txBody>
      </p:sp>
      <p:sp>
        <p:nvSpPr>
          <p:cNvPr id="13" name="idea-number-1"/>
          <p:cNvSpPr/>
          <p:nvPr/>
        </p:nvSpPr>
        <p:spPr>
          <a:xfrm>
            <a:off x="640080" y="699516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idea-1"/>
          <p:cNvSpPr txBox="1"/>
          <p:nvPr/>
        </p:nvSpPr>
        <p:spPr>
          <a:xfrm>
            <a:off x="1417320" y="699516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agents is not cheaper: decide the parallelism</a:t>
            </a:r>
            <a:endParaRPr lang="en-US" sz="3000" dirty="0"/>
          </a:p>
        </p:txBody>
      </p:sp>
      <p:sp>
        <p:nvSpPr>
          <p:cNvPr id="15" name="idea-number-2"/>
          <p:cNvSpPr/>
          <p:nvPr/>
        </p:nvSpPr>
        <p:spPr>
          <a:xfrm>
            <a:off x="640080" y="786384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idea-2"/>
          <p:cNvSpPr txBox="1"/>
          <p:nvPr/>
        </p:nvSpPr>
        <p:spPr>
          <a:xfrm>
            <a:off x="1417320" y="786384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for the simple, and always measure the cost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310896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Questions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53035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No time limit</a:t>
            </a:r>
            <a:endParaRPr lang="en-US" sz="3400" dirty="0"/>
          </a:p>
        </p:txBody>
      </p:sp>
      <p:sp>
        <p:nvSpPr>
          <p:cNvPr id="4" name="footer"/>
          <p:cNvSpPr txBox="1"/>
          <p:nvPr/>
        </p:nvSpPr>
        <p:spPr>
          <a:xfrm>
            <a:off x="640080" y="6492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https://github.com/cx-guilherme-pinto/workshop-claude</a:t>
            </a:r>
            <a:endParaRPr lang="en-US" sz="2400" dirty="0"/>
          </a:p>
        </p:txBody>
      </p:sp>
      <p:sp>
        <p:nvSpPr>
          <p:cNvPr id="5" name="feedback-card"/>
          <p:cNvSpPr/>
          <p:nvPr/>
        </p:nvSpPr>
        <p:spPr>
          <a:xfrm>
            <a:off x="2735428" y="54864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feedback-qr" descr="https://forms.cloud.microsoft/r/qMtc41Gg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2588" y="685800"/>
            <a:ext cx="2103120" cy="2103120"/>
          </a:xfrm>
          <a:prstGeom prst="rect">
            <a:avLst/>
          </a:prstGeom>
        </p:spPr>
      </p:pic>
      <p:sp>
        <p:nvSpPr>
          <p:cNvPr id="7" name="feedback-label"/>
          <p:cNvSpPr txBox="1"/>
          <p:nvPr/>
        </p:nvSpPr>
        <p:spPr>
          <a:xfrm>
            <a:off x="5432908" y="1051560"/>
            <a:ext cx="40233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Rate the workshop</a:t>
            </a:r>
            <a:endParaRPr lang="en-US" sz="3200" dirty="0"/>
          </a:p>
        </p:txBody>
      </p:sp>
      <p:sp>
        <p:nvSpPr>
          <p:cNvPr id="8" name="feedback-url"/>
          <p:cNvSpPr txBox="1"/>
          <p:nvPr/>
        </p:nvSpPr>
        <p:spPr>
          <a:xfrm>
            <a:off x="5432908" y="173736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forms.cloud.microsoft/r/qMtc41Gg32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ounders Grotesk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orchestration with Claude (v2)</dc:title>
  <dc:subject>PptxGenJS Presentation</dc:subject>
  <dc:creator>Workshop Claude</dc:creator>
  <cp:lastModifiedBy>Workshop Claude</cp:lastModifiedBy>
  <cp:revision>1</cp:revision>
  <dcterms:created xsi:type="dcterms:W3CDTF">2026-10-26T12:48:19Z</dcterms:created>
  <dcterms:modified xsi:type="dcterms:W3CDTF">2026-10-26T12:48:19Z</dcterms:modified>
</cp:coreProperties>
</file>